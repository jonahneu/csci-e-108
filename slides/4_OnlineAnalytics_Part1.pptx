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819" r:id="rId3"/>
    <p:sldId id="257" r:id="rId4"/>
    <p:sldId id="448" r:id="rId5"/>
    <p:sldId id="504" r:id="rId6"/>
    <p:sldId id="503" r:id="rId7"/>
    <p:sldId id="259" r:id="rId8"/>
    <p:sldId id="382" r:id="rId9"/>
    <p:sldId id="261" r:id="rId10"/>
    <p:sldId id="258" r:id="rId11"/>
    <p:sldId id="389" r:id="rId12"/>
    <p:sldId id="260" r:id="rId13"/>
    <p:sldId id="263" r:id="rId14"/>
    <p:sldId id="437" r:id="rId15"/>
    <p:sldId id="444" r:id="rId16"/>
    <p:sldId id="365" r:id="rId17"/>
    <p:sldId id="371" r:id="rId18"/>
    <p:sldId id="372" r:id="rId19"/>
    <p:sldId id="478" r:id="rId20"/>
    <p:sldId id="270" r:id="rId21"/>
    <p:sldId id="480" r:id="rId22"/>
    <p:sldId id="458" r:id="rId23"/>
    <p:sldId id="438" r:id="rId24"/>
    <p:sldId id="479" r:id="rId25"/>
    <p:sldId id="501" r:id="rId26"/>
    <p:sldId id="265" r:id="rId27"/>
    <p:sldId id="266" r:id="rId28"/>
    <p:sldId id="262" r:id="rId29"/>
    <p:sldId id="267" r:id="rId30"/>
    <p:sldId id="439" r:id="rId31"/>
    <p:sldId id="427" r:id="rId32"/>
    <p:sldId id="500" r:id="rId33"/>
    <p:sldId id="435" r:id="rId34"/>
    <p:sldId id="428" r:id="rId35"/>
    <p:sldId id="429" r:id="rId36"/>
    <p:sldId id="431" r:id="rId37"/>
    <p:sldId id="430" r:id="rId38"/>
    <p:sldId id="432" r:id="rId39"/>
    <p:sldId id="433" r:id="rId40"/>
    <p:sldId id="434" r:id="rId41"/>
    <p:sldId id="440" r:id="rId42"/>
    <p:sldId id="385" r:id="rId43"/>
    <p:sldId id="499" r:id="rId44"/>
    <p:sldId id="276" r:id="rId45"/>
    <p:sldId id="285" r:id="rId46"/>
    <p:sldId id="286" r:id="rId47"/>
    <p:sldId id="446" r:id="rId48"/>
    <p:sldId id="284" r:id="rId49"/>
    <p:sldId id="445" r:id="rId50"/>
    <p:sldId id="279" r:id="rId51"/>
    <p:sldId id="280" r:id="rId52"/>
    <p:sldId id="281" r:id="rId53"/>
    <p:sldId id="282" r:id="rId54"/>
    <p:sldId id="283" r:id="rId55"/>
    <p:sldId id="377" r:id="rId56"/>
    <p:sldId id="390" r:id="rId57"/>
    <p:sldId id="391" r:id="rId58"/>
    <p:sldId id="394" r:id="rId59"/>
    <p:sldId id="393" r:id="rId60"/>
    <p:sldId id="395" r:id="rId61"/>
    <p:sldId id="397" r:id="rId62"/>
    <p:sldId id="396" r:id="rId63"/>
    <p:sldId id="421" r:id="rId64"/>
    <p:sldId id="441" r:id="rId65"/>
    <p:sldId id="398" r:id="rId66"/>
    <p:sldId id="502" r:id="rId67"/>
    <p:sldId id="410" r:id="rId68"/>
    <p:sldId id="399" r:id="rId69"/>
    <p:sldId id="406" r:id="rId70"/>
    <p:sldId id="400" r:id="rId71"/>
    <p:sldId id="401" r:id="rId72"/>
    <p:sldId id="402" r:id="rId73"/>
    <p:sldId id="403" r:id="rId74"/>
    <p:sldId id="404" r:id="rId75"/>
    <p:sldId id="405" r:id="rId76"/>
    <p:sldId id="407" r:id="rId77"/>
    <p:sldId id="409" r:id="rId78"/>
    <p:sldId id="426" r:id="rId79"/>
    <p:sldId id="408" r:id="rId80"/>
    <p:sldId id="449" r:id="rId81"/>
    <p:sldId id="450" r:id="rId82"/>
    <p:sldId id="383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77" autoAdjust="0"/>
    <p:restoredTop sz="94660"/>
  </p:normalViewPr>
  <p:slideViewPr>
    <p:cSldViewPr snapToGrid="0">
      <p:cViewPr varScale="1">
        <p:scale>
          <a:sx n="77" d="100"/>
          <a:sy n="77" d="100"/>
        </p:scale>
        <p:origin x="396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4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63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5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5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0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4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4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datasketches-bigquery" TargetMode="External"/><Relationship Id="rId2" Type="http://schemas.openxmlformats.org/officeDocument/2006/relationships/hyperlink" Target="https://apache.github.io/datasketches-python/5.2.0/frequency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probables.readthedocs.io/en/latest/index.html" TargetMode="External"/><Relationship Id="rId4" Type="http://schemas.openxmlformats.org/officeDocument/2006/relationships/hyperlink" Target="https://github.com/apache/datasketches-spark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ketches.apache.org/docs/Sampling/ReservoirSamplingSketches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810.png"/><Relationship Id="rId7" Type="http://schemas.openxmlformats.org/officeDocument/2006/relationships/image" Target="../media/image13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.png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1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Quotient_filt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nning.com/books/algorithms-and-data-structures-for-massive-datasets" TargetMode="Externa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2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Relationship Id="rId14" Type="http://schemas.openxmlformats.org/officeDocument/2006/relationships/image" Target="../media/image4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3.png"/><Relationship Id="rId21" Type="http://schemas.openxmlformats.org/officeDocument/2006/relationships/image" Target="../media/image72.png"/><Relationship Id="rId7" Type="http://schemas.openxmlformats.org/officeDocument/2006/relationships/image" Target="../media/image57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20" Type="http://schemas.openxmlformats.org/officeDocument/2006/relationships/image" Target="../media/image22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openxmlformats.org/officeDocument/2006/relationships/image" Target="../media/image55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21.png"/><Relationship Id="rId31" Type="http://schemas.openxmlformats.org/officeDocument/2006/relationships/image" Target="../media/image82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84.png"/><Relationship Id="rId5" Type="http://schemas.openxmlformats.org/officeDocument/2006/relationships/image" Target="../media/image240.png"/><Relationship Id="rId10" Type="http://schemas.openxmlformats.org/officeDocument/2006/relationships/image" Target="../media/image29.png"/><Relationship Id="rId4" Type="http://schemas.openxmlformats.org/officeDocument/2006/relationships/image" Target="../media/image230.png"/><Relationship Id="rId9" Type="http://schemas.openxmlformats.org/officeDocument/2006/relationships/image" Target="../media/image28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294" y="1122363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Online Algorithms and Steaming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6CDF6-26FF-4F68-942A-A7BA23A117D6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5422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/>
              <a:t>Are analytics always computed in batch?   </a:t>
            </a:r>
            <a:endParaRPr lang="en-US" sz="3000" b="1" dirty="0"/>
          </a:p>
          <a:p>
            <a:r>
              <a:rPr lang="en-US" sz="3000" dirty="0"/>
              <a:t>No!    </a:t>
            </a:r>
          </a:p>
          <a:p>
            <a:r>
              <a:rPr lang="en-US" sz="3000" dirty="0"/>
              <a:t>Data often arrives in</a:t>
            </a:r>
            <a:r>
              <a:rPr lang="en-US" sz="3000" b="1" dirty="0"/>
              <a:t> massive volume streams, requiring online processing </a:t>
            </a:r>
          </a:p>
          <a:p>
            <a:pPr lvl="1"/>
            <a:r>
              <a:rPr lang="en-US" dirty="0"/>
              <a:t>IOT/Sensor data – many applications    </a:t>
            </a:r>
          </a:p>
          <a:p>
            <a:pPr lvl="1"/>
            <a:r>
              <a:rPr lang="en-US" dirty="0"/>
              <a:t>Capital markets data  </a:t>
            </a:r>
          </a:p>
          <a:p>
            <a:pPr lvl="1"/>
            <a:r>
              <a:rPr lang="en-US" dirty="0"/>
              <a:t>E-commerce click streams and purchases  </a:t>
            </a:r>
          </a:p>
          <a:p>
            <a:pPr lvl="1"/>
            <a:r>
              <a:rPr lang="en-US" dirty="0"/>
              <a:t>Emails, social media posts, etc.</a:t>
            </a:r>
          </a:p>
          <a:p>
            <a:pPr lvl="1"/>
            <a:r>
              <a:rPr lang="en-US" dirty="0"/>
              <a:t>Logistics information</a:t>
            </a:r>
          </a:p>
          <a:p>
            <a:pPr lvl="1"/>
            <a:r>
              <a:rPr lang="en-US" dirty="0"/>
              <a:t>Agricultural data </a:t>
            </a:r>
          </a:p>
          <a:p>
            <a:pPr lvl="1"/>
            <a:r>
              <a:rPr lang="en-US" dirty="0"/>
              <a:t>Internet packet streams for cybersecurity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sz="3000" dirty="0"/>
              <a:t>Analytics must be updated as data samples arrives</a:t>
            </a:r>
          </a:p>
          <a:p>
            <a:r>
              <a:rPr lang="en-US" sz="3000" dirty="0"/>
              <a:t>We call these </a:t>
            </a:r>
            <a:r>
              <a:rPr lang="en-US" sz="3000" b="1" dirty="0"/>
              <a:t>online analytic algorithms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Massive Scale and Online Analytics </a:t>
            </a:r>
          </a:p>
        </p:txBody>
      </p:sp>
    </p:spTree>
    <p:extLst>
      <p:ext uri="{BB962C8B-B14F-4D97-AF65-F5344CB8AC3E}">
        <p14:creationId xmlns:p14="http://schemas.microsoft.com/office/powerpoint/2010/main" val="1154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4E7B-58C6-2524-FED0-02D4C299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4B34-96A4-9D43-4C47-88522BB8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 we always apply online analytics to real-time data?   </a:t>
            </a:r>
            <a:endParaRPr lang="en-US" b="1" dirty="0"/>
          </a:p>
          <a:p>
            <a:r>
              <a:rPr lang="en-US" dirty="0"/>
              <a:t>No!    </a:t>
            </a:r>
          </a:p>
          <a:p>
            <a:r>
              <a:rPr lang="en-US" dirty="0"/>
              <a:t>We apply online algorithms </a:t>
            </a:r>
            <a:r>
              <a:rPr lang="en-US" b="1" dirty="0"/>
              <a:t>for analytics on beyond core memory size datasets</a:t>
            </a:r>
          </a:p>
          <a:p>
            <a:r>
              <a:rPr lang="en-US" dirty="0"/>
              <a:t>Data is processed in ‘chunks’  </a:t>
            </a:r>
          </a:p>
          <a:p>
            <a:pPr lvl="1"/>
            <a:r>
              <a:rPr lang="en-US" dirty="0"/>
              <a:t>Example, read files one or a few lines at a time </a:t>
            </a:r>
          </a:p>
          <a:p>
            <a:pPr lvl="1"/>
            <a:r>
              <a:rPr lang="en-US" dirty="0"/>
              <a:t>Example, use a series of limited data base queries </a:t>
            </a:r>
          </a:p>
          <a:p>
            <a:r>
              <a:rPr lang="en-US" dirty="0"/>
              <a:t>Analytics updated for each chuck</a:t>
            </a:r>
          </a:p>
          <a:p>
            <a:r>
              <a:rPr lang="en-US" dirty="0"/>
              <a:t>We will use the terms streaming and online interchangeably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E5BEF-12CD-C3DA-4799-663F58D1EE7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77664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8A53-02ED-2A92-6B34-3858E954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B006-2CF5-CECF-8F1E-0E2D08B2D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59"/>
            <a:ext cx="10775169" cy="53721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lesson is divided into several parts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and averaging methods for reducing volume of real-valued streams</a:t>
            </a:r>
          </a:p>
          <a:p>
            <a:pPr lvl="1"/>
            <a:r>
              <a:rPr lang="en-US" dirty="0"/>
              <a:t>In many cases we cannot process or store all of the values in a stream  </a:t>
            </a:r>
          </a:p>
          <a:p>
            <a:pPr lvl="1"/>
            <a:r>
              <a:rPr lang="en-US" dirty="0"/>
              <a:t>Use sampling and averaging methods to reduce volume to manageable level</a:t>
            </a:r>
          </a:p>
          <a:p>
            <a:pPr lvl="1"/>
            <a:r>
              <a:rPr lang="en-US" dirty="0"/>
              <a:t>Basic sampling and averaging  </a:t>
            </a:r>
          </a:p>
          <a:p>
            <a:pPr lvl="1"/>
            <a:r>
              <a:rPr lang="en-US" dirty="0"/>
              <a:t>Probabilistic sampling – the reservoir sampling algorithm for unbiased sampling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reducing volume and summarizing discrete events  </a:t>
            </a:r>
          </a:p>
          <a:p>
            <a:pPr lvl="1"/>
            <a:r>
              <a:rPr lang="en-US" dirty="0"/>
              <a:t>Filtering discrete events to reduce volume – Bloom and quotient filters  </a:t>
            </a:r>
          </a:p>
          <a:p>
            <a:pPr lvl="1"/>
            <a:r>
              <a:rPr lang="en-US" dirty="0"/>
              <a:t>Estimating event frequency – count-min-sketch algorithm for counting events</a:t>
            </a:r>
          </a:p>
          <a:p>
            <a:pPr lvl="1"/>
            <a:r>
              <a:rPr lang="en-US" dirty="0"/>
              <a:t>Estimating event cardinality –</a:t>
            </a:r>
            <a:r>
              <a:rPr lang="en-US" dirty="0" err="1"/>
              <a:t>Hyperloglog</a:t>
            </a:r>
            <a:r>
              <a:rPr lang="en-US" dirty="0"/>
              <a:t>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quantile estimation to summarize real-valued streams</a:t>
            </a:r>
          </a:p>
          <a:p>
            <a:pPr lvl="1"/>
            <a:r>
              <a:rPr lang="en-US" dirty="0"/>
              <a:t>The t-digest and relative error quantile (REQ) sketch algorithms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10B0F2-F2C1-F908-0B11-1B56CE8E6C7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18495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7CE9-62D8-FA73-FF0B-7B188D7C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99B0-F547-CCFE-8346-C83223A5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60"/>
            <a:ext cx="10775169" cy="506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key points to learn in this lesson?   </a:t>
            </a:r>
            <a:endParaRPr lang="en-US" b="1" dirty="0"/>
          </a:p>
          <a:p>
            <a:r>
              <a:rPr lang="en-US" dirty="0"/>
              <a:t>Massive dataset and infinite streams include both real-valued and discrete-valued (event) data</a:t>
            </a:r>
          </a:p>
          <a:p>
            <a:r>
              <a:rPr lang="en-US" dirty="0"/>
              <a:t>We must use probabilistic sketch (hash) algorithms to filter massive online datasets</a:t>
            </a:r>
          </a:p>
          <a:p>
            <a:r>
              <a:rPr lang="en-US" dirty="0"/>
              <a:t>Sketches (hashes) are used to perform streaming analytics within computation and memory limits for both real valued and discrete streams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804F4F-2373-30AC-1B30-813DB7B5743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861719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8"/>
            <a:ext cx="6903321" cy="5427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Useful book on algorithms for massive scale streaming analytics </a:t>
            </a:r>
          </a:p>
          <a:p>
            <a:r>
              <a:rPr lang="en-US" dirty="0">
                <a:hlinkClick r:id="rId2"/>
              </a:rPr>
              <a:t>Algorithms for Massive Datasets, </a:t>
            </a:r>
            <a:r>
              <a:rPr lang="en-US" dirty="0" err="1">
                <a:hlinkClick r:id="rId2"/>
              </a:rPr>
              <a:t>Medjedovic</a:t>
            </a:r>
            <a:r>
              <a:rPr lang="en-US" dirty="0">
                <a:hlinkClick r:id="rId2"/>
              </a:rPr>
              <a:t>, </a:t>
            </a:r>
            <a:r>
              <a:rPr lang="en-US" dirty="0" err="1">
                <a:hlinkClick r:id="rId2"/>
              </a:rPr>
              <a:t>Tahirovic</a:t>
            </a:r>
            <a:r>
              <a:rPr lang="en-US" dirty="0">
                <a:hlinkClick r:id="rId2"/>
              </a:rPr>
              <a:t>, and </a:t>
            </a:r>
            <a:r>
              <a:rPr lang="en-US" dirty="0" err="1">
                <a:hlinkClick r:id="rId2"/>
              </a:rPr>
              <a:t>Dedovic</a:t>
            </a:r>
            <a:r>
              <a:rPr lang="en-US" dirty="0">
                <a:hlinkClick r:id="rId2"/>
              </a:rPr>
              <a:t>, Manning, 202</a:t>
            </a:r>
            <a:r>
              <a:rPr lang="en-US" dirty="0"/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03AD4-4884-5D0A-EDDC-437D2820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534" y="1547208"/>
            <a:ext cx="34290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834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427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Example – small scale    </a:t>
            </a:r>
          </a:p>
          <a:p>
            <a:pPr lvl="1"/>
            <a:r>
              <a:rPr lang="en-US" dirty="0"/>
              <a:t>US Geological Survey maintains about 13,500 stream gauges    </a:t>
            </a:r>
          </a:p>
          <a:p>
            <a:pPr lvl="1"/>
            <a:r>
              <a:rPr lang="en-US" dirty="0"/>
              <a:t>Average of 4 types of sensors per station  </a:t>
            </a:r>
          </a:p>
          <a:p>
            <a:pPr lvl="1"/>
            <a:r>
              <a:rPr lang="en-US" dirty="0"/>
              <a:t>Each measurement is 4 bytes - 16 bytes total per sample</a:t>
            </a:r>
          </a:p>
          <a:p>
            <a:pPr lvl="1"/>
            <a:r>
              <a:rPr lang="en-US" dirty="0"/>
              <a:t>Each gauge collects data sample every 15 mins    </a:t>
            </a:r>
          </a:p>
          <a:p>
            <a:pPr lvl="1"/>
            <a:r>
              <a:rPr lang="en-US" dirty="0"/>
              <a:t>Data uploaded every 4 hours – 6 sets of measurements per day – 1,536 bytes  </a:t>
            </a:r>
          </a:p>
          <a:p>
            <a:pPr lvl="1"/>
            <a:r>
              <a:rPr lang="en-US" dirty="0"/>
              <a:t>Total of 5.4 M bytes per day for network</a:t>
            </a:r>
          </a:p>
          <a:p>
            <a:pPr lvl="1"/>
            <a:r>
              <a:rPr lang="en-US" dirty="0"/>
              <a:t> 2 G bytes per year for archive </a:t>
            </a:r>
          </a:p>
          <a:p>
            <a:r>
              <a:rPr lang="en-US" dirty="0"/>
              <a:t>But, </a:t>
            </a:r>
            <a:r>
              <a:rPr lang="en-US" b="1" dirty="0"/>
              <a:t>network bandwidth is limited </a:t>
            </a:r>
          </a:p>
          <a:p>
            <a:pPr lvl="1"/>
            <a:r>
              <a:rPr lang="en-US" dirty="0"/>
              <a:t>Sensors often connected by point-to-point wireless connections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1865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Data volumes can be massive   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Example – Large scale    </a:t>
            </a:r>
          </a:p>
          <a:p>
            <a:pPr lvl="1"/>
            <a:r>
              <a:rPr lang="en-US" dirty="0"/>
              <a:t>Power generation company with 10</a:t>
            </a:r>
            <a:r>
              <a:rPr lang="en-US" baseline="30000" dirty="0"/>
              <a:t>6</a:t>
            </a:r>
            <a:r>
              <a:rPr lang="en-US" dirty="0"/>
              <a:t> solar panels and inverters      </a:t>
            </a:r>
          </a:p>
          <a:p>
            <a:pPr lvl="1"/>
            <a:r>
              <a:rPr lang="en-US" dirty="0"/>
              <a:t>5 sensors with 4 bytes per sensor every 10 </a:t>
            </a:r>
            <a:r>
              <a:rPr lang="en-US" dirty="0" err="1"/>
              <a:t>ms</a:t>
            </a:r>
            <a:r>
              <a:rPr lang="en-US" dirty="0"/>
              <a:t> per inverter  </a:t>
            </a:r>
          </a:p>
          <a:p>
            <a:pPr lvl="1"/>
            <a:r>
              <a:rPr lang="en-US" dirty="0"/>
              <a:t>1,7 x 10</a:t>
            </a:r>
            <a:r>
              <a:rPr lang="en-US" baseline="30000" dirty="0"/>
              <a:t>9</a:t>
            </a:r>
            <a:r>
              <a:rPr lang="en-US" dirty="0"/>
              <a:t>  bytes per inverter per day   </a:t>
            </a:r>
          </a:p>
          <a:p>
            <a:pPr lvl="1"/>
            <a:r>
              <a:rPr lang="en-US" dirty="0"/>
              <a:t>1.7 x 10</a:t>
            </a:r>
            <a:r>
              <a:rPr lang="en-US" baseline="30000" dirty="0"/>
              <a:t>15</a:t>
            </a:r>
            <a:r>
              <a:rPr lang="en-US" dirty="0"/>
              <a:t> bytes total per day = 1700 petabytes</a:t>
            </a:r>
          </a:p>
          <a:p>
            <a:r>
              <a:rPr lang="en-US" dirty="0"/>
              <a:t>Network bandwidth is limited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8543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Streams are </a:t>
            </a:r>
            <a:r>
              <a:rPr lang="en-US" b="1" dirty="0"/>
              <a:t>infinite </a:t>
            </a:r>
            <a:r>
              <a:rPr lang="en-US" dirty="0"/>
              <a:t>with unlimited data volume</a:t>
            </a:r>
          </a:p>
          <a:p>
            <a:r>
              <a:rPr lang="en-US" dirty="0"/>
              <a:t>Results must be updated as new values arrive   </a:t>
            </a:r>
          </a:p>
          <a:p>
            <a:r>
              <a:rPr lang="en-US" dirty="0"/>
              <a:t>How to treat older values?  </a:t>
            </a:r>
          </a:p>
          <a:p>
            <a:pPr lvl="1"/>
            <a:r>
              <a:rPr lang="en-US" dirty="0"/>
              <a:t>How much should older values weight in the analytic results?  </a:t>
            </a:r>
          </a:p>
          <a:p>
            <a:pPr lvl="1"/>
            <a:r>
              <a:rPr lang="en-US" dirty="0"/>
              <a:t>How much storage capacity is required for the history?   </a:t>
            </a:r>
          </a:p>
          <a:p>
            <a:r>
              <a:rPr lang="en-US" dirty="0"/>
              <a:t>We can filter massive streams  </a:t>
            </a:r>
          </a:p>
          <a:p>
            <a:pPr lvl="1"/>
            <a:r>
              <a:rPr lang="en-US" dirty="0"/>
              <a:t>Reduce volume of stream data for processing   </a:t>
            </a:r>
          </a:p>
          <a:p>
            <a:pPr lvl="1"/>
            <a:r>
              <a:rPr lang="en-US" dirty="0"/>
              <a:t>Use filtered values to update analytics      </a:t>
            </a:r>
          </a:p>
          <a:p>
            <a:r>
              <a:rPr lang="en-US" dirty="0"/>
              <a:t>Idea: compute and store only summary statistics?  </a:t>
            </a:r>
          </a:p>
          <a:p>
            <a:pPr lvl="1"/>
            <a:r>
              <a:rPr lang="en-US" dirty="0"/>
              <a:t>Massive reduction in volume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7409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Streaming Pipelines</a:t>
            </a:r>
          </a:p>
        </p:txBody>
      </p:sp>
    </p:spTree>
    <p:extLst>
      <p:ext uri="{BB962C8B-B14F-4D97-AF65-F5344CB8AC3E}">
        <p14:creationId xmlns:p14="http://schemas.microsoft.com/office/powerpoint/2010/main" val="326181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4816492" cy="563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Components of stream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Multiple </a:t>
            </a:r>
            <a:r>
              <a:rPr lang="en-US" sz="2400" b="1" dirty="0"/>
              <a:t>input streams </a:t>
            </a:r>
            <a:r>
              <a:rPr lang="en-US" sz="2400" dirty="0"/>
              <a:t>– potentially different 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Network bandwidth often limited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</a:t>
            </a:r>
            <a:r>
              <a:rPr lang="en-US" sz="2400" b="1" dirty="0"/>
              <a:t>stream processor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stream analytics </a:t>
            </a:r>
            <a:r>
              <a:rPr lang="en-US" sz="2400" b="1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Limited working storage</a:t>
            </a:r>
            <a:r>
              <a:rPr lang="en-US" sz="2400" dirty="0"/>
              <a:t> for real-time processing 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Ad-Hoc query </a:t>
            </a:r>
            <a:r>
              <a:rPr lang="en-US" sz="2400" dirty="0"/>
              <a:t>capability – typically limited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Long-term </a:t>
            </a:r>
            <a:r>
              <a:rPr lang="en-US" sz="2400" b="1" dirty="0"/>
              <a:t>archival storage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75EC02B1-885C-4C88-856F-12191C17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6505" y="6546723"/>
            <a:ext cx="7233915" cy="274320"/>
          </a:xfrm>
        </p:spPr>
        <p:txBody>
          <a:bodyPr/>
          <a:lstStyle/>
          <a:p>
            <a:r>
              <a:rPr lang="en-US" dirty="0"/>
              <a:t>Credit: 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F81AE0-D05E-4D33-83B0-3B85526B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504" y="2013479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9E988F44-8169-4785-BFE3-00D20D96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980" y="4550403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8B628F77-2BB7-4811-9544-F6FFCFCAA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39504" y="3636003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FEB312B8-3B25-4539-A128-515C78507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3944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3CE67D50-B772-43BA-8D06-7F8D0F8BB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9278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20302AF6-9301-4FC1-BF4A-5D8B26C3A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34612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34CF8D37-126D-4928-B5D1-D5C23098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169" y="2165879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B70F990C-79AB-41A9-ABE2-7BE35669E6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3904" y="3749846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B770C673-A7DC-4450-AFA5-90E0FB2AC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9104" y="1008472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D220F095-33D9-4DFB-AFE4-E6A4719C6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6304" y="1578603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521FB31B-66BC-4506-A136-290FFB5C4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5428" y="2713566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F08B25D9-387A-4670-A3C0-75772C905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6904" y="292787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774BDFEE-E9C1-4094-81E6-2CA81B8A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2980" y="4931403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A795599F-9276-47EC-B6ED-3ED7EA665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8704" y="3636003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C1BEF69B-DA2E-4ECB-83C2-2F1734688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904" y="2089679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25609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most processing to the periphery of network </a:t>
            </a:r>
            <a:endParaRPr lang="en-US" b="1" dirty="0"/>
          </a:p>
          <a:p>
            <a:r>
              <a:rPr lang="en-US" dirty="0"/>
              <a:t>Network bandwidth is major limitation for large networks </a:t>
            </a:r>
          </a:p>
          <a:p>
            <a:pPr lvl="1"/>
            <a:r>
              <a:rPr lang="en-US" dirty="0"/>
              <a:t>Consider IoT application with 100,000 sensors </a:t>
            </a:r>
          </a:p>
          <a:p>
            <a:pPr lvl="1"/>
            <a:r>
              <a:rPr lang="en-US" dirty="0"/>
              <a:t>At 1 sec sampling interval reporting rate is 360 M samples (messages) per hour</a:t>
            </a:r>
          </a:p>
          <a:p>
            <a:pPr lvl="1"/>
            <a:r>
              <a:rPr lang="en-US" dirty="0"/>
              <a:t>Statistic aggregated to 10 min reporting rate is 600 K samples (messages) per hour </a:t>
            </a:r>
          </a:p>
          <a:p>
            <a:r>
              <a:rPr lang="en-US" dirty="0"/>
              <a:t>Many peripheral devices have considerable processing power </a:t>
            </a:r>
          </a:p>
          <a:p>
            <a:pPr lvl="1"/>
            <a:r>
              <a:rPr lang="en-US" dirty="0"/>
              <a:t>We can take advantage of the idle capacity </a:t>
            </a:r>
          </a:p>
          <a:p>
            <a:pPr lvl="1"/>
            <a:r>
              <a:rPr lang="en-US" dirty="0"/>
              <a:t>Greatly reduce load on networks and central processing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Processing of Stream Data</a:t>
            </a:r>
          </a:p>
        </p:txBody>
      </p:sp>
    </p:spTree>
    <p:extLst>
      <p:ext uri="{BB962C8B-B14F-4D97-AF65-F5344CB8AC3E}">
        <p14:creationId xmlns:p14="http://schemas.microsoft.com/office/powerpoint/2010/main" val="5474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F3E4-DE52-444A-7FE0-6E42DA66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BE1092-1A71-885E-30E5-4F2F6052669F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C73EE2-72CC-C189-8B84-98FF9FA853F4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1087-9773-5D88-C9B6-89178EE0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Reducing stream data volume is key to providing real-time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AEBADD-2E30-CBE6-39E2-44F4E5A18E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08C65E3-FA95-2589-2F2D-F7D7A31FC805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0B060B4-BF4F-19A0-64EC-1D5FB9CD0503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DAA219F3-5C5A-B60B-974E-21BFFDFA1E2D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0B6054B-B3D7-40EB-8F37-3D339B856202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45352-083A-AB8B-5BA7-F17E0A67D53A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A5C892-1371-D235-070F-D58E6AE553E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4FF9BF8-F6C2-D905-3F5A-787ACFC4C49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25E1F2-D0AC-60EC-98B2-9788D553D193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314FFD-C2B8-0C24-67B6-EB0C1675A8EE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4D86A61-1469-2A66-AC15-4371694EA552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6B80842-EFA8-DD79-7131-65ACCBCC6D60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67E0EEA-9610-A113-DB03-A3506FB2B731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4D2803-1D7E-49FC-1C9B-D9D5FC43C9EF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D0B009-016C-EF27-1C61-8A3803F7156B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BF23EE-DA3E-61EE-7D8E-46817A96C090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1F4B83-AA69-71F1-82F6-A8D9EDC0C3A3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E0BB5A-9508-C399-6C07-CA3BCA5BEF02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CDF978BC-C8F2-94B1-7C29-0133DC4AF192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6CD984-85B0-8F37-B385-7345D979A53A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9944B8-ABED-7B26-68D0-44366B648F87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8606BE-A306-B934-BD79-5E9C7DA6481D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4FB844-ED40-04B6-2570-6A6A5FC508F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EE4A81-CBE7-29E1-D55D-49D1C7F44A49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A328CA-E4E2-4B43-F8E3-AA18DEA0BC96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DF4FFC-737C-903D-2C61-349F07E7ECE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1EEA6A-4597-5BA2-8BCA-B696A5EAB575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AFA939-04F6-F92A-F820-A6CDEF64D2C6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B243B4-D5B2-DC11-F953-D169B494B3C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8F13EE-CB94-EC0B-53B5-C991F40723BA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8CD1AA-1D45-2E81-7D69-E9BD754201B4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E50A4B-8F47-1E9B-39C3-072AE216BA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655501-AD19-9833-7201-58FAD6968082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3404CD1-9C27-EDB9-2329-5EF91AF8AE6E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87BF4D-0707-985D-0247-8911C6CD9336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32634-28A6-85EC-0932-3F091D114DDE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93D8A0-B707-ED17-06A8-37109F5B55D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1FDDEF-45D4-A1CC-0F3F-1508A39E9BA3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3DEFCC-5A7D-A134-E88A-93EDBFAA9CE1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750C04-2EFD-14F6-9469-9C192060F4B7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60D200-A8A4-A7B5-FF6B-B63C497B21E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2F86D8C-E4A1-0FE7-CC71-C5BCDE898394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F1C2C0-68A7-40C1-938A-8BACDDDED0C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CC96DB-55AC-CD18-65DD-E1D12D8A128F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4BEE90-4F8E-6F71-1223-A54C51B8B79C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6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 animBg="1"/>
      <p:bldP spid="5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31" grpId="0" animBg="1"/>
      <p:bldP spid="32" grpId="0" animBg="1"/>
      <p:bldP spid="33" grpId="0" animBg="1"/>
      <p:bldP spid="34" grpId="0"/>
      <p:bldP spid="36" grpId="0" animBg="1"/>
      <p:bldP spid="37" grpId="0" animBg="1"/>
      <p:bldP spid="38" grpId="0" animBg="1"/>
      <p:bldP spid="39" grpId="0"/>
      <p:bldP spid="40" grpId="0" animBg="1"/>
      <p:bldP spid="42" grpId="0" animBg="1"/>
      <p:bldP spid="43" grpId="0" animBg="1"/>
      <p:bldP spid="44" grpId="0" animBg="1"/>
      <p:bldP spid="45" grpId="0"/>
      <p:bldP spid="46" grpId="0" animBg="1"/>
      <p:bldP spid="2" grpId="0"/>
      <p:bldP spid="9" grpId="0"/>
      <p:bldP spid="10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 1</a:t>
            </a:r>
          </a:p>
        </p:txBody>
      </p:sp>
    </p:spTree>
    <p:extLst>
      <p:ext uri="{BB962C8B-B14F-4D97-AF65-F5344CB8AC3E}">
        <p14:creationId xmlns:p14="http://schemas.microsoft.com/office/powerpoint/2010/main" val="3254235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 terminate calls from fraudulent accounts in real-time</a:t>
            </a:r>
          </a:p>
          <a:p>
            <a:r>
              <a:rPr lang="en-US" dirty="0"/>
              <a:t>Features  </a:t>
            </a:r>
          </a:p>
          <a:p>
            <a:pPr lvl="1"/>
            <a:r>
              <a:rPr lang="en-US" dirty="0"/>
              <a:t>Call history </a:t>
            </a:r>
          </a:p>
          <a:p>
            <a:pPr lvl="1"/>
            <a:r>
              <a:rPr lang="en-US" dirty="0"/>
              <a:t>Phone characteristics</a:t>
            </a:r>
          </a:p>
          <a:p>
            <a:pPr lvl="1"/>
            <a:r>
              <a:rPr lang="en-US" dirty="0"/>
              <a:t>Payment history  </a:t>
            </a:r>
          </a:p>
          <a:p>
            <a:pPr lvl="1"/>
            <a:r>
              <a:rPr lang="en-US" dirty="0"/>
              <a:t>Account types; individual, family, small business, corporate….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Fraud detection algorithm</a:t>
            </a:r>
          </a:p>
          <a:p>
            <a:pPr lvl="1"/>
            <a:r>
              <a:rPr lang="en-US" dirty="0"/>
              <a:t>Train in batch</a:t>
            </a:r>
          </a:p>
          <a:p>
            <a:pPr lvl="1"/>
            <a:r>
              <a:rPr lang="en-US" dirty="0"/>
              <a:t>Terminate fraudulent calls in real time in &lt; 1 sec - no billing record ‘residue’ 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333515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182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Model training</a:t>
            </a:r>
          </a:p>
          <a:p>
            <a:r>
              <a:rPr lang="en-US" dirty="0"/>
              <a:t>Ground truth is not known for 90-120 days  </a:t>
            </a:r>
          </a:p>
          <a:p>
            <a:pPr lvl="1"/>
            <a:r>
              <a:rPr lang="en-US" dirty="0"/>
              <a:t>Must use delayed training data</a:t>
            </a:r>
          </a:p>
          <a:p>
            <a:r>
              <a:rPr lang="en-US" dirty="0"/>
              <a:t>Fraud patterns change quickly   </a:t>
            </a:r>
          </a:p>
          <a:p>
            <a:pPr lvl="1"/>
            <a:r>
              <a:rPr lang="en-US" dirty="0"/>
              <a:t>Criminals constantly looking for greatest vulnerability </a:t>
            </a:r>
          </a:p>
          <a:p>
            <a:r>
              <a:rPr lang="en-US" dirty="0"/>
              <a:t>User behavior drifts with time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6569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Scaling </a:t>
            </a:r>
          </a:p>
          <a:p>
            <a:r>
              <a:rPr lang="en-US" dirty="0"/>
              <a:t>Training performed in batch – not time critical   </a:t>
            </a:r>
          </a:p>
          <a:p>
            <a:pPr lvl="1"/>
            <a:r>
              <a:rPr lang="en-US" dirty="0"/>
              <a:t>Data size often larger than core memory</a:t>
            </a:r>
          </a:p>
          <a:p>
            <a:r>
              <a:rPr lang="en-US" dirty="0"/>
              <a:t>Realtime fraud detection   </a:t>
            </a:r>
          </a:p>
          <a:p>
            <a:pPr lvl="1"/>
            <a:r>
              <a:rPr lang="en-US" dirty="0"/>
              <a:t>Move processing to edge – intercept communication between switch and billing system  </a:t>
            </a:r>
          </a:p>
          <a:p>
            <a:pPr lvl="1"/>
            <a:r>
              <a:rPr lang="en-US" dirty="0"/>
              <a:t>Update blocked account/number list 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11271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FAE1-AF27-69D6-5C12-D4F65141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02E-C2BD-F4AF-C1D6-7C5B4A1E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127007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Cannot store all history of streams in main memory!  </a:t>
            </a:r>
          </a:p>
          <a:p>
            <a:pPr lvl="1"/>
            <a:r>
              <a:rPr lang="en-US" dirty="0"/>
              <a:t>At large scale infinite streams will fill any disk array!   </a:t>
            </a:r>
          </a:p>
          <a:p>
            <a:r>
              <a:rPr lang="en-US"/>
              <a:t>Ideal </a:t>
            </a:r>
            <a:r>
              <a:rPr lang="en-US" dirty="0"/>
              <a:t>sketch algorithms have three properties </a:t>
            </a:r>
          </a:p>
          <a:p>
            <a:pPr lvl="1"/>
            <a:r>
              <a:rPr lang="en-US" dirty="0"/>
              <a:t>Small memory footprint </a:t>
            </a:r>
          </a:p>
          <a:p>
            <a:pPr lvl="1"/>
            <a:r>
              <a:rPr lang="en-US" dirty="0"/>
              <a:t>Computationally efficient to construct</a:t>
            </a:r>
          </a:p>
          <a:p>
            <a:pPr lvl="1"/>
            <a:r>
              <a:rPr lang="en-US" dirty="0"/>
              <a:t>Bounded error </a:t>
            </a:r>
          </a:p>
          <a:p>
            <a:r>
              <a:rPr lang="en-US" dirty="0"/>
              <a:t>There is enviable tradeoff between these three dimensions of low memory, efficiency and error  </a:t>
            </a:r>
          </a:p>
          <a:p>
            <a:pPr lvl="1"/>
            <a:r>
              <a:rPr lang="en-US" dirty="0"/>
              <a:t>Example, we can usually improve accuracy at the expense of memory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22164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4DB0-A272-D7F2-82AF-7AA2E1DD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45F8-34D1-ABDE-7216-E3EFBDA4E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Sketches for real-valued streams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Quantile estimation </a:t>
            </a:r>
          </a:p>
          <a:p>
            <a:r>
              <a:rPr lang="en-US" dirty="0"/>
              <a:t>Sketches for discrete valued streams </a:t>
            </a:r>
          </a:p>
          <a:p>
            <a:pPr lvl="1"/>
            <a:r>
              <a:rPr lang="en-US" dirty="0"/>
              <a:t>Occurrence </a:t>
            </a:r>
          </a:p>
          <a:p>
            <a:pPr lvl="1"/>
            <a:r>
              <a:rPr lang="en-US" dirty="0"/>
              <a:t>Counts </a:t>
            </a:r>
          </a:p>
          <a:p>
            <a:pPr lvl="1"/>
            <a:r>
              <a:rPr lang="en-US" dirty="0"/>
              <a:t>Cardinality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30CE6-AFA4-8C6A-7CA9-C1EC712983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305705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DB8D-519A-2397-A518-46295B46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482-A529-6730-3DD3-B6CDE8F9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Sketch algorithms can be found in several Python packages</a:t>
            </a:r>
          </a:p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Apache </a:t>
            </a:r>
            <a:r>
              <a:rPr lang="en-US" dirty="0" err="1">
                <a:hlinkClick r:id="rId2"/>
              </a:rPr>
              <a:t>DataSketches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package is an enterprise-grade sketch package with Python, C++, and Java APIs </a:t>
            </a:r>
          </a:p>
          <a:p>
            <a:pPr lvl="1"/>
            <a:r>
              <a:rPr lang="en-US" dirty="0"/>
              <a:t>Integrated with enterprise platform, </a:t>
            </a:r>
            <a:r>
              <a:rPr lang="en-US" dirty="0">
                <a:hlinkClick r:id="rId3"/>
              </a:rPr>
              <a:t>Google </a:t>
            </a:r>
            <a:r>
              <a:rPr lang="en-US" dirty="0" err="1">
                <a:hlinkClick r:id="rId3"/>
              </a:rPr>
              <a:t>BigQuery</a:t>
            </a:r>
            <a:r>
              <a:rPr lang="en-US" dirty="0">
                <a:hlinkClick r:id="rId3"/>
              </a:rPr>
              <a:t>,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Apache SPARK</a:t>
            </a:r>
            <a:endParaRPr lang="en-US" dirty="0"/>
          </a:p>
          <a:p>
            <a:pPr lvl="1"/>
            <a:r>
              <a:rPr lang="en-US" dirty="0"/>
              <a:t>Python API is a bit incomplete and inconsistent </a:t>
            </a:r>
          </a:p>
          <a:p>
            <a:r>
              <a:rPr lang="en-US" dirty="0"/>
              <a:t>Packages that implement sketch algorithms specifically with a Python API</a:t>
            </a:r>
          </a:p>
          <a:p>
            <a:pPr lvl="1"/>
            <a:r>
              <a:rPr lang="en-US" dirty="0" err="1">
                <a:hlinkClick r:id="rId5"/>
              </a:rPr>
              <a:t>PyProbables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DataSketch</a:t>
            </a:r>
            <a:endParaRPr lang="en-US" dirty="0"/>
          </a:p>
          <a:p>
            <a:r>
              <a:rPr lang="en-US" dirty="0" err="1"/>
              <a:t>Numerious</a:t>
            </a:r>
            <a:r>
              <a:rPr lang="en-US" dirty="0"/>
              <a:t> specialized or single algorithm packages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33464C-9FFB-E6B9-7CF5-3DB75B3C30C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 Software </a:t>
            </a:r>
          </a:p>
        </p:txBody>
      </p:sp>
    </p:spTree>
    <p:extLst>
      <p:ext uri="{BB962C8B-B14F-4D97-AF65-F5344CB8AC3E}">
        <p14:creationId xmlns:p14="http://schemas.microsoft.com/office/powerpoint/2010/main" val="221685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EF84-B806-8957-0755-373D1D3B1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Sampling and Filtering</a:t>
            </a:r>
          </a:p>
        </p:txBody>
      </p:sp>
    </p:spTree>
    <p:extLst>
      <p:ext uri="{BB962C8B-B14F-4D97-AF65-F5344CB8AC3E}">
        <p14:creationId xmlns:p14="http://schemas.microsoft.com/office/powerpoint/2010/main" val="1307330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B3BA-352C-17F5-DB5E-46FB8B44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2B2F-C8D1-2D95-F8C3-E2971031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Cannot store all history of streams in main memory!  </a:t>
            </a:r>
          </a:p>
          <a:p>
            <a:r>
              <a:rPr lang="en-US" dirty="0"/>
              <a:t>Need a better approach</a:t>
            </a:r>
          </a:p>
          <a:p>
            <a:r>
              <a:rPr lang="en-US" dirty="0"/>
              <a:t>Some ideas:  </a:t>
            </a:r>
          </a:p>
          <a:p>
            <a:pPr lvl="1"/>
            <a:r>
              <a:rPr lang="en-US" b="1" dirty="0"/>
              <a:t>Delta coding</a:t>
            </a:r>
            <a:r>
              <a:rPr lang="en-US" dirty="0"/>
              <a:t>: Only update when there is substantial change  </a:t>
            </a:r>
          </a:p>
          <a:p>
            <a:pPr lvl="1"/>
            <a:r>
              <a:rPr lang="en-US" b="1" dirty="0"/>
              <a:t>Moving window</a:t>
            </a:r>
            <a:r>
              <a:rPr lang="en-US" dirty="0"/>
              <a:t>: Compute statistic for each window position </a:t>
            </a:r>
          </a:p>
          <a:p>
            <a:pPr lvl="1"/>
            <a:r>
              <a:rPr lang="en-US" b="1" dirty="0"/>
              <a:t>Decay window</a:t>
            </a:r>
            <a:r>
              <a:rPr lang="en-US" dirty="0"/>
              <a:t>: compute statistic down-weighting older event values</a:t>
            </a:r>
          </a:p>
          <a:p>
            <a:pPr lvl="1"/>
            <a:r>
              <a:rPr lang="en-US" b="1" dirty="0"/>
              <a:t>Reservoir sampling</a:t>
            </a:r>
            <a:r>
              <a:rPr lang="en-US" dirty="0"/>
              <a:t>: compute statistic from a random sample of the stream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B6D00-36F0-65BC-2E9B-9DFE9AAC9EA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and Sketching Real Valued Streams</a:t>
            </a:r>
          </a:p>
        </p:txBody>
      </p:sp>
    </p:spTree>
    <p:extLst>
      <p:ext uri="{BB962C8B-B14F-4D97-AF65-F5344CB8AC3E}">
        <p14:creationId xmlns:p14="http://schemas.microsoft.com/office/powerpoint/2010/main" val="429433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FE17-CFCF-EA25-327F-A7F22FE4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D7FE3-BC11-4AC2-2C3B-42C267363A8B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F77B09-B96D-3A5E-DE94-A650EDC30675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D76E-EE79-CFC6-182C-DD2FFADA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6DCE9E-DD81-FD69-923A-05DD8824AB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610344F-0069-87BE-33E7-AF5A6180F69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5DB1FA7-88CB-AD28-0A3C-67726C81149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F0C69AC0-6F91-E692-4E3E-F54AAE421BD8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2A6DC4-D656-E2F5-0EC2-C1E47966385A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0C4559-6090-232E-75D0-F75C2C377FD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C418A-7955-C0CC-34C9-D5CC93E26CB0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93AC05-AD2B-196F-3D9C-858BF404EB57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AD4348-78E2-55C5-EFB9-472131956E1F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F600C4C-174A-4788-4785-6BE0F3B57207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A548D0-B1ED-C497-28B1-17AF459B3CC6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6D5F53-2A48-2D75-6256-53468C56A5C7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84168C-AAA3-FA94-A6A9-5DA6117B1C38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9BCF774-29AC-9FBD-A361-72029CA347C8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0AEB2F0-26D5-708C-71B9-A1BB6565214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85FFBFD-44AC-6CA2-58CB-DB504DC582B4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7F5578-17E4-ACF5-0D08-DA81672504E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7F333B-662A-1059-119F-CE558C984457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78F6D4-AADE-830E-C7B6-FB073B29234C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5047DB-428F-BC2D-6C95-C146A2016731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19D63-4EE5-E8C4-C648-35A00F5D1417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EF3185-0ADD-5220-A798-ED26094EB7E9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058367DA-7451-383C-0162-62CACEF63DA8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919956-575E-C7DE-99A5-37C524690BE2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3D2D09-270B-5573-96C3-6851DDFFDACA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CBD15-8F50-BBC8-E702-6C4F306DB9B3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51E1E3-02CC-E050-F68D-7313CCC90EC5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709B55-0CAE-AA26-BA85-1619C88E1BBB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9A8CD7-2A11-4B64-5DFC-876C5BDC777D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224BEE-E969-9BCD-05EB-0E7847A97A58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901051F-334C-09A1-0ECE-86E33E6EB0C1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6E85A1-410C-4669-D33B-4B8D00B703A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96AFAC3-50D3-E9A0-1371-88C981BAFCE3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8F6392A-1997-7184-4AA6-359CF3F75672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C0EAD3-6392-69CC-8CBD-EE2130B91412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14E6A4-B45A-9847-7A61-A53DE3F5BD43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18A2EB-C255-5AE9-AAA7-0824F3242A8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819DD5C-F38F-E0DF-4275-C86EEE161C5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53255C-C97B-C787-E407-DC6583B9495C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D6BAC1-D4EC-2A07-71FF-2AB99610BB57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17F33E-0DC0-9FC8-8EED-59327B206FA0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2B7F2F-2942-E8F5-C510-39C8792C492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9CED80-C2C8-611D-C984-983BB03BAEA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DE8216-C070-C253-8848-284A8B4BE765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3C1F5-D863-39DF-A172-91E6ED07486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F7C0ECD-48B7-C08A-719D-2016DAB7BE0A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B3A6D3-7076-549D-1D58-C2D5A5E21B9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5961A5-36FC-B268-7130-F79796ED4F5E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E15801-DA67-A047-3428-F9B93E2C9751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86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only transmits and processes values with significant differences </a:t>
            </a:r>
          </a:p>
          <a:p>
            <a:r>
              <a:rPr lang="en-US" dirty="0"/>
              <a:t>Example: consider a large network of sensors (IoT) </a:t>
            </a:r>
          </a:p>
          <a:p>
            <a:pPr lvl="1"/>
            <a:r>
              <a:rPr lang="en-US" dirty="0"/>
              <a:t>Values at most sensors do not change most of the time </a:t>
            </a:r>
          </a:p>
          <a:p>
            <a:pPr lvl="1"/>
            <a:r>
              <a:rPr lang="en-US" dirty="0"/>
              <a:t>Example: Temperature has not changed significantly </a:t>
            </a:r>
          </a:p>
          <a:p>
            <a:pPr lvl="1"/>
            <a:r>
              <a:rPr lang="en-US" dirty="0"/>
              <a:t>Example: Nothing moving in or out of image </a:t>
            </a:r>
          </a:p>
          <a:p>
            <a:pPr lvl="1"/>
            <a:r>
              <a:rPr lang="en-US" dirty="0"/>
              <a:t>Example: Current in transmission line has not changed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Delta coding restricts transmission, processing and storage to </a:t>
            </a:r>
            <a:r>
              <a:rPr lang="en-US" b="1" dirty="0"/>
              <a:t>significant changes (deltas)</a:t>
            </a:r>
          </a:p>
          <a:p>
            <a:pPr lvl="1"/>
            <a:r>
              <a:rPr lang="en-US" dirty="0"/>
              <a:t>A threshold determines significance of change </a:t>
            </a:r>
          </a:p>
          <a:p>
            <a:pPr lvl="1"/>
            <a:r>
              <a:rPr lang="en-US" dirty="0"/>
              <a:t>Threshold values are solution specific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26748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moves filtering and initial processing to periphery of network</a:t>
            </a:r>
          </a:p>
          <a:p>
            <a:r>
              <a:rPr lang="en-US" dirty="0"/>
              <a:t>Example: Measuring flow in pipe network</a:t>
            </a:r>
          </a:p>
          <a:p>
            <a:pPr lvl="1"/>
            <a:r>
              <a:rPr lang="en-US" dirty="0"/>
              <a:t>100,000 flow sensors sampling every 1-sec with +/-3% standard error</a:t>
            </a:r>
          </a:p>
          <a:p>
            <a:pPr lvl="1"/>
            <a:r>
              <a:rPr lang="en-US" dirty="0"/>
              <a:t>Example: Set threshold and only report if change more than +/-3% of moving average </a:t>
            </a:r>
          </a:p>
          <a:p>
            <a:pPr lvl="1"/>
            <a:r>
              <a:rPr lang="en-US" dirty="0"/>
              <a:t>Can reduce network traffic and processing by orders of magnitude  </a:t>
            </a:r>
          </a:p>
          <a:p>
            <a:r>
              <a:rPr lang="en-US" dirty="0"/>
              <a:t>Example: Security camera watching gate </a:t>
            </a:r>
          </a:p>
          <a:p>
            <a:pPr lvl="1"/>
            <a:r>
              <a:rPr lang="en-US" dirty="0"/>
              <a:t>Image transmission expensive at raw 50-60 frames per second</a:t>
            </a:r>
          </a:p>
          <a:p>
            <a:pPr lvl="1"/>
            <a:r>
              <a:rPr lang="en-US" dirty="0"/>
              <a:t>Threshold on object greater than some number of pixels moving in frame  </a:t>
            </a:r>
          </a:p>
          <a:p>
            <a:pPr lvl="1"/>
            <a:r>
              <a:rPr lang="en-US" dirty="0"/>
              <a:t>Reduces transmission, processing and storage by many orders of magnitude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413569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Compute and store summary statistics from moving window</a:t>
            </a:r>
            <a:endParaRPr lang="en-US" sz="3200" b="1" dirty="0"/>
          </a:p>
          <a:p>
            <a:r>
              <a:rPr lang="en-US" dirty="0"/>
              <a:t>Need to update the analytic as new values received  </a:t>
            </a:r>
          </a:p>
          <a:p>
            <a:r>
              <a:rPr lang="en-US" dirty="0"/>
              <a:t>Must maintain samples in a window </a:t>
            </a:r>
          </a:p>
          <a:p>
            <a:r>
              <a:rPr lang="en-US" dirty="0"/>
              <a:t>Move window by a stride, number of samples</a:t>
            </a:r>
          </a:p>
          <a:p>
            <a:r>
              <a:rPr lang="en-US" dirty="0"/>
              <a:t>On update </a:t>
            </a:r>
          </a:p>
          <a:p>
            <a:pPr lvl="1"/>
            <a:r>
              <a:rPr lang="en-US" dirty="0"/>
              <a:t>Add new observations to the end of window</a:t>
            </a:r>
          </a:p>
          <a:p>
            <a:pPr lvl="1"/>
            <a:r>
              <a:rPr lang="en-US" dirty="0"/>
              <a:t>Remove old observations from beginning of window </a:t>
            </a:r>
          </a:p>
          <a:p>
            <a:pPr lvl="1"/>
            <a:r>
              <a:rPr lang="en-US" dirty="0"/>
              <a:t>Compute and store new estimate of statistic</a:t>
            </a:r>
          </a:p>
          <a:p>
            <a:r>
              <a:rPr lang="en-US" dirty="0"/>
              <a:t>Algorithm requires recomputing statistics using all observations in the window in main memory</a:t>
            </a:r>
          </a:p>
          <a:p>
            <a:r>
              <a:rPr lang="en-US" dirty="0"/>
              <a:t>May not scale well  </a:t>
            </a: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</p:spTree>
    <p:extLst>
      <p:ext uri="{BB962C8B-B14F-4D97-AF65-F5344CB8AC3E}">
        <p14:creationId xmlns:p14="http://schemas.microsoft.com/office/powerpoint/2010/main" val="239092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234699"/>
            <a:ext cx="10515600" cy="701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Compute and store summary statistics from moving window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DB8D8-F827-4BB3-A962-2FA8869EA91E}"/>
              </a:ext>
            </a:extLst>
          </p:cNvPr>
          <p:cNvSpPr txBox="1"/>
          <p:nvPr/>
        </p:nvSpPr>
        <p:spPr>
          <a:xfrm>
            <a:off x="1095086" y="2245827"/>
            <a:ext cx="6115675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... t</a:t>
            </a:r>
            <a:r>
              <a:rPr lang="en-US" sz="2400" baseline="-25000" dirty="0"/>
              <a:t>0  </a:t>
            </a:r>
            <a:r>
              <a:rPr lang="en-US" sz="2400" dirty="0"/>
              <a:t>t</a:t>
            </a:r>
            <a:r>
              <a:rPr lang="en-US" sz="2400" baseline="-25000" dirty="0"/>
              <a:t>1 </a:t>
            </a:r>
            <a:r>
              <a:rPr lang="en-US" sz="2400" dirty="0"/>
              <a:t> t</a:t>
            </a:r>
            <a:r>
              <a:rPr lang="en-US" sz="2400" baseline="-25000" dirty="0"/>
              <a:t>2</a:t>
            </a:r>
            <a:r>
              <a:rPr lang="en-US" sz="2400" dirty="0"/>
              <a:t>  t</a:t>
            </a:r>
            <a:r>
              <a:rPr lang="en-US" sz="2400" baseline="-25000" dirty="0"/>
              <a:t>3</a:t>
            </a:r>
            <a:r>
              <a:rPr lang="en-US" sz="2400" dirty="0"/>
              <a:t>  </a:t>
            </a:r>
            <a:r>
              <a:rPr lang="en-US" sz="2400" dirty="0" err="1"/>
              <a:t>t</a:t>
            </a:r>
            <a:r>
              <a:rPr lang="en-US" sz="2400" baseline="-25000" dirty="0" err="1"/>
              <a:t>3</a:t>
            </a:r>
            <a:r>
              <a:rPr lang="en-US" sz="2400" baseline="-25000" dirty="0"/>
              <a:t>  </a:t>
            </a:r>
            <a:r>
              <a:rPr lang="en-US" sz="2400" dirty="0"/>
              <a:t>t</a:t>
            </a:r>
            <a:r>
              <a:rPr lang="en-US" sz="2400" baseline="-25000" dirty="0"/>
              <a:t>4 </a:t>
            </a:r>
            <a:r>
              <a:rPr lang="en-US" sz="2400" dirty="0"/>
              <a:t>t</a:t>
            </a:r>
            <a:r>
              <a:rPr lang="en-US" sz="2400" baseline="-25000" dirty="0"/>
              <a:t>5 </a:t>
            </a:r>
            <a:r>
              <a:rPr lang="en-US" sz="2400" dirty="0"/>
              <a:t>t</a:t>
            </a:r>
            <a:r>
              <a:rPr lang="en-US" sz="2400" baseline="-25000" dirty="0"/>
              <a:t>6 </a:t>
            </a:r>
            <a:r>
              <a:rPr lang="en-US" sz="2400" dirty="0"/>
              <a:t>t</a:t>
            </a:r>
            <a:r>
              <a:rPr lang="en-US" sz="2400" baseline="-25000" dirty="0"/>
              <a:t>7 </a:t>
            </a:r>
            <a:r>
              <a:rPr lang="en-US" sz="2400" dirty="0"/>
              <a:t>t</a:t>
            </a:r>
            <a:r>
              <a:rPr lang="en-US" sz="2400" baseline="-25000" dirty="0"/>
              <a:t>8 </a:t>
            </a:r>
            <a:r>
              <a:rPr lang="en-US" sz="2400" dirty="0"/>
              <a:t>t</a:t>
            </a:r>
            <a:r>
              <a:rPr lang="en-US" sz="2400" baseline="-25000" dirty="0"/>
              <a:t>9 </a:t>
            </a:r>
            <a:r>
              <a:rPr lang="en-US" sz="2400" dirty="0"/>
              <a:t>t</a:t>
            </a:r>
            <a:r>
              <a:rPr lang="en-US" sz="2400" baseline="-25000" dirty="0"/>
              <a:t>10 </a:t>
            </a:r>
            <a:r>
              <a:rPr lang="en-US" sz="2400" dirty="0"/>
              <a:t>t</a:t>
            </a:r>
            <a:r>
              <a:rPr lang="en-US" sz="2400" baseline="-25000" dirty="0"/>
              <a:t>11 </a:t>
            </a:r>
            <a:r>
              <a:rPr lang="en-US" sz="2400" dirty="0"/>
              <a:t>t</a:t>
            </a:r>
            <a:r>
              <a:rPr lang="en-US" sz="2400" baseline="-25000" dirty="0"/>
              <a:t>12 </a:t>
            </a:r>
            <a:r>
              <a:rPr lang="en-US" sz="2400" dirty="0"/>
              <a:t>t</a:t>
            </a:r>
            <a:r>
              <a:rPr lang="en-US" sz="2400" baseline="-25000" dirty="0"/>
              <a:t>13 </a:t>
            </a:r>
            <a:r>
              <a:rPr lang="en-US" sz="2400" dirty="0"/>
              <a:t>t</a:t>
            </a:r>
            <a:r>
              <a:rPr lang="en-US" sz="2400" baseline="-25000" dirty="0"/>
              <a:t>14 </a:t>
            </a:r>
            <a:r>
              <a:rPr lang="en-US" sz="2400" dirty="0"/>
              <a:t>t</a:t>
            </a:r>
            <a:r>
              <a:rPr lang="en-US" sz="2400" baseline="-25000" dirty="0"/>
              <a:t>15 </a:t>
            </a:r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15128C2-B998-4C11-8D1A-E31F3E1960CE}"/>
              </a:ext>
            </a:extLst>
          </p:cNvPr>
          <p:cNvSpPr/>
          <p:nvPr/>
        </p:nvSpPr>
        <p:spPr>
          <a:xfrm rot="5400000">
            <a:off x="2576856" y="2243676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FD6C752-9354-4A50-A7D8-D173C4665138}"/>
              </a:ext>
            </a:extLst>
          </p:cNvPr>
          <p:cNvSpPr/>
          <p:nvPr/>
        </p:nvSpPr>
        <p:spPr>
          <a:xfrm rot="5400000">
            <a:off x="3826182" y="3577238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8A075D-BE5C-433E-8EC9-859C451635F9}"/>
              </a:ext>
            </a:extLst>
          </p:cNvPr>
          <p:cNvCxnSpPr/>
          <p:nvPr/>
        </p:nvCxnSpPr>
        <p:spPr>
          <a:xfrm>
            <a:off x="1664228" y="2822631"/>
            <a:ext cx="2498652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888F05-EF15-4D58-A6C9-D8D370BA2A88}"/>
              </a:ext>
            </a:extLst>
          </p:cNvPr>
          <p:cNvSpPr txBox="1"/>
          <p:nvPr/>
        </p:nvSpPr>
        <p:spPr>
          <a:xfrm>
            <a:off x="1230065" y="2773296"/>
            <a:ext cx="3366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Span of time window = 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99DF79-E384-4675-BC91-11A5F47BCEBF}"/>
              </a:ext>
            </a:extLst>
          </p:cNvPr>
          <p:cNvCxnSpPr>
            <a:cxnSpLocks/>
          </p:cNvCxnSpPr>
          <p:nvPr/>
        </p:nvCxnSpPr>
        <p:spPr>
          <a:xfrm>
            <a:off x="2913554" y="4069685"/>
            <a:ext cx="1249326" cy="0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1907B2-BBE0-4A16-BD29-6A3FE3910247}"/>
              </a:ext>
            </a:extLst>
          </p:cNvPr>
          <p:cNvSpPr txBox="1"/>
          <p:nvPr/>
        </p:nvSpPr>
        <p:spPr>
          <a:xfrm>
            <a:off x="2405081" y="4059369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Stride =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87EFD-9727-494F-874F-E39695778B81}"/>
              </a:ext>
            </a:extLst>
          </p:cNvPr>
          <p:cNvSpPr txBox="1"/>
          <p:nvPr/>
        </p:nvSpPr>
        <p:spPr>
          <a:xfrm>
            <a:off x="132371" y="4487710"/>
            <a:ext cx="2195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E073B3-C041-405F-AC3C-568286CFCDD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230065" y="3951750"/>
            <a:ext cx="1683488" cy="53596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ACCAE2-1CA0-40E1-960D-3264F3F26406}"/>
              </a:ext>
            </a:extLst>
          </p:cNvPr>
          <p:cNvSpPr txBox="1"/>
          <p:nvPr/>
        </p:nvSpPr>
        <p:spPr>
          <a:xfrm>
            <a:off x="1284857" y="5773783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84D43D-7E62-4DEF-AE0A-FBE6CA1BBCE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327758" y="5297950"/>
            <a:ext cx="1835122" cy="475833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BDBB3BA-172D-43C8-9C34-178852087C64}"/>
              </a:ext>
            </a:extLst>
          </p:cNvPr>
          <p:cNvSpPr txBox="1">
            <a:spLocks/>
          </p:cNvSpPr>
          <p:nvPr/>
        </p:nvSpPr>
        <p:spPr>
          <a:xfrm>
            <a:off x="7210762" y="2245827"/>
            <a:ext cx="4848868" cy="4306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Streaming data values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 sample the stream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statistic from samples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 window by a Stride</a:t>
            </a:r>
          </a:p>
          <a:p>
            <a:pPr marL="0" indent="0">
              <a:buNone/>
            </a:pPr>
            <a:r>
              <a:rPr lang="en-US" dirty="0"/>
              <a:t>Repeat steps 1-3 indefinitely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/>
      <p:bldP spid="11" grpId="0"/>
      <p:bldP spid="12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3837-985B-A320-3040-762131EE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2FC9-23BB-9475-6ACE-7E252670F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14215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5A34-09D0-9863-8B8E-2A7877E4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8D6D-C896-057F-1876-31F8FE48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3001"/>
            <a:ext cx="10515600" cy="544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randomly sample from infinite streams to compute an analytic?    </a:t>
            </a:r>
          </a:p>
          <a:p>
            <a:r>
              <a:rPr lang="en-US" dirty="0"/>
              <a:t>Why do we need random samples or </a:t>
            </a:r>
            <a:r>
              <a:rPr lang="en-US" b="1" dirty="0"/>
              <a:t>probabilistic sampling algorithms</a:t>
            </a:r>
            <a:r>
              <a:rPr lang="en-US" dirty="0"/>
              <a:t>? </a:t>
            </a:r>
          </a:p>
          <a:p>
            <a:r>
              <a:rPr lang="en-US" dirty="0"/>
              <a:t>Moving window samples only hold information for a finite time </a:t>
            </a:r>
          </a:p>
          <a:p>
            <a:pPr lvl="1"/>
            <a:r>
              <a:rPr lang="en-US" dirty="0"/>
              <a:t>Loose history  </a:t>
            </a:r>
          </a:p>
          <a:p>
            <a:r>
              <a:rPr lang="en-US" dirty="0"/>
              <a:t>Exponential smoothing methods only works for certain statistics  </a:t>
            </a:r>
          </a:p>
          <a:p>
            <a:pPr lvl="1"/>
            <a:r>
              <a:rPr lang="en-US" dirty="0"/>
              <a:t>We cannot derive closed form recursions for many statistics, e.g. median   </a:t>
            </a:r>
          </a:p>
          <a:p>
            <a:r>
              <a:rPr lang="en-US" dirty="0"/>
              <a:t>Idea: use a </a:t>
            </a:r>
            <a:r>
              <a:rPr lang="en-US" b="1" dirty="0"/>
              <a:t>random samples </a:t>
            </a:r>
            <a:r>
              <a:rPr lang="en-US" dirty="0"/>
              <a:t>to create a </a:t>
            </a:r>
            <a:r>
              <a:rPr lang="en-US" b="1" dirty="0"/>
              <a:t>sketch</a:t>
            </a:r>
            <a:r>
              <a:rPr lang="en-US" dirty="0"/>
              <a:t> of the observations   </a:t>
            </a:r>
          </a:p>
          <a:p>
            <a:pPr lvl="1"/>
            <a:r>
              <a:rPr lang="en-US" dirty="0"/>
              <a:t>Build a sketch representative of the full infinite stream</a:t>
            </a:r>
          </a:p>
          <a:p>
            <a:pPr lvl="1"/>
            <a:r>
              <a:rPr lang="en-US" dirty="0"/>
              <a:t>Updated random sample as new observations arrive</a:t>
            </a:r>
          </a:p>
          <a:p>
            <a:pPr marL="0" indent="0">
              <a:buNone/>
            </a:pPr>
            <a:r>
              <a:rPr lang="en-US" sz="2000" i="1" dirty="0"/>
              <a:t>Note: Reservoir sampling is implemented in the </a:t>
            </a:r>
            <a:r>
              <a:rPr lang="en-US" sz="2000" i="1" dirty="0">
                <a:hlinkClick r:id="rId2"/>
              </a:rPr>
              <a:t>Apache </a:t>
            </a:r>
            <a:r>
              <a:rPr lang="en-US" sz="2000" i="1" dirty="0" err="1">
                <a:hlinkClick r:id="rId2"/>
              </a:rPr>
              <a:t>DataSketches</a:t>
            </a:r>
            <a:r>
              <a:rPr lang="en-US" sz="2000" i="1" dirty="0">
                <a:hlinkClick r:id="rId2"/>
              </a:rPr>
              <a:t> package </a:t>
            </a:r>
            <a:endParaRPr lang="en-US" sz="2000"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29D0E8-589E-DBAF-C137-3E98400762B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41310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F1B9-97E7-F2DD-66BC-F8DB1AFA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767386-1640-FF02-F24D-2EA50D6F14DA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484DB8-FB79-6F97-7D87-BE5523A2C9F0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8FA7-2253-5799-C779-EE541552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978D45-36E6-5755-1973-C26C1DED65A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04A55CB-EDCD-D226-B82F-59BC46B208DB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028BB68-459B-AB53-FEAA-D044951B97A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B719C927-EC18-C95D-6C9B-CA23B982F4EC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0FF598-5931-35E1-29AC-1441E9D5682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96A58F0-25D2-ED9E-5D0B-6C6CD6F20567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21C1-2F0A-32BB-5F74-5C0D34305438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B09152-F398-29F9-DC4F-83444CFE1A1D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12C0EC-7B9B-B3B3-123B-B36FDECBB1F0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FC9DA163-6FF7-CF77-A9CF-B69A591A3C2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62823D-702F-A03C-6358-BB9020754499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22D509-CB98-307E-7BDF-08595E4F00E4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7CC78E-5626-90F6-049D-8812A458AD6D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4E3B2A2-933D-EB71-A321-055806775A8B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178C609-729D-97FA-6516-2AA0C4AF11AB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B0CA055-0D64-D846-03B6-69C1D7EFF63E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22DC49-9D60-16A5-C2D2-0ECAD96CB2CA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F93918-50B9-5781-74C6-E9A1335BEA96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CE898C-487C-E658-CAC1-F512DA7ACC57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70EB9-D799-3A4F-880A-F7F38D946A80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8E41BE-62A8-85D7-8CC6-22306C1AB453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FFFF886-6B63-693E-A6EB-AB057179BD43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A848749-C57F-3430-96FA-717EF5A11BA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9110D7-A4FD-CFBE-B99D-44D143B5C6DF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AF6C0E-C5D4-85F6-5319-0E5B5C3CE3A0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5A936E-0AD4-8430-48F7-EBA680B38026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92DB35-BE34-36E5-2884-BCB6F9FF4812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D4F27-C823-198F-B874-1373883D5CB3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241280-A2B0-C628-15F4-A5A2F832FC59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3EA6BC-E781-E1AD-D4E8-FC4A010FD900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B868E1-B455-12CB-A1CD-4FD30F092D5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16FDC32-AA94-050A-4722-EBA818285B98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AC7CBD-31A6-0B25-0C86-B83ADB183294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C5BB725-A5EF-A683-DB88-B74B893B5D3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37B90A-37AD-8E66-5CC6-5A93BED2F61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3A954-209B-F4FD-79CC-C5EE29EA8078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37F2CD-4407-3940-A0F8-D21C358564D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D1C88D1-DCD0-E71C-9E68-4CB7577E866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7878A1-C376-C44C-9731-6CB5DC997443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CF9D3F-8520-78E1-3CFA-A13700D43D1D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936EEF-9E5C-59F6-B72B-BC3128FBC6C4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FD2D29-688E-D484-3C38-E3E29AB6534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D262F2-AEFC-D031-FF45-F116872CE23C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1BB3AC-3634-47E7-8B56-2CC45534E75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792EA42-FB65-250B-C993-33535255A309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F8D7C5E-4461-5BDD-2AB2-654C97BF872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EC705-3967-AB75-31AB-929A1CC0DAAB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D2788-A1D5-1F56-2DE6-C11E44A706F0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74FCC38-6B4D-277E-470A-0971ACBA4C86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99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6DA2-7018-3355-EDD0-6051A0CC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 to compute an analytic?    </a:t>
                </a:r>
              </a:p>
              <a:p>
                <a:r>
                  <a:rPr lang="en-US" dirty="0"/>
                  <a:t>Could we Poisson sample from the stream? </a:t>
                </a:r>
              </a:p>
              <a:p>
                <a:r>
                  <a:rPr lang="en-US" dirty="0"/>
                  <a:t>Consider the required memory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 sampling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number of sample seen from the stream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size of the Poisson sample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memory required for a Poisson sample is </a:t>
                </a:r>
                <a:r>
                  <a:rPr lang="en-US" b="1" dirty="0"/>
                  <a:t>unbounded for an infinite stream!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0F111B46-A4F4-7899-E8FF-1492C12715B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58054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E7E5-D8F8-29D4-50B2-123A6858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The reservoir sampling algorithm maintains a random sample </a:t>
                </a:r>
                <a:r>
                  <a:rPr lang="en-US" b="1" dirty="0"/>
                  <a:t>within fixed memory</a:t>
                </a:r>
              </a:p>
              <a:p>
                <a:r>
                  <a:rPr lang="en-US" dirty="0"/>
                  <a:t>Reservoir sampling is massively scalable for large number of streams</a:t>
                </a:r>
              </a:p>
              <a:p>
                <a:r>
                  <a:rPr lang="en-US" dirty="0"/>
                  <a:t>Apply sampling with fixed reservoir length,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Define reservoir,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Random sample </a:t>
                </a:r>
                <a:r>
                  <a:rPr lang="en-US" i="1" dirty="0"/>
                  <a:t>n</a:t>
                </a:r>
                <a:r>
                  <a:rPr lang="en-US" dirty="0"/>
                  <a:t>th observation </a:t>
                </a:r>
              </a:p>
              <a:p>
                <a:pPr marL="914400" lvl="2" indent="0">
                  <a:buNone/>
                </a:pPr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Repeat step 2 indefinitely for each new observation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Find details for reservoir sampling in </a:t>
                </a:r>
                <a:r>
                  <a:rPr lang="en-US" dirty="0">
                    <a:hlinkClick r:id="rId2"/>
                  </a:rPr>
                  <a:t>Algorithms and Structures for Massive Data Sets, </a:t>
                </a:r>
                <a:r>
                  <a:rPr lang="en-US" dirty="0" err="1">
                    <a:hlinkClick r:id="rId2"/>
                  </a:rPr>
                  <a:t>Medjodovic</a:t>
                </a:r>
                <a:r>
                  <a:rPr lang="en-US" dirty="0">
                    <a:hlinkClick r:id="rId2"/>
                  </a:rPr>
                  <a:t>, et al., 2022, Manning</a:t>
                </a:r>
                <a:r>
                  <a:rPr lang="en-US" dirty="0"/>
                  <a:t>  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3"/>
                <a:stretch>
                  <a:fillRect l="-1217" t="-1904" b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BC0191A-EC6B-467A-4BD5-3EEECD14F2B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01417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B159-F634-7F0E-2C68-E0B921B2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Why does reservoir sampling algorithm produce a random sample?   </a:t>
                </a:r>
              </a:p>
              <a:p>
                <a:r>
                  <a:rPr lang="en-US" dirty="0"/>
                  <a:t>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samples are included in the reservoir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added to the reservoir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resides in the reservoir just before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is 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still in the reservoir after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probability of including a new sample is the same as the probability of retaining that sample when a new sample arrives, e.g. random sampling!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043" t="-1792" r="-116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1022D6F-3193-3ECF-F840-DF813D9DE99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8036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D776-E7E8-2269-454F-ECD4B884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7AC4AC-0E58-CD34-15F6-EFB09EAFEF4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234D6-3429-19CF-D83D-7A71768A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599" y="614629"/>
            <a:ext cx="3591426" cy="310558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D6D28-1CE2-DEEE-20F3-772692DC8AD3}"/>
              </a:ext>
            </a:extLst>
          </p:cNvPr>
          <p:cNvSpPr txBox="1">
            <a:spLocks/>
          </p:cNvSpPr>
          <p:nvPr/>
        </p:nvSpPr>
        <p:spPr>
          <a:xfrm>
            <a:off x="787264" y="2102631"/>
            <a:ext cx="6606174" cy="3814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Compare reservoir sampling to Poisson sampling    </a:t>
            </a:r>
          </a:p>
          <a:p>
            <a:r>
              <a:rPr lang="en-US" sz="2400" dirty="0"/>
              <a:t>A Poisson sample grows linearly, whereas the reservoir sample is constant</a:t>
            </a:r>
          </a:p>
          <a:p>
            <a:r>
              <a:rPr lang="en-US" sz="2400" dirty="0"/>
              <a:t>The probability of a sample residing in a Poisson sample is constant, whereas the  probability declines for reservoir sampling   </a:t>
            </a:r>
          </a:p>
          <a:p>
            <a:endParaRPr lang="en-US" sz="2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8BF40B-1E30-7A3A-9025-F1E825ECE14E}"/>
              </a:ext>
            </a:extLst>
          </p:cNvPr>
          <p:cNvCxnSpPr/>
          <p:nvPr/>
        </p:nvCxnSpPr>
        <p:spPr>
          <a:xfrm flipV="1">
            <a:off x="6767538" y="2704081"/>
            <a:ext cx="1378935" cy="572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CF7E5D-B997-1F69-F474-51730F40DE06}"/>
              </a:ext>
            </a:extLst>
          </p:cNvPr>
          <p:cNvCxnSpPr>
            <a:cxnSpLocks/>
          </p:cNvCxnSpPr>
          <p:nvPr/>
        </p:nvCxnSpPr>
        <p:spPr>
          <a:xfrm>
            <a:off x="6875114" y="4303059"/>
            <a:ext cx="1188069" cy="6112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7006358-7A7B-88C9-1E21-8211D8755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883" y="3720212"/>
            <a:ext cx="3534268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7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A012-CF26-CB0B-B0C0-00CA1567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The simple algorithm requires generating a random integer for each arriving sample   </a:t>
                </a:r>
              </a:p>
              <a:p>
                <a:pPr lvl="1"/>
                <a:r>
                  <a:rPr lang="en-US" dirty="0"/>
                  <a:t>Random number generation is computationally intensive   </a:t>
                </a:r>
              </a:p>
              <a:p>
                <a:pPr lvl="1"/>
                <a:r>
                  <a:rPr lang="en-US" dirty="0"/>
                  <a:t>Computational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sample arrivals </a:t>
                </a:r>
              </a:p>
              <a:p>
                <a:r>
                  <a:rPr lang="en-US" dirty="0"/>
                  <a:t>Key 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DEB1F33-F9C7-CEE6-290E-4B3E24E0CCC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34213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B4B-DD1E-A67E-CBA9-34A33CBD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Key 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Consider a uniformly distributed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indices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values,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are uniformly distributed random numbers, with the largest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 new random sample arrives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maintaining the set as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random index values </a:t>
                </a:r>
              </a:p>
              <a:p>
                <a:r>
                  <a:rPr lang="en-US" dirty="0"/>
                  <a:t>We can avoid testing each new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dirty="0"/>
                  <a:t>,… if we take draws from a </a:t>
                </a:r>
                <a:r>
                  <a:rPr lang="en-US" b="1" dirty="0"/>
                  <a:t>geometric distribution </a:t>
                </a:r>
                <a:r>
                  <a:rPr lang="en-US" dirty="0"/>
                  <a:t>of the interval,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until the next accepted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since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5CA1E99-E416-A055-7BD8-3DA8B33F291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60512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28E8-4C5F-CE4C-1035-20A2CC59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Key idea: sample from a Geometric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First take a random draw from the geometric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draw an index for the next sample to include in the reservoir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𝑓𝑙𝑜𝑜𝑟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Draw a random index from the reservoir to determine which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, to replace,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three random draws need only be done when a sample is </a:t>
                </a:r>
                <a:r>
                  <a:rPr lang="en-US" b="1" dirty="0"/>
                  <a:t>accepted</a:t>
                </a:r>
                <a:r>
                  <a:rPr lang="en-US" dirty="0"/>
                  <a:t> into the reservoir</a:t>
                </a:r>
              </a:p>
              <a:p>
                <a:pPr lvl="1"/>
                <a:r>
                  <a:rPr lang="en-US" dirty="0"/>
                  <a:t>Computational complexity is 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928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65DAAEA-C9FF-6AD5-5C04-B414ABDEEB3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7298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8E46-6DA7-5973-6D5F-F08C2323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582F9-095B-074B-E20C-5B02CD5A4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83" y="1735893"/>
            <a:ext cx="3450956" cy="485540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an initial random draw from geometric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index of next sample to expect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sample to random location in reservoir buffer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random geometric distributed sample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0D59AB-D34D-218F-6EA3-E2E64FCCEF4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C47AE66-7C97-801C-417A-BF719471842B}"/>
              </a:ext>
            </a:extLst>
          </p:cNvPr>
          <p:cNvSpPr txBox="1">
            <a:spLocks/>
          </p:cNvSpPr>
          <p:nvPr/>
        </p:nvSpPr>
        <p:spPr>
          <a:xfrm>
            <a:off x="750183" y="1101004"/>
            <a:ext cx="11181841" cy="447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can we scale reservoir sampling?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715753-ABAE-FC1B-108B-57FF26E768FC}"/>
              </a:ext>
            </a:extLst>
          </p:cNvPr>
          <p:cNvSpPr txBox="1">
            <a:spLocks/>
          </p:cNvSpPr>
          <p:nvPr/>
        </p:nvSpPr>
        <p:spPr>
          <a:xfrm>
            <a:off x="4151475" y="1662547"/>
            <a:ext cx="7911760" cy="5060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W = </a:t>
            </a:r>
            <a:r>
              <a:rPr lang="en-US" sz="2600" dirty="0" err="1"/>
              <a:t>math.exp</a:t>
            </a:r>
            <a:r>
              <a:rPr lang="en-US" sz="2600" dirty="0"/>
              <a:t>(math.log(</a:t>
            </a:r>
            <a:r>
              <a:rPr lang="en-US" sz="2600" dirty="0" err="1"/>
              <a:t>random.random</a:t>
            </a:r>
            <a:r>
              <a:rPr lang="en-US" sz="2600" dirty="0"/>
              <a:t>())/k)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## Loop over the </a:t>
            </a:r>
            <a:r>
              <a:rPr lang="en-US" sz="2600" dirty="0" err="1"/>
              <a:t>remianing</a:t>
            </a:r>
            <a:r>
              <a:rPr lang="en-US" sz="2600" dirty="0"/>
              <a:t> samples in the stream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while </a:t>
            </a:r>
            <a:r>
              <a:rPr lang="en-US" sz="2600" dirty="0" err="1"/>
              <a:t>i</a:t>
            </a:r>
            <a:r>
              <a:rPr lang="en-US" sz="2600" dirty="0"/>
              <a:t> &lt; n: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</a:t>
            </a:r>
            <a:r>
              <a:rPr lang="en-US" sz="2600" dirty="0" err="1"/>
              <a:t>i</a:t>
            </a:r>
            <a:r>
              <a:rPr lang="en-US" sz="2600" dirty="0"/>
              <a:t> = </a:t>
            </a:r>
            <a:r>
              <a:rPr lang="en-US" sz="2600" dirty="0" err="1"/>
              <a:t>i</a:t>
            </a:r>
            <a:r>
              <a:rPr lang="en-US" sz="2600" dirty="0"/>
              <a:t> + </a:t>
            </a:r>
            <a:r>
              <a:rPr lang="en-US" sz="2600" dirty="0" err="1"/>
              <a:t>math.floor</a:t>
            </a:r>
            <a:r>
              <a:rPr lang="en-US" sz="2600" dirty="0"/>
              <a:t>(math.log(</a:t>
            </a:r>
            <a:r>
              <a:rPr lang="en-US" sz="2600" dirty="0" err="1"/>
              <a:t>random.random</a:t>
            </a:r>
            <a:r>
              <a:rPr lang="en-US" sz="2600" dirty="0"/>
              <a:t>())/math.log(1 - W))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if </a:t>
            </a:r>
            <a:r>
              <a:rPr lang="en-US" sz="2600" dirty="0" err="1"/>
              <a:t>i</a:t>
            </a:r>
            <a:r>
              <a:rPr lang="en-US" sz="2600" dirty="0"/>
              <a:t> &lt; n: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    </a:t>
            </a:r>
            <a:r>
              <a:rPr lang="en-US" sz="2600" dirty="0" err="1"/>
              <a:t>indx</a:t>
            </a:r>
            <a:r>
              <a:rPr lang="en-US" sz="2600" dirty="0"/>
              <a:t> = </a:t>
            </a:r>
            <a:r>
              <a:rPr lang="en-US" sz="2600" dirty="0" err="1"/>
              <a:t>random.randint</a:t>
            </a:r>
            <a:r>
              <a:rPr lang="en-US" sz="2600" dirty="0"/>
              <a:t>(1, k) -1 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    </a:t>
            </a:r>
            <a:r>
              <a:rPr lang="en-US" sz="2600" dirty="0" err="1"/>
              <a:t>reservoir_buffer</a:t>
            </a:r>
            <a:r>
              <a:rPr lang="en-US" sz="2600" dirty="0"/>
              <a:t>[</a:t>
            </a:r>
            <a:r>
              <a:rPr lang="en-US" sz="2600" dirty="0" err="1"/>
              <a:t>indx</a:t>
            </a:r>
            <a:r>
              <a:rPr lang="en-US" sz="2600" dirty="0"/>
              <a:t>] = stream[</a:t>
            </a:r>
            <a:r>
              <a:rPr lang="en-US" sz="2600" dirty="0" err="1"/>
              <a:t>i</a:t>
            </a:r>
            <a:r>
              <a:rPr lang="en-US" sz="2600" dirty="0"/>
              <a:t>]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    W = W * </a:t>
            </a:r>
            <a:r>
              <a:rPr lang="en-US" sz="2600" dirty="0" err="1"/>
              <a:t>math.exp</a:t>
            </a:r>
            <a:r>
              <a:rPr lang="en-US" sz="2600" dirty="0"/>
              <a:t>(math.log(</a:t>
            </a:r>
            <a:r>
              <a:rPr lang="en-US" sz="2600" dirty="0" err="1"/>
              <a:t>random.random</a:t>
            </a:r>
            <a:r>
              <a:rPr lang="en-US" sz="2600" dirty="0"/>
              <a:t>())/k)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8B29A3-F261-6616-2B77-6E95DDF4F231}"/>
              </a:ext>
            </a:extLst>
          </p:cNvPr>
          <p:cNvCxnSpPr>
            <a:cxnSpLocks/>
          </p:cNvCxnSpPr>
          <p:nvPr/>
        </p:nvCxnSpPr>
        <p:spPr>
          <a:xfrm flipV="1">
            <a:off x="3683431" y="1907037"/>
            <a:ext cx="468044" cy="324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0A8C5A-155F-4EB5-0EE6-B8A3400BA3B7}"/>
              </a:ext>
            </a:extLst>
          </p:cNvPr>
          <p:cNvCxnSpPr>
            <a:cxnSpLocks/>
          </p:cNvCxnSpPr>
          <p:nvPr/>
        </p:nvCxnSpPr>
        <p:spPr>
          <a:xfrm flipV="1">
            <a:off x="3547189" y="3385040"/>
            <a:ext cx="604286" cy="267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3FA9B3-C0DC-A747-5820-00567FFC22A8}"/>
              </a:ext>
            </a:extLst>
          </p:cNvPr>
          <p:cNvCxnSpPr>
            <a:cxnSpLocks/>
          </p:cNvCxnSpPr>
          <p:nvPr/>
        </p:nvCxnSpPr>
        <p:spPr>
          <a:xfrm flipV="1">
            <a:off x="3631769" y="4223721"/>
            <a:ext cx="1155284" cy="5135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BFED9F-FB06-8761-1ED2-CB393AE88153}"/>
              </a:ext>
            </a:extLst>
          </p:cNvPr>
          <p:cNvCxnSpPr>
            <a:cxnSpLocks/>
          </p:cNvCxnSpPr>
          <p:nvPr/>
        </p:nvCxnSpPr>
        <p:spPr>
          <a:xfrm flipV="1">
            <a:off x="3424844" y="5007196"/>
            <a:ext cx="1484555" cy="800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C3A9B9-DC1D-EC7A-A49F-6E80691E1F36}"/>
              </a:ext>
            </a:extLst>
          </p:cNvPr>
          <p:cNvCxnSpPr>
            <a:cxnSpLocks/>
          </p:cNvCxnSpPr>
          <p:nvPr/>
        </p:nvCxnSpPr>
        <p:spPr>
          <a:xfrm flipV="1">
            <a:off x="3750590" y="4561668"/>
            <a:ext cx="1036463" cy="1756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2986-DD84-0A7E-C97A-7B899004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73F5-9C84-DD36-420B-3526B5367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Evaluating Stream Filtering </a:t>
            </a:r>
          </a:p>
        </p:txBody>
      </p:sp>
    </p:spTree>
    <p:extLst>
      <p:ext uri="{BB962C8B-B14F-4D97-AF65-F5344CB8AC3E}">
        <p14:creationId xmlns:p14="http://schemas.microsoft.com/office/powerpoint/2010/main" val="2942788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B91D-A415-5792-855E-06CC3401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F5A2D-5230-DA9A-25FA-B5E69536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00381"/>
            <a:ext cx="10515600" cy="5558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evaluate the effect of filtering and decimation of time series? </a:t>
            </a:r>
          </a:p>
          <a:p>
            <a:r>
              <a:rPr lang="en-US" dirty="0"/>
              <a:t>Evaluated the differences between original series and the filtered/decimated series  </a:t>
            </a:r>
          </a:p>
          <a:p>
            <a:r>
              <a:rPr lang="en-US" dirty="0"/>
              <a:t>What does the difference series look like  </a:t>
            </a:r>
          </a:p>
          <a:p>
            <a:pPr lvl="1"/>
            <a:r>
              <a:rPr lang="en-US" dirty="0"/>
              <a:t>How does the magnitude of the errors compare to original values?  </a:t>
            </a:r>
          </a:p>
          <a:p>
            <a:pPr lvl="1"/>
            <a:r>
              <a:rPr lang="en-US" dirty="0"/>
              <a:t>Are the errors fairly uniformly distributed?   </a:t>
            </a:r>
          </a:p>
          <a:p>
            <a:r>
              <a:rPr lang="en-US" dirty="0"/>
              <a:t>Error metrics</a:t>
            </a:r>
          </a:p>
          <a:p>
            <a:pPr lvl="1"/>
            <a:r>
              <a:rPr lang="en-US" dirty="0"/>
              <a:t>RMSE  </a:t>
            </a:r>
          </a:p>
          <a:p>
            <a:pPr lvl="1"/>
            <a:r>
              <a:rPr lang="en-US" dirty="0"/>
              <a:t>MAE</a:t>
            </a:r>
          </a:p>
          <a:p>
            <a:pPr lvl="1"/>
            <a:r>
              <a:rPr lang="en-US" dirty="0"/>
              <a:t>Max deviation</a:t>
            </a:r>
          </a:p>
          <a:p>
            <a:pPr lvl="1"/>
            <a:r>
              <a:rPr lang="en-US" dirty="0"/>
              <a:t>Etc.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36E439-EF53-994E-9510-D7CDD6B5037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Evaluating Stream Filtering</a:t>
            </a:r>
          </a:p>
        </p:txBody>
      </p:sp>
    </p:spTree>
    <p:extLst>
      <p:ext uri="{BB962C8B-B14F-4D97-AF65-F5344CB8AC3E}">
        <p14:creationId xmlns:p14="http://schemas.microsoft.com/office/powerpoint/2010/main" val="21116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BAAC-0658-1B7F-A113-B26E40A5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6128-5982-337C-059F-481D8DD55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Streaming Events</a:t>
            </a:r>
          </a:p>
        </p:txBody>
      </p:sp>
    </p:spTree>
    <p:extLst>
      <p:ext uri="{BB962C8B-B14F-4D97-AF65-F5344CB8AC3E}">
        <p14:creationId xmlns:p14="http://schemas.microsoft.com/office/powerpoint/2010/main" val="1568203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Discrete streaming data is common  </a:t>
            </a:r>
          </a:p>
          <a:p>
            <a:r>
              <a:rPr lang="en-US" dirty="0"/>
              <a:t>Clicks on a web site</a:t>
            </a:r>
          </a:p>
          <a:p>
            <a:r>
              <a:rPr lang="en-US" dirty="0"/>
              <a:t>Counts of Key-value lookups</a:t>
            </a:r>
          </a:p>
          <a:p>
            <a:r>
              <a:rPr lang="en-US" dirty="0"/>
              <a:t>Counts of IP address pairs in internet traffic</a:t>
            </a:r>
          </a:p>
          <a:p>
            <a:r>
              <a:rPr lang="en-US" dirty="0"/>
              <a:t>Sensors count events </a:t>
            </a:r>
          </a:p>
          <a:p>
            <a:pPr lvl="1"/>
            <a:r>
              <a:rPr lang="en-US" dirty="0"/>
              <a:t>Vehicles passing </a:t>
            </a:r>
          </a:p>
          <a:p>
            <a:pPr lvl="1"/>
            <a:r>
              <a:rPr lang="en-US" dirty="0"/>
              <a:t>People entering a building</a:t>
            </a:r>
          </a:p>
          <a:p>
            <a:pPr lvl="1"/>
            <a:r>
              <a:rPr lang="en-US" dirty="0"/>
              <a:t>Wildlife sightings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And many more…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3477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types of operations can we do with discrete event data? </a:t>
            </a:r>
          </a:p>
          <a:p>
            <a:r>
              <a:rPr lang="en-US" b="1" dirty="0"/>
              <a:t>Filter events </a:t>
            </a:r>
            <a:r>
              <a:rPr lang="en-US" dirty="0"/>
              <a:t>to only process those of interest</a:t>
            </a:r>
          </a:p>
          <a:p>
            <a:r>
              <a:rPr lang="en-US" b="1" dirty="0"/>
              <a:t>Count events </a:t>
            </a:r>
            <a:r>
              <a:rPr lang="en-US" dirty="0"/>
              <a:t>in a time window or in a reservoir sample</a:t>
            </a:r>
          </a:p>
          <a:p>
            <a:r>
              <a:rPr lang="en-US" dirty="0"/>
              <a:t>Unique types of events occurring in time window, or </a:t>
            </a:r>
            <a:r>
              <a:rPr lang="en-US" b="1" dirty="0"/>
              <a:t>cardinality</a:t>
            </a:r>
          </a:p>
          <a:p>
            <a:r>
              <a:rPr lang="en-US" dirty="0"/>
              <a:t>Can concatenate operations, for example:</a:t>
            </a:r>
          </a:p>
          <a:p>
            <a:pPr lvl="1"/>
            <a:r>
              <a:rPr lang="en-US" dirty="0"/>
              <a:t>Filter events by type</a:t>
            </a:r>
          </a:p>
          <a:p>
            <a:pPr lvl="1"/>
            <a:r>
              <a:rPr lang="en-US" dirty="0"/>
              <a:t>Count events </a:t>
            </a:r>
          </a:p>
          <a:p>
            <a:pPr lvl="1"/>
            <a:r>
              <a:rPr lang="en-US" dirty="0"/>
              <a:t>Find cardinality of filtered stream</a:t>
            </a:r>
          </a:p>
          <a:p>
            <a:pPr lvl="1"/>
            <a:r>
              <a:rPr lang="en-US" dirty="0"/>
              <a:t>Query specific events</a:t>
            </a:r>
          </a:p>
          <a:p>
            <a:pPr lvl="1"/>
            <a:r>
              <a:rPr lang="en-US" dirty="0"/>
              <a:t>Etc.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396434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1709"/>
            <a:ext cx="10515600" cy="54089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limits discrete event data analytics? </a:t>
            </a:r>
          </a:p>
          <a:p>
            <a:r>
              <a:rPr lang="en-US" dirty="0"/>
              <a:t>Consider volume of events:</a:t>
            </a:r>
          </a:p>
          <a:p>
            <a:pPr lvl="1"/>
            <a:r>
              <a:rPr lang="en-US" dirty="0"/>
              <a:t>Storing all events is prohibitive </a:t>
            </a:r>
          </a:p>
          <a:p>
            <a:pPr lvl="1"/>
            <a:r>
              <a:rPr lang="en-US" dirty="0"/>
              <a:t>Want to push processing as far to periphery as possible  </a:t>
            </a:r>
          </a:p>
          <a:p>
            <a:r>
              <a:rPr lang="en-US" dirty="0"/>
              <a:t>Use computationally and memory efficient approximate algorithms</a:t>
            </a:r>
          </a:p>
          <a:p>
            <a:pPr lvl="1"/>
            <a:r>
              <a:rPr lang="en-US" b="1" dirty="0"/>
              <a:t>Accept some error in exchange for orders of magnitude improvement in memory and computation </a:t>
            </a:r>
          </a:p>
          <a:p>
            <a:pPr lvl="1"/>
            <a:r>
              <a:rPr lang="en-US" dirty="0"/>
              <a:t>For large volume streams, approximations generally converge toward exact values</a:t>
            </a:r>
          </a:p>
          <a:p>
            <a:r>
              <a:rPr lang="en-US" dirty="0"/>
              <a:t>Many algorithms have been developed </a:t>
            </a:r>
          </a:p>
          <a:p>
            <a:pPr lvl="1"/>
            <a:r>
              <a:rPr lang="en-US" dirty="0"/>
              <a:t>Bloom filter and quotient filter for event history</a:t>
            </a:r>
          </a:p>
          <a:p>
            <a:pPr lvl="1"/>
            <a:r>
              <a:rPr lang="en-US" dirty="0"/>
              <a:t>Count-min-sketch algorithm for event counts</a:t>
            </a:r>
          </a:p>
          <a:p>
            <a:pPr lvl="1"/>
            <a:r>
              <a:rPr lang="en-US" dirty="0" err="1"/>
              <a:t>Flajolet</a:t>
            </a:r>
            <a:r>
              <a:rPr lang="en-US" dirty="0"/>
              <a:t>-Martin and hyper-log-log algorithms for cardinality 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These algorithms can be applied in batch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0414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F8B1-B41F-1221-8C47-11CF8B21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39A6-30D0-07F9-7BC2-17EE7C5B6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446236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Often need to exclude events </a:t>
            </a:r>
          </a:p>
          <a:p>
            <a:r>
              <a:rPr lang="en-US" dirty="0"/>
              <a:t>Messages from IP addresses not on an authorized list  </a:t>
            </a:r>
          </a:p>
          <a:p>
            <a:r>
              <a:rPr lang="en-US" dirty="0"/>
              <a:t>Is the originating phone one of our accounts? </a:t>
            </a:r>
          </a:p>
          <a:p>
            <a:r>
              <a:rPr lang="en-US" dirty="0"/>
              <a:t>Is this a sensor reading we need to process? </a:t>
            </a:r>
          </a:p>
          <a:p>
            <a:r>
              <a:rPr lang="en-US" dirty="0"/>
              <a:t>Has an event already occurred previously? </a:t>
            </a:r>
          </a:p>
          <a:p>
            <a:r>
              <a:rPr lang="en-US" dirty="0"/>
              <a:t>Etc.</a:t>
            </a:r>
          </a:p>
          <a:p>
            <a:r>
              <a:rPr lang="en-US" dirty="0"/>
              <a:t>The majority of traffic is often filtered in stream processing 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2728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4A83-9B70-C234-DC87-4E63A66A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679190-61F1-C2FB-CC47-74902A30C25D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32C4DCF-C628-BC73-BC77-CA5F86DC172B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1BCB-CCBB-D4C8-7E3E-66769A0A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3FB0F1-D082-B4BC-E48F-DF59A7CCD27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9004E1FA-C9EC-9ED5-34B6-8AD2C830C08D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F608DD3-04F7-5A5F-1DCC-7A22A0DDEBF6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138E06F-B4BA-B824-9F92-5BC3DDF3F403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D5264A-68F4-10AE-60D9-D8C1F850E5E4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F122301-7082-0EE8-2E9E-D02A5E822CB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6BAAC3-C331-E648-6F6A-F71842702B4E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C69664-7DE2-332C-36E7-6A7C3CA08A7C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CC4547-536E-FBFC-5456-26D923CA937E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FDA4DA-3150-2DCB-C97E-1A19BAD59C9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8D2837-E311-4A6C-4A4E-B5C90D411065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AD40E-87A9-7FF6-D14E-08122B2A4A7C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892B51E-FB68-290A-0155-34CC67833495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64059C4-7C30-35C8-02B7-A8B1B72FC785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9F76824-595F-2195-CB69-13235EB388FD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3DA5A2-0287-A68D-B225-697F2F81441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BB146B-EB4D-D8BD-44C8-398C7FEFE394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D5F3A4-A98B-BD53-450C-645553A20041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D48F12-AA8A-FBAF-8B39-9141702F6478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84CFEA-9CC4-5F5C-6E47-E69EE8A0ED2B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01B585B-A368-8378-88A0-3C00C4614A82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DF6BAAFB-BBC2-2562-F96A-52EA1DD94ED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4F2617-189E-4686-A7DA-62B6BFB37D4E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1D7EC6-A182-5BEB-02DA-8B9533DD6E53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4268FA-6BAD-8689-4654-C3C4C34377F5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430D7C-5BD3-E932-0846-53371E8DB6D8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BB2EDB-F9C1-7080-10E1-C0EFF0D93FE0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F2D996-8078-1642-7B77-A5D9E05D4451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C70FF3-5337-FDEA-24F6-09CE911950FB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4A73FF-2C92-1C54-199E-189EAE25AB8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F2027A-8D29-8E84-2604-A0DAA441AA0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185896-4B79-D643-FFCD-4F31C86CEF30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2A22C4-5EAC-09C8-F5A7-E28C3BCFBC69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B382B60-E33F-E438-32E5-8F81C71467DA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871910-E72D-AF6D-5BD7-AA9850736722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ABBBBE-A4C2-0A87-D2B8-BC0D5AE2902E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8D77110-CB86-5F75-6AB0-A6BB22F744C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25474E-3B66-FE0B-C996-320B6636C694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C68D70-A99A-DBEE-8A83-11AA89F556D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435737-1962-EE41-0F12-3FEC1F71194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23759A-F48C-3139-A47F-E92B2A909F1E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FA1978-F257-772F-7CD3-852E9884CE38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E43180-9DA6-5771-80ED-08BDCC67597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A803CE-E76C-656E-FA15-BFB6300053F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55AB11B-0690-D1B5-6816-F0A2FB824A4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5DEB5-F128-5180-F826-DC6122D686E4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B17028-E764-B0F7-159E-A0B9A191927B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1B7597B-E49D-0590-95FF-DF9500CB2B6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874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or</a:t>
                </a:r>
                <a:r>
                  <a:rPr lang="en-US" b="1" dirty="0"/>
                  <a:t> bitmap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1936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flip hash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610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</a:t>
                </a:r>
                <a:r>
                  <a:rPr lang="en-US" b="1" dirty="0">
                    <a:solidFill>
                      <a:srgbClr val="C00000"/>
                    </a:solidFill>
                  </a:rPr>
                  <a:t>hash collisions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/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/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/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F579D0-2996-4559-81A5-DE1B618CB8CA}"/>
              </a:ext>
            </a:extLst>
          </p:cNvPr>
          <p:cNvCxnSpPr>
            <a:stCxn id="38" idx="3"/>
          </p:cNvCxnSpPr>
          <p:nvPr/>
        </p:nvCxnSpPr>
        <p:spPr>
          <a:xfrm flipV="1">
            <a:off x="8116179" y="3103760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E34402-F84B-4D4B-9209-984EE92F7BCC}"/>
              </a:ext>
            </a:extLst>
          </p:cNvPr>
          <p:cNvCxnSpPr>
            <a:cxnSpLocks/>
            <a:stCxn id="41" idx="3"/>
            <a:endCxn id="14" idx="1"/>
          </p:cNvCxnSpPr>
          <p:nvPr/>
        </p:nvCxnSpPr>
        <p:spPr>
          <a:xfrm flipV="1">
            <a:off x="8116178" y="3712974"/>
            <a:ext cx="2253272" cy="5876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242E62-6C30-4B6B-883D-247997FB4450}"/>
              </a:ext>
            </a:extLst>
          </p:cNvPr>
          <p:cNvCxnSpPr>
            <a:cxnSpLocks/>
            <a:stCxn id="42" idx="3"/>
            <a:endCxn id="33" idx="1"/>
          </p:cNvCxnSpPr>
          <p:nvPr/>
        </p:nvCxnSpPr>
        <p:spPr>
          <a:xfrm flipV="1">
            <a:off x="8116177" y="626077"/>
            <a:ext cx="2253272" cy="42979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754602A-B71A-CE9F-3F2C-24CFA7FC02ED}"/>
              </a:ext>
            </a:extLst>
          </p:cNvPr>
          <p:cNvSpPr/>
          <p:nvPr/>
        </p:nvSpPr>
        <p:spPr>
          <a:xfrm>
            <a:off x="10333084" y="371956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261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hash collisions </a:t>
                </a:r>
              </a:p>
              <a:p>
                <a:r>
                  <a:rPr lang="en-US" dirty="0"/>
                  <a:t>Lookups use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</a:t>
                </a:r>
              </a:p>
              <a:p>
                <a:pPr lvl="1"/>
                <a:r>
                  <a:rPr lang="en-US" dirty="0"/>
                  <a:t>Look up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match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have not seen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  <a:blipFill>
                <a:blip r:embed="rId2"/>
                <a:stretch>
                  <a:fillRect l="-2208" t="-1782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cxnSpLocks/>
          </p:cNvCxnSpPr>
          <p:nvPr/>
        </p:nvCxnSpPr>
        <p:spPr>
          <a:xfrm>
            <a:off x="8116180" y="1199475"/>
            <a:ext cx="2253268" cy="13218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>
            <a:off x="8116181" y="1822915"/>
            <a:ext cx="2253268" cy="25029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8116180" y="2446356"/>
            <a:ext cx="2253270" cy="12666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249323B-20F4-4D26-B143-0F82D58B6578}"/>
              </a:ext>
            </a:extLst>
          </p:cNvPr>
          <p:cNvSpPr/>
          <p:nvPr/>
        </p:nvSpPr>
        <p:spPr>
          <a:xfrm>
            <a:off x="10314306" y="4053962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33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are the properties of a Bloom filter? </a:t>
                </a:r>
                <a:endParaRPr lang="en-US" b="1" dirty="0"/>
              </a:p>
              <a:p>
                <a:r>
                  <a:rPr lang="en-US" dirty="0"/>
                  <a:t>Probability of false negative = 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no Type II Errors!</a:t>
                </a:r>
              </a:p>
              <a:p>
                <a:pPr lvl="1"/>
                <a:r>
                  <a:rPr lang="en-US" dirty="0"/>
                  <a:t>Any 0s from hash functions is negative result  </a:t>
                </a:r>
              </a:p>
              <a:p>
                <a:r>
                  <a:rPr lang="en-US" dirty="0"/>
                  <a:t>What is the probability of </a:t>
                </a:r>
                <a:r>
                  <a:rPr lang="en-US" b="1" dirty="0"/>
                  <a:t>Type I Error</a:t>
                </a:r>
                <a:r>
                  <a:rPr lang="en-US" dirty="0"/>
                  <a:t>, false positive? </a:t>
                </a:r>
              </a:p>
              <a:p>
                <a:pPr lvl="1"/>
                <a:r>
                  <a:rPr lang="en-US" dirty="0"/>
                  <a:t>For an ideal hash function the probability of selecting a bit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of a hash collision between 2 hashes: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𝑐𝑜𝑙𝑙𝑖𝑠𝑖𝑜𝑛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probability of Type II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collisions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2"/>
                <a:r>
                  <a:rPr lang="en-US" dirty="0"/>
                  <a:t>Approximation improves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  <a:blipFill>
                <a:blip r:embed="rId2"/>
                <a:stretch>
                  <a:fillRect l="-1217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62438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Alternatives to Bloom filter</a:t>
            </a:r>
            <a:endParaRPr lang="en-US" b="1" dirty="0"/>
          </a:p>
          <a:p>
            <a:r>
              <a:rPr lang="en-US" dirty="0"/>
              <a:t>Variation capable of deletes: </a:t>
            </a:r>
          </a:p>
          <a:p>
            <a:pPr lvl="1"/>
            <a:r>
              <a:rPr lang="en-US" dirty="0"/>
              <a:t>Each bit location has a counter </a:t>
            </a:r>
          </a:p>
          <a:p>
            <a:pPr lvl="1"/>
            <a:r>
              <a:rPr lang="en-US" dirty="0"/>
              <a:t>When event type is deleted, a count is decremented from each hash location </a:t>
            </a:r>
          </a:p>
          <a:p>
            <a:r>
              <a:rPr lang="en-US" dirty="0">
                <a:hlinkClick r:id="rId3"/>
              </a:rPr>
              <a:t>Quotient filter </a:t>
            </a:r>
            <a:r>
              <a:rPr lang="en-US" dirty="0"/>
              <a:t>is a sketch using a more sophisticated hashing scheme  </a:t>
            </a:r>
          </a:p>
          <a:p>
            <a:pPr lvl="1"/>
            <a:r>
              <a:rPr lang="en-US" dirty="0"/>
              <a:t>Memory efficient     </a:t>
            </a:r>
          </a:p>
          <a:p>
            <a:pPr lvl="1"/>
            <a:r>
              <a:rPr lang="en-US" dirty="0"/>
              <a:t>Generally lower false positive rate</a:t>
            </a:r>
          </a:p>
          <a:p>
            <a:pPr lvl="1"/>
            <a:r>
              <a:rPr lang="en-US" dirty="0"/>
              <a:t>Manages counts in buckets</a:t>
            </a:r>
          </a:p>
          <a:p>
            <a:pPr lvl="1"/>
            <a:r>
              <a:rPr lang="en-US" dirty="0"/>
              <a:t>Better use of memory and computation compared to Bloom filter  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Find details for quotient filter in </a:t>
            </a:r>
            <a:r>
              <a:rPr lang="en-US" sz="2000" dirty="0">
                <a:hlinkClick r:id="rId4"/>
              </a:rPr>
              <a:t>Algorithms and Structures for Massive Data Sets, </a:t>
            </a:r>
            <a:r>
              <a:rPr lang="en-US" sz="2000" dirty="0" err="1">
                <a:hlinkClick r:id="rId4"/>
              </a:rPr>
              <a:t>Medjodovic</a:t>
            </a:r>
            <a:r>
              <a:rPr lang="en-US" sz="2000" dirty="0">
                <a:hlinkClick r:id="rId4"/>
              </a:rPr>
              <a:t>, et al., 2022, Manning</a:t>
            </a:r>
            <a:r>
              <a:rPr lang="en-US" sz="2000" dirty="0"/>
              <a:t>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099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693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Quotient filter is based on a binary hash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n bit binary hash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Divide the hash into a quotient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bits and a remainder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  <a:blipFill>
                <a:blip r:embed="rId3"/>
                <a:stretch>
                  <a:fillRect l="-2793" t="-2358" r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D62FC44-A2A7-E9F1-F5E0-8FA81D9B8C6E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D01093-BEC0-3B0F-1D0C-B275D419F783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E9ECC5E5-9AF4-79CA-DDCE-1658C0F7F285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422440-121D-2A57-8671-2F1587976B21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61E2A1F-FD64-F86F-692B-2AC09D0A3668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EC40A-AB78-294E-B2FD-5C837DB923BB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1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4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005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A2ED5-7137-E3B3-7B38-B32CF29A670F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6C91A-4CB9-AACD-04C5-986072932429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7089B98-C466-A9BF-F229-9C1D30667252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216362-217E-AF7F-21CD-915F8D515D43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8BCA582-5571-F9C0-080D-242BB9368D06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90D569-3207-94ED-A8A6-D0C7C7F6C588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38200" y="2108747"/>
            <a:ext cx="4584405" cy="439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/>
              <a:t>quotient</a:t>
            </a:r>
            <a:r>
              <a:rPr lang="en-US" dirty="0"/>
              <a:t> defines a hash bucket</a:t>
            </a:r>
          </a:p>
          <a:p>
            <a:r>
              <a:rPr lang="en-US" dirty="0"/>
              <a:t>The </a:t>
            </a:r>
            <a:r>
              <a:rPr lang="en-US" b="1" dirty="0"/>
              <a:t>remainder</a:t>
            </a:r>
            <a:r>
              <a:rPr lang="en-US" dirty="0"/>
              <a:t> is the value </a:t>
            </a:r>
          </a:p>
          <a:p>
            <a:r>
              <a:rPr lang="en-US" dirty="0"/>
              <a:t>Notice the </a:t>
            </a:r>
            <a:r>
              <a:rPr lang="en-US" b="1" dirty="0"/>
              <a:t>hash collision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D66A78-8121-2A8B-4F8C-6E12C4E60EA9}"/>
              </a:ext>
            </a:extLst>
          </p:cNvPr>
          <p:cNvCxnSpPr>
            <a:cxnSpLocks/>
          </p:cNvCxnSpPr>
          <p:nvPr/>
        </p:nvCxnSpPr>
        <p:spPr>
          <a:xfrm>
            <a:off x="4864395" y="3816908"/>
            <a:ext cx="821297" cy="72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1732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</a:p>
          <a:p>
            <a:r>
              <a:rPr lang="en-US" dirty="0"/>
              <a:t>Two key concepts used to manage hash collisions in quotient filters</a:t>
            </a:r>
          </a:p>
          <a:p>
            <a:r>
              <a:rPr lang="en-US" dirty="0"/>
              <a:t>A </a:t>
            </a:r>
            <a:r>
              <a:rPr lang="en-US" b="1" dirty="0"/>
              <a:t>run</a:t>
            </a:r>
            <a:r>
              <a:rPr lang="en-US" dirty="0"/>
              <a:t> is a consecutive sequence of slots occupied with remainders with the same quotient</a:t>
            </a:r>
          </a:p>
          <a:p>
            <a:r>
              <a:rPr lang="en-US" dirty="0"/>
              <a:t>A  </a:t>
            </a:r>
            <a:r>
              <a:rPr lang="en-US" b="1" dirty="0"/>
              <a:t>cluster</a:t>
            </a:r>
            <a:r>
              <a:rPr lang="en-US" dirty="0"/>
              <a:t> is a continuous sequence of one or more runs </a:t>
            </a:r>
          </a:p>
          <a:p>
            <a:pPr lvl="1"/>
            <a:r>
              <a:rPr lang="en-US" dirty="0"/>
              <a:t>Performance of quotient filter relies on the empirical evidence for the prevalence of short clusters    </a:t>
            </a:r>
          </a:p>
          <a:p>
            <a:r>
              <a:rPr lang="en-US" b="1" dirty="0"/>
              <a:t>Linear probing </a:t>
            </a:r>
            <a:r>
              <a:rPr lang="en-US" dirty="0"/>
              <a:t>is used to find open slots for remainders  </a:t>
            </a:r>
          </a:p>
          <a:p>
            <a:pPr lvl="1"/>
            <a:r>
              <a:rPr lang="en-US" dirty="0"/>
              <a:t>Stored consecutively  </a:t>
            </a:r>
          </a:p>
          <a:p>
            <a:pPr lvl="1"/>
            <a:r>
              <a:rPr lang="en-US" dirty="0"/>
              <a:t>Stored in sort order to improve search efficiency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91244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00986" y="1716837"/>
            <a:ext cx="7027336" cy="4965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Quotient filters use three bits to manage linear probing to resolve hash collisions</a:t>
            </a:r>
          </a:p>
          <a:p>
            <a:r>
              <a:rPr lang="en-US" b="1" dirty="0"/>
              <a:t>Run Continued </a:t>
            </a:r>
            <a:r>
              <a:rPr lang="en-US" dirty="0"/>
              <a:t>bit is set when the slot is occupied but not the first element of the run   </a:t>
            </a:r>
          </a:p>
          <a:p>
            <a:r>
              <a:rPr lang="en-US" b="1" dirty="0"/>
              <a:t>Is Occupied</a:t>
            </a:r>
            <a:r>
              <a:rPr lang="en-US" dirty="0"/>
              <a:t> bit is set when the slot is occupied by some other hash from another location   </a:t>
            </a:r>
          </a:p>
          <a:p>
            <a:r>
              <a:rPr lang="en-US" b="1" dirty="0"/>
              <a:t>Is Shifted </a:t>
            </a:r>
            <a:r>
              <a:rPr lang="en-US" dirty="0"/>
              <a:t>bit is set to indicate the value in the slot is from another bucket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/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230471-0A69-E963-8702-CB79BF6C2699}"/>
              </a:ext>
            </a:extLst>
          </p:cNvPr>
          <p:cNvSpPr txBox="1"/>
          <p:nvPr/>
        </p:nvSpPr>
        <p:spPr>
          <a:xfrm rot="5400000">
            <a:off x="7410666" y="2735298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Bucket Occupied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CBEC5-BF46-5AC2-8E58-F27735CC7316}"/>
              </a:ext>
            </a:extLst>
          </p:cNvPr>
          <p:cNvSpPr txBox="1"/>
          <p:nvPr/>
        </p:nvSpPr>
        <p:spPr>
          <a:xfrm rot="5400000">
            <a:off x="7028203" y="2913631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Run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1E5A3-F557-7642-DFF2-C8DF2CCB676B}"/>
              </a:ext>
            </a:extLst>
          </p:cNvPr>
          <p:cNvSpPr txBox="1"/>
          <p:nvPr/>
        </p:nvSpPr>
        <p:spPr>
          <a:xfrm rot="5400000">
            <a:off x="8238740" y="3151919"/>
            <a:ext cx="145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Is Shifted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F0162-A5E3-662F-F3CE-88BDFCD09CFA}"/>
              </a:ext>
            </a:extLst>
          </p:cNvPr>
          <p:cNvSpPr/>
          <p:nvPr/>
        </p:nvSpPr>
        <p:spPr>
          <a:xfrm>
            <a:off x="9241781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75C2D-116A-B744-97CC-6AAFE2083577}"/>
              </a:ext>
            </a:extLst>
          </p:cNvPr>
          <p:cNvSpPr/>
          <p:nvPr/>
        </p:nvSpPr>
        <p:spPr>
          <a:xfrm>
            <a:off x="9227417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/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/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D9B76409-1D02-CB61-6B1C-FBD3E9F074BC}"/>
              </a:ext>
            </a:extLst>
          </p:cNvPr>
          <p:cNvSpPr/>
          <p:nvPr/>
        </p:nvSpPr>
        <p:spPr>
          <a:xfrm>
            <a:off x="10500095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78C94E-6974-B282-16DE-A26B9A7C97F4}"/>
              </a:ext>
            </a:extLst>
          </p:cNvPr>
          <p:cNvSpPr/>
          <p:nvPr/>
        </p:nvSpPr>
        <p:spPr>
          <a:xfrm>
            <a:off x="10485731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/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/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/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011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blipFill>
                <a:blip r:embed="rId8"/>
                <a:stretch>
                  <a:fillRect t="-25490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/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/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/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/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/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/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/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DC270471-41AC-D380-9C65-6FEB6768F342}"/>
              </a:ext>
            </a:extLst>
          </p:cNvPr>
          <p:cNvSpPr txBox="1"/>
          <p:nvPr/>
        </p:nvSpPr>
        <p:spPr>
          <a:xfrm>
            <a:off x="9039009" y="3731203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7D334D-3199-9B7A-0D2D-3837E7BF2690}"/>
              </a:ext>
            </a:extLst>
          </p:cNvPr>
          <p:cNvSpPr txBox="1"/>
          <p:nvPr/>
        </p:nvSpPr>
        <p:spPr>
          <a:xfrm>
            <a:off x="10506464" y="3748859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/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/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blipFill>
                <a:blip r:embed="rId1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/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/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blipFill>
                <a:blip r:embed="rId1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/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/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blipFill>
                <a:blip r:embed="rId21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/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blipFill>
                <a:blip r:embed="rId22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/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blipFill>
                <a:blip r:embed="rId2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/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/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blipFill>
                <a:blip r:embed="rId2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/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blipFill>
                <a:blip r:embed="rId2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/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blipFill>
                <a:blip r:embed="rId27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/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blipFill>
                <a:blip r:embed="rId2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/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blipFill>
                <a:blip r:embed="rId2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/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blipFill>
                <a:blip r:embed="rId30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/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blipFill>
                <a:blip r:embed="rId3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/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blipFill>
                <a:blip r:embed="rId3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1" grpId="0"/>
      <p:bldP spid="12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5AF48-CB5A-9978-EB1F-EEF91CF2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Example of linear probing for quotient filter </a:t>
                </a:r>
              </a:p>
              <a:p>
                <a:r>
                  <a:rPr lang="en-US" sz="2400" b="1" dirty="0"/>
                  <a:t>State 1</a:t>
                </a:r>
                <a:r>
                  <a:rPr lang="en-US" sz="24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en-US" sz="2400" dirty="0"/>
                  <a:t>to quotient filter </a:t>
                </a:r>
              </a:p>
              <a:p>
                <a:r>
                  <a:rPr lang="en-US" sz="2400" dirty="0"/>
                  <a:t>3 elements in </a:t>
                </a:r>
                <a:r>
                  <a:rPr lang="en-US" sz="2400" b="1" dirty="0"/>
                  <a:t>3 runs </a:t>
                </a:r>
                <a:r>
                  <a:rPr lang="en-US" sz="2400" dirty="0"/>
                  <a:t>and </a:t>
                </a:r>
                <a:r>
                  <a:rPr lang="en-US" sz="2400" b="1" dirty="0"/>
                  <a:t>3 clusters   </a:t>
                </a:r>
              </a:p>
              <a:p>
                <a:r>
                  <a:rPr lang="en-US" sz="2400" dirty="0"/>
                  <a:t>Set </a:t>
                </a:r>
                <a:r>
                  <a:rPr lang="en-US" sz="2400" b="1" dirty="0"/>
                  <a:t>is occupied </a:t>
                </a:r>
                <a:r>
                  <a:rPr lang="en-US" sz="2400" dirty="0"/>
                  <a:t>bit for each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6" t="-1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3A5811E2-369D-6B60-DF95-0B2652ADC6E5}"/>
              </a:ext>
            </a:extLst>
          </p:cNvPr>
          <p:cNvSpPr/>
          <p:nvPr/>
        </p:nvSpPr>
        <p:spPr>
          <a:xfrm>
            <a:off x="6001623" y="2892446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19F0F-A68C-484D-7582-7E244D106940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214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B872A-0082-D237-24D3-5BDD4534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55" y="1444766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100" dirty="0"/>
                  <a:t>Example of linear probing for quotient filter </a:t>
                </a:r>
              </a:p>
              <a:p>
                <a:r>
                  <a:rPr lang="en-US" sz="5100" b="1" dirty="0"/>
                  <a:t>State 2</a:t>
                </a:r>
                <a:r>
                  <a:rPr lang="en-US" sz="51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with different quotient, creating </a:t>
                </a:r>
                <a:r>
                  <a:rPr lang="en-US" sz="5100" b="1" dirty="0"/>
                  <a:t>hash collisions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has </a:t>
                </a:r>
                <a:r>
                  <a:rPr lang="en-US" sz="5100" b="1" dirty="0"/>
                  <a:t>is occupied </a:t>
                </a:r>
                <a:r>
                  <a:rPr lang="en-US" sz="5100" dirty="0"/>
                  <a:t>set, so prob one position to right to find slot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51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</a:t>
                </a:r>
                <a:r>
                  <a:rPr lang="en-US" sz="5100" b="1" dirty="0"/>
                  <a:t>continues run </a:t>
                </a:r>
                <a:r>
                  <a:rPr lang="en-US" sz="5100" dirty="0"/>
                  <a:t>so set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</a:t>
                </a:r>
                <a:r>
                  <a:rPr lang="en-US" sz="5100" b="1" dirty="0"/>
                  <a:t>is continuation </a:t>
                </a:r>
                <a:r>
                  <a:rPr lang="en-US" sz="5100" dirty="0"/>
                  <a:t>and </a:t>
                </a:r>
                <a:r>
                  <a:rPr lang="en-US" sz="5100" b="1" dirty="0"/>
                  <a:t>is shifted</a:t>
                </a:r>
                <a:r>
                  <a:rPr lang="en-US" sz="5100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slot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by previous run, so probe one position to right, start </a:t>
                </a:r>
                <a:r>
                  <a:rPr lang="en-US" sz="5100" b="1" dirty="0"/>
                  <a:t>new run in cluster</a:t>
                </a:r>
                <a:r>
                  <a:rPr lang="en-US" sz="5100" dirty="0"/>
                  <a:t> and set </a:t>
                </a:r>
                <a:r>
                  <a:rPr lang="en-US" sz="5100" b="1" dirty="0"/>
                  <a:t>is shifted </a:t>
                </a:r>
                <a:r>
                  <a:rPr lang="en-US" sz="5100" dirty="0"/>
                  <a:t>bit</a:t>
                </a:r>
                <a:endParaRPr lang="en-US" sz="51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4" t="-313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009D14F-5F80-7326-684F-9755610B5CE2}"/>
              </a:ext>
            </a:extLst>
          </p:cNvPr>
          <p:cNvSpPr/>
          <p:nvPr/>
        </p:nvSpPr>
        <p:spPr>
          <a:xfrm>
            <a:off x="5961145" y="4006313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8A344-2FDA-4552-3C8B-B5104B4B98A4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654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71823-806F-92F0-A526-D5945355F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Example of linear probing for quotient filter </a:t>
                </a:r>
              </a:p>
              <a:p>
                <a:r>
                  <a:rPr lang="en-US" b="1" dirty="0"/>
                  <a:t>State 3</a:t>
                </a:r>
                <a:r>
                  <a:rPr lang="en-US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first run </a:t>
                </a:r>
              </a:p>
              <a:p>
                <a:pPr lvl="1"/>
                <a:r>
                  <a:rPr lang="en-US" dirty="0"/>
                  <a:t>Is occupied bit is unset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Recursive linear probing </a:t>
                </a:r>
                <a:r>
                  <a:rPr lang="en-US" dirty="0"/>
                  <a:t>shifts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right, and all are now in </a:t>
                </a:r>
                <a:r>
                  <a:rPr lang="en-US" b="1" dirty="0"/>
                  <a:t>same cluster 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is now in </a:t>
                </a:r>
                <a:r>
                  <a:rPr lang="en-US" b="1" dirty="0"/>
                  <a:t>first of cluster and run </a:t>
                </a:r>
                <a:r>
                  <a:rPr lang="en-US" dirty="0"/>
                  <a:t>with </a:t>
                </a:r>
                <a:r>
                  <a:rPr lang="en-US" b="1" dirty="0"/>
                  <a:t>is occupied </a:t>
                </a:r>
                <a:r>
                  <a:rPr lang="en-US" dirty="0"/>
                  <a:t>bit set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one run</a:t>
                </a:r>
              </a:p>
              <a:p>
                <a:pPr lvl="1"/>
                <a:r>
                  <a:rPr lang="en-US" dirty="0"/>
                  <a:t>Set status bits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  <a:blipFill>
                <a:blip r:embed="rId4"/>
                <a:stretch>
                  <a:fillRect l="-2203" t="-2071" r="-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BC014049-B347-5630-86DF-BD1FBFF834C1}"/>
              </a:ext>
            </a:extLst>
          </p:cNvPr>
          <p:cNvSpPr/>
          <p:nvPr/>
        </p:nvSpPr>
        <p:spPr>
          <a:xfrm>
            <a:off x="5989809" y="5156097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D9A79-5BA3-E778-D1FC-7B84AC69FE62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02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Merging</a:t>
            </a:r>
            <a:r>
              <a:rPr lang="en-US" dirty="0"/>
              <a:t> and </a:t>
            </a:r>
            <a:r>
              <a:rPr lang="en-US" b="1" dirty="0"/>
              <a:t>resizing</a:t>
            </a:r>
            <a:r>
              <a:rPr lang="en-US" dirty="0"/>
              <a:t> the quotient filter</a:t>
            </a:r>
          </a:p>
          <a:p>
            <a:r>
              <a:rPr lang="en-US" dirty="0"/>
              <a:t>Quotient filters can be merged by adding remainders of one filter to the bins defined by the quotients of another filter </a:t>
            </a:r>
          </a:p>
          <a:p>
            <a:pPr lvl="1"/>
            <a:r>
              <a:rPr lang="en-US" dirty="0"/>
              <a:t>Merging filters allows simple aggregation    </a:t>
            </a:r>
          </a:p>
          <a:p>
            <a:pPr lvl="1"/>
            <a:r>
              <a:rPr lang="en-US" dirty="0"/>
              <a:t>Quotients must have same number of bits, or can resize, so quotients match</a:t>
            </a:r>
          </a:p>
          <a:p>
            <a:pPr lvl="1"/>
            <a:r>
              <a:rPr lang="en-US" dirty="0"/>
              <a:t>Need to ensure table is large enough to prevent quotient (hash) collisions.    </a:t>
            </a:r>
          </a:p>
          <a:p>
            <a:r>
              <a:rPr lang="en-US" dirty="0"/>
              <a:t>Merging filters is useful for aggregation over multiple time periods </a:t>
            </a:r>
          </a:p>
          <a:p>
            <a:r>
              <a:rPr lang="en-US" dirty="0"/>
              <a:t>Can easily double the size of a quotient filter   </a:t>
            </a:r>
          </a:p>
          <a:p>
            <a:pPr lvl="1"/>
            <a:r>
              <a:rPr lang="en-US" dirty="0"/>
              <a:t>Most significant bit of reminder becomes least significant bit of quotient</a:t>
            </a:r>
          </a:p>
          <a:p>
            <a:pPr lvl="1"/>
            <a:r>
              <a:rPr lang="en-US" dirty="0"/>
              <a:t>Adding a bit to the quotient doubles the size of the filter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442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B873-6452-3E12-8DDE-DC1C3E32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BA00-C360-948D-43F5-D09B93CD3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34492118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47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applications of large-scale event counting</a:t>
            </a:r>
          </a:p>
          <a:p>
            <a:r>
              <a:rPr lang="en-US" dirty="0"/>
              <a:t>Events can be counted offline or online </a:t>
            </a:r>
          </a:p>
          <a:p>
            <a:pPr lvl="1"/>
            <a:r>
              <a:rPr lang="en-US" dirty="0"/>
              <a:t>Counting events by scanning massive databases offline   </a:t>
            </a:r>
          </a:p>
          <a:p>
            <a:pPr lvl="1"/>
            <a:r>
              <a:rPr lang="en-US" dirty="0"/>
              <a:t>Counting events in streams in time windows</a:t>
            </a:r>
          </a:p>
          <a:p>
            <a:r>
              <a:rPr lang="en-US" dirty="0"/>
              <a:t>Applications   </a:t>
            </a:r>
          </a:p>
          <a:p>
            <a:pPr lvl="1"/>
            <a:r>
              <a:rPr lang="en-US" dirty="0"/>
              <a:t>Count vehicles in highway sensors    </a:t>
            </a:r>
          </a:p>
          <a:p>
            <a:pPr lvl="1"/>
            <a:r>
              <a:rPr lang="en-US" dirty="0"/>
              <a:t>Count trade volume in capital markets </a:t>
            </a:r>
          </a:p>
          <a:p>
            <a:pPr lvl="1"/>
            <a:r>
              <a:rPr lang="en-US" dirty="0"/>
              <a:t>Counts of packets to manage capacity or find suspicious activity in networks </a:t>
            </a:r>
          </a:p>
          <a:p>
            <a:pPr lvl="1"/>
            <a:r>
              <a:rPr lang="en-US" dirty="0"/>
              <a:t>Counts of transactions to find fraudulent activity   </a:t>
            </a:r>
          </a:p>
          <a:p>
            <a:pPr lvl="1"/>
            <a:r>
              <a:rPr lang="en-US" dirty="0"/>
              <a:t>Counts from wearable technology</a:t>
            </a:r>
          </a:p>
          <a:p>
            <a:pPr lvl="1"/>
            <a:r>
              <a:rPr lang="en-US" dirty="0"/>
              <a:t>……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2212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147F-41EC-1745-8313-17355B0B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B63561-4146-D654-4F4B-97AB97EBDD23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19928F-64D1-BC33-4B6C-7D987C4A2408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4071-E356-9ADB-9B8A-CED7D71A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C3C0CF-1E68-E3D6-544D-0FC5A1AD852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7C1FD3E-B0E9-90DC-CEDC-F4950BBD545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92CF76C6-179B-85E9-825E-3FD47F82C282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C3231CBD-3542-B258-2B50-DFCFDFC251F6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3123E-8F11-32CF-5672-DA818A1E8828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CE5F414-CA27-917A-3061-F94BB0FDF1E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01BCE-3D0C-AC2F-DE2C-D5677E29C1A7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B35D8-7A6F-D007-E9D4-CC39D6C605C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FD13DE-7021-1C4B-92C0-C221E8BADB5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E618BB7-4A29-1D20-AC44-1B70C58D4BA2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884B5-F1CC-1309-7E92-E69E5DA8E11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7D842E-4B8B-3837-DEDE-09FE836A8996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B4B3E7-ED9E-5593-DCF7-F16A0871EA69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637F55B-9D0B-45BB-9B3B-8204B8FFA9F4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31A2C5F-38D8-B2B2-A12B-748D5526813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0D54E2C-9608-5D05-DD11-0CA80FF20A90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2B0E93-3943-953C-B3F2-B96F683FDA59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9CD74E-07A6-37AD-414A-53DEFE9D54F9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64A167-B926-98E1-4E5A-9B5DD7FED225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4A346A-AD98-3106-B5B7-0AA9C51A58E9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BFCE92-CD45-1F2E-BAC3-3D5664421EEC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E6E6B44-3FC1-9008-08D6-3DD1C7C55563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1E0218-3F41-7C13-5390-73A8DC83519C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8EECDF-E457-621F-FD3F-713EA0EF80D1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2F6063-6991-2858-3611-9A080A4A5E6E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28109-E642-4689-F507-1CF4266FB4A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E1F9EF-56D5-B3E5-CD7C-A66F827BD708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1CAB4C-F072-CC56-89FB-1AF72DFB2C8A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B641CD-1957-A7FD-0DAB-DE0776A0323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DADC93-C2D6-AB84-AA03-6D048B54CE1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F65591-3037-33B3-7B54-2A1765DEF082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7D02E5-6303-25E3-0928-42F96D47ECB7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84A2591-29C2-7E5D-1A4A-8B1BFE4DAAF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2906AC-9F1D-E9C0-AB5F-C339A0A2D955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0218A8-51CE-A713-CA90-8F2111EB03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F2A95F1-52C0-9583-7C69-41A44F70DD6F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1F6F2C-8680-4682-07B9-A73049FC550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090DB8-78A8-4FFE-B4CA-1B58E8C646FD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E42AA9-2217-0BE4-9DF5-5BAC09302A0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F3C5B9-4BC8-FE5A-9D36-4FF77AE5C2F9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17356-02A5-5A9C-DA41-A052207E81D5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F18C9F-74FA-247A-75D7-99FF178138F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36079-8E59-DDD0-B06B-679271349A28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8F89D1-355A-3F18-1B02-4A04FAA114A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57E3301-4B16-54CC-7667-81997F867D15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BAEE4C-A2B8-A0A4-1F12-1043A76D7EB8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223B7C-EEF5-53F3-3BB2-26DA92581E11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DDF9A6-A30D-A4F5-ED6F-FC4FDE4CE2D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52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full count table needs an entry for every possible event identifier   </a:t>
            </a:r>
          </a:p>
          <a:p>
            <a:pPr lvl="1"/>
            <a:r>
              <a:rPr lang="en-US" dirty="0"/>
              <a:t>Size is unbounded</a:t>
            </a:r>
          </a:p>
          <a:p>
            <a:pPr lvl="1"/>
            <a:r>
              <a:rPr lang="en-US" dirty="0"/>
              <a:t>Unmanageable for large event set</a:t>
            </a:r>
          </a:p>
          <a:p>
            <a:r>
              <a:rPr lang="en-US" dirty="0"/>
              <a:t>We need a better approach!    </a:t>
            </a:r>
          </a:p>
          <a:p>
            <a:r>
              <a:rPr lang="en-US" dirty="0"/>
              <a:t>A </a:t>
            </a:r>
            <a:r>
              <a:rPr lang="en-US" b="1" dirty="0"/>
              <a:t>sketch</a:t>
            </a:r>
            <a:r>
              <a:rPr lang="en-US" dirty="0"/>
              <a:t> is a minimal (approximate) representation of a data structure   </a:t>
            </a:r>
          </a:p>
          <a:p>
            <a:r>
              <a:rPr lang="en-US" dirty="0"/>
              <a:t>Create a </a:t>
            </a:r>
            <a:r>
              <a:rPr lang="en-US" b="1" dirty="0"/>
              <a:t>sketch</a:t>
            </a:r>
            <a:r>
              <a:rPr lang="en-US" dirty="0"/>
              <a:t> of the counts using hash functions    </a:t>
            </a:r>
          </a:p>
          <a:p>
            <a:pPr lvl="1"/>
            <a:r>
              <a:rPr lang="en-US" b="1" dirty="0"/>
              <a:t>Count is approximated </a:t>
            </a:r>
            <a:r>
              <a:rPr lang="en-US" dirty="0"/>
              <a:t>by the sketch   </a:t>
            </a:r>
          </a:p>
          <a:p>
            <a:pPr lvl="1"/>
            <a:r>
              <a:rPr lang="en-US" dirty="0"/>
              <a:t>Data structure is of </a:t>
            </a:r>
            <a:r>
              <a:rPr lang="en-US" b="1" dirty="0"/>
              <a:t>fixed compact size</a:t>
            </a:r>
            <a:r>
              <a:rPr lang="en-US" dirty="0"/>
              <a:t>!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8703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1437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compact 2-dimensional data structure</a:t>
            </a:r>
          </a:p>
          <a:p>
            <a:r>
              <a:rPr lang="en-US" dirty="0"/>
              <a:t>Depth, </a:t>
            </a:r>
            <a:r>
              <a:rPr lang="en-US" i="1" dirty="0"/>
              <a:t>d</a:t>
            </a:r>
            <a:r>
              <a:rPr lang="en-US" dirty="0"/>
              <a:t>, hash functions, typically 10s </a:t>
            </a:r>
          </a:p>
          <a:p>
            <a:r>
              <a:rPr lang="en-US" dirty="0"/>
              <a:t>Width, </a:t>
            </a:r>
            <a:r>
              <a:rPr lang="en-US" i="1" dirty="0"/>
              <a:t>w</a:t>
            </a:r>
            <a:r>
              <a:rPr lang="en-US" dirty="0"/>
              <a:t>, buckets, typically 1000s   </a:t>
            </a:r>
            <a:endParaRPr lang="en-US" b="1" dirty="0"/>
          </a:p>
          <a:p>
            <a:r>
              <a:rPr lang="en-US" dirty="0"/>
              <a:t>Compact data structure size leads to hash collisions  </a:t>
            </a:r>
          </a:p>
          <a:p>
            <a:pPr lvl="1"/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blipFill>
                <a:blip r:embed="rId2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blipFill>
                <a:blip r:embed="rId3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blipFill>
                <a:blip r:embed="rId4"/>
                <a:stretch>
                  <a:fillRect l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blipFill>
                <a:blip r:embed="rId5"/>
                <a:stretch>
                  <a:fillRect l="-1796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43086"/>
              </p:ext>
            </p:extLst>
          </p:nvPr>
        </p:nvGraphicFramePr>
        <p:xfrm>
          <a:off x="3770514" y="4082544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FA28E64-333A-4387-E5FC-A77C30999DFB}"/>
              </a:ext>
            </a:extLst>
          </p:cNvPr>
          <p:cNvSpPr txBox="1"/>
          <p:nvPr/>
        </p:nvSpPr>
        <p:spPr>
          <a:xfrm>
            <a:off x="357144" y="5000643"/>
            <a:ext cx="1987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Depth, </a:t>
            </a:r>
            <a:r>
              <a:rPr lang="en-US" sz="2400" i="1" dirty="0"/>
              <a:t>d</a:t>
            </a:r>
            <a:r>
              <a:rPr lang="en-US" sz="2400" dirty="0"/>
              <a:t>, hash functions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A85E0-978C-52BE-6CB8-1A7D33E9ABFD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350675" y="4456796"/>
            <a:ext cx="0" cy="54384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0DD11-C18A-F999-3D58-7F2EDEBFBFE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350675" y="5831640"/>
            <a:ext cx="6351" cy="53690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F213C9-E40A-FC07-2914-3F1523E740F4}"/>
              </a:ext>
            </a:extLst>
          </p:cNvPr>
          <p:cNvSpPr txBox="1"/>
          <p:nvPr/>
        </p:nvSpPr>
        <p:spPr>
          <a:xfrm>
            <a:off x="6565979" y="3544791"/>
            <a:ext cx="2537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Width, </a:t>
            </a:r>
            <a:r>
              <a:rPr lang="en-US" sz="2400" i="1" dirty="0"/>
              <a:t>w</a:t>
            </a:r>
            <a:r>
              <a:rPr lang="en-US" sz="2400" dirty="0"/>
              <a:t>, buckets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A2D7EF-2029-3900-DF49-6F0BF05A8D04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103048" y="3775624"/>
            <a:ext cx="2795466" cy="1233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F951D2-E896-1262-1904-D73C4F8B6DB2}"/>
              </a:ext>
            </a:extLst>
          </p:cNvPr>
          <p:cNvCxnSpPr>
            <a:cxnSpLocks/>
          </p:cNvCxnSpPr>
          <p:nvPr/>
        </p:nvCxnSpPr>
        <p:spPr>
          <a:xfrm flipH="1" flipV="1">
            <a:off x="3770514" y="3775623"/>
            <a:ext cx="2676769" cy="617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5" grpId="0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sketch is a minimal (approximate) representation of a data structure   </a:t>
            </a:r>
          </a:p>
          <a:p>
            <a:r>
              <a:rPr lang="en-US" dirty="0"/>
              <a:t>The count-min-sketch algorithm uses </a:t>
            </a:r>
            <a:r>
              <a:rPr lang="en-US" b="1" dirty="0"/>
              <a:t>probabilistic sampling  </a:t>
            </a:r>
          </a:p>
          <a:p>
            <a:r>
              <a:rPr lang="en-US" dirty="0"/>
              <a:t>Counts of events are added to the hash buckets in the sketch data structure</a:t>
            </a:r>
          </a:p>
          <a:p>
            <a:r>
              <a:rPr lang="en-US" dirty="0"/>
              <a:t>If no hash collisions, event counts in buckets for event identifier are exact</a:t>
            </a:r>
          </a:p>
          <a:p>
            <a:r>
              <a:rPr lang="en-US" dirty="0"/>
              <a:t>With inevitable </a:t>
            </a:r>
            <a:r>
              <a:rPr lang="en-US" b="1" dirty="0"/>
              <a:t>hash collisions use minimum count </a:t>
            </a:r>
            <a:r>
              <a:rPr lang="en-US" dirty="0"/>
              <a:t>in the hash buckets for the event identifier  </a:t>
            </a:r>
          </a:p>
          <a:p>
            <a:pPr lvl="1"/>
            <a:r>
              <a:rPr lang="en-US" dirty="0"/>
              <a:t>Never get an under-count</a:t>
            </a:r>
          </a:p>
          <a:p>
            <a:pPr lvl="1"/>
            <a:r>
              <a:rPr lang="en-US" dirty="0"/>
              <a:t>Get over-count with some probability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2672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</a:t>
            </a:r>
            <a:r>
              <a:rPr lang="en-US" i="1" dirty="0"/>
              <a:t>(identifier, occurrences) </a:t>
            </a:r>
          </a:p>
          <a:p>
            <a:r>
              <a:rPr lang="en-US" b="1" dirty="0"/>
              <a:t>Event </a:t>
            </a:r>
            <a:r>
              <a:rPr lang="en-US" b="1" i="1" dirty="0"/>
              <a:t>(u,1)</a:t>
            </a:r>
            <a:r>
              <a:rPr lang="en-US" dirty="0"/>
              <a:t>, add 1 to buckets indexed by hash functions for key </a:t>
            </a:r>
            <a:r>
              <a:rPr lang="en-US" i="1" dirty="0"/>
              <a:t>u</a:t>
            </a:r>
            <a:r>
              <a:rPr lang="en-US" dirty="0"/>
              <a:t> 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12917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216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(v,2)</a:t>
            </a:r>
            <a:r>
              <a:rPr lang="en-US" dirty="0"/>
              <a:t>, add 2 to buckets indexed by hash functions, hash collision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93742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7719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(w,1)</a:t>
            </a:r>
            <a:r>
              <a:rPr lang="en-US" dirty="0"/>
              <a:t>, add 1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72519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3763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(x,3)</a:t>
            </a:r>
            <a:r>
              <a:rPr lang="en-US" dirty="0"/>
              <a:t>, add 3 to buckets, multiple hash collisions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319368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3459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(y,2)</a:t>
            </a:r>
            <a:r>
              <a:rPr lang="en-US" dirty="0"/>
              <a:t>, add 2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41995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517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7230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Best estimate of count is </a:t>
            </a:r>
            <a:r>
              <a:rPr lang="en-US" b="1" dirty="0"/>
              <a:t>minimum of counts in buckets </a:t>
            </a:r>
            <a:r>
              <a:rPr lang="en-US" dirty="0"/>
              <a:t>of sketch data structure </a:t>
            </a:r>
          </a:p>
          <a:p>
            <a:r>
              <a:rPr lang="en-US" dirty="0"/>
              <a:t>Count-min-sketch algorithm finds upper bound on count</a:t>
            </a:r>
          </a:p>
          <a:p>
            <a:r>
              <a:rPr lang="en-US" b="1" dirty="0"/>
              <a:t>Actual count may be less than estimate</a:t>
            </a:r>
            <a:r>
              <a:rPr lang="en-US" dirty="0"/>
              <a:t>, </a:t>
            </a:r>
            <a:r>
              <a:rPr lang="en-US" b="1" dirty="0"/>
              <a:t>never greater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151747"/>
              </p:ext>
            </p:extLst>
          </p:nvPr>
        </p:nvGraphicFramePr>
        <p:xfrm>
          <a:off x="3823677" y="3200401"/>
          <a:ext cx="508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6A970E8-543D-D81B-8ECB-BEA426900423}"/>
              </a:ext>
            </a:extLst>
          </p:cNvPr>
          <p:cNvSpPr txBox="1"/>
          <p:nvPr/>
        </p:nvSpPr>
        <p:spPr>
          <a:xfrm>
            <a:off x="1869831" y="5457218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8E08C-C114-CB33-0776-3D29E4A68C5F}"/>
              </a:ext>
            </a:extLst>
          </p:cNvPr>
          <p:cNvSpPr txBox="1"/>
          <p:nvPr/>
        </p:nvSpPr>
        <p:spPr>
          <a:xfrm>
            <a:off x="1869831" y="5939044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</p:spTree>
    <p:extLst>
      <p:ext uri="{BB962C8B-B14F-4D97-AF65-F5344CB8AC3E}">
        <p14:creationId xmlns:p14="http://schemas.microsoft.com/office/powerpoint/2010/main" val="40079273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inevitable </a:t>
                </a:r>
                <a:r>
                  <a:rPr lang="en-US" b="1" dirty="0"/>
                  <a:t>hash collisions use minimum count </a:t>
                </a:r>
                <a:r>
                  <a:rPr lang="en-US" dirty="0"/>
                  <a:t>in the hash buckets for the event identifier  </a:t>
                </a:r>
              </a:p>
              <a:p>
                <a:r>
                  <a:rPr lang="en-US" dirty="0"/>
                  <a:t>Over time window,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stream is comprised of event tuples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total sum of frequencies in the stream, over time 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29341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400" dirty="0"/>
                  <a:t>Note, </a:t>
                </a:r>
                <a:r>
                  <a:rPr lang="en-US" sz="1400" dirty="0" err="1"/>
                  <a:t>Medjedovic</a:t>
                </a:r>
                <a:r>
                  <a:rPr lang="en-US" sz="1400" dirty="0"/>
                  <a:t>, et. al., 2022, appear to have these formulas reversed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764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Count-min-sketch has a trade-off between error and space requirement</a:t>
                </a:r>
              </a:p>
              <a:p>
                <a:r>
                  <a:rPr lang="en-US" dirty="0"/>
                  <a:t>For required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the data structure requires memory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2444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14832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  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Notice that the upper bound on error is the product of the sum of total counts,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and the error fraction,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bound is probabilistic </a:t>
                </a:r>
              </a:p>
              <a:p>
                <a:pPr lvl="1"/>
                <a:r>
                  <a:rPr lang="en-US" dirty="0"/>
                  <a:t>Bound can be exceeded with probability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The worst-case error is unbonded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167582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380E-E433-B8CE-6EDE-9509FF13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79B3-2D60-349C-FC06-53C57EA3C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Examples of merging count min sketches: </a:t>
            </a:r>
          </a:p>
          <a:p>
            <a:pPr lvl="1"/>
            <a:r>
              <a:rPr lang="en-US" dirty="0"/>
              <a:t>Merge multiple sketches to represent longer time periods   </a:t>
            </a:r>
          </a:p>
          <a:p>
            <a:pPr lvl="1"/>
            <a:r>
              <a:rPr lang="en-US" dirty="0"/>
              <a:t>Merge sketches from several independent streams </a:t>
            </a:r>
          </a:p>
          <a:p>
            <a:r>
              <a:rPr lang="en-US" dirty="0"/>
              <a:t>Mergeable sketches allows parallel processing  </a:t>
            </a:r>
          </a:p>
          <a:p>
            <a:pPr lvl="1"/>
            <a:r>
              <a:rPr lang="en-US" dirty="0"/>
              <a:t>Process each stream independently</a:t>
            </a:r>
          </a:p>
          <a:p>
            <a:pPr lvl="1"/>
            <a:r>
              <a:rPr lang="en-US" dirty="0"/>
              <a:t>Process multiple sub-queries from a database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C7F496-08FA-6EFC-A18D-E845B7FAE3F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4574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A25F-502C-9D20-786C-95DB8487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7316-178B-FAD9-A499-7145C1E5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70"/>
            <a:ext cx="10515600" cy="1679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Sketches of same dimensions merged by </a:t>
            </a:r>
            <a:r>
              <a:rPr lang="en-US" b="1" dirty="0"/>
              <a:t>summing elementwise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5618A6-30C9-3D7C-C714-D0E4136AB0E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/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/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/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/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CFAAB2-6379-AFAE-055C-791B02589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96399"/>
              </p:ext>
            </p:extLst>
          </p:nvPr>
        </p:nvGraphicFramePr>
        <p:xfrm>
          <a:off x="2044964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2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696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A2508D-6E64-8ED8-6DDD-2425BB21E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63071"/>
              </p:ext>
            </p:extLst>
          </p:nvPr>
        </p:nvGraphicFramePr>
        <p:xfrm>
          <a:off x="9333326" y="3020308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/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blipFill>
                <a:blip r:embed="rId6"/>
                <a:stretch>
                  <a:fillRect l="-120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/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blipFill>
                <a:blip r:embed="rId7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/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blipFill>
                <a:blip r:embed="rId8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/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blipFill>
                <a:blip r:embed="rId9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02AAEF-CDA8-09E8-59DD-A3CF3E11282B}"/>
              </a:ext>
            </a:extLst>
          </p:cNvPr>
          <p:cNvSpPr txBox="1"/>
          <p:nvPr/>
        </p:nvSpPr>
        <p:spPr>
          <a:xfrm>
            <a:off x="174154" y="5360615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9D9AE-82C6-BABB-4006-BB4D786D1A74}"/>
              </a:ext>
            </a:extLst>
          </p:cNvPr>
          <p:cNvSpPr txBox="1"/>
          <p:nvPr/>
        </p:nvSpPr>
        <p:spPr>
          <a:xfrm>
            <a:off x="174154" y="5842441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B5F119E-F135-DDA4-8A8C-8A31229CC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003778"/>
              </p:ext>
            </p:extLst>
          </p:nvPr>
        </p:nvGraphicFramePr>
        <p:xfrm>
          <a:off x="5496780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601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/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/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1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12" grpId="0"/>
      <p:bldP spid="13" grpId="0"/>
      <p:bldP spid="14" grpId="0"/>
      <p:bldP spid="15" grpId="0"/>
      <p:bldP spid="16" grpId="0" animBg="1"/>
      <p:bldP spid="17" grpId="0" animBg="1"/>
      <p:bldP spid="19" grpId="0"/>
      <p:bldP spid="2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47" y="1324928"/>
            <a:ext cx="10515600" cy="52935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Key points for this lesson</a:t>
            </a:r>
          </a:p>
          <a:p>
            <a:r>
              <a:rPr lang="en-US" dirty="0"/>
              <a:t>Streaming data often arrives at a massive scale</a:t>
            </a:r>
          </a:p>
          <a:p>
            <a:r>
              <a:rPr lang="en-US" dirty="0"/>
              <a:t>Down sample streams with real-number values</a:t>
            </a:r>
          </a:p>
          <a:p>
            <a:pPr lvl="1"/>
            <a:r>
              <a:rPr lang="en-US" dirty="0"/>
              <a:t>Moving averages</a:t>
            </a:r>
          </a:p>
          <a:p>
            <a:pPr lvl="1"/>
            <a:r>
              <a:rPr lang="en-US" dirty="0"/>
              <a:t>Delta coding </a:t>
            </a:r>
          </a:p>
          <a:p>
            <a:pPr lvl="1"/>
            <a:r>
              <a:rPr lang="en-US" dirty="0"/>
              <a:t>Exponential weighting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Use probabilistic sketch algorithms for discrete event streams   </a:t>
            </a:r>
          </a:p>
          <a:p>
            <a:pPr lvl="1"/>
            <a:r>
              <a:rPr lang="en-US" dirty="0"/>
              <a:t>Uniqueness – have we seen this event type before? </a:t>
            </a:r>
          </a:p>
          <a:p>
            <a:pPr lvl="1"/>
            <a:r>
              <a:rPr lang="en-US" dirty="0"/>
              <a:t>Counts – how many of these events in time interval?</a:t>
            </a:r>
          </a:p>
          <a:p>
            <a:pPr lvl="1"/>
            <a:r>
              <a:rPr lang="en-US" dirty="0"/>
              <a:t>Cardinality – how many event types? </a:t>
            </a:r>
          </a:p>
          <a:p>
            <a:pPr lvl="1"/>
            <a:r>
              <a:rPr lang="en-US" dirty="0"/>
              <a:t>Quantiles – what is the density of the distribution?  </a:t>
            </a:r>
          </a:p>
          <a:p>
            <a:pPr lvl="1"/>
            <a:r>
              <a:rPr lang="en-US" dirty="0"/>
              <a:t>…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319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33397</TotalTime>
  <Words>6039</Words>
  <Application>Microsoft Office PowerPoint</Application>
  <PresentationFormat>Widescreen</PresentationFormat>
  <Paragraphs>1386</Paragraphs>
  <Slides>82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7" baseType="lpstr">
      <vt:lpstr>Arial</vt:lpstr>
      <vt:lpstr>Calibri</vt:lpstr>
      <vt:lpstr>Calibri Light</vt:lpstr>
      <vt:lpstr>Cambria Math</vt:lpstr>
      <vt:lpstr>Office Theme</vt:lpstr>
      <vt:lpstr>CSCI E-96 Data Mining, Discovery and Exploration Online Algorithms and Steaming Analytics</vt:lpstr>
      <vt:lpstr>Main topics in this course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Streaming Pipelines</vt:lpstr>
      <vt:lpstr>PowerPoint Presentation</vt:lpstr>
      <vt:lpstr>PowerPoint Presentation</vt:lpstr>
      <vt:lpstr>PowerPoint Presentation</vt:lpstr>
      <vt:lpstr>Case Study 1</vt:lpstr>
      <vt:lpstr>PowerPoint Presentation</vt:lpstr>
      <vt:lpstr>PowerPoint Presentation</vt:lpstr>
      <vt:lpstr>PowerPoint Presentation</vt:lpstr>
      <vt:lpstr>Sketches as Approximate Representations </vt:lpstr>
      <vt:lpstr>PowerPoint Presentation</vt:lpstr>
      <vt:lpstr>PowerPoint Presentation</vt:lpstr>
      <vt:lpstr>PowerPoint Presentation</vt:lpstr>
      <vt:lpstr>Basic Sampling and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Reservoir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Stream Filtering </vt:lpstr>
      <vt:lpstr>PowerPoint Presentation</vt:lpstr>
      <vt:lpstr>Discrete Streaming Events</vt:lpstr>
      <vt:lpstr>PowerPoint Presentation</vt:lpstr>
      <vt:lpstr>PowerPoint Presentation</vt:lpstr>
      <vt:lpstr>PowerPoint Presentation</vt:lpstr>
      <vt:lpstr>Filtering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842</cp:revision>
  <cp:lastPrinted>2019-09-03T23:18:19Z</cp:lastPrinted>
  <dcterms:created xsi:type="dcterms:W3CDTF">2019-08-02T23:14:29Z</dcterms:created>
  <dcterms:modified xsi:type="dcterms:W3CDTF">2026-06-16T14:52:57Z</dcterms:modified>
</cp:coreProperties>
</file>