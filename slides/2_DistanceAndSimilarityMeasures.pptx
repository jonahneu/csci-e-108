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719" r:id="rId2"/>
    <p:sldId id="819" r:id="rId3"/>
    <p:sldId id="604" r:id="rId4"/>
    <p:sldId id="687" r:id="rId5"/>
    <p:sldId id="778" r:id="rId6"/>
    <p:sldId id="686" r:id="rId7"/>
    <p:sldId id="672" r:id="rId8"/>
    <p:sldId id="608" r:id="rId9"/>
    <p:sldId id="612" r:id="rId10"/>
    <p:sldId id="722" r:id="rId11"/>
    <p:sldId id="779" r:id="rId12"/>
    <p:sldId id="607" r:id="rId13"/>
    <p:sldId id="673" r:id="rId14"/>
    <p:sldId id="674" r:id="rId15"/>
    <p:sldId id="783" r:id="rId16"/>
    <p:sldId id="721" r:id="rId17"/>
    <p:sldId id="732" r:id="rId18"/>
    <p:sldId id="734" r:id="rId19"/>
    <p:sldId id="736" r:id="rId20"/>
    <p:sldId id="735" r:id="rId21"/>
    <p:sldId id="680" r:id="rId22"/>
    <p:sldId id="730" r:id="rId23"/>
    <p:sldId id="610" r:id="rId24"/>
    <p:sldId id="611" r:id="rId25"/>
    <p:sldId id="780" r:id="rId26"/>
    <p:sldId id="609" r:id="rId27"/>
    <p:sldId id="613" r:id="rId28"/>
    <p:sldId id="616" r:id="rId29"/>
    <p:sldId id="615" r:id="rId30"/>
    <p:sldId id="617" r:id="rId31"/>
    <p:sldId id="618" r:id="rId32"/>
    <p:sldId id="781" r:id="rId33"/>
    <p:sldId id="641" r:id="rId34"/>
    <p:sldId id="679" r:id="rId35"/>
    <p:sldId id="724" r:id="rId36"/>
    <p:sldId id="723" r:id="rId37"/>
    <p:sldId id="737" r:id="rId38"/>
    <p:sldId id="685" r:id="rId39"/>
    <p:sldId id="682" r:id="rId40"/>
    <p:sldId id="683" r:id="rId41"/>
    <p:sldId id="782" r:id="rId42"/>
    <p:sldId id="725" r:id="rId43"/>
    <p:sldId id="726" r:id="rId44"/>
    <p:sldId id="727" r:id="rId45"/>
    <p:sldId id="728" r:id="rId46"/>
    <p:sldId id="729" r:id="rId47"/>
    <p:sldId id="820" r:id="rId48"/>
    <p:sldId id="784" r:id="rId49"/>
    <p:sldId id="720"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3" autoAdjust="0"/>
    <p:restoredTop sz="94660"/>
  </p:normalViewPr>
  <p:slideViewPr>
    <p:cSldViewPr snapToGrid="0">
      <p:cViewPr varScale="1">
        <p:scale>
          <a:sx n="68" d="100"/>
          <a:sy n="68" d="100"/>
        </p:scale>
        <p:origin x="48" y="2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D534D1-5B48-49E9-A024-C5EAE54CADD0}"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2EEBAC-B083-4D6F-9402-80E985106B02}" type="slidenum">
              <a:rPr lang="en-US" smtClean="0"/>
              <a:t>‹#›</a:t>
            </a:fld>
            <a:endParaRPr lang="en-US"/>
          </a:p>
        </p:txBody>
      </p:sp>
    </p:spTree>
    <p:extLst>
      <p:ext uri="{BB962C8B-B14F-4D97-AF65-F5344CB8AC3E}">
        <p14:creationId xmlns:p14="http://schemas.microsoft.com/office/powerpoint/2010/main" val="28788251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a:t>
            </a:fld>
            <a:endParaRPr lang="en-US"/>
          </a:p>
        </p:txBody>
      </p:sp>
    </p:spTree>
    <p:extLst>
      <p:ext uri="{BB962C8B-B14F-4D97-AF65-F5344CB8AC3E}">
        <p14:creationId xmlns:p14="http://schemas.microsoft.com/office/powerpoint/2010/main" val="6552643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a:t>
            </a:fld>
            <a:endParaRPr lang="en-US"/>
          </a:p>
        </p:txBody>
      </p:sp>
    </p:spTree>
    <p:extLst>
      <p:ext uri="{BB962C8B-B14F-4D97-AF65-F5344CB8AC3E}">
        <p14:creationId xmlns:p14="http://schemas.microsoft.com/office/powerpoint/2010/main" val="112992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6</a:t>
            </a:fld>
            <a:endParaRPr lang="en-US"/>
          </a:p>
        </p:txBody>
      </p:sp>
    </p:spTree>
    <p:extLst>
      <p:ext uri="{BB962C8B-B14F-4D97-AF65-F5344CB8AC3E}">
        <p14:creationId xmlns:p14="http://schemas.microsoft.com/office/powerpoint/2010/main" val="14890016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7</a:t>
            </a:fld>
            <a:endParaRPr lang="en-US"/>
          </a:p>
        </p:txBody>
      </p:sp>
    </p:spTree>
    <p:extLst>
      <p:ext uri="{BB962C8B-B14F-4D97-AF65-F5344CB8AC3E}">
        <p14:creationId xmlns:p14="http://schemas.microsoft.com/office/powerpoint/2010/main" val="774251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8</a:t>
            </a:fld>
            <a:endParaRPr lang="en-US"/>
          </a:p>
        </p:txBody>
      </p:sp>
    </p:spTree>
    <p:extLst>
      <p:ext uri="{BB962C8B-B14F-4D97-AF65-F5344CB8AC3E}">
        <p14:creationId xmlns:p14="http://schemas.microsoft.com/office/powerpoint/2010/main" val="18295774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9</a:t>
            </a:fld>
            <a:endParaRPr lang="en-US"/>
          </a:p>
        </p:txBody>
      </p:sp>
    </p:spTree>
    <p:extLst>
      <p:ext uri="{BB962C8B-B14F-4D97-AF65-F5344CB8AC3E}">
        <p14:creationId xmlns:p14="http://schemas.microsoft.com/office/powerpoint/2010/main" val="2750234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10</a:t>
            </a:fld>
            <a:endParaRPr lang="en-US"/>
          </a:p>
        </p:txBody>
      </p:sp>
    </p:spTree>
    <p:extLst>
      <p:ext uri="{BB962C8B-B14F-4D97-AF65-F5344CB8AC3E}">
        <p14:creationId xmlns:p14="http://schemas.microsoft.com/office/powerpoint/2010/main" val="26517303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12</a:t>
            </a:fld>
            <a:endParaRPr lang="en-US"/>
          </a:p>
        </p:txBody>
      </p:sp>
    </p:spTree>
    <p:extLst>
      <p:ext uri="{BB962C8B-B14F-4D97-AF65-F5344CB8AC3E}">
        <p14:creationId xmlns:p14="http://schemas.microsoft.com/office/powerpoint/2010/main" val="35196074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13</a:t>
            </a:fld>
            <a:endParaRPr lang="en-US"/>
          </a:p>
        </p:txBody>
      </p:sp>
    </p:spTree>
    <p:extLst>
      <p:ext uri="{BB962C8B-B14F-4D97-AF65-F5344CB8AC3E}">
        <p14:creationId xmlns:p14="http://schemas.microsoft.com/office/powerpoint/2010/main" val="32069646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14</a:t>
            </a:fld>
            <a:endParaRPr lang="en-US"/>
          </a:p>
        </p:txBody>
      </p:sp>
    </p:spTree>
    <p:extLst>
      <p:ext uri="{BB962C8B-B14F-4D97-AF65-F5344CB8AC3E}">
        <p14:creationId xmlns:p14="http://schemas.microsoft.com/office/powerpoint/2010/main" val="19424398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89892-C190-7F80-E633-2F0B93F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DC9374-452A-2F26-4391-D7ECF17EFD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764D72-7AD7-307A-D8AC-AA5460C2A9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824AC6-4BE7-1798-4C03-A5E1D907E8AD}"/>
              </a:ext>
            </a:extLst>
          </p:cNvPr>
          <p:cNvSpPr>
            <a:spLocks noGrp="1"/>
          </p:cNvSpPr>
          <p:nvPr>
            <p:ph type="sldNum" sz="quarter" idx="10"/>
          </p:nvPr>
        </p:nvSpPr>
        <p:spPr/>
        <p:txBody>
          <a:bodyPr/>
          <a:lstStyle/>
          <a:p>
            <a:fld id="{4CFD207A-07DF-40AD-A916-9872E089CE7A}" type="slidenum">
              <a:rPr lang="en-US" smtClean="0"/>
              <a:pPr/>
              <a:t>15</a:t>
            </a:fld>
            <a:endParaRPr lang="en-US"/>
          </a:p>
        </p:txBody>
      </p:sp>
    </p:spTree>
    <p:extLst>
      <p:ext uri="{BB962C8B-B14F-4D97-AF65-F5344CB8AC3E}">
        <p14:creationId xmlns:p14="http://schemas.microsoft.com/office/powerpoint/2010/main" val="11210136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16</a:t>
            </a:fld>
            <a:endParaRPr lang="en-US"/>
          </a:p>
        </p:txBody>
      </p:sp>
    </p:spTree>
    <p:extLst>
      <p:ext uri="{BB962C8B-B14F-4D97-AF65-F5344CB8AC3E}">
        <p14:creationId xmlns:p14="http://schemas.microsoft.com/office/powerpoint/2010/main" val="38759992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17</a:t>
            </a:fld>
            <a:endParaRPr lang="en-US"/>
          </a:p>
        </p:txBody>
      </p:sp>
    </p:spTree>
    <p:extLst>
      <p:ext uri="{BB962C8B-B14F-4D97-AF65-F5344CB8AC3E}">
        <p14:creationId xmlns:p14="http://schemas.microsoft.com/office/powerpoint/2010/main" val="810175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18</a:t>
            </a:fld>
            <a:endParaRPr lang="en-US"/>
          </a:p>
        </p:txBody>
      </p:sp>
    </p:spTree>
    <p:extLst>
      <p:ext uri="{BB962C8B-B14F-4D97-AF65-F5344CB8AC3E}">
        <p14:creationId xmlns:p14="http://schemas.microsoft.com/office/powerpoint/2010/main" val="2058345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19</a:t>
            </a:fld>
            <a:endParaRPr lang="en-US"/>
          </a:p>
        </p:txBody>
      </p:sp>
    </p:spTree>
    <p:extLst>
      <p:ext uri="{BB962C8B-B14F-4D97-AF65-F5344CB8AC3E}">
        <p14:creationId xmlns:p14="http://schemas.microsoft.com/office/powerpoint/2010/main" val="4008882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20</a:t>
            </a:fld>
            <a:endParaRPr lang="en-US"/>
          </a:p>
        </p:txBody>
      </p:sp>
    </p:spTree>
    <p:extLst>
      <p:ext uri="{BB962C8B-B14F-4D97-AF65-F5344CB8AC3E}">
        <p14:creationId xmlns:p14="http://schemas.microsoft.com/office/powerpoint/2010/main" val="19581009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21</a:t>
            </a:fld>
            <a:endParaRPr lang="en-US"/>
          </a:p>
        </p:txBody>
      </p:sp>
    </p:spTree>
    <p:extLst>
      <p:ext uri="{BB962C8B-B14F-4D97-AF65-F5344CB8AC3E}">
        <p14:creationId xmlns:p14="http://schemas.microsoft.com/office/powerpoint/2010/main" val="2695154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DD6AC-BBD5-0301-5EC0-682DF15FF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C36AFC-AEBA-94F9-213E-59AA2F4FC6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8174B8-2DA8-0FF6-67B4-878A73B0E1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77531D-0D14-78C7-3AD8-1F582CCA33BF}"/>
              </a:ext>
            </a:extLst>
          </p:cNvPr>
          <p:cNvSpPr>
            <a:spLocks noGrp="1"/>
          </p:cNvSpPr>
          <p:nvPr>
            <p:ph type="sldNum" sz="quarter" idx="10"/>
          </p:nvPr>
        </p:nvSpPr>
        <p:spPr/>
        <p:txBody>
          <a:bodyPr/>
          <a:lstStyle/>
          <a:p>
            <a:fld id="{4CFD207A-07DF-40AD-A916-9872E089CE7A}" type="slidenum">
              <a:rPr lang="en-US" smtClean="0"/>
              <a:pPr/>
              <a:t>22</a:t>
            </a:fld>
            <a:endParaRPr lang="en-US"/>
          </a:p>
        </p:txBody>
      </p:sp>
    </p:spTree>
    <p:extLst>
      <p:ext uri="{BB962C8B-B14F-4D97-AF65-F5344CB8AC3E}">
        <p14:creationId xmlns:p14="http://schemas.microsoft.com/office/powerpoint/2010/main" val="41344446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23</a:t>
            </a:fld>
            <a:endParaRPr lang="en-US"/>
          </a:p>
        </p:txBody>
      </p:sp>
    </p:spTree>
    <p:extLst>
      <p:ext uri="{BB962C8B-B14F-4D97-AF65-F5344CB8AC3E}">
        <p14:creationId xmlns:p14="http://schemas.microsoft.com/office/powerpoint/2010/main" val="4895369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24</a:t>
            </a:fld>
            <a:endParaRPr lang="en-US"/>
          </a:p>
        </p:txBody>
      </p:sp>
    </p:spTree>
    <p:extLst>
      <p:ext uri="{BB962C8B-B14F-4D97-AF65-F5344CB8AC3E}">
        <p14:creationId xmlns:p14="http://schemas.microsoft.com/office/powerpoint/2010/main" val="2434201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26</a:t>
            </a:fld>
            <a:endParaRPr lang="en-US"/>
          </a:p>
        </p:txBody>
      </p:sp>
    </p:spTree>
    <p:extLst>
      <p:ext uri="{BB962C8B-B14F-4D97-AF65-F5344CB8AC3E}">
        <p14:creationId xmlns:p14="http://schemas.microsoft.com/office/powerpoint/2010/main" val="36824256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27</a:t>
            </a:fld>
            <a:endParaRPr lang="en-US"/>
          </a:p>
        </p:txBody>
      </p:sp>
    </p:spTree>
    <p:extLst>
      <p:ext uri="{BB962C8B-B14F-4D97-AF65-F5344CB8AC3E}">
        <p14:creationId xmlns:p14="http://schemas.microsoft.com/office/powerpoint/2010/main" val="10907220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28</a:t>
            </a:fld>
            <a:endParaRPr lang="en-US"/>
          </a:p>
        </p:txBody>
      </p:sp>
    </p:spTree>
    <p:extLst>
      <p:ext uri="{BB962C8B-B14F-4D97-AF65-F5344CB8AC3E}">
        <p14:creationId xmlns:p14="http://schemas.microsoft.com/office/powerpoint/2010/main" val="28755157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29</a:t>
            </a:fld>
            <a:endParaRPr lang="en-US"/>
          </a:p>
        </p:txBody>
      </p:sp>
    </p:spTree>
    <p:extLst>
      <p:ext uri="{BB962C8B-B14F-4D97-AF65-F5344CB8AC3E}">
        <p14:creationId xmlns:p14="http://schemas.microsoft.com/office/powerpoint/2010/main" val="40658666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30</a:t>
            </a:fld>
            <a:endParaRPr lang="en-US"/>
          </a:p>
        </p:txBody>
      </p:sp>
    </p:spTree>
    <p:extLst>
      <p:ext uri="{BB962C8B-B14F-4D97-AF65-F5344CB8AC3E}">
        <p14:creationId xmlns:p14="http://schemas.microsoft.com/office/powerpoint/2010/main" val="35750190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31</a:t>
            </a:fld>
            <a:endParaRPr lang="en-US"/>
          </a:p>
        </p:txBody>
      </p:sp>
    </p:spTree>
    <p:extLst>
      <p:ext uri="{BB962C8B-B14F-4D97-AF65-F5344CB8AC3E}">
        <p14:creationId xmlns:p14="http://schemas.microsoft.com/office/powerpoint/2010/main" val="23050272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33</a:t>
            </a:fld>
            <a:endParaRPr lang="en-US"/>
          </a:p>
        </p:txBody>
      </p:sp>
    </p:spTree>
    <p:extLst>
      <p:ext uri="{BB962C8B-B14F-4D97-AF65-F5344CB8AC3E}">
        <p14:creationId xmlns:p14="http://schemas.microsoft.com/office/powerpoint/2010/main" val="29950256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34</a:t>
            </a:fld>
            <a:endParaRPr lang="en-US"/>
          </a:p>
        </p:txBody>
      </p:sp>
    </p:spTree>
    <p:extLst>
      <p:ext uri="{BB962C8B-B14F-4D97-AF65-F5344CB8AC3E}">
        <p14:creationId xmlns:p14="http://schemas.microsoft.com/office/powerpoint/2010/main" val="24009992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35</a:t>
            </a:fld>
            <a:endParaRPr lang="en-US"/>
          </a:p>
        </p:txBody>
      </p:sp>
    </p:spTree>
    <p:extLst>
      <p:ext uri="{BB962C8B-B14F-4D97-AF65-F5344CB8AC3E}">
        <p14:creationId xmlns:p14="http://schemas.microsoft.com/office/powerpoint/2010/main" val="25603981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36</a:t>
            </a:fld>
            <a:endParaRPr lang="en-US"/>
          </a:p>
        </p:txBody>
      </p:sp>
    </p:spTree>
    <p:extLst>
      <p:ext uri="{BB962C8B-B14F-4D97-AF65-F5344CB8AC3E}">
        <p14:creationId xmlns:p14="http://schemas.microsoft.com/office/powerpoint/2010/main" val="5557639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5AC6-D7C3-4A45-12C9-4F3BDB675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08A115-FD26-C36C-22EC-2D0DF1CE04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76CD3D-1DCD-A893-77AC-09CAEB36AF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E8AFF8-7FDB-815E-4024-E6FAB2B541FA}"/>
              </a:ext>
            </a:extLst>
          </p:cNvPr>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465646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38</a:t>
            </a:fld>
            <a:endParaRPr lang="en-US"/>
          </a:p>
        </p:txBody>
      </p:sp>
    </p:spTree>
    <p:extLst>
      <p:ext uri="{BB962C8B-B14F-4D97-AF65-F5344CB8AC3E}">
        <p14:creationId xmlns:p14="http://schemas.microsoft.com/office/powerpoint/2010/main" val="7448659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39</a:t>
            </a:fld>
            <a:endParaRPr lang="en-US"/>
          </a:p>
        </p:txBody>
      </p:sp>
    </p:spTree>
    <p:extLst>
      <p:ext uri="{BB962C8B-B14F-4D97-AF65-F5344CB8AC3E}">
        <p14:creationId xmlns:p14="http://schemas.microsoft.com/office/powerpoint/2010/main" val="19374066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40</a:t>
            </a:fld>
            <a:endParaRPr lang="en-US"/>
          </a:p>
        </p:txBody>
      </p:sp>
    </p:spTree>
    <p:extLst>
      <p:ext uri="{BB962C8B-B14F-4D97-AF65-F5344CB8AC3E}">
        <p14:creationId xmlns:p14="http://schemas.microsoft.com/office/powerpoint/2010/main" val="18177501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42</a:t>
            </a:fld>
            <a:endParaRPr lang="en-US"/>
          </a:p>
        </p:txBody>
      </p:sp>
    </p:spTree>
    <p:extLst>
      <p:ext uri="{BB962C8B-B14F-4D97-AF65-F5344CB8AC3E}">
        <p14:creationId xmlns:p14="http://schemas.microsoft.com/office/powerpoint/2010/main" val="40191565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43</a:t>
            </a:fld>
            <a:endParaRPr lang="en-US"/>
          </a:p>
        </p:txBody>
      </p:sp>
    </p:spTree>
    <p:extLst>
      <p:ext uri="{BB962C8B-B14F-4D97-AF65-F5344CB8AC3E}">
        <p14:creationId xmlns:p14="http://schemas.microsoft.com/office/powerpoint/2010/main" val="373171806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44</a:t>
            </a:fld>
            <a:endParaRPr lang="en-US"/>
          </a:p>
        </p:txBody>
      </p:sp>
    </p:spTree>
    <p:extLst>
      <p:ext uri="{BB962C8B-B14F-4D97-AF65-F5344CB8AC3E}">
        <p14:creationId xmlns:p14="http://schemas.microsoft.com/office/powerpoint/2010/main" val="17818837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45</a:t>
            </a:fld>
            <a:endParaRPr lang="en-US"/>
          </a:p>
        </p:txBody>
      </p:sp>
    </p:spTree>
    <p:extLst>
      <p:ext uri="{BB962C8B-B14F-4D97-AF65-F5344CB8AC3E}">
        <p14:creationId xmlns:p14="http://schemas.microsoft.com/office/powerpoint/2010/main" val="363115054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46</a:t>
            </a:fld>
            <a:endParaRPr lang="en-US"/>
          </a:p>
        </p:txBody>
      </p:sp>
    </p:spTree>
    <p:extLst>
      <p:ext uri="{BB962C8B-B14F-4D97-AF65-F5344CB8AC3E}">
        <p14:creationId xmlns:p14="http://schemas.microsoft.com/office/powerpoint/2010/main" val="1395235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DC9E5-884D-1636-E679-AE020345EB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9DEC40-64E0-4565-505B-6AC718D3BB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5B724D-C4E0-B0EC-327E-00D87F112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B6FF75-971B-3BA5-6572-0A792BD4032D}"/>
              </a:ext>
            </a:extLst>
          </p:cNvPr>
          <p:cNvSpPr>
            <a:spLocks noGrp="1"/>
          </p:cNvSpPr>
          <p:nvPr>
            <p:ph type="sldNum" sz="quarter" idx="10"/>
          </p:nvPr>
        </p:nvSpPr>
        <p:spPr/>
        <p:txBody>
          <a:bodyPr/>
          <a:lstStyle/>
          <a:p>
            <a:fld id="{4CFD207A-07DF-40AD-A916-9872E089CE7A}" type="slidenum">
              <a:rPr lang="en-US" smtClean="0"/>
              <a:pPr/>
              <a:t>47</a:t>
            </a:fld>
            <a:endParaRPr lang="en-US"/>
          </a:p>
        </p:txBody>
      </p:sp>
    </p:spTree>
    <p:extLst>
      <p:ext uri="{BB962C8B-B14F-4D97-AF65-F5344CB8AC3E}">
        <p14:creationId xmlns:p14="http://schemas.microsoft.com/office/powerpoint/2010/main" val="29324717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49</a:t>
            </a:fld>
            <a:endParaRPr lang="en-US"/>
          </a:p>
        </p:txBody>
      </p:sp>
    </p:spTree>
    <p:extLst>
      <p:ext uri="{BB962C8B-B14F-4D97-AF65-F5344CB8AC3E}">
        <p14:creationId xmlns:p14="http://schemas.microsoft.com/office/powerpoint/2010/main" val="14155375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3BF2D-41FA-4DC4-ACC3-8DBE09B5CD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013E280-A648-496F-85AA-9A66AAFBBE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CF1F5B-8D44-4C83-9847-9551BDB9F97E}"/>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5" name="Footer Placeholder 4">
            <a:extLst>
              <a:ext uri="{FF2B5EF4-FFF2-40B4-BE49-F238E27FC236}">
                <a16:creationId xmlns:a16="http://schemas.microsoft.com/office/drawing/2014/main" id="{331C3EC5-9432-4A66-9E64-E003554DE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4260A7-E873-4AE3-A514-E4BB65FC705B}"/>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739388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F54C-82AC-4275-8221-D46FC26677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BB4F01-9014-47D8-8412-C244B62E11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5CB737-AC34-448C-98C8-898605FAE4DA}"/>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5" name="Footer Placeholder 4">
            <a:extLst>
              <a:ext uri="{FF2B5EF4-FFF2-40B4-BE49-F238E27FC236}">
                <a16:creationId xmlns:a16="http://schemas.microsoft.com/office/drawing/2014/main" id="{DA7AE056-A155-42C1-99FF-43666877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F504B6-2335-4095-8B32-5F546DC69426}"/>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2801239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E2810-4E61-4DB3-B18D-C9651617E17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A02EFD-6306-4EE5-A93E-C3B3D397720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F6911E-21ED-48DB-87D1-BAEBD3DE5EAC}"/>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5" name="Footer Placeholder 4">
            <a:extLst>
              <a:ext uri="{FF2B5EF4-FFF2-40B4-BE49-F238E27FC236}">
                <a16:creationId xmlns:a16="http://schemas.microsoft.com/office/drawing/2014/main" id="{4FF8AC4B-FA15-4C3B-8886-15F84DD595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E126E0-E09D-46FC-99D1-733DF58D67F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626427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C5468-6E3C-464D-A6F9-9A5E61BD9E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FE0FFA-BA3D-4026-B5EE-95A00E43FC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CC18753-9280-4B68-B1BA-6C5B41A53AC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1FAF946-8BD2-4E05-B886-1FBA90C04FE2}"/>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6" name="Footer Placeholder 5">
            <a:extLst>
              <a:ext uri="{FF2B5EF4-FFF2-40B4-BE49-F238E27FC236}">
                <a16:creationId xmlns:a16="http://schemas.microsoft.com/office/drawing/2014/main" id="{C68ECCFF-AF08-450A-8E24-1D39015489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357094-F2F0-4A8D-A5C3-D80BC46D67AC}"/>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000685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ED42C-20FB-433D-B2FA-15722CF5DCA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7D6BDB4-437B-4186-8704-EDB6B55F03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AE20E-37E7-4857-AB8D-67948CF372A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F763DCC-87D5-46CD-B027-BA49CC6B1B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33A01-0D20-4787-9FA8-283275AB48F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A574D2-843D-4F2D-AF16-E7E1F35B2558}"/>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8" name="Footer Placeholder 7">
            <a:extLst>
              <a:ext uri="{FF2B5EF4-FFF2-40B4-BE49-F238E27FC236}">
                <a16:creationId xmlns:a16="http://schemas.microsoft.com/office/drawing/2014/main" id="{E0E64638-A973-4BE2-AA0D-66B04C9B3F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06A5EE-6F5E-4133-B608-A36D2C04929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15702419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A0394-55C9-4C4A-93DB-AAA9493A59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02A156-2986-4ABD-88EB-80463BB880BD}"/>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4" name="Footer Placeholder 3">
            <a:extLst>
              <a:ext uri="{FF2B5EF4-FFF2-40B4-BE49-F238E27FC236}">
                <a16:creationId xmlns:a16="http://schemas.microsoft.com/office/drawing/2014/main" id="{49E26ACC-44A1-415B-AB92-2445AC79E13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0A5FF18-7690-4BEF-A85B-1A8FDA4300D1}"/>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45700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F4E047-CF1F-417C-929D-18F84456776C}"/>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3" name="Footer Placeholder 2">
            <a:extLst>
              <a:ext uri="{FF2B5EF4-FFF2-40B4-BE49-F238E27FC236}">
                <a16:creationId xmlns:a16="http://schemas.microsoft.com/office/drawing/2014/main" id="{AAAA4F07-AD23-4E5E-9D5E-A87F2D58C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353E95-DB56-411B-BBAF-EB0EAFEE3F3A}"/>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7087694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955A-B592-4DB6-A7B5-B68170C51B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E851CCC-97B2-4BF2-8369-40860ECB31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1F55B1-BF41-4C84-B04F-06D900AC38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BFF8CC-17EE-455F-8D16-116AB1736CE6}"/>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6" name="Footer Placeholder 5">
            <a:extLst>
              <a:ext uri="{FF2B5EF4-FFF2-40B4-BE49-F238E27FC236}">
                <a16:creationId xmlns:a16="http://schemas.microsoft.com/office/drawing/2014/main" id="{23DBF062-FCFC-4AB6-9E1B-1BFB8D9BF4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017FCE-EFD7-4175-A763-32BF3DBC6F0D}"/>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91543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9326B-82FA-4368-92A0-C51E5CC7E2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304CE4-5C9C-4E2A-9970-F159A60B7E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5C66A65-F884-4AEB-B19D-2497ADCFC0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7EAC10-F420-471E-84BC-C7B24E229345}"/>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6" name="Footer Placeholder 5">
            <a:extLst>
              <a:ext uri="{FF2B5EF4-FFF2-40B4-BE49-F238E27FC236}">
                <a16:creationId xmlns:a16="http://schemas.microsoft.com/office/drawing/2014/main" id="{2517FE1D-5DF8-4727-A7F1-8BCA4EDE00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922EEE-ACB0-49BB-9812-5ADB795B7FC5}"/>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569662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079D8-3828-4F5E-A0BB-AE8F18A2DC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EB49175-8BA9-4D53-9A50-7147572795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2669A9-F519-4FA9-87F2-1A347FB6E161}"/>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5" name="Footer Placeholder 4">
            <a:extLst>
              <a:ext uri="{FF2B5EF4-FFF2-40B4-BE49-F238E27FC236}">
                <a16:creationId xmlns:a16="http://schemas.microsoft.com/office/drawing/2014/main" id="{6B68528B-FA2D-4D43-8A7A-88991C0E1E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E2180F-7D0D-482B-8460-366B45705009}"/>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78566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92452-B6BA-4A34-9679-D34A2491E77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89B900-A9C9-4E80-B0A6-A832725EC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58F2A1-3E26-417B-A42B-3427FF814199}"/>
              </a:ext>
            </a:extLst>
          </p:cNvPr>
          <p:cNvSpPr>
            <a:spLocks noGrp="1"/>
          </p:cNvSpPr>
          <p:nvPr>
            <p:ph type="dt" sz="half" idx="10"/>
          </p:nvPr>
        </p:nvSpPr>
        <p:spPr/>
        <p:txBody>
          <a:bodyPr/>
          <a:lstStyle/>
          <a:p>
            <a:fld id="{9DC183D5-83EE-4A48-BB2E-1FC30CD8E44A}" type="datetimeFigureOut">
              <a:rPr lang="en-US" smtClean="0"/>
              <a:t>6/24/2026</a:t>
            </a:fld>
            <a:endParaRPr lang="en-US"/>
          </a:p>
        </p:txBody>
      </p:sp>
      <p:sp>
        <p:nvSpPr>
          <p:cNvPr id="5" name="Footer Placeholder 4">
            <a:extLst>
              <a:ext uri="{FF2B5EF4-FFF2-40B4-BE49-F238E27FC236}">
                <a16:creationId xmlns:a16="http://schemas.microsoft.com/office/drawing/2014/main" id="{BCB67A0C-4E40-41D0-87DD-C9D859600A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910001-2CEE-4F16-93B6-4F0DBBE73594}"/>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936563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latin typeface="Segoe UI" panose="020B0502040204020203" pitchFamily="34" charset="0"/>
                <a:cs typeface="Segoe UI" panose="020B0502040204020203" pitchFamily="34" charset="0"/>
              </a:defRPr>
            </a:lvl1p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985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7FB1D0-F1BF-42CA-83CA-B3568E5EFC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813485-E4D3-4F57-A46D-C56DED0FC0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6A6D78-2DED-4113-B1CF-35F3181329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183D5-83EE-4A48-BB2E-1FC30CD8E44A}" type="datetimeFigureOut">
              <a:rPr lang="en-US" smtClean="0"/>
              <a:t>6/24/2026</a:t>
            </a:fld>
            <a:endParaRPr lang="en-US"/>
          </a:p>
        </p:txBody>
      </p:sp>
      <p:sp>
        <p:nvSpPr>
          <p:cNvPr id="5" name="Footer Placeholder 4">
            <a:extLst>
              <a:ext uri="{FF2B5EF4-FFF2-40B4-BE49-F238E27FC236}">
                <a16:creationId xmlns:a16="http://schemas.microsoft.com/office/drawing/2014/main" id="{4EA7174D-3533-4CD4-AD63-7B08E04028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860482C-E75C-4391-BC8F-CC4721087A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A66CA4-86AD-483A-BC4E-558825227675}" type="slidenum">
              <a:rPr lang="en-US" smtClean="0"/>
              <a:t>‹#›</a:t>
            </a:fld>
            <a:endParaRPr lang="en-US"/>
          </a:p>
        </p:txBody>
      </p:sp>
    </p:spTree>
    <p:extLst>
      <p:ext uri="{BB962C8B-B14F-4D97-AF65-F5344CB8AC3E}">
        <p14:creationId xmlns:p14="http://schemas.microsoft.com/office/powerpoint/2010/main" val="3954621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80.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hyperlink" Target="https://en.wikipedia.org/wiki/Mahalanobis_distance"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 Id="rId5" Type="http://schemas.openxmlformats.org/officeDocument/2006/relationships/image" Target="../media/image71.png"/><Relationship Id="rId4" Type="http://schemas.openxmlformats.org/officeDocument/2006/relationships/hyperlink" Target="https://www.statisticshowto.com/mahalanobis-distance/"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hyperlink" Target="https://eecs.csuohio.edu/~sschung/CIS660/MahalanobisDistance.pdf"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hyperlink" Target="https://eecs.csuohio.edu/~sschung/CIS660/MahalanobisDistance.pdf"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eecs.csuohio.edu/~sschung/CIS660/MahalanobisDistance.pdf"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en.wikipedia.org/wiki/Levenshtein_distance"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hyperlink" Target="https://en.wikipedia.org/wiki/Hamming_distance"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01.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hyperlink" Target="https://en.wikipedia.org/wiki/Kendall_rank_correlation_coefficient" TargetMode="External"/><Relationship Id="rId2" Type="http://schemas.openxmlformats.org/officeDocument/2006/relationships/notesSlide" Target="../notesSlides/notesSlide28.xml"/><Relationship Id="rId1" Type="http://schemas.openxmlformats.org/officeDocument/2006/relationships/slideLayout" Target="../slideLayouts/slideLayout12.xml"/><Relationship Id="rId5" Type="http://schemas.openxmlformats.org/officeDocument/2006/relationships/image" Target="../media/image161.png"/><Relationship Id="rId4" Type="http://schemas.openxmlformats.org/officeDocument/2006/relationships/hyperlink" Target="https://en.wikipedia.org/wiki/Spearman%27s_rank_correlation_coefficient"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170.png"/></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hyperlink" Target="https://en.wikipedia.org/wiki/Jaccard_index" TargetMode="External"/><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140.png"/></Relationships>
</file>

<file path=ppt/slides/_rels/slide3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12.xml"/><Relationship Id="rId4" Type="http://schemas.openxmlformats.org/officeDocument/2006/relationships/image" Target="../media/image25.png"/></Relationships>
</file>

<file path=ppt/slides/_rels/slide4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95400" y="1636650"/>
            <a:ext cx="9601200" cy="2387600"/>
          </a:xfrm>
        </p:spPr>
        <p:txBody>
          <a:bodyPr>
            <a:normAutofit fontScale="90000"/>
          </a:bodyPr>
          <a:lstStyle/>
          <a:p>
            <a:r>
              <a:rPr lang="en-US" dirty="0">
                <a:latin typeface="+mn-lt"/>
              </a:rPr>
              <a:t>CSCI E-96</a:t>
            </a:r>
            <a:br>
              <a:rPr lang="en-US" dirty="0">
                <a:latin typeface="+mn-lt"/>
              </a:rPr>
            </a:br>
            <a:r>
              <a:rPr lang="en-US" dirty="0">
                <a:latin typeface="+mn-lt"/>
              </a:rPr>
              <a:t>Data Mining, Discovery and Exploration</a:t>
            </a:r>
            <a:br>
              <a:rPr lang="en-US" dirty="0">
                <a:latin typeface="+mn-lt"/>
              </a:rPr>
            </a:br>
            <a:r>
              <a:rPr lang="en-US" dirty="0">
                <a:latin typeface="+mn-lt"/>
              </a:rPr>
              <a:t>Distance and Similarity Measures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4000" y="411522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17158" y="479126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3F2317F-F47E-4078-8A9E-272A9AB83B75}"/>
              </a:ext>
            </a:extLst>
          </p:cNvPr>
          <p:cNvSpPr txBox="1"/>
          <p:nvPr/>
        </p:nvSpPr>
        <p:spPr>
          <a:xfrm>
            <a:off x="3348567" y="6421967"/>
            <a:ext cx="5744633" cy="369332"/>
          </a:xfrm>
          <a:prstGeom prst="rect">
            <a:avLst/>
          </a:prstGeom>
          <a:noFill/>
        </p:spPr>
        <p:txBody>
          <a:bodyPr wrap="square" rtlCol="0">
            <a:spAutoFit/>
          </a:bodyPr>
          <a:lstStyle/>
          <a:p>
            <a:pPr algn="ctr"/>
            <a:r>
              <a:rPr lang="en-US" sz="1100" dirty="0"/>
              <a:t>Copyright 2021, 2022, 2023, 2024, 2025 Stephen F Elston. All rights reserved</a:t>
            </a:r>
            <a:r>
              <a:rPr lang="en-US" dirty="0"/>
              <a:t>.</a:t>
            </a:r>
          </a:p>
        </p:txBody>
      </p:sp>
    </p:spTree>
    <p:extLst>
      <p:ext uri="{BB962C8B-B14F-4D97-AF65-F5344CB8AC3E}">
        <p14:creationId xmlns:p14="http://schemas.microsoft.com/office/powerpoint/2010/main" val="1778834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242-6F04-0255-B6E4-003EE805C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0B4EF-F7E3-7E82-AE6D-66E8ED303FDB}"/>
              </a:ext>
            </a:extLst>
          </p:cNvPr>
          <p:cNvSpPr>
            <a:spLocks noGrp="1"/>
          </p:cNvSpPr>
          <p:nvPr>
            <p:ph type="title"/>
          </p:nvPr>
        </p:nvSpPr>
        <p:spPr>
          <a:xfrm>
            <a:off x="916187" y="249623"/>
            <a:ext cx="10515600" cy="662230"/>
          </a:xfrm>
        </p:spPr>
        <p:txBody>
          <a:bodyPr>
            <a:normAutofit fontScale="90000"/>
          </a:bodyPr>
          <a:lstStyle/>
          <a:p>
            <a:r>
              <a:rPr lang="en-US" sz="4900" dirty="0">
                <a:latin typeface="+mn-lt"/>
              </a:rPr>
              <a:t>Main topics in this course</a:t>
            </a:r>
            <a:br>
              <a:rPr lang="en-US" sz="4000" dirty="0">
                <a:latin typeface="+mn-lt"/>
              </a:rPr>
            </a:br>
            <a:endParaRPr lang="en-US" sz="4000" dirty="0">
              <a:latin typeface="+mn-lt"/>
            </a:endParaRPr>
          </a:p>
        </p:txBody>
      </p:sp>
      <p:sp>
        <p:nvSpPr>
          <p:cNvPr id="3" name="Left Brace 2">
            <a:extLst>
              <a:ext uri="{FF2B5EF4-FFF2-40B4-BE49-F238E27FC236}">
                <a16:creationId xmlns:a16="http://schemas.microsoft.com/office/drawing/2014/main" id="{B43E0B5E-B811-4BBC-CEDF-97FC2AAC1766}"/>
              </a:ext>
            </a:extLst>
          </p:cNvPr>
          <p:cNvSpPr/>
          <p:nvPr/>
        </p:nvSpPr>
        <p:spPr>
          <a:xfrm>
            <a:off x="756889" y="1964356"/>
            <a:ext cx="225209" cy="127326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7BB0425-4708-2E61-70FB-876C788A79E2}"/>
              </a:ext>
            </a:extLst>
          </p:cNvPr>
          <p:cNvSpPr txBox="1"/>
          <p:nvPr/>
        </p:nvSpPr>
        <p:spPr>
          <a:xfrm rot="16200000">
            <a:off x="-238228" y="2251765"/>
            <a:ext cx="1571596" cy="400110"/>
          </a:xfrm>
          <a:prstGeom prst="rect">
            <a:avLst/>
          </a:prstGeom>
          <a:noFill/>
        </p:spPr>
        <p:txBody>
          <a:bodyPr wrap="square" rtlCol="0">
            <a:spAutoFit/>
          </a:bodyPr>
          <a:lstStyle/>
          <a:p>
            <a:pPr algn="ctr"/>
            <a:r>
              <a:rPr lang="en-US" sz="2000" dirty="0"/>
              <a:t>Foundations </a:t>
            </a:r>
          </a:p>
        </p:txBody>
      </p:sp>
      <p:sp>
        <p:nvSpPr>
          <p:cNvPr id="5" name="Rectangle 4">
            <a:extLst>
              <a:ext uri="{FF2B5EF4-FFF2-40B4-BE49-F238E27FC236}">
                <a16:creationId xmlns:a16="http://schemas.microsoft.com/office/drawing/2014/main" id="{DAA42CDB-2EBC-28B2-6456-04829EC7EF48}"/>
              </a:ext>
            </a:extLst>
          </p:cNvPr>
          <p:cNvSpPr/>
          <p:nvPr/>
        </p:nvSpPr>
        <p:spPr>
          <a:xfrm>
            <a:off x="1259812" y="1983695"/>
            <a:ext cx="1951346" cy="125392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1. Hashing and K-V pair management </a:t>
            </a:r>
          </a:p>
        </p:txBody>
      </p:sp>
      <p:sp>
        <p:nvSpPr>
          <p:cNvPr id="6" name="Rectangle 5">
            <a:extLst>
              <a:ext uri="{FF2B5EF4-FFF2-40B4-BE49-F238E27FC236}">
                <a16:creationId xmlns:a16="http://schemas.microsoft.com/office/drawing/2014/main" id="{F5C7F060-78DB-AC42-6BFD-05BD50198440}"/>
              </a:ext>
            </a:extLst>
          </p:cNvPr>
          <p:cNvSpPr/>
          <p:nvPr/>
        </p:nvSpPr>
        <p:spPr>
          <a:xfrm>
            <a:off x="3740233" y="2021536"/>
            <a:ext cx="2157426" cy="1178239"/>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Distance and Similarity Metrics</a:t>
            </a:r>
          </a:p>
        </p:txBody>
      </p:sp>
      <p:sp>
        <p:nvSpPr>
          <p:cNvPr id="7" name="Rectangle 6">
            <a:extLst>
              <a:ext uri="{FF2B5EF4-FFF2-40B4-BE49-F238E27FC236}">
                <a16:creationId xmlns:a16="http://schemas.microsoft.com/office/drawing/2014/main" id="{F20B3888-4A09-E889-C7DE-5ECE32C17693}"/>
              </a:ext>
            </a:extLst>
          </p:cNvPr>
          <p:cNvSpPr/>
          <p:nvPr/>
        </p:nvSpPr>
        <p:spPr>
          <a:xfrm>
            <a:off x="6408020" y="2037908"/>
            <a:ext cx="2058805" cy="121333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Graph Algorithms</a:t>
            </a:r>
          </a:p>
        </p:txBody>
      </p:sp>
      <p:sp>
        <p:nvSpPr>
          <p:cNvPr id="8" name="Rectangle 7">
            <a:extLst>
              <a:ext uri="{FF2B5EF4-FFF2-40B4-BE49-F238E27FC236}">
                <a16:creationId xmlns:a16="http://schemas.microsoft.com/office/drawing/2014/main" id="{A234FC6E-068F-82BA-D948-0872902BF117}"/>
              </a:ext>
            </a:extLst>
          </p:cNvPr>
          <p:cNvSpPr/>
          <p:nvPr/>
        </p:nvSpPr>
        <p:spPr>
          <a:xfrm>
            <a:off x="1215334" y="3591320"/>
            <a:ext cx="2085982" cy="107424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Dimensionality Reduction</a:t>
            </a:r>
          </a:p>
        </p:txBody>
      </p:sp>
      <p:sp>
        <p:nvSpPr>
          <p:cNvPr id="10" name="Left Brace 9">
            <a:extLst>
              <a:ext uri="{FF2B5EF4-FFF2-40B4-BE49-F238E27FC236}">
                <a16:creationId xmlns:a16="http://schemas.microsoft.com/office/drawing/2014/main" id="{6B807C0C-B6B7-55FC-4A73-937C1A517C09}"/>
              </a:ext>
            </a:extLst>
          </p:cNvPr>
          <p:cNvSpPr/>
          <p:nvPr/>
        </p:nvSpPr>
        <p:spPr>
          <a:xfrm>
            <a:off x="865089" y="3571535"/>
            <a:ext cx="172578" cy="109402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D0513D5-3561-EC84-E71B-4706879A90A1}"/>
              </a:ext>
            </a:extLst>
          </p:cNvPr>
          <p:cNvSpPr txBox="1"/>
          <p:nvPr/>
        </p:nvSpPr>
        <p:spPr>
          <a:xfrm rot="16200000">
            <a:off x="-286998" y="3724841"/>
            <a:ext cx="1571596" cy="707886"/>
          </a:xfrm>
          <a:prstGeom prst="rect">
            <a:avLst/>
          </a:prstGeom>
          <a:noFill/>
        </p:spPr>
        <p:txBody>
          <a:bodyPr wrap="square" rtlCol="0">
            <a:spAutoFit/>
          </a:bodyPr>
          <a:lstStyle/>
          <a:p>
            <a:pPr algn="ctr"/>
            <a:r>
              <a:rPr lang="en-US" sz="2000" dirty="0"/>
              <a:t>Core Algorithms</a:t>
            </a:r>
          </a:p>
        </p:txBody>
      </p:sp>
      <p:sp>
        <p:nvSpPr>
          <p:cNvPr id="12" name="Rectangle 11">
            <a:extLst>
              <a:ext uri="{FF2B5EF4-FFF2-40B4-BE49-F238E27FC236}">
                <a16:creationId xmlns:a16="http://schemas.microsoft.com/office/drawing/2014/main" id="{B042D63B-E913-3364-5865-54C574ED22CD}"/>
              </a:ext>
            </a:extLst>
          </p:cNvPr>
          <p:cNvSpPr/>
          <p:nvPr/>
        </p:nvSpPr>
        <p:spPr>
          <a:xfrm>
            <a:off x="1280175" y="5154275"/>
            <a:ext cx="1961804" cy="126402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Social Network Analysis</a:t>
            </a:r>
          </a:p>
        </p:txBody>
      </p:sp>
      <p:sp>
        <p:nvSpPr>
          <p:cNvPr id="14" name="Left Brace 13">
            <a:extLst>
              <a:ext uri="{FF2B5EF4-FFF2-40B4-BE49-F238E27FC236}">
                <a16:creationId xmlns:a16="http://schemas.microsoft.com/office/drawing/2014/main" id="{35E5DEDA-5FFD-FC06-5888-EB758D78C155}"/>
              </a:ext>
            </a:extLst>
          </p:cNvPr>
          <p:cNvSpPr/>
          <p:nvPr/>
        </p:nvSpPr>
        <p:spPr>
          <a:xfrm>
            <a:off x="858563" y="5154275"/>
            <a:ext cx="164275" cy="1264024"/>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3061D0C7-FA6D-00D7-CF2A-B875D7CF029B}"/>
              </a:ext>
            </a:extLst>
          </p:cNvPr>
          <p:cNvSpPr txBox="1"/>
          <p:nvPr/>
        </p:nvSpPr>
        <p:spPr>
          <a:xfrm rot="16200000">
            <a:off x="-322189" y="5405146"/>
            <a:ext cx="1571596" cy="707886"/>
          </a:xfrm>
          <a:prstGeom prst="rect">
            <a:avLst/>
          </a:prstGeom>
          <a:noFill/>
        </p:spPr>
        <p:txBody>
          <a:bodyPr wrap="square" rtlCol="0">
            <a:spAutoFit/>
          </a:bodyPr>
          <a:lstStyle/>
          <a:p>
            <a:pPr algn="ctr"/>
            <a:r>
              <a:rPr lang="en-US" sz="2000" dirty="0"/>
              <a:t>Taks </a:t>
            </a:r>
            <a:r>
              <a:rPr lang="en-US" sz="2000"/>
              <a:t>Speific </a:t>
            </a:r>
            <a:r>
              <a:rPr lang="en-US" sz="2000" dirty="0"/>
              <a:t>Algorithms</a:t>
            </a:r>
          </a:p>
        </p:txBody>
      </p:sp>
      <p:sp>
        <p:nvSpPr>
          <p:cNvPr id="16" name="Rectangle 15">
            <a:extLst>
              <a:ext uri="{FF2B5EF4-FFF2-40B4-BE49-F238E27FC236}">
                <a16:creationId xmlns:a16="http://schemas.microsoft.com/office/drawing/2014/main" id="{8BCB2792-FBF9-D76F-A378-7E6596D54E0F}"/>
              </a:ext>
            </a:extLst>
          </p:cNvPr>
          <p:cNvSpPr/>
          <p:nvPr/>
        </p:nvSpPr>
        <p:spPr>
          <a:xfrm>
            <a:off x="3811677" y="3631085"/>
            <a:ext cx="2085982" cy="109402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5. Similarity Search and NN Algorithms</a:t>
            </a:r>
          </a:p>
        </p:txBody>
      </p:sp>
      <p:sp>
        <p:nvSpPr>
          <p:cNvPr id="17" name="Rectangle 16">
            <a:extLst>
              <a:ext uri="{FF2B5EF4-FFF2-40B4-BE49-F238E27FC236}">
                <a16:creationId xmlns:a16="http://schemas.microsoft.com/office/drawing/2014/main" id="{9A8CAD2D-EC71-A5F3-683F-41BF65DE958F}"/>
              </a:ext>
            </a:extLst>
          </p:cNvPr>
          <p:cNvSpPr/>
          <p:nvPr/>
        </p:nvSpPr>
        <p:spPr>
          <a:xfrm>
            <a:off x="6408020" y="3640978"/>
            <a:ext cx="2038966" cy="11235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4. Online Algorithms</a:t>
            </a:r>
          </a:p>
        </p:txBody>
      </p:sp>
      <p:sp>
        <p:nvSpPr>
          <p:cNvPr id="18" name="Rectangle 17">
            <a:extLst>
              <a:ext uri="{FF2B5EF4-FFF2-40B4-BE49-F238E27FC236}">
                <a16:creationId xmlns:a16="http://schemas.microsoft.com/office/drawing/2014/main" id="{67EB3589-9BBE-D38D-C09A-C7A36757F4E1}"/>
              </a:ext>
            </a:extLst>
          </p:cNvPr>
          <p:cNvSpPr/>
          <p:nvPr/>
        </p:nvSpPr>
        <p:spPr>
          <a:xfrm>
            <a:off x="6408020" y="5172609"/>
            <a:ext cx="2038966" cy="126280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8. Clustering Algorithms</a:t>
            </a:r>
          </a:p>
        </p:txBody>
      </p:sp>
      <p:sp>
        <p:nvSpPr>
          <p:cNvPr id="20" name="Rectangle 19">
            <a:extLst>
              <a:ext uri="{FF2B5EF4-FFF2-40B4-BE49-F238E27FC236}">
                <a16:creationId xmlns:a16="http://schemas.microsoft.com/office/drawing/2014/main" id="{5C5EBFDB-140B-9B88-CE63-77419A11C6E4}"/>
              </a:ext>
            </a:extLst>
          </p:cNvPr>
          <p:cNvSpPr/>
          <p:nvPr/>
        </p:nvSpPr>
        <p:spPr>
          <a:xfrm>
            <a:off x="8832447" y="5179257"/>
            <a:ext cx="2016833"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7. Recommender  Algorithms</a:t>
            </a:r>
          </a:p>
        </p:txBody>
      </p:sp>
      <p:sp>
        <p:nvSpPr>
          <p:cNvPr id="21" name="Rectangle 20">
            <a:extLst>
              <a:ext uri="{FF2B5EF4-FFF2-40B4-BE49-F238E27FC236}">
                <a16:creationId xmlns:a16="http://schemas.microsoft.com/office/drawing/2014/main" id="{69AB1FD0-27FA-3784-41E8-6432B45E080D}"/>
              </a:ext>
            </a:extLst>
          </p:cNvPr>
          <p:cNvSpPr/>
          <p:nvPr/>
        </p:nvSpPr>
        <p:spPr>
          <a:xfrm>
            <a:off x="3760595" y="5172609"/>
            <a:ext cx="2085981"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6. Web/Document ranking and search</a:t>
            </a:r>
          </a:p>
        </p:txBody>
      </p:sp>
      <p:sp>
        <p:nvSpPr>
          <p:cNvPr id="22" name="Content Placeholder 2">
            <a:extLst>
              <a:ext uri="{FF2B5EF4-FFF2-40B4-BE49-F238E27FC236}">
                <a16:creationId xmlns:a16="http://schemas.microsoft.com/office/drawing/2014/main" id="{302608D4-DE73-B603-CD44-1D4BB221F2DE}"/>
              </a:ext>
            </a:extLst>
          </p:cNvPr>
          <p:cNvSpPr txBox="1">
            <a:spLocks/>
          </p:cNvSpPr>
          <p:nvPr/>
        </p:nvSpPr>
        <p:spPr>
          <a:xfrm>
            <a:off x="865089" y="797597"/>
            <a:ext cx="10515600" cy="85057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Data minging </a:t>
            </a:r>
            <a:r>
              <a:rPr lang="en-US" dirty="0"/>
              <a:t>algorithms are built on the foundation of distance and similarity measures  </a:t>
            </a:r>
          </a:p>
        </p:txBody>
      </p:sp>
    </p:spTree>
    <p:extLst>
      <p:ext uri="{BB962C8B-B14F-4D97-AF65-F5344CB8AC3E}">
        <p14:creationId xmlns:p14="http://schemas.microsoft.com/office/powerpoint/2010/main" val="581234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fontScale="92500" lnSpcReduction="10000"/>
          </a:bodyPr>
          <a:lstStyle/>
          <a:p>
            <a:pPr marL="0" indent="0">
              <a:buNone/>
            </a:pPr>
            <a:r>
              <a:rPr lang="en-US" dirty="0">
                <a:latin typeface="+mn-lt"/>
              </a:rPr>
              <a:t>Many data mining algorithms require unsupervised searching for the </a:t>
            </a:r>
            <a:r>
              <a:rPr lang="en-US" b="1" dirty="0">
                <a:latin typeface="+mn-lt"/>
              </a:rPr>
              <a:t>most similar or dissimilar cases</a:t>
            </a:r>
          </a:p>
          <a:p>
            <a:r>
              <a:rPr lang="en-US" dirty="0">
                <a:latin typeface="+mn-lt"/>
              </a:rPr>
              <a:t>Cluster models  </a:t>
            </a:r>
          </a:p>
          <a:p>
            <a:r>
              <a:rPr lang="en-US" dirty="0">
                <a:latin typeface="+mn-lt"/>
              </a:rPr>
              <a:t>Nearest neighbor graph algorithms   </a:t>
            </a:r>
          </a:p>
          <a:p>
            <a:r>
              <a:rPr lang="en-US" dirty="0">
                <a:latin typeface="+mn-lt"/>
              </a:rPr>
              <a:t>Recommender systems   </a:t>
            </a:r>
          </a:p>
          <a:p>
            <a:r>
              <a:rPr lang="en-US" dirty="0">
                <a:latin typeface="+mn-lt"/>
              </a:rPr>
              <a:t>Dimensionality reduction </a:t>
            </a:r>
          </a:p>
          <a:p>
            <a:r>
              <a:rPr lang="en-US" dirty="0">
                <a:latin typeface="+mn-lt"/>
              </a:rPr>
              <a:t>Document and image search</a:t>
            </a:r>
          </a:p>
          <a:p>
            <a:r>
              <a:rPr lang="en-US" dirty="0">
                <a:latin typeface="+mn-lt"/>
              </a:rPr>
              <a:t>Discovering similar mRNA sequences </a:t>
            </a:r>
          </a:p>
          <a:p>
            <a:r>
              <a:rPr lang="en-US" dirty="0">
                <a:latin typeface="+mn-lt"/>
              </a:rPr>
              <a:t>Finding the most similar sensor streams </a:t>
            </a:r>
          </a:p>
          <a:p>
            <a:r>
              <a:rPr lang="en-US" dirty="0">
                <a:latin typeface="+mn-lt"/>
              </a:rPr>
              <a:t>Retrieval augmented generation (RAG)</a:t>
            </a:r>
          </a:p>
          <a:p>
            <a:r>
              <a:rPr lang="en-US" dirty="0" err="1">
                <a:latin typeface="+mn-lt"/>
              </a:rPr>
              <a:t>Etc</a:t>
            </a:r>
            <a:r>
              <a:rPr lang="en-US" dirty="0">
                <a:latin typeface="+mn-lt"/>
              </a:rPr>
              <a:t>…     </a:t>
            </a:r>
          </a:p>
          <a:p>
            <a:endParaRPr lang="en-US" dirty="0">
              <a:latin typeface="+mn-lt"/>
            </a:endParaRPr>
          </a:p>
          <a:p>
            <a:endParaRPr lang="en-US" sz="2800" dirty="0">
              <a:latin typeface="+mn-lt"/>
            </a:endParaRPr>
          </a:p>
          <a:p>
            <a:pPr lvl="1"/>
            <a:endParaRPr lang="en-US" dirty="0"/>
          </a:p>
        </p:txBody>
      </p:sp>
    </p:spTree>
    <p:extLst>
      <p:ext uri="{BB962C8B-B14F-4D97-AF65-F5344CB8AC3E}">
        <p14:creationId xmlns:p14="http://schemas.microsoft.com/office/powerpoint/2010/main" val="9265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Measuring similarity and dissimilarity is fundamental to data mining</a:t>
            </a:r>
          </a:p>
          <a:p>
            <a:r>
              <a:rPr lang="en-US" dirty="0">
                <a:latin typeface="+mn-lt"/>
              </a:rPr>
              <a:t>Distance and similarity measures are the </a:t>
            </a:r>
            <a:r>
              <a:rPr lang="en-US" b="1" dirty="0">
                <a:latin typeface="+mn-lt"/>
              </a:rPr>
              <a:t>foundation of unsupervised learning</a:t>
            </a:r>
          </a:p>
          <a:p>
            <a:r>
              <a:rPr lang="en-US" dirty="0">
                <a:latin typeface="+mn-lt"/>
              </a:rPr>
              <a:t>A wide range of metrics used in data mining</a:t>
            </a:r>
          </a:p>
          <a:p>
            <a:r>
              <a:rPr lang="en-US" dirty="0">
                <a:latin typeface="+mn-lt"/>
              </a:rPr>
              <a:t>The metrics used must fit the nature of the data and the analysis </a:t>
            </a:r>
          </a:p>
          <a:p>
            <a:pPr lvl="1"/>
            <a:r>
              <a:rPr lang="en-US" dirty="0">
                <a:latin typeface="+mn-lt"/>
              </a:rPr>
              <a:t>Binary data</a:t>
            </a:r>
          </a:p>
          <a:p>
            <a:pPr lvl="1"/>
            <a:r>
              <a:rPr lang="en-US" dirty="0">
                <a:latin typeface="+mn-lt"/>
              </a:rPr>
              <a:t>Text strings</a:t>
            </a:r>
          </a:p>
          <a:p>
            <a:pPr lvl="1"/>
            <a:r>
              <a:rPr lang="en-US" dirty="0">
                <a:latin typeface="+mn-lt"/>
              </a:rPr>
              <a:t>Numeric data</a:t>
            </a:r>
          </a:p>
          <a:p>
            <a:pPr lvl="1"/>
            <a:r>
              <a:rPr lang="en-US" dirty="0">
                <a:latin typeface="+mn-lt"/>
              </a:rPr>
              <a:t>Ordinal data; e.g. rankings and ratings </a:t>
            </a:r>
          </a:p>
          <a:p>
            <a:pPr lvl="1"/>
            <a:r>
              <a:rPr lang="en-US" dirty="0">
                <a:latin typeface="+mn-lt"/>
              </a:rPr>
              <a:t>Unordered categorical data</a:t>
            </a:r>
          </a:p>
          <a:p>
            <a:r>
              <a:rPr lang="en-US" b="1" dirty="0">
                <a:latin typeface="+mn-lt"/>
              </a:rPr>
              <a:t>There is no one best metric!</a:t>
            </a:r>
          </a:p>
          <a:p>
            <a:endParaRPr lang="en-US" sz="2800" dirty="0">
              <a:latin typeface="+mn-lt"/>
            </a:endParaRPr>
          </a:p>
          <a:p>
            <a:pPr lvl="1"/>
            <a:endParaRPr lang="en-US" dirty="0"/>
          </a:p>
        </p:txBody>
      </p:sp>
    </p:spTree>
    <p:extLst>
      <p:ext uri="{BB962C8B-B14F-4D97-AF65-F5344CB8AC3E}">
        <p14:creationId xmlns:p14="http://schemas.microsoft.com/office/powerpoint/2010/main" val="312349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853-3F71-2F6B-5E06-87812B26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9A469B-973B-CC90-9785-C2ABFBCC7E17}"/>
              </a:ext>
            </a:extLst>
          </p:cNvPr>
          <p:cNvSpPr>
            <a:spLocks noGrp="1"/>
          </p:cNvSpPr>
          <p:nvPr>
            <p:ph type="title"/>
          </p:nvPr>
        </p:nvSpPr>
        <p:spPr>
          <a:xfrm>
            <a:off x="831850" y="1709738"/>
            <a:ext cx="10515600" cy="2104337"/>
          </a:xfrm>
        </p:spPr>
        <p:txBody>
          <a:bodyPr/>
          <a:lstStyle/>
          <a:p>
            <a:pPr algn="ctr"/>
            <a:r>
              <a:rPr lang="en-US" b="1" dirty="0"/>
              <a:t>Properties of Distance Metrics</a:t>
            </a:r>
          </a:p>
        </p:txBody>
      </p:sp>
    </p:spTree>
    <p:extLst>
      <p:ext uri="{BB962C8B-B14F-4D97-AF65-F5344CB8AC3E}">
        <p14:creationId xmlns:p14="http://schemas.microsoft.com/office/powerpoint/2010/main" val="39285957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Relationships between variables in a dataset are often based on </a:t>
                </a:r>
                <a:r>
                  <a:rPr lang="en-US" b="1" dirty="0">
                    <a:latin typeface="+mn-lt"/>
                  </a:rPr>
                  <a:t>dissimilarity</a:t>
                </a:r>
                <a:r>
                  <a:rPr lang="en-US" dirty="0">
                    <a:latin typeface="+mn-lt"/>
                  </a:rPr>
                  <a:t> using a </a:t>
                </a:r>
                <a:r>
                  <a:rPr lang="en-US" b="1" dirty="0">
                    <a:latin typeface="+mn-lt"/>
                  </a:rPr>
                  <a:t>distance metric</a:t>
                </a:r>
                <a:endParaRPr lang="en-US" sz="2800" b="1" dirty="0">
                  <a:latin typeface="+mn-lt"/>
                </a:endParaRPr>
              </a:p>
              <a:p>
                <a:r>
                  <a:rPr lang="en-US" sz="2800" dirty="0">
                    <a:latin typeface="+mn-lt"/>
                  </a:rPr>
                  <a:t>The variables or observations </a:t>
                </a:r>
                <a:r>
                  <a:rPr lang="en-US" dirty="0">
                    <a:latin typeface="+mn-lt"/>
                  </a:rPr>
                  <a:t>are </a:t>
                </a:r>
                <a:r>
                  <a:rPr lang="en-US" b="1" dirty="0">
                    <a:latin typeface="+mn-lt"/>
                  </a:rPr>
                  <a:t>vector valued</a:t>
                </a:r>
              </a:p>
              <a:p>
                <a:r>
                  <a:rPr lang="en-US" dirty="0">
                    <a:latin typeface="+mn-lt"/>
                  </a:rPr>
                  <a:t>Distance and similarity are </a:t>
                </a:r>
                <a:r>
                  <a:rPr lang="en-US" b="1" dirty="0">
                    <a:latin typeface="+mn-lt"/>
                  </a:rPr>
                  <a:t>scalar values </a:t>
                </a:r>
              </a:p>
              <a:p>
                <a:r>
                  <a:rPr lang="en-US" sz="3200" dirty="0">
                    <a:latin typeface="+mn-lt"/>
                  </a:rPr>
                  <a:t>A distance (similarity) metric, </a:t>
                </a:r>
                <a14:m>
                  <m:oMath xmlns:m="http://schemas.openxmlformats.org/officeDocument/2006/math">
                    <m:r>
                      <a:rPr lang="en-US" sz="3200" i="1">
                        <a:latin typeface="Cambria Math" panose="02040503050406030204" pitchFamily="18" charset="0"/>
                        <a:ea typeface="Cambria Math" panose="02040503050406030204" pitchFamily="18" charset="0"/>
                      </a:rPr>
                      <m:t>𝐷</m:t>
                    </m:r>
                  </m:oMath>
                </a14:m>
                <a:r>
                  <a:rPr lang="en-US" sz="3200" dirty="0">
                    <a:latin typeface="+mn-lt"/>
                  </a:rPr>
                  <a:t>, </a:t>
                </a:r>
                <a:r>
                  <a:rPr lang="en-US" sz="3200" b="1" dirty="0">
                    <a:latin typeface="+mn-lt"/>
                  </a:rPr>
                  <a:t>maps two vector valued variables, </a:t>
                </a:r>
                <a14:m>
                  <m:oMath xmlns:m="http://schemas.openxmlformats.org/officeDocument/2006/math">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oMath>
                </a14:m>
                <a:r>
                  <a:rPr lang="en-US" sz="3200" dirty="0">
                    <a:latin typeface="+mn-lt"/>
                  </a:rPr>
                  <a:t>, to a </a:t>
                </a:r>
                <a:r>
                  <a:rPr lang="en-US" sz="3200" b="1" dirty="0">
                    <a:latin typeface="+mn-lt"/>
                  </a:rPr>
                  <a:t>real valued scalar</a:t>
                </a:r>
                <a:r>
                  <a:rPr lang="en-US" sz="3200" dirty="0">
                    <a:latin typeface="+mn-lt"/>
                  </a:rPr>
                  <a:t>, </a:t>
                </a:r>
                <a14:m>
                  <m:oMath xmlns:m="http://schemas.openxmlformats.org/officeDocument/2006/math">
                    <m:r>
                      <a:rPr lang="en-US" sz="3200" i="1">
                        <a:latin typeface="Cambria Math" panose="02040503050406030204" pitchFamily="18" charset="0"/>
                        <a:ea typeface="Cambria Math" panose="02040503050406030204" pitchFamily="18" charset="0"/>
                      </a:rPr>
                      <m:t>𝑠</m:t>
                    </m:r>
                  </m:oMath>
                </a14:m>
                <a:endParaRPr lang="en-US" sz="3200" b="1" dirty="0">
                  <a:latin typeface="+mn-lt"/>
                </a:endParaRPr>
              </a:p>
              <a:p>
                <a:pPr marL="0" indent="0">
                  <a:buNone/>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ea typeface="Cambria Math" panose="02040503050406030204" pitchFamily="18" charset="0"/>
                        </a:rPr>
                        <m:t>𝐷</m:t>
                      </m:r>
                      <m:r>
                        <a:rPr lang="en-US" sz="3200" b="0" i="1" smtClean="0">
                          <a:latin typeface="Cambria Math" panose="02040503050406030204" pitchFamily="18" charset="0"/>
                          <a:ea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r>
                        <a:rPr lang="en-US" sz="3200" i="1" smtClean="0">
                          <a:latin typeface="Cambria Math" panose="02040503050406030204" pitchFamily="18" charset="0"/>
                          <a:ea typeface="Cambria Math" panose="02040503050406030204" pitchFamily="18" charset="0"/>
                        </a:rPr>
                        <m:t>→</m:t>
                      </m:r>
                      <m:r>
                        <a:rPr lang="en-US" sz="3200" b="0" i="1" smtClean="0">
                          <a:latin typeface="Cambria Math" panose="02040503050406030204" pitchFamily="18" charset="0"/>
                          <a:ea typeface="Cambria Math" panose="02040503050406030204" pitchFamily="18" charset="0"/>
                        </a:rPr>
                        <m:t>𝑠</m:t>
                      </m:r>
                    </m:oMath>
                  </m:oMathPara>
                </a14:m>
                <a:endParaRPr lang="en-US" sz="3200" b="1" dirty="0">
                  <a:latin typeface="+mn-lt"/>
                </a:endParaRPr>
              </a:p>
              <a:p>
                <a:pPr marL="0" indent="0">
                  <a:buNone/>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𝑠</m:t>
                      </m:r>
                      <m:r>
                        <a:rPr lang="en-US" sz="3200" b="0" i="1" smtClean="0">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 </m:t>
                          </m:r>
                        </m:sup>
                      </m:sSup>
                      <m:r>
                        <a:rPr lang="en-US" sz="3200" b="0" i="1" smtClean="0">
                          <a:latin typeface="Cambria Math" panose="02040503050406030204" pitchFamily="18" charset="0"/>
                          <a:ea typeface="Cambria Math" panose="02040503050406030204" pitchFamily="18" charset="0"/>
                        </a:rPr>
                        <m:t>,   </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𝑖</m:t>
                          </m:r>
                        </m:sub>
                      </m:sSub>
                      <m:r>
                        <a:rPr lang="en-US" sz="3200" b="0" i="1">
                          <a:latin typeface="Cambria Math" panose="02040503050406030204" pitchFamily="18" charset="0"/>
                        </a:rPr>
                        <m:t>,</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𝑗</m:t>
                          </m:r>
                        </m:sub>
                      </m:sSub>
                      <m:r>
                        <a:rPr lang="en-US" sz="3200" i="1">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𝑛</m:t>
                          </m:r>
                        </m:sup>
                      </m:sSup>
                    </m:oMath>
                  </m:oMathPara>
                </a14:m>
                <a:endParaRPr lang="en-US" sz="32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217" t="-1959"/>
                </a:stretch>
              </a:blipFill>
            </p:spPr>
            <p:txBody>
              <a:bodyPr/>
              <a:lstStyle/>
              <a:p>
                <a:r>
                  <a:rPr lang="en-US">
                    <a:noFill/>
                  </a:rPr>
                  <a:t> </a:t>
                </a:r>
              </a:p>
            </p:txBody>
          </p:sp>
        </mc:Fallback>
      </mc:AlternateContent>
    </p:spTree>
    <p:extLst>
      <p:ext uri="{BB962C8B-B14F-4D97-AF65-F5344CB8AC3E}">
        <p14:creationId xmlns:p14="http://schemas.microsoft.com/office/powerpoint/2010/main" val="3008515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Distance metrics between two points,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latin typeface="+mn-lt"/>
                  </a:rPr>
                  <a:t>, must conform to these </a:t>
                </a:r>
                <a:r>
                  <a:rPr lang="en-US" b="1" dirty="0">
                    <a:latin typeface="+mn-lt"/>
                  </a:rPr>
                  <a:t>4 axioms</a:t>
                </a:r>
                <a:r>
                  <a:rPr lang="en-US" dirty="0">
                    <a:latin typeface="+mn-lt"/>
                  </a:rPr>
                  <a:t>:</a:t>
                </a:r>
              </a:p>
              <a:p>
                <a:pPr marL="514350" indent="-514350">
                  <a:buFont typeface="+mj-lt"/>
                  <a:buAutoNum type="arabicPeriod"/>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nonnegative</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≥0</m:t>
                      </m:r>
                    </m:oMath>
                  </m:oMathPara>
                </a14:m>
                <a:endParaRPr lang="en-US" dirty="0">
                  <a:latin typeface="+mn-lt"/>
                  <a:ea typeface="Cambria Math" panose="02040503050406030204" pitchFamily="18" charset="0"/>
                </a:endParaRPr>
              </a:p>
              <a:p>
                <a:pPr marL="514350" indent="-514350">
                  <a:buFont typeface="+mj-lt"/>
                  <a:buAutoNum type="arabicPeriod" startAt="2"/>
                </a:pPr>
                <a:r>
                  <a:rPr lang="en-US" sz="2800" b="0" dirty="0">
                    <a:latin typeface="+mn-lt"/>
                    <a:ea typeface="Cambria Math" panose="02040503050406030204" pitchFamily="18" charset="0"/>
                  </a:rPr>
                  <a:t>Distances are </a:t>
                </a:r>
                <a:r>
                  <a:rPr lang="en-US" b="1" dirty="0">
                    <a:latin typeface="+mn-lt"/>
                    <a:ea typeface="Cambria Math" panose="02040503050406030204" pitchFamily="18" charset="0"/>
                  </a:rPr>
                  <a:t>only 0</a:t>
                </a:r>
                <a:r>
                  <a:rPr lang="en-US" sz="2800" b="1" dirty="0">
                    <a:latin typeface="+mn-lt"/>
                    <a:ea typeface="Cambria Math" panose="02040503050406030204" pitchFamily="18" charset="0"/>
                  </a:rPr>
                  <a:t> between a point and itself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=0 </m:t>
                      </m:r>
                      <m:r>
                        <a:rPr lang="en-US" sz="2800" b="0" i="1" smtClean="0">
                          <a:latin typeface="Cambria Math" panose="02040503050406030204" pitchFamily="18" charset="0"/>
                          <a:ea typeface="Cambria Math" panose="02040503050406030204" pitchFamily="18" charset="0"/>
                        </a:rPr>
                        <m:t>𝑖𝑓𝑓</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oMath>
                  </m:oMathPara>
                </a14:m>
                <a:endParaRPr lang="en-US" sz="2800" b="0" dirty="0">
                  <a:latin typeface="+mn-lt"/>
                  <a:ea typeface="Cambria Math" panose="02040503050406030204" pitchFamily="18" charset="0"/>
                </a:endParaRPr>
              </a:p>
              <a:p>
                <a:pPr marL="514350" indent="-514350">
                  <a:buFont typeface="+mj-lt"/>
                  <a:buAutoNum type="arabicPeriod" startAt="3"/>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symmetric</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a:latin typeface="+mn-lt"/>
                  <a:ea typeface="Cambria Math" panose="02040503050406030204" pitchFamily="18" charset="0"/>
                </a:endParaRPr>
              </a:p>
              <a:p>
                <a:pPr marL="514350" indent="-514350">
                  <a:buFont typeface="+mj-lt"/>
                  <a:buAutoNum type="arabicPeriod" startAt="4"/>
                </a:pPr>
                <a:r>
                  <a:rPr lang="en-US" sz="2800" b="0" dirty="0">
                    <a:latin typeface="+mn-lt"/>
                    <a:ea typeface="Cambria Math" panose="02040503050406030204" pitchFamily="18" charset="0"/>
                  </a:rPr>
                  <a:t>Distances must follow the </a:t>
                </a:r>
                <a:r>
                  <a:rPr lang="en-US" sz="2800" b="1" dirty="0">
                    <a:latin typeface="+mn-lt"/>
                    <a:ea typeface="Cambria Math" panose="02040503050406030204" pitchFamily="18" charset="0"/>
                  </a:rPr>
                  <a:t>triangle inequality </a:t>
                </a:r>
                <a:r>
                  <a:rPr lang="en-US" sz="2800" b="0" dirty="0">
                    <a:latin typeface="+mn-lt"/>
                    <a:ea typeface="Cambria Math" panose="02040503050406030204" pitchFamily="18" charset="0"/>
                  </a:rPr>
                  <a:t>(no shortcuts!)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𝑧</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  ∀ </m:t>
                      </m:r>
                      <m:r>
                        <a:rPr lang="en-US" sz="2800" b="0" i="1" smtClean="0">
                          <a:latin typeface="Cambria Math" panose="02040503050406030204" pitchFamily="18" charset="0"/>
                          <a:ea typeface="Cambria Math" panose="02040503050406030204" pitchFamily="18" charset="0"/>
                        </a:rPr>
                        <m:t>𝑝𝑜𝑖𝑛𝑡𝑠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oMath>
                  </m:oMathPara>
                </a14:m>
                <a:endParaRPr lang="en-US" sz="2800" b="0" dirty="0">
                  <a:latin typeface="+mn-lt"/>
                  <a:ea typeface="Cambria Math" panose="02040503050406030204" pitchFamily="18" charset="0"/>
                </a:endParaRPr>
              </a:p>
              <a:p>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111" t="-1959"/>
                </a:stretch>
              </a:blipFill>
            </p:spPr>
            <p:txBody>
              <a:bodyPr/>
              <a:lstStyle/>
              <a:p>
                <a:r>
                  <a:rPr lang="en-US">
                    <a:noFill/>
                  </a:rPr>
                  <a:t> </a:t>
                </a:r>
              </a:p>
            </p:txBody>
          </p:sp>
        </mc:Fallback>
      </mc:AlternateContent>
    </p:spTree>
    <p:extLst>
      <p:ext uri="{BB962C8B-B14F-4D97-AF65-F5344CB8AC3E}">
        <p14:creationId xmlns:p14="http://schemas.microsoft.com/office/powerpoint/2010/main" val="401029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900312"/>
                <a:ext cx="11525250" cy="5290388"/>
              </a:xfrm>
            </p:spPr>
            <p:txBody>
              <a:bodyPr>
                <a:normAutofit/>
              </a:bodyPr>
              <a:lstStyle/>
              <a:p>
                <a:pPr marL="0" indent="0">
                  <a:buNone/>
                </a:pPr>
                <a:r>
                  <a:rPr lang="en-US" dirty="0">
                    <a:latin typeface="+mn-lt"/>
                  </a:rPr>
                  <a:t>Structure in data arises from </a:t>
                </a:r>
                <a:r>
                  <a:rPr lang="en-US" b="1" dirty="0">
                    <a:latin typeface="+mn-lt"/>
                  </a:rPr>
                  <a:t>dissimilarity</a:t>
                </a:r>
                <a:r>
                  <a:rPr lang="en-US" dirty="0">
                    <a:latin typeface="+mn-lt"/>
                  </a:rPr>
                  <a:t> measured by some </a:t>
                </a:r>
                <a:r>
                  <a:rPr lang="en-US" b="1" dirty="0">
                    <a:latin typeface="+mn-lt"/>
                  </a:rPr>
                  <a:t>distance metric</a:t>
                </a:r>
                <a:endParaRPr lang="en-US" sz="2800" b="1" dirty="0">
                  <a:latin typeface="+mn-lt"/>
                </a:endParaRPr>
              </a:p>
              <a:p>
                <a:r>
                  <a:rPr lang="en-US" sz="2800" dirty="0">
                    <a:latin typeface="+mn-lt"/>
                  </a:rPr>
                  <a:t>How do we organize dissimilarity (similarity) values? </a:t>
                </a:r>
              </a:p>
              <a:p>
                <a:r>
                  <a:rPr lang="en-US" dirty="0">
                    <a:latin typeface="+mn-lt"/>
                  </a:rPr>
                  <a:t>Create a </a:t>
                </a:r>
                <a:r>
                  <a:rPr lang="en-US" b="1" dirty="0">
                    <a:latin typeface="+mn-lt"/>
                  </a:rPr>
                  <a:t>dissimilarity matrix </a:t>
                </a:r>
                <a:r>
                  <a:rPr lang="en-US" dirty="0">
                    <a:latin typeface="+mn-lt"/>
                  </a:rPr>
                  <a:t>of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i="1">
                                    <a:latin typeface="Cambria Math" panose="02040503050406030204" pitchFamily="18" charset="0"/>
                                  </a:rPr>
                                  <m:t>⋮</m:t>
                                </m:r>
                                <m:r>
                                  <a:rPr lang="en-US" b="0" i="1" smtClean="0">
                                    <a:latin typeface="Cambria Math" panose="02040503050406030204" pitchFamily="18" charset="0"/>
                                  </a:rPr>
                                  <m:t>                 </m:t>
                                </m:r>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900312"/>
                <a:ext cx="11525250" cy="5290388"/>
              </a:xfrm>
              <a:blipFill>
                <a:blip r:embed="rId3"/>
                <a:stretch>
                  <a:fillRect l="-1111" t="-1959" r="-1693"/>
                </a:stretch>
              </a:blipFill>
            </p:spPr>
            <p:txBody>
              <a:bodyPr/>
              <a:lstStyle/>
              <a:p>
                <a:r>
                  <a:rPr lang="en-US">
                    <a:noFill/>
                  </a:rPr>
                  <a:t> </a:t>
                </a:r>
              </a:p>
            </p:txBody>
          </p:sp>
        </mc:Fallback>
      </mc:AlternateContent>
    </p:spTree>
    <p:extLst>
      <p:ext uri="{BB962C8B-B14F-4D97-AF65-F5344CB8AC3E}">
        <p14:creationId xmlns:p14="http://schemas.microsoft.com/office/powerpoint/2010/main" val="2348795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lnSpcReduction="10000"/>
              </a:bodyPr>
              <a:lstStyle/>
              <a:p>
                <a:pPr marL="0" indent="0">
                  <a:buNone/>
                </a:pPr>
                <a:r>
                  <a:rPr lang="en-US" dirty="0">
                    <a:latin typeface="+mn-lt"/>
                  </a:rPr>
                  <a:t>A dissimilarity matrix contains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Dissimilarity matrix is symmetric, </a:t>
                </a:r>
                <a14:m>
                  <m:oMath xmlns:m="http://schemas.openxmlformats.org/officeDocument/2006/math">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e>
                    </m:d>
                    <m:r>
                      <a:rPr lang="en-US" b="0" i="1" smtClean="0">
                        <a:latin typeface="Cambria Math" panose="02040503050406030204" pitchFamily="18" charset="0"/>
                      </a:rPr>
                      <m:t>=</m:t>
                    </m:r>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e>
                    </m:d>
                  </m:oMath>
                </a14:m>
                <a:endParaRPr lang="en-US" dirty="0">
                  <a:latin typeface="+mn-lt"/>
                </a:endParaRPr>
              </a:p>
              <a:p>
                <a:r>
                  <a:rPr lang="en-US" dirty="0">
                    <a:latin typeface="+mn-lt"/>
                  </a:rPr>
                  <a:t>The diagonal elements of the dissimilarity matrix are all 0, there is no dissimilarity</a:t>
                </a:r>
              </a:p>
              <a:p>
                <a:r>
                  <a:rPr lang="en-US" dirty="0">
                    <a:latin typeface="+mn-lt"/>
                  </a:rPr>
                  <a:t>Similarity matrix is the inverse of dissimilarity matrix    </a:t>
                </a:r>
              </a:p>
              <a:p>
                <a:pPr lvl="1"/>
                <a:r>
                  <a:rPr lang="en-US" dirty="0">
                    <a:latin typeface="+mn-lt"/>
                  </a:rPr>
                  <a:t>Symmetric</a:t>
                </a:r>
              </a:p>
              <a:p>
                <a:pPr lvl="1"/>
                <a:r>
                  <a:rPr lang="en-US" dirty="0">
                    <a:latin typeface="+mn-lt"/>
                  </a:rPr>
                  <a:t>All 1s on the diagonal   </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2539" b="-1104"/>
                </a:stretch>
              </a:blipFill>
            </p:spPr>
            <p:txBody>
              <a:bodyPr/>
              <a:lstStyle/>
              <a:p>
                <a:r>
                  <a:rPr lang="en-US">
                    <a:noFill/>
                  </a:rPr>
                  <a:t> </a:t>
                </a:r>
              </a:p>
            </p:txBody>
          </p:sp>
        </mc:Fallback>
      </mc:AlternateContent>
    </p:spTree>
    <p:extLst>
      <p:ext uri="{BB962C8B-B14F-4D97-AF65-F5344CB8AC3E}">
        <p14:creationId xmlns:p14="http://schemas.microsoft.com/office/powerpoint/2010/main" val="2350190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Is a </a:t>
                </a:r>
                <a:r>
                  <a:rPr lang="en-US" b="1" dirty="0">
                    <a:latin typeface="+mn-lt"/>
                  </a:rPr>
                  <a:t>dense and memory intensive representation</a:t>
                </a:r>
                <a:r>
                  <a:rPr lang="en-US" dirty="0">
                    <a:latin typeface="+mn-lt"/>
                  </a:rPr>
                  <a:t> requiring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r>
                  <a:rPr lang="en-US" b="1" dirty="0">
                    <a:latin typeface="+mn-lt"/>
                  </a:rPr>
                  <a:t>  </a:t>
                </a:r>
                <a:r>
                  <a:rPr lang="en-US" dirty="0">
                    <a:latin typeface="+mn-lt"/>
                  </a:rPr>
                  <a:t>memory</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533864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672CC-21A1-D54E-D475-EFA6405D92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845793-B39C-CE61-D1B0-1E4A2293A0BF}"/>
              </a:ext>
            </a:extLst>
          </p:cNvPr>
          <p:cNvSpPr>
            <a:spLocks noGrp="1"/>
          </p:cNvSpPr>
          <p:nvPr>
            <p:ph type="title"/>
          </p:nvPr>
        </p:nvSpPr>
        <p:spPr>
          <a:xfrm>
            <a:off x="831850" y="1709738"/>
            <a:ext cx="10515600" cy="2104337"/>
          </a:xfrm>
        </p:spPr>
        <p:txBody>
          <a:bodyPr/>
          <a:lstStyle/>
          <a:p>
            <a:pPr algn="ctr"/>
            <a:r>
              <a:rPr lang="en-US" b="1" dirty="0"/>
              <a:t>Basic Distance Metrics</a:t>
            </a:r>
          </a:p>
        </p:txBody>
      </p:sp>
    </p:spTree>
    <p:extLst>
      <p:ext uri="{BB962C8B-B14F-4D97-AF65-F5344CB8AC3E}">
        <p14:creationId xmlns:p14="http://schemas.microsoft.com/office/powerpoint/2010/main" val="301603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dissimilarity can be computed for numeric variables with p dimensions</a:t>
                </a:r>
              </a:p>
              <a:p>
                <a:r>
                  <a:rPr lang="en-US" b="1" dirty="0">
                    <a:latin typeface="+mn-lt"/>
                  </a:rPr>
                  <a:t>Euclidian distance, (L2</a:t>
                </a:r>
                <a:r>
                  <a:rPr lang="en-US" dirty="0">
                    <a:latin typeface="+mn-lt"/>
                  </a:rPr>
                  <a:t>)</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smtClean="0">
                                      <a:latin typeface="Cambria Math" panose="02040503050406030204" pitchFamily="18" charset="0"/>
                                    </a:rPr>
                                    <m:t> </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i="1">
                                          <a:latin typeface="Cambria Math" panose="02040503050406030204" pitchFamily="18" charset="0"/>
                                        </a:rPr>
                                        <m:t>′</m:t>
                                      </m:r>
                                    </m:e>
                                    <m:sub>
                                      <m:r>
                                        <a:rPr lang="en-US" b="0" i="1" smtClean="0">
                                          <a:latin typeface="Cambria Math" panose="02040503050406030204" pitchFamily="18" charset="0"/>
                                        </a:rPr>
                                        <m:t> </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type m:val="skw"/>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r>
                  <a:rPr lang="en-US" b="1" dirty="0">
                    <a:latin typeface="+mn-lt"/>
                  </a:rPr>
                  <a:t>Absolute distance</a:t>
                </a:r>
                <a:r>
                  <a:rPr lang="en-US" dirty="0">
                    <a:latin typeface="+mn-lt"/>
                  </a:rPr>
                  <a:t> or </a:t>
                </a:r>
                <a:r>
                  <a:rPr lang="en-US" b="1" dirty="0">
                    <a:latin typeface="+mn-lt"/>
                  </a:rPr>
                  <a:t>Manhattan distance (L1)</a:t>
                </a:r>
              </a:p>
              <a:p>
                <a:pPr marL="0" indent="0">
                  <a:buNone/>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𝑑</m:t>
                          </m:r>
                        </m:e>
                        <m:sub>
                          <m:r>
                            <a:rPr lang="en-US" i="1" dirty="0">
                              <a:latin typeface="Cambria Math" panose="02040503050406030204" pitchFamily="18" charset="0"/>
                            </a:rPr>
                            <m:t>𝐿</m:t>
                          </m:r>
                          <m:r>
                            <a:rPr lang="en-US" b="0" i="1" dirty="0" smtClean="0">
                              <a:latin typeface="Cambria Math" panose="02040503050406030204" pitchFamily="18" charset="0"/>
                            </a:rPr>
                            <m:t>1</m:t>
                          </m:r>
                        </m:sub>
                      </m:sSub>
                      <m:r>
                        <a:rPr lang="en-US" i="1" dirty="0">
                          <a:latin typeface="Cambria Math" panose="02040503050406030204" pitchFamily="18" charset="0"/>
                        </a:rPr>
                        <m:t> </m:t>
                      </m:r>
                      <m:d>
                        <m:dPr>
                          <m:ctrlPr>
                            <a:rPr lang="en-US" i="1">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i="1">
                          <a:latin typeface="Cambria Math" panose="02040503050406030204" pitchFamily="18" charset="0"/>
                        </a:rPr>
                        <m:t>=</m:t>
                      </m:r>
                      <m:nary>
                        <m:naryPr>
                          <m:chr m:val="∑"/>
                          <m:ctrlPr>
                            <a:rPr lang="en-US" i="1" smtClean="0">
                              <a:latin typeface="Cambria Math" panose="02040503050406030204" pitchFamily="18" charset="0"/>
                            </a:rPr>
                          </m:ctrlPr>
                        </m:naryPr>
                        <m:sub>
                          <m:r>
                            <a:rPr lang="en-US" b="0" i="1" smtClean="0">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nary>
                    </m:oMath>
                  </m:oMathPara>
                </a14:m>
                <a:endParaRPr lang="en-US" dirty="0">
                  <a:latin typeface="+mn-lt"/>
                </a:endParaRPr>
              </a:p>
              <a:p>
                <a:r>
                  <a:rPr lang="en-US" b="1" dirty="0">
                    <a:latin typeface="+mn-lt"/>
                  </a:rPr>
                  <a:t>Max</a:t>
                </a:r>
                <a:r>
                  <a:rPr lang="en-US" dirty="0">
                    <a:latin typeface="+mn-lt"/>
                  </a:rPr>
                  <a:t>; or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𝑳</m:t>
                        </m:r>
                      </m:e>
                      <m:sub>
                        <m:r>
                          <a:rPr lang="en-US" b="1" i="1" smtClean="0">
                            <a:latin typeface="Cambria Math" panose="02040503050406030204" pitchFamily="18" charset="0"/>
                            <a:ea typeface="Cambria Math" panose="02040503050406030204" pitchFamily="18" charset="0"/>
                          </a:rPr>
                          <m:t>∞</m:t>
                        </m:r>
                      </m:sub>
                    </m:sSub>
                  </m:oMath>
                </a14:m>
                <a:r>
                  <a:rPr lang="en-US" dirty="0">
                    <a:latin typeface="+mn-lt"/>
                  </a:rPr>
                  <a:t> norm</a:t>
                </a:r>
                <a:endParaRPr lang="en-US" b="1" dirty="0"/>
              </a:p>
              <a:p>
                <a:pPr marL="0" indent="0">
                  <a:buNone/>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r>
                            <a:rPr lang="en-US" i="1" dirty="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𝑖</m:t>
                              </m:r>
                            </m:lim>
                          </m:limLow>
                          <m:r>
                            <a:rPr lang="en-US" b="0" i="1" smtClean="0">
                              <a:latin typeface="Cambria Math" panose="02040503050406030204" pitchFamily="18" charset="0"/>
                            </a:rPr>
                            <m:t> </m:t>
                          </m:r>
                        </m:fName>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func>
                    </m:oMath>
                  </m:oMathPara>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317"/>
                </a:stretch>
              </a:blipFill>
            </p:spPr>
            <p:txBody>
              <a:bodyPr/>
              <a:lstStyle/>
              <a:p>
                <a:r>
                  <a:rPr lang="en-US">
                    <a:noFill/>
                  </a:rPr>
                  <a:t> </a:t>
                </a:r>
              </a:p>
            </p:txBody>
          </p:sp>
        </mc:Fallback>
      </mc:AlternateContent>
    </p:spTree>
    <p:extLst>
      <p:ext uri="{BB962C8B-B14F-4D97-AF65-F5344CB8AC3E}">
        <p14:creationId xmlns:p14="http://schemas.microsoft.com/office/powerpoint/2010/main" val="396624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fontScale="85000" lnSpcReduction="10000"/>
              </a:bodyPr>
              <a:lstStyle/>
              <a:p>
                <a:pPr marL="0" indent="0">
                  <a:buNone/>
                </a:pPr>
                <a:r>
                  <a:rPr lang="en-US" dirty="0">
                    <a:latin typeface="+mn-lt"/>
                  </a:rPr>
                  <a:t>Square root of the sum of squares is the Euclidian distance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847" t="-7063"/>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97579"/>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Sum of squares</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sup>
                              <m:r>
                                <a:rPr lang="en-US" sz="2400" b="0" i="1" smtClean="0">
                                  <a:latin typeface="Cambria Math" panose="02040503050406030204" pitchFamily="18" charset="0"/>
                                </a:rPr>
                                <m:t>2</m:t>
                              </m:r>
                            </m:sup>
                          </m:sSup>
                        </m:e>
                      </m:d>
                      <m:r>
                        <a:rPr lang="en-US" sz="2400" b="0" i="1" smtClean="0">
                          <a:latin typeface="Cambria Math" panose="02040503050406030204" pitchFamily="18" charset="0"/>
                        </a:rPr>
                        <m:t>=8</m:t>
                      </m:r>
                    </m:oMath>
                  </m:oMathPara>
                </a14:m>
                <a:endParaRPr lang="en-US" sz="2400" dirty="0"/>
              </a:p>
              <a:p>
                <a:pPr marL="285750" indent="-285750">
                  <a:buFont typeface="Arial" panose="020B0604020202020204" pitchFamily="34" charset="0"/>
                  <a:buChar char="•"/>
                </a:pPr>
                <a:r>
                  <a:rPr lang="en-US" sz="2400" dirty="0"/>
                  <a:t>Euclidian Norm  </a:t>
                </a:r>
              </a:p>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𝐸</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𝑦</m:t>
                          </m:r>
                          <m:r>
                            <a:rPr lang="en-US" sz="2400" b="0" i="1" smtClean="0">
                              <a:latin typeface="Cambria Math" panose="02040503050406030204" pitchFamily="18" charset="0"/>
                            </a:rPr>
                            <m:t>)</m:t>
                          </m:r>
                        </m:e>
                        <m:sup>
                          <m:r>
                            <a:rPr lang="en-US" sz="2400" b="0" i="1" smtClean="0">
                              <a:latin typeface="Cambria Math" panose="02040503050406030204" pitchFamily="18" charset="0"/>
                            </a:rPr>
                            <m:t>1/2</m:t>
                          </m:r>
                        </m:sup>
                      </m:sSup>
                      <m:r>
                        <a:rPr lang="en-US" sz="2400" b="0" i="1"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8</m:t>
                          </m:r>
                        </m:e>
                      </m:rad>
                      <m:r>
                        <a:rPr lang="en-US" sz="2400" b="0" i="1" smtClean="0">
                          <a:latin typeface="Cambria Math" panose="02040503050406030204" pitchFamily="18" charset="0"/>
                        </a:rPr>
                        <m:t>=2.83</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97579"/>
              </a:xfrm>
              <a:prstGeom prst="rect">
                <a:avLst/>
              </a:prstGeom>
              <a:blipFill>
                <a:blip r:embed="rId4"/>
                <a:stretch>
                  <a:fillRect l="-1528" t="-2036"/>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0"/>
            <a:endCxn id="12" idx="2"/>
          </p:cNvCxnSpPr>
          <p:nvPr/>
        </p:nvCxnSpPr>
        <p:spPr>
          <a:xfrm flipV="1">
            <a:off x="3405313" y="3533437"/>
            <a:ext cx="1817852" cy="1630635"/>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5066A27-03ED-4C91-9E71-890ECF17A18B}"/>
              </a:ext>
            </a:extLst>
          </p:cNvPr>
          <p:cNvSpPr txBox="1"/>
          <p:nvPr/>
        </p:nvSpPr>
        <p:spPr>
          <a:xfrm>
            <a:off x="6382015" y="5164072"/>
            <a:ext cx="5584552" cy="461665"/>
          </a:xfrm>
          <a:prstGeom prst="rect">
            <a:avLst/>
          </a:prstGeom>
          <a:noFill/>
        </p:spPr>
        <p:txBody>
          <a:bodyPr wrap="square" rtlCol="0">
            <a:spAutoFit/>
          </a:bodyPr>
          <a:lstStyle/>
          <a:p>
            <a:pPr marL="342900" indent="-342900">
              <a:buFont typeface="Arial" panose="020B0604020202020204" pitchFamily="34" charset="0"/>
              <a:buChar char="•"/>
            </a:pPr>
            <a:r>
              <a:rPr lang="en-US" sz="2400" dirty="0"/>
              <a:t>Euclidian Norm is ‘crow-flies’ distance </a:t>
            </a:r>
          </a:p>
        </p:txBody>
      </p:sp>
    </p:spTree>
    <p:extLst>
      <p:ext uri="{BB962C8B-B14F-4D97-AF65-F5344CB8AC3E}">
        <p14:creationId xmlns:p14="http://schemas.microsoft.com/office/powerpoint/2010/main" val="1288535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
                                            <p:txEl>
                                              <p:pRg st="2" end="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4" end="4"/>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Manhattan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nary>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Manhattan Norm</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𝑀</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=4</m:t>
                      </m:r>
                    </m:oMath>
                  </m:oMathPara>
                </a14:m>
                <a:endParaRPr lang="en-US" sz="2400" dirty="0"/>
              </a:p>
              <a:p>
                <a:pPr marL="342900" indent="-342900">
                  <a:buFont typeface="Arial" panose="020B0604020202020204" pitchFamily="34" charset="0"/>
                  <a:buChar char="•"/>
                </a:pPr>
                <a:r>
                  <a:rPr lang="en-US" sz="2400" dirty="0"/>
                  <a:t>Manhattan distance is distance traveled on a grid</a:t>
                </a:r>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08324"/>
              </a:xfrm>
              <a:prstGeom prst="rect">
                <a:avLst/>
              </a:prstGeom>
              <a:blipFill>
                <a:blip r:embed="rId4"/>
                <a:stretch>
                  <a:fillRect l="-1528" t="-2116" r="-109" b="-529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6043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2" end="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1D9FF-E41C-E876-3C19-0764AE0510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FDD4C-C176-D7CD-2E76-2AEA555C7620}"/>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412EDD-2044-629B-DB79-22304786837F}"/>
                  </a:ext>
                </a:extLst>
              </p:cNvPr>
              <p:cNvSpPr>
                <a:spLocks noGrp="1"/>
              </p:cNvSpPr>
              <p:nvPr>
                <p:ph sz="quarter" idx="10"/>
              </p:nvPr>
            </p:nvSpPr>
            <p:spPr>
              <a:xfrm>
                <a:off x="333375" y="896079"/>
                <a:ext cx="11525250" cy="1639303"/>
              </a:xfrm>
            </p:spPr>
            <p:txBody>
              <a:bodyPr>
                <a:normAutofit/>
              </a:bodyPr>
              <a:lstStyle/>
              <a:p>
                <a:pPr marL="0"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ea typeface="Cambria Math" panose="02040503050406030204" pitchFamily="18" charset="0"/>
                          </a:rPr>
                          <m:t>∞</m:t>
                        </m:r>
                      </m:sub>
                    </m:sSub>
                  </m:oMath>
                </a14:m>
                <a:r>
                  <a:rPr lang="en-US" dirty="0">
                    <a:latin typeface="+mn-lt"/>
                  </a:rPr>
                  <a:t>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sSub>
                            <m:sSubPr>
                              <m:ctrlPr>
                                <a:rPr lang="en-US" i="1" smtClean="0">
                                  <a:latin typeface="Cambria Math" panose="02040503050406030204" pitchFamily="18" charset="0"/>
                                </a:rPr>
                              </m:ctrlPr>
                            </m:sSubPr>
                            <m:e>
                              <m:r>
                                <a:rPr lang="en-US" b="0" i="1" smtClean="0">
                                  <a:latin typeface="Cambria Math" panose="02040503050406030204" pitchFamily="18" charset="0"/>
                                </a:rPr>
                                <m:t>𝑚𝑎𝑥</m:t>
                              </m:r>
                            </m:e>
                            <m:sub>
                              <m:r>
                                <a:rPr lang="en-US" b="0" i="1" smtClean="0">
                                  <a:latin typeface="Cambria Math" panose="02040503050406030204" pitchFamily="18" charset="0"/>
                                </a:rPr>
                                <m:t>𝑖</m:t>
                              </m:r>
                            </m:sub>
                          </m:sSub>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func>
                    </m:oMath>
                  </m:oMathPara>
                </a14:m>
                <a:endParaRPr lang="en-US" dirty="0">
                  <a:latin typeface="+mn-lt"/>
                </a:endParaRPr>
              </a:p>
              <a:p>
                <a:endParaRPr lang="en-US" dirty="0">
                  <a:latin typeface="+mn-lt"/>
                </a:endParaRPr>
              </a:p>
            </p:txBody>
          </p:sp>
        </mc:Choice>
        <mc:Fallback xmlns="">
          <p:sp>
            <p:nvSpPr>
              <p:cNvPr id="3" name="Content Placeholder 2">
                <a:extLst>
                  <a:ext uri="{FF2B5EF4-FFF2-40B4-BE49-F238E27FC236}">
                    <a16:creationId xmlns:a16="http://schemas.microsoft.com/office/drawing/2014/main" id="{5D412EDD-2044-629B-DB79-22304786837F}"/>
                  </a:ext>
                </a:extLst>
              </p:cNvPr>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B8339C03-A116-9DB5-E137-9FFB4D245DA3}"/>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E2F073A-5749-91B1-9B14-4D5AB7B761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E95F523-4F3A-9F8B-88E3-5B5DBB4FFEB3}"/>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2428E4AA-5DFE-DF14-8E4C-E84B9274BF2E}"/>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727E22DA-4180-C382-0150-1D93647F5866}"/>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54B5728A-87F6-16C5-0D2F-95B70FC2BB9B}"/>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E0600A1-2D63-4A1F-746F-562EDE0C7B08}"/>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AE42490E-41D4-87A4-914C-A521FFF7EF03}"/>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D6FA2A4-CFCD-5C9F-F4CA-37EAF5892DF8}"/>
                  </a:ext>
                </a:extLst>
              </p:cNvPr>
              <p:cNvSpPr txBox="1"/>
              <p:nvPr/>
            </p:nvSpPr>
            <p:spPr>
              <a:xfrm>
                <a:off x="6416298" y="2752880"/>
                <a:ext cx="5584552"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maximum distance along any axis? </a:t>
                </a:r>
              </a:p>
              <a:p>
                <a:pPr marL="285750" indent="-285750">
                  <a:buFont typeface="Arial" panose="020B0604020202020204" pitchFamily="34" charset="0"/>
                  <a:buChar char="•"/>
                </a:pP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i="1" smtClean="0">
                            <a:latin typeface="Cambria Math" panose="02040503050406030204" pitchFamily="18" charset="0"/>
                            <a:ea typeface="Cambria Math" panose="02040503050406030204" pitchFamily="18" charset="0"/>
                          </a:rPr>
                          <m:t>∞</m:t>
                        </m:r>
                      </m:sub>
                    </m:sSub>
                  </m:oMath>
                </a14:m>
                <a:r>
                  <a:rPr lang="en-US" sz="2400" dirty="0"/>
                  <a:t> Norm</a:t>
                </a: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𝑚𝑎𝑥</m:t>
                          </m:r>
                        </m:e>
                        <m:sub>
                          <m:r>
                            <a:rPr lang="en-US" sz="2400" i="1">
                              <a:latin typeface="Cambria Math" panose="02040503050406030204" pitchFamily="18" charset="0"/>
                            </a:rPr>
                            <m:t>𝑖</m:t>
                          </m:r>
                        </m:sub>
                      </m:sSub>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=2</m:t>
                      </m:r>
                    </m:oMath>
                  </m:oMathPara>
                </a14:m>
                <a:endParaRPr lang="en-US" sz="2400" dirty="0"/>
              </a:p>
            </p:txBody>
          </p:sp>
        </mc:Choice>
        <mc:Fallback xmlns="">
          <p:sp>
            <p:nvSpPr>
              <p:cNvPr id="17" name="TextBox 16">
                <a:extLst>
                  <a:ext uri="{FF2B5EF4-FFF2-40B4-BE49-F238E27FC236}">
                    <a16:creationId xmlns:a16="http://schemas.microsoft.com/office/drawing/2014/main" id="{CD6FA2A4-CFCD-5C9F-F4CA-37EAF5892DF8}"/>
                  </a:ext>
                </a:extLst>
              </p:cNvPr>
              <p:cNvSpPr txBox="1">
                <a:spLocks noRot="1" noChangeAspect="1" noMove="1" noResize="1" noEditPoints="1" noAdjustHandles="1" noChangeArrowheads="1" noChangeShapeType="1" noTextEdit="1"/>
              </p:cNvSpPr>
              <p:nvPr/>
            </p:nvSpPr>
            <p:spPr>
              <a:xfrm>
                <a:off x="6416298" y="2752880"/>
                <a:ext cx="5584552" cy="1938992"/>
              </a:xfrm>
              <a:prstGeom prst="rect">
                <a:avLst/>
              </a:prstGeom>
              <a:blipFill>
                <a:blip r:embed="rId4"/>
                <a:stretch>
                  <a:fillRect l="-1528" t="-2516" r="-2074"/>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8E46B6FC-3E25-9C31-0671-D6F0F28ABAD7}"/>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26D40A-41A5-6AED-303D-BEBC0FAD5744}"/>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86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dissimilarity can be computed for numeric variables in p dimensions</a:t>
                </a:r>
              </a:p>
              <a:p>
                <a:r>
                  <a:rPr lang="en-US" b="1" dirty="0" err="1">
                    <a:latin typeface="+mn-lt"/>
                    <a:hlinkClick r:id="rId3"/>
                  </a:rPr>
                  <a:t>Mahalanobis</a:t>
                </a:r>
                <a:r>
                  <a:rPr lang="en-US" b="1" dirty="0">
                    <a:latin typeface="+mn-lt"/>
                    <a:hlinkClick r:id="rId3"/>
                  </a:rPr>
                  <a:t> Distance </a:t>
                </a:r>
                <a:r>
                  <a:rPr lang="en-US" dirty="0">
                    <a:latin typeface="+mn-lt"/>
                  </a:rPr>
                  <a:t>(standardized Euclidean distance) is useful in cases with dependency (correlation) between variables  </a:t>
                </a:r>
              </a:p>
              <a:p>
                <a:r>
                  <a:rPr lang="en-US" dirty="0">
                    <a:latin typeface="+mn-lt"/>
                  </a:rPr>
                  <a:t>Technically is a ‘pseudo-distance’ metric since works in transformed space  </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How can we interpret the </a:t>
                </a:r>
                <a:r>
                  <a:rPr lang="en-US" dirty="0" err="1">
                    <a:latin typeface="+mn-lt"/>
                  </a:rPr>
                  <a:t>Mahalanobis</a:t>
                </a:r>
                <a:r>
                  <a:rPr lang="en-US" dirty="0">
                    <a:latin typeface="+mn-lt"/>
                  </a:rPr>
                  <a:t> distance?   </a:t>
                </a:r>
              </a:p>
              <a:p>
                <a:pPr marL="0" indent="0">
                  <a:buNone/>
                </a:pPr>
                <a:endParaRPr lang="en-US" sz="2400">
                  <a:latin typeface="+mn-lt"/>
                </a:endParaRPr>
              </a:p>
              <a:p>
                <a:pPr marL="0" indent="0">
                  <a:buNone/>
                </a:pPr>
                <a:r>
                  <a:rPr lang="en-US" sz="2400">
                    <a:latin typeface="+mn-lt"/>
                  </a:rPr>
                  <a:t>You </a:t>
                </a:r>
                <a:r>
                  <a:rPr lang="en-US" sz="2400" dirty="0">
                    <a:latin typeface="+mn-lt"/>
                  </a:rPr>
                  <a:t>can find an alternative explanation in </a:t>
                </a:r>
                <a:r>
                  <a:rPr lang="en-US" sz="2400" dirty="0">
                    <a:latin typeface="+mn-lt"/>
                    <a:hlinkClick r:id="rId4"/>
                  </a:rPr>
                  <a:t>Statistics How To</a:t>
                </a:r>
                <a:endParaRPr lang="en-US" sz="24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5"/>
                <a:stretch>
                  <a:fillRect l="-1111" t="-2460"/>
                </a:stretch>
              </a:blipFill>
            </p:spPr>
            <p:txBody>
              <a:bodyPr/>
              <a:lstStyle/>
              <a:p>
                <a:r>
                  <a:rPr lang="en-US">
                    <a:noFill/>
                  </a:rPr>
                  <a:t> </a:t>
                </a:r>
              </a:p>
            </p:txBody>
          </p:sp>
        </mc:Fallback>
      </mc:AlternateContent>
    </p:spTree>
    <p:extLst>
      <p:ext uri="{BB962C8B-B14F-4D97-AF65-F5344CB8AC3E}">
        <p14:creationId xmlns:p14="http://schemas.microsoft.com/office/powerpoint/2010/main" val="42200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dissimilarity can be computed for numeric variables in p dimensions</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Inverse covariance,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oMath>
                </a14:m>
                <a:r>
                  <a:rPr lang="en-US" dirty="0">
                    <a:latin typeface="+mn-lt"/>
                  </a:rPr>
                  <a:t>, transforms elliptical Normal distribution to spherical distribution</a:t>
                </a:r>
              </a:p>
              <a:p>
                <a:r>
                  <a:rPr lang="en-US" dirty="0">
                    <a:latin typeface="+mn-lt"/>
                  </a:rPr>
                  <a:t>Transformed space is </a:t>
                </a:r>
                <a:r>
                  <a:rPr lang="en-US" b="1" dirty="0">
                    <a:latin typeface="+mn-lt"/>
                  </a:rPr>
                  <a:t>orthogonal</a:t>
                </a:r>
                <a:r>
                  <a:rPr lang="en-US" dirty="0">
                    <a:latin typeface="+mn-lt"/>
                  </a:rPr>
                  <a:t>  </a:t>
                </a:r>
              </a:p>
              <a:p>
                <a:r>
                  <a:rPr lang="en-US" dirty="0" err="1">
                    <a:latin typeface="+mn-lt"/>
                  </a:rPr>
                  <a:t>Mahalanobis</a:t>
                </a:r>
                <a:r>
                  <a:rPr lang="en-US" dirty="0">
                    <a:latin typeface="+mn-lt"/>
                  </a:rPr>
                  <a:t> distance is measured in the transformed space </a:t>
                </a:r>
              </a:p>
              <a:p>
                <a:r>
                  <a:rPr lang="en-US" dirty="0" err="1">
                    <a:latin typeface="+mn-lt"/>
                  </a:rPr>
                  <a:t>Mahalanobis</a:t>
                </a:r>
                <a:r>
                  <a:rPr lang="en-US" dirty="0">
                    <a:latin typeface="+mn-lt"/>
                  </a:rPr>
                  <a:t> distance is </a:t>
                </a:r>
                <a:r>
                  <a:rPr lang="en-US" b="1" dirty="0">
                    <a:latin typeface="+mn-lt"/>
                  </a:rPr>
                  <a:t>scale invariant </a:t>
                </a:r>
                <a:r>
                  <a:rPr lang="en-US" dirty="0">
                    <a:latin typeface="+mn-lt"/>
                  </a:rPr>
                  <a:t>and </a:t>
                </a:r>
                <a:r>
                  <a:rPr lang="en-US" b="1" dirty="0">
                    <a:latin typeface="+mn-lt"/>
                  </a:rPr>
                  <a:t>unitless</a:t>
                </a:r>
              </a:p>
              <a:p>
                <a:endParaRPr lang="en-US" dirty="0">
                  <a:latin typeface="+mn-lt"/>
                </a:endParaRPr>
              </a:p>
              <a:p>
                <a:endParaRPr lang="en-US"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1587"/>
                </a:stretch>
              </a:blipFill>
            </p:spPr>
            <p:txBody>
              <a:bodyPr/>
              <a:lstStyle/>
              <a:p>
                <a:r>
                  <a:rPr lang="en-US">
                    <a:noFill/>
                  </a:rPr>
                  <a:t> </a:t>
                </a:r>
              </a:p>
            </p:txBody>
          </p:sp>
        </mc:Fallback>
      </mc:AlternateContent>
    </p:spTree>
    <p:extLst>
      <p:ext uri="{BB962C8B-B14F-4D97-AF65-F5344CB8AC3E}">
        <p14:creationId xmlns:p14="http://schemas.microsoft.com/office/powerpoint/2010/main" val="288758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2030969"/>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Variables are correlated</a:t>
            </a:r>
          </a:p>
          <a:p>
            <a:pPr marL="0" indent="0">
              <a:buNone/>
            </a:pPr>
            <a:endParaRPr lang="en-US" dirty="0">
              <a:latin typeface="+mn-lt"/>
            </a:endParaRPr>
          </a:p>
        </p:txBody>
      </p:sp>
      <p:pic>
        <p:nvPicPr>
          <p:cNvPr id="5" name="Picture 4">
            <a:extLst>
              <a:ext uri="{FF2B5EF4-FFF2-40B4-BE49-F238E27FC236}">
                <a16:creationId xmlns:a16="http://schemas.microsoft.com/office/drawing/2014/main" id="{BE4F6007-5EB8-0DD6-9E7A-06BEDDDD5E67}"/>
              </a:ext>
            </a:extLst>
          </p:cNvPr>
          <p:cNvPicPr>
            <a:picLocks noChangeAspect="1"/>
          </p:cNvPicPr>
          <p:nvPr/>
        </p:nvPicPr>
        <p:blipFill>
          <a:blip r:embed="rId3"/>
          <a:stretch>
            <a:fillRect/>
          </a:stretch>
        </p:blipFill>
        <p:spPr>
          <a:xfrm>
            <a:off x="2346476" y="2883745"/>
            <a:ext cx="5330661" cy="3415454"/>
          </a:xfrm>
          <a:prstGeom prst="rect">
            <a:avLst/>
          </a:prstGeom>
        </p:spPr>
      </p:pic>
      <p:sp>
        <p:nvSpPr>
          <p:cNvPr id="6" name="TextBox 5">
            <a:extLst>
              <a:ext uri="{FF2B5EF4-FFF2-40B4-BE49-F238E27FC236}">
                <a16:creationId xmlns:a16="http://schemas.microsoft.com/office/drawing/2014/main" id="{FE173562-5ECA-4FF9-B3FD-3958B8698064}"/>
              </a:ext>
            </a:extLst>
          </p:cNvPr>
          <p:cNvSpPr txBox="1"/>
          <p:nvPr/>
        </p:nvSpPr>
        <p:spPr>
          <a:xfrm>
            <a:off x="2762553" y="6328231"/>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spTree>
    <p:extLst>
      <p:ext uri="{BB962C8B-B14F-4D97-AF65-F5344CB8AC3E}">
        <p14:creationId xmlns:p14="http://schemas.microsoft.com/office/powerpoint/2010/main" val="2905895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2799471"/>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Principle axis of data ellipse does not align with variable axes </a:t>
                </a:r>
              </a:p>
              <a:p>
                <a:r>
                  <a:rPr lang="en-US" dirty="0">
                    <a:latin typeface="+mn-lt"/>
                  </a:rPr>
                  <a:t>Principle axis is defined by the eigenvectors of the covariance, </a:t>
                </a:r>
                <a14:m>
                  <m:oMath xmlns:m="http://schemas.openxmlformats.org/officeDocument/2006/math">
                    <m:r>
                      <a:rPr lang="en-US" sz="2800" i="1" smtClean="0">
                        <a:latin typeface="Cambria Math" panose="02040503050406030204" pitchFamily="18" charset="0"/>
                      </a:rPr>
                      <m:t>𝑆</m:t>
                    </m:r>
                  </m:oMath>
                </a14:m>
                <a:r>
                  <a:rPr lang="en-US" dirty="0">
                    <a:latin typeface="+mn-lt"/>
                  </a:rPr>
                  <a:t>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2799471"/>
              </a:xfrm>
              <a:blipFill>
                <a:blip r:embed="rId3"/>
                <a:stretch>
                  <a:fillRect l="-1111" t="-370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E173562-5ECA-4FF9-B3FD-3958B8698064}"/>
              </a:ext>
            </a:extLst>
          </p:cNvPr>
          <p:cNvSpPr txBox="1"/>
          <p:nvPr/>
        </p:nvSpPr>
        <p:spPr>
          <a:xfrm>
            <a:off x="2786743" y="6482119"/>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pic>
        <p:nvPicPr>
          <p:cNvPr id="7" name="Picture 6">
            <a:extLst>
              <a:ext uri="{FF2B5EF4-FFF2-40B4-BE49-F238E27FC236}">
                <a16:creationId xmlns:a16="http://schemas.microsoft.com/office/drawing/2014/main" id="{74C8EBC8-C970-710A-8E32-0E1BC9839188}"/>
              </a:ext>
            </a:extLst>
          </p:cNvPr>
          <p:cNvPicPr>
            <a:picLocks noChangeAspect="1"/>
          </p:cNvPicPr>
          <p:nvPr/>
        </p:nvPicPr>
        <p:blipFill>
          <a:blip r:embed="rId5"/>
          <a:stretch>
            <a:fillRect/>
          </a:stretch>
        </p:blipFill>
        <p:spPr>
          <a:xfrm>
            <a:off x="1819123" y="3539515"/>
            <a:ext cx="5796039" cy="2942604"/>
          </a:xfrm>
          <a:prstGeom prst="rect">
            <a:avLst/>
          </a:prstGeom>
        </p:spPr>
      </p:pic>
    </p:spTree>
    <p:extLst>
      <p:ext uri="{BB962C8B-B14F-4D97-AF65-F5344CB8AC3E}">
        <p14:creationId xmlns:p14="http://schemas.microsoft.com/office/powerpoint/2010/main" val="1338430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898854"/>
          </a:xfrm>
        </p:spPr>
        <p:txBody>
          <a:bodyPr>
            <a:normAutofit/>
          </a:bodyPr>
          <a:lstStyle/>
          <a:p>
            <a:pPr marL="0" indent="0">
              <a:buNone/>
            </a:pPr>
            <a:r>
              <a:rPr lang="en-US" dirty="0">
                <a:latin typeface="+mn-lt"/>
              </a:rPr>
              <a:t>Different metrics for numeric dissimilarity can be computed for numeric variables in p dimensions</a:t>
            </a:r>
            <a:endParaRPr lang="en-US" dirty="0"/>
          </a:p>
          <a:p>
            <a:endParaRPr lang="en-US" dirty="0">
              <a:latin typeface="+mn-lt"/>
            </a:endParaRPr>
          </a:p>
          <a:p>
            <a:endParaRPr lang="en-US" dirty="0">
              <a:latin typeface="+mn-lt"/>
            </a:endParaRPr>
          </a:p>
          <a:p>
            <a:pPr marL="0" indent="0">
              <a:buNone/>
            </a:pPr>
            <a:endParaRPr lang="en-US" dirty="0">
              <a:latin typeface="+mn-lt"/>
            </a:endParaRPr>
          </a:p>
        </p:txBody>
      </p:sp>
      <p:sp>
        <p:nvSpPr>
          <p:cNvPr id="4" name="TextBox 3">
            <a:extLst>
              <a:ext uri="{FF2B5EF4-FFF2-40B4-BE49-F238E27FC236}">
                <a16:creationId xmlns:a16="http://schemas.microsoft.com/office/drawing/2014/main" id="{00AFC55A-5F3E-3E43-C555-5C84A59D99AF}"/>
              </a:ext>
            </a:extLst>
          </p:cNvPr>
          <p:cNvSpPr txBox="1"/>
          <p:nvPr/>
        </p:nvSpPr>
        <p:spPr>
          <a:xfrm>
            <a:off x="7571620" y="6377214"/>
            <a:ext cx="4287005" cy="307777"/>
          </a:xfrm>
          <a:prstGeom prst="rect">
            <a:avLst/>
          </a:prstGeom>
          <a:noFill/>
        </p:spPr>
        <p:txBody>
          <a:bodyPr wrap="square" rtlCol="0">
            <a:spAutoFit/>
          </a:bodyPr>
          <a:lstStyle/>
          <a:p>
            <a:r>
              <a:rPr lang="en-US" sz="1400" dirty="0"/>
              <a:t>Source, </a:t>
            </a:r>
            <a:r>
              <a:rPr lang="en-US" sz="1400" dirty="0">
                <a:hlinkClick r:id="rId3"/>
              </a:rPr>
              <a:t>lecture notes by Dr. Sunnie S. Chung </a:t>
            </a:r>
            <a:endParaRPr lang="en-US" sz="1400" dirty="0"/>
          </a:p>
        </p:txBody>
      </p:sp>
      <p:pic>
        <p:nvPicPr>
          <p:cNvPr id="6" name="Picture 5">
            <a:extLst>
              <a:ext uri="{FF2B5EF4-FFF2-40B4-BE49-F238E27FC236}">
                <a16:creationId xmlns:a16="http://schemas.microsoft.com/office/drawing/2014/main" id="{89F09EC5-A545-502D-DC3F-2C6486EC7DD0}"/>
              </a:ext>
            </a:extLst>
          </p:cNvPr>
          <p:cNvPicPr>
            <a:picLocks noChangeAspect="1"/>
          </p:cNvPicPr>
          <p:nvPr/>
        </p:nvPicPr>
        <p:blipFill>
          <a:blip r:embed="rId4"/>
          <a:stretch>
            <a:fillRect/>
          </a:stretch>
        </p:blipFill>
        <p:spPr>
          <a:xfrm>
            <a:off x="6728579" y="1601997"/>
            <a:ext cx="4708677" cy="4598145"/>
          </a:xfrm>
          <a:prstGeom prst="rect">
            <a:avLst/>
          </a:prstGeom>
        </p:spPr>
      </p:pic>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73410E4D-0493-DFF6-FCAA-9DEA90442FA3}"/>
                  </a:ext>
                </a:extLst>
              </p:cNvPr>
              <p:cNvSpPr txBox="1">
                <a:spLocks/>
              </p:cNvSpPr>
              <p:nvPr/>
            </p:nvSpPr>
            <p:spPr>
              <a:xfrm>
                <a:off x="476098" y="1907828"/>
                <a:ext cx="5653769" cy="28147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400"/>
                  </a:spcBef>
                  <a:buFont typeface="Arial" panose="020B0604020202020204" pitchFamily="34" charset="0"/>
                  <a:buChar char="•"/>
                  <a:defRPr sz="2800" b="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n-lt"/>
                  </a:rPr>
                  <a:t>Apply inverse covariance,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𝑆</m:t>
                        </m:r>
                      </m:e>
                      <m:sup>
                        <m:r>
                          <a:rPr lang="en-US" i="1" smtClean="0">
                            <a:latin typeface="Cambria Math" panose="02040503050406030204" pitchFamily="18" charset="0"/>
                          </a:rPr>
                          <m:t>−1</m:t>
                        </m:r>
                      </m:sup>
                    </m:sSup>
                    <m:r>
                      <a:rPr lang="en-US" i="1" smtClean="0">
                        <a:latin typeface="Cambria Math" panose="02040503050406030204" pitchFamily="18" charset="0"/>
                      </a:rPr>
                      <m:t>,</m:t>
                    </m:r>
                  </m:oMath>
                </a14:m>
                <a:r>
                  <a:rPr lang="en-US" dirty="0">
                    <a:latin typeface="+mn-lt"/>
                  </a:rPr>
                  <a:t>  transformation </a:t>
                </a:r>
              </a:p>
              <a:p>
                <a:r>
                  <a:rPr lang="en-US" dirty="0">
                    <a:latin typeface="+mn-lt"/>
                  </a:rPr>
                  <a:t>Distances between two points are now </a:t>
                </a:r>
                <a:r>
                  <a:rPr lang="en-US" dirty="0" err="1">
                    <a:latin typeface="+mn-lt"/>
                  </a:rPr>
                  <a:t>Mahalanobis</a:t>
                </a:r>
                <a:r>
                  <a:rPr lang="en-US" dirty="0">
                    <a:latin typeface="+mn-lt"/>
                  </a:rPr>
                  <a:t> distances</a:t>
                </a:r>
                <a:endParaRPr lang="en-US"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𝑑</m:t>
                      </m:r>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en-US" sz="2400" i="1" smtClean="0">
                                  <a:latin typeface="Cambria Math" panose="02040503050406030204" pitchFamily="18" charset="0"/>
                                </a:rPr>
                                <m:t>𝑥</m:t>
                              </m:r>
                            </m:e>
                            <m:sup>
                              <m:r>
                                <a:rPr lang="en-US" sz="2400" i="1" smtClean="0">
                                  <a:latin typeface="Cambria Math" panose="02040503050406030204" pitchFamily="18" charset="0"/>
                                </a:rPr>
                                <m:t>′</m:t>
                              </m:r>
                            </m:sup>
                          </m:sSup>
                        </m:e>
                      </m:d>
                      <m:r>
                        <a:rPr lang="en-US" sz="2400" b="0" i="1" smtClean="0">
                          <a:latin typeface="Cambria Math" panose="02040503050406030204" pitchFamily="18" charset="0"/>
                        </a:rPr>
                        <m:t>=</m:t>
                      </m:r>
                      <m:rad>
                        <m:radPr>
                          <m:degHide m:val="on"/>
                          <m:ctrlPr>
                            <a:rPr lang="en-US" sz="2400" i="1">
                              <a:latin typeface="Cambria Math" panose="02040503050406030204" pitchFamily="18" charset="0"/>
                            </a:rPr>
                          </m:ctrlPr>
                        </m:radPr>
                        <m:deg/>
                        <m:e>
                          <m:sSup>
                            <m:sSupPr>
                              <m:ctrlPr>
                                <a:rPr lang="en-US" sz="2400" i="1">
                                  <a:latin typeface="Cambria Math" panose="02040503050406030204" pitchFamily="18" charset="0"/>
                                </a:rPr>
                              </m:ctrlPr>
                            </m:sSupPr>
                            <m:e>
                              <m:d>
                                <m:dPr>
                                  <m:ctrlPr>
                                    <a:rPr lang="en-US" sz="2400" i="1" smtClean="0">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sup>
                              <m:r>
                                <a:rPr lang="en-US" sz="2400" i="1">
                                  <a:latin typeface="Cambria Math" panose="02040503050406030204" pitchFamily="18" charset="0"/>
                                </a:rPr>
                                <m:t>𝑇</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−1</m:t>
                              </m:r>
                            </m:sup>
                          </m:sSup>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rad>
                    </m:oMath>
                  </m:oMathPara>
                </a14:m>
                <a:endParaRPr lang="en-US" sz="2400" dirty="0"/>
              </a:p>
              <a:p>
                <a:endParaRPr lang="en-US" dirty="0">
                  <a:latin typeface="+mn-lt"/>
                </a:endParaRPr>
              </a:p>
              <a:p>
                <a:endParaRPr lang="en-US" dirty="0">
                  <a:latin typeface="+mn-lt"/>
                </a:endParaRPr>
              </a:p>
              <a:p>
                <a:pPr marL="0" indent="0">
                  <a:buFont typeface="Arial" panose="020B0604020202020204" pitchFamily="34" charset="0"/>
                  <a:buNone/>
                </a:pPr>
                <a:endParaRPr lang="en-US" dirty="0">
                  <a:latin typeface="+mn-lt"/>
                </a:endParaRPr>
              </a:p>
            </p:txBody>
          </p:sp>
        </mc:Choice>
        <mc:Fallback xmlns="">
          <p:sp>
            <p:nvSpPr>
              <p:cNvPr id="7" name="Content Placeholder 2">
                <a:extLst>
                  <a:ext uri="{FF2B5EF4-FFF2-40B4-BE49-F238E27FC236}">
                    <a16:creationId xmlns:a16="http://schemas.microsoft.com/office/drawing/2014/main" id="{73410E4D-0493-DFF6-FCAA-9DEA90442FA3}"/>
                  </a:ext>
                </a:extLst>
              </p:cNvPr>
              <p:cNvSpPr txBox="1">
                <a:spLocks noRot="1" noChangeAspect="1" noMove="1" noResize="1" noEditPoints="1" noAdjustHandles="1" noChangeArrowheads="1" noChangeShapeType="1" noTextEdit="1"/>
              </p:cNvSpPr>
              <p:nvPr/>
            </p:nvSpPr>
            <p:spPr>
              <a:xfrm>
                <a:off x="476098" y="1907828"/>
                <a:ext cx="5653769" cy="2814740"/>
              </a:xfrm>
              <a:prstGeom prst="rect">
                <a:avLst/>
              </a:prstGeom>
              <a:blipFill>
                <a:blip r:embed="rId5"/>
                <a:stretch>
                  <a:fillRect l="-1940" t="-3680"/>
                </a:stretch>
              </a:blipFill>
            </p:spPr>
            <p:txBody>
              <a:bodyPr/>
              <a:lstStyle/>
              <a:p>
                <a:r>
                  <a:rPr lang="en-US">
                    <a:noFill/>
                  </a:rPr>
                  <a:t> </a:t>
                </a:r>
              </a:p>
            </p:txBody>
          </p:sp>
        </mc:Fallback>
      </mc:AlternateContent>
    </p:spTree>
    <p:extLst>
      <p:ext uri="{BB962C8B-B14F-4D97-AF65-F5344CB8AC3E}">
        <p14:creationId xmlns:p14="http://schemas.microsoft.com/office/powerpoint/2010/main" val="26864723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b="1" dirty="0">
                    <a:latin typeface="+mn-lt"/>
                  </a:rPr>
                  <a:t>Edit Distance</a:t>
                </a:r>
                <a:r>
                  <a:rPr lang="en-US" dirty="0">
                    <a:latin typeface="+mn-lt"/>
                  </a:rPr>
                  <a:t>: the number of edit operations required to </a:t>
                </a:r>
              </a:p>
              <a:p>
                <a:r>
                  <a:rPr lang="en-US" dirty="0">
                    <a:latin typeface="+mn-lt"/>
                  </a:rPr>
                  <a:t>Example: Consider two character vectors, strings:   </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r>
                  <a:rPr lang="en-US" dirty="0">
                    <a:latin typeface="+mn-lt"/>
                  </a:rPr>
                  <a:t>Changes required to have same characters in both strings:   </a:t>
                </a:r>
              </a:p>
              <a:p>
                <a:pPr marL="457200" lvl="1" indent="0">
                  <a:buNone/>
                </a:pPr>
                <a:r>
                  <a:rPr lang="en-US" dirty="0">
                    <a:latin typeface="+mn-lt"/>
                  </a:rPr>
                  <a:t>				3 – deletes, o, l, d</a:t>
                </a:r>
              </a:p>
              <a:p>
                <a:pPr marL="457200" lvl="1" indent="0">
                  <a:buNone/>
                </a:pPr>
                <a:r>
                  <a:rPr lang="en-US" dirty="0">
                    <a:latin typeface="+mn-lt"/>
                  </a:rPr>
                  <a:t>                                               3 – changes, c, a, t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latin typeface="+mn-lt"/>
                  </a:rPr>
                  <a:t> d, o, g</a:t>
                </a:r>
              </a:p>
              <a:p>
                <a:pPr marL="457200" lvl="1" indent="0">
                  <a:buNone/>
                </a:pPr>
                <a:r>
                  <a:rPr lang="en-US" dirty="0">
                    <a:latin typeface="+mn-lt"/>
                  </a:rPr>
                  <a:t>				edit distance </a:t>
                </a:r>
                <a14:m>
                  <m:oMath xmlns:m="http://schemas.openxmlformats.org/officeDocument/2006/math">
                    <m:r>
                      <a:rPr lang="en-US" b="0" i="1" smtClean="0">
                        <a:latin typeface="Cambria Math" panose="02040503050406030204" pitchFamily="18" charset="0"/>
                      </a:rPr>
                      <m:t>=3+3=6</m:t>
                    </m:r>
                  </m:oMath>
                </a14:m>
                <a:endParaRPr lang="en-US" dirty="0">
                  <a:latin typeface="+mn-lt"/>
                </a:endParaRPr>
              </a:p>
              <a:p>
                <a:r>
                  <a:rPr lang="en-US" dirty="0">
                    <a:latin typeface="+mn-lt"/>
                  </a:rPr>
                  <a:t>Many edit distance metrics can be applied:  </a:t>
                </a:r>
              </a:p>
              <a:p>
                <a:pPr lvl="1"/>
                <a:r>
                  <a:rPr lang="en-US" dirty="0">
                    <a:latin typeface="+mn-lt"/>
                  </a:rPr>
                  <a:t>Hamming distance </a:t>
                </a:r>
              </a:p>
              <a:p>
                <a:pPr lvl="1"/>
                <a:r>
                  <a:rPr lang="en-US" dirty="0" err="1">
                    <a:latin typeface="+mn-lt"/>
                    <a:hlinkClick r:id="rId3"/>
                  </a:rPr>
                  <a:t>Levenshtein</a:t>
                </a:r>
                <a:r>
                  <a:rPr lang="en-US" dirty="0">
                    <a:latin typeface="+mn-lt"/>
                    <a:hlinkClick r:id="rId3"/>
                  </a:rPr>
                  <a:t> distance</a:t>
                </a:r>
                <a:r>
                  <a:rPr lang="en-US" dirty="0">
                    <a:latin typeface="+mn-lt"/>
                  </a:rPr>
                  <a:t>   </a:t>
                </a:r>
              </a:p>
              <a:p>
                <a:pPr lvl="1"/>
                <a:r>
                  <a:rPr lang="en-US" dirty="0">
                    <a:latin typeface="+mn-lt"/>
                  </a:rPr>
                  <a:t>Longest common sequence</a:t>
                </a:r>
              </a:p>
              <a:p>
                <a:pPr lvl="1"/>
                <a:r>
                  <a:rPr lang="en-US" dirty="0">
                    <a:latin typeface="+mn-lt"/>
                  </a:rPr>
                  <a:t>…</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5269366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CAA5A-3FE0-F3FB-06AC-A7661F9486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71D76-016C-3FB5-A8FE-9FC3410DCC0B}"/>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27BFAB-84EF-2B31-8402-AFD79DB40099}"/>
                  </a:ext>
                </a:extLst>
              </p:cNvPr>
              <p:cNvSpPr>
                <a:spLocks noGrp="1"/>
              </p:cNvSpPr>
              <p:nvPr>
                <p:ph sz="quarter" idx="10"/>
              </p:nvPr>
            </p:nvSpPr>
            <p:spPr>
              <a:xfrm>
                <a:off x="333375" y="896079"/>
                <a:ext cx="11525250" cy="5698998"/>
              </a:xfrm>
            </p:spPr>
            <p:txBody>
              <a:bodyPr>
                <a:normAutofit/>
              </a:bodyPr>
              <a:lstStyle/>
              <a:p>
                <a:pPr marL="0" indent="0">
                  <a:buNone/>
                </a:pPr>
                <a:r>
                  <a:rPr lang="en-US" b="1" dirty="0">
                    <a:latin typeface="+mn-lt"/>
                    <a:hlinkClick r:id="rId3"/>
                  </a:rPr>
                  <a:t>Hamming Distance</a:t>
                </a:r>
                <a:r>
                  <a:rPr lang="en-US" dirty="0">
                    <a:latin typeface="+mn-lt"/>
                  </a:rPr>
                  <a:t>: the number of components in which two vectors differ   </a:t>
                </a:r>
              </a:p>
              <a:p>
                <a:r>
                  <a:rPr lang="en-US" dirty="0">
                    <a:latin typeface="+mn-lt"/>
                  </a:rPr>
                  <a:t>Example: Consider two binary vectors:   </a:t>
                </a:r>
              </a:p>
              <a:p>
                <a:pPr marL="457200" lvl="1" indent="0">
                  <a:buNone/>
                </a:pPr>
                <a:r>
                  <a:rPr lang="en-US" dirty="0">
                    <a:latin typeface="+mn-lt"/>
                  </a:rPr>
                  <a:t> x =  0 1 1 </a:t>
                </a:r>
                <a:r>
                  <a:rPr lang="en-US" dirty="0">
                    <a:solidFill>
                      <a:srgbClr val="C00000"/>
                    </a:solidFill>
                    <a:latin typeface="+mn-lt"/>
                  </a:rPr>
                  <a:t>0</a:t>
                </a:r>
                <a:r>
                  <a:rPr lang="en-US" dirty="0">
                    <a:latin typeface="+mn-lt"/>
                  </a:rPr>
                  <a:t> 0 0 </a:t>
                </a:r>
                <a:r>
                  <a:rPr lang="en-US" dirty="0">
                    <a:solidFill>
                      <a:srgbClr val="C00000"/>
                    </a:solidFill>
                    <a:latin typeface="+mn-lt"/>
                  </a:rPr>
                  <a:t>1</a:t>
                </a:r>
                <a:r>
                  <a:rPr lang="en-US" dirty="0">
                    <a:latin typeface="+mn-lt"/>
                  </a:rPr>
                  <a:t> 0 1 0 1</a:t>
                </a:r>
              </a:p>
              <a:p>
                <a:pPr marL="457200" lvl="1" indent="0">
                  <a:buNone/>
                </a:pPr>
                <a:r>
                  <a:rPr lang="en-US" dirty="0">
                    <a:latin typeface="+mn-lt"/>
                  </a:rPr>
                  <a:t> x’ = 0 1 1 </a:t>
                </a:r>
                <a:r>
                  <a:rPr lang="en-US" dirty="0">
                    <a:solidFill>
                      <a:srgbClr val="C00000"/>
                    </a:solidFill>
                    <a:latin typeface="+mn-lt"/>
                  </a:rPr>
                  <a:t>1</a:t>
                </a:r>
                <a:r>
                  <a:rPr lang="en-US" dirty="0">
                    <a:latin typeface="+mn-lt"/>
                  </a:rPr>
                  <a:t> 0 0 </a:t>
                </a:r>
                <a:r>
                  <a:rPr lang="en-US" dirty="0">
                    <a:solidFill>
                      <a:srgbClr val="C00000"/>
                    </a:solidFill>
                    <a:latin typeface="+mn-lt"/>
                  </a:rPr>
                  <a:t>0</a:t>
                </a:r>
                <a:r>
                  <a:rPr lang="en-US" dirty="0">
                    <a:latin typeface="+mn-lt"/>
                  </a:rPr>
                  <a:t> 0 1 0 1</a:t>
                </a:r>
              </a:p>
              <a:p>
                <a:pPr marL="457200" lvl="1" indent="0">
                  <a:buNone/>
                </a:pPr>
                <a:r>
                  <a:rPr lang="en-US" dirty="0">
                    <a:latin typeface="+mn-lt"/>
                  </a:rPr>
                  <a:t>Hamming distance,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𝐻</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=2</m:t>
                    </m:r>
                  </m:oMath>
                </a14:m>
                <a:endParaRPr lang="en-US" dirty="0">
                  <a:latin typeface="+mn-lt"/>
                </a:endParaRPr>
              </a:p>
              <a:p>
                <a:r>
                  <a:rPr lang="en-US" dirty="0">
                    <a:latin typeface="+mn-lt"/>
                  </a:rPr>
                  <a:t>Example: Consider two strings:  </a:t>
                </a:r>
              </a:p>
              <a:p>
                <a:pPr marL="457200" lvl="1" indent="0">
                  <a:buNone/>
                </a:pPr>
                <a:r>
                  <a:rPr lang="en-US" dirty="0">
                    <a:latin typeface="+mn-lt"/>
                  </a:rPr>
                  <a:t>x = </a:t>
                </a:r>
                <a:r>
                  <a:rPr lang="en-US" dirty="0" err="1">
                    <a:latin typeface="+mn-lt"/>
                  </a:rPr>
                  <a:t>thisismy</a:t>
                </a:r>
                <a:r>
                  <a:rPr lang="en-US" dirty="0" err="1">
                    <a:solidFill>
                      <a:srgbClr val="C00000"/>
                    </a:solidFill>
                    <a:latin typeface="+mn-lt"/>
                  </a:rPr>
                  <a:t>dog</a:t>
                </a:r>
                <a:endParaRPr lang="en-US" dirty="0">
                  <a:solidFill>
                    <a:srgbClr val="C00000"/>
                  </a:solidFill>
                  <a:latin typeface="+mn-lt"/>
                </a:endParaRPr>
              </a:p>
              <a:p>
                <a:pPr marL="457200" lvl="1" indent="0">
                  <a:buNone/>
                </a:pPr>
                <a:r>
                  <a:rPr lang="en-US" dirty="0">
                    <a:latin typeface="+mn-lt"/>
                  </a:rPr>
                  <a:t>x’ = </a:t>
                </a:r>
                <a:r>
                  <a:rPr lang="en-US" dirty="0" err="1">
                    <a:latin typeface="+mn-lt"/>
                  </a:rPr>
                  <a:t>thisismy</a:t>
                </a:r>
                <a:r>
                  <a:rPr lang="en-US" dirty="0" err="1">
                    <a:solidFill>
                      <a:srgbClr val="C00000"/>
                    </a:solidFill>
                    <a:latin typeface="+mn-lt"/>
                  </a:rPr>
                  <a:t>cat</a:t>
                </a:r>
                <a:endParaRPr lang="en-US" dirty="0">
                  <a:latin typeface="+mn-lt"/>
                </a:endParaRPr>
              </a:p>
              <a:p>
                <a:pPr marL="457200" lvl="1" indent="0">
                  <a:buNone/>
                </a:pPr>
                <a:r>
                  <a:rPr lang="en-US" dirty="0">
                    <a:latin typeface="+mn-lt"/>
                  </a:rPr>
                  <a:t>Hamming distance</a:t>
                </a:r>
                <a:r>
                  <a:rPr lang="en-US" sz="2000"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𝐻</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=3</m:t>
                    </m:r>
                  </m:oMath>
                </a14:m>
                <a:r>
                  <a:rPr lang="en-US" dirty="0">
                    <a:latin typeface="+mn-lt"/>
                  </a:rPr>
                  <a:t> </a:t>
                </a:r>
              </a:p>
              <a:p>
                <a:r>
                  <a:rPr lang="en-US" dirty="0">
                    <a:latin typeface="+mn-lt"/>
                  </a:rPr>
                  <a:t>Hamming distance only defined for vectors of equal length</a:t>
                </a:r>
              </a:p>
            </p:txBody>
          </p:sp>
        </mc:Choice>
        <mc:Fallback xmlns="">
          <p:sp>
            <p:nvSpPr>
              <p:cNvPr id="3" name="Content Placeholder 2">
                <a:extLst>
                  <a:ext uri="{FF2B5EF4-FFF2-40B4-BE49-F238E27FC236}">
                    <a16:creationId xmlns:a16="http://schemas.microsoft.com/office/drawing/2014/main" id="{C327BFAB-84EF-2B31-8402-AFD79DB40099}"/>
                  </a:ext>
                </a:extLst>
              </p:cNvPr>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614147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distance can be computed for numeric variables in p dimensions</a:t>
                </a:r>
              </a:p>
              <a:p>
                <a:r>
                  <a:rPr lang="en-US" dirty="0">
                    <a:latin typeface="+mn-lt"/>
                  </a:rPr>
                  <a:t>Do all p dimensions matter equally in determining dissimilarity? </a:t>
                </a:r>
              </a:p>
              <a:p>
                <a:r>
                  <a:rPr lang="en-US" dirty="0">
                    <a:latin typeface="+mn-lt"/>
                  </a:rPr>
                  <a:t>No!</a:t>
                </a:r>
              </a:p>
              <a:p>
                <a:r>
                  <a:rPr lang="en-US" dirty="0">
                    <a:latin typeface="+mn-lt"/>
                  </a:rPr>
                  <a:t>The weights, </a:t>
                </a:r>
                <a:r>
                  <a:rPr lang="en-US" i="1" dirty="0" err="1">
                    <a:latin typeface="+mn-lt"/>
                  </a:rPr>
                  <a:t>w</a:t>
                </a:r>
                <a:r>
                  <a:rPr lang="en-US" i="1" baseline="-25000" dirty="0" err="1">
                    <a:latin typeface="+mn-lt"/>
                  </a:rPr>
                  <a:t>i</a:t>
                </a:r>
                <a:r>
                  <a:rPr lang="en-US" dirty="0">
                    <a:latin typeface="+mn-lt"/>
                  </a:rPr>
                  <a:t>, can be set for the dimensions of the attributes</a:t>
                </a:r>
              </a:p>
              <a:p>
                <a:pPr lvl="1"/>
                <a:r>
                  <a:rPr lang="en-US" dirty="0">
                    <a:latin typeface="+mn-lt"/>
                  </a:rPr>
                  <a:t>Weights must add to 1.0:  </a:t>
                </a:r>
                <a14:m>
                  <m:oMath xmlns:m="http://schemas.openxmlformats.org/officeDocument/2006/math">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=1.0</m:t>
                        </m:r>
                      </m:e>
                    </m:nary>
                  </m:oMath>
                </a14:m>
                <a:r>
                  <a:rPr lang="en-US" dirty="0">
                    <a:latin typeface="+mn-lt"/>
                  </a:rPr>
                  <a:t> </a:t>
                </a:r>
              </a:p>
              <a:p>
                <a:r>
                  <a:rPr lang="en-US" dirty="0">
                    <a:latin typeface="+mn-lt"/>
                  </a:rPr>
                  <a:t>Why use weights?</a:t>
                </a:r>
              </a:p>
              <a:p>
                <a:pPr lvl="1"/>
                <a:r>
                  <a:rPr lang="en-US" dirty="0">
                    <a:latin typeface="+mn-lt"/>
                  </a:rPr>
                  <a:t>Attributes (dimensions) may not have equal importance</a:t>
                </a:r>
              </a:p>
              <a:p>
                <a:pPr lvl="1"/>
                <a:r>
                  <a:rPr lang="en-US" dirty="0">
                    <a:latin typeface="+mn-lt"/>
                  </a:rPr>
                  <a:t>Example; do the distance I have to walk and the calories of my take-out order have the same importance in selecting where I get my food? </a:t>
                </a:r>
              </a:p>
              <a:p>
                <a:pPr lvl="1"/>
                <a:r>
                  <a:rPr lang="en-US" dirty="0">
                    <a:latin typeface="+mn-lt"/>
                  </a:rPr>
                  <a:t>Perhaps, the calories matter more to me in determining dissimilarity between restaurants?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476"/>
                </a:stretch>
              </a:blipFill>
            </p:spPr>
            <p:txBody>
              <a:bodyPr/>
              <a:lstStyle/>
              <a:p>
                <a:r>
                  <a:rPr lang="en-US">
                    <a:noFill/>
                  </a:rPr>
                  <a:t> </a:t>
                </a:r>
              </a:p>
            </p:txBody>
          </p:sp>
        </mc:Fallback>
      </mc:AlternateContent>
    </p:spTree>
    <p:extLst>
      <p:ext uri="{BB962C8B-B14F-4D97-AF65-F5344CB8AC3E}">
        <p14:creationId xmlns:p14="http://schemas.microsoft.com/office/powerpoint/2010/main" val="2719354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distance can be computed for numeric variables in p dimensions</a:t>
                </a:r>
              </a:p>
              <a:p>
                <a:r>
                  <a:rPr lang="en-US" dirty="0">
                    <a:latin typeface="+mn-lt"/>
                  </a:rPr>
                  <a:t>Numeric variable generally standardized before performing unsupervised learning</a:t>
                </a:r>
              </a:p>
              <a:p>
                <a:r>
                  <a:rPr lang="en-US" dirty="0">
                    <a:latin typeface="+mn-lt"/>
                  </a:rPr>
                  <a:t>Like most ML algorithms, the importance of a variable should not be determined by the numeric range</a:t>
                </a:r>
              </a:p>
              <a:p>
                <a:r>
                  <a:rPr lang="en-US" dirty="0">
                    <a:latin typeface="+mn-lt"/>
                  </a:rPr>
                  <a:t>A useful default is to set the weights, </a:t>
                </a:r>
                <a:r>
                  <a:rPr lang="en-US" i="1" dirty="0" err="1">
                    <a:latin typeface="+mn-lt"/>
                  </a:rPr>
                  <a:t>w</a:t>
                </a:r>
                <a:r>
                  <a:rPr lang="en-US" i="1" baseline="-25000" dirty="0" err="1">
                    <a:latin typeface="+mn-lt"/>
                  </a:rPr>
                  <a:t>i</a:t>
                </a:r>
                <a:r>
                  <a:rPr lang="en-US" dirty="0">
                    <a:latin typeface="+mn-lt"/>
                  </a:rPr>
                  <a:t>, to standardize the variance of </a:t>
                </a:r>
                <a:r>
                  <a:rPr lang="en-US" i="1" dirty="0">
                    <a:latin typeface="+mn-lt"/>
                  </a:rPr>
                  <a:t>p </a:t>
                </a:r>
                <a:r>
                  <a:rPr lang="en-US" dirty="0">
                    <a:latin typeface="+mn-lt"/>
                  </a:rPr>
                  <a:t>variables with </a:t>
                </a:r>
                <a14:m>
                  <m:oMath xmlns:m="http://schemas.openxmlformats.org/officeDocument/2006/math">
                    <m:r>
                      <a:rPr lang="en-US" b="0" i="1" smtClean="0">
                        <a:latin typeface="Cambria Math" panose="02040503050406030204" pitchFamily="18" charset="0"/>
                      </a:rPr>
                      <m:t>𝑛</m:t>
                    </m:r>
                  </m:oMath>
                </a14:m>
                <a:r>
                  <a:rPr lang="en-US" dirty="0">
                    <a:latin typeface="+mn-lt"/>
                  </a:rPr>
                  <a:t> samples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𝜎</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den>
                      </m:f>
                      <m:r>
                        <a:rPr lang="en-US" b="0" i="1" smtClean="0">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𝑥</m:t>
                              </m:r>
                            </m:e>
                            <m:sub>
                              <m:r>
                                <a:rPr lang="en-US" b="0" i="1" smtClean="0">
                                  <a:latin typeface="Cambria Math" panose="02040503050406030204" pitchFamily="18" charset="0"/>
                                </a:rPr>
                                <m:t>𝑗</m:t>
                              </m:r>
                            </m:sub>
                            <m:sup>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sup>
                                  <m:d>
                                    <m:dPr>
                                      <m:ctrlPr>
                                        <a:rPr lang="en-US" b="0" i="1" smtClean="0">
                                          <a:latin typeface="Cambria Math" panose="02040503050406030204" pitchFamily="18" charset="0"/>
                                        </a:rPr>
                                      </m:ctrlPr>
                                    </m:dPr>
                                    <m:e>
                                      <m:r>
                                        <a:rPr lang="en-US" b="0" i="1" smtClean="0">
                                          <a:latin typeface="Cambria Math" panose="02040503050406030204" pitchFamily="18" charset="0"/>
                                        </a:rPr>
                                        <m:t>𝑖</m:t>
                                      </m:r>
                                    </m:e>
                                  </m:d>
                                </m:sup>
                              </m:sSup>
                            </m:e>
                            <m:sub>
                              <m:r>
                                <a:rPr lang="en-US" b="0" i="1" smtClean="0">
                                  <a:latin typeface="Cambria Math" panose="02040503050406030204" pitchFamily="18" charset="0"/>
                                </a:rPr>
                                <m:t> </m:t>
                              </m:r>
                            </m:sub>
                          </m:sSub>
                          <m:r>
                            <a:rPr lang="en-US" b="0" i="1" smtClean="0">
                              <a:latin typeface="Cambria Math" panose="02040503050406030204" pitchFamily="18" charset="0"/>
                            </a:rPr>
                            <m:t>,  </m:t>
                          </m:r>
                          <m:r>
                            <a:rPr lang="en-US" b="0" i="1" smtClean="0">
                              <a:latin typeface="Cambria Math" panose="02040503050406030204" pitchFamily="18" charset="0"/>
                            </a:rPr>
                            <m:t>𝑟</m:t>
                          </m:r>
                          <m:r>
                            <a:rPr lang="en-US" b="0" i="1" smtClean="0">
                              <a:latin typeface="Cambria Math" panose="02040503050406030204" pitchFamily="18" charset="0"/>
                            </a:rPr>
                            <m:t>=</m:t>
                          </m:r>
                        </m:e>
                      </m:nary>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e>
                      </m:nary>
                    </m:oMath>
                  </m:oMathPara>
                </a14:m>
                <a:endParaRPr lang="en-US" dirty="0">
                  <a:latin typeface="+mn-lt"/>
                </a:endParaRPr>
              </a:p>
              <a:p>
                <a:pPr marL="914400" lvl="2" indent="0">
                  <a:buNone/>
                </a:pPr>
                <a14:m>
                  <m:oMath xmlns:m="http://schemas.openxmlformats.org/officeDocument/2006/math">
                    <m:r>
                      <a:rPr lang="en-US" sz="2400" i="1">
                        <a:latin typeface="Cambria Math" panose="02040503050406030204" pitchFamily="18" charset="0"/>
                      </a:rPr>
                      <m:t>𝑟</m:t>
                    </m:r>
                  </m:oMath>
                </a14:m>
                <a:r>
                  <a:rPr lang="en-US" sz="2400" dirty="0">
                    <a:latin typeface="+mn-lt"/>
                  </a:rPr>
                  <a:t> is an optional normalization to ensure the weights sum to 1.0 </a:t>
                </a:r>
              </a:p>
              <a:p>
                <a:r>
                  <a:rPr lang="en-US" dirty="0">
                    <a:latin typeface="+mn-lt"/>
                  </a:rPr>
                  <a:t>Or, set weights to have meaning from the problem</a:t>
                </a:r>
              </a:p>
              <a:p>
                <a:pPr lvl="1"/>
                <a:r>
                  <a:rPr lang="en-US" dirty="0">
                    <a:latin typeface="+mn-lt"/>
                  </a:rPr>
                  <a:t>Requires domain knowledge</a:t>
                </a:r>
              </a:p>
              <a:p>
                <a:pPr marL="0" indent="0">
                  <a:buNone/>
                </a:pPr>
                <a:endParaRPr lang="en-US" dirty="0">
                  <a:latin typeface="+mn-lt"/>
                </a:endParaRPr>
              </a:p>
              <a:p>
                <a:pPr lvl="1"/>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2460" r="-476" b="-2246"/>
                </a:stretch>
              </a:blipFill>
            </p:spPr>
            <p:txBody>
              <a:bodyPr/>
              <a:lstStyle/>
              <a:p>
                <a:r>
                  <a:rPr lang="en-US">
                    <a:noFill/>
                  </a:rPr>
                  <a:t> </a:t>
                </a:r>
              </a:p>
            </p:txBody>
          </p:sp>
        </mc:Fallback>
      </mc:AlternateContent>
    </p:spTree>
    <p:extLst>
      <p:ext uri="{BB962C8B-B14F-4D97-AF65-F5344CB8AC3E}">
        <p14:creationId xmlns:p14="http://schemas.microsoft.com/office/powerpoint/2010/main" val="52061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DC5BD-B3A3-C99F-0887-002DA20A2A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8A6821-C427-2AF4-FA24-400A92C0ADF2}"/>
              </a:ext>
            </a:extLst>
          </p:cNvPr>
          <p:cNvSpPr>
            <a:spLocks noGrp="1"/>
          </p:cNvSpPr>
          <p:nvPr>
            <p:ph type="title"/>
          </p:nvPr>
        </p:nvSpPr>
        <p:spPr>
          <a:xfrm>
            <a:off x="831850" y="1709738"/>
            <a:ext cx="10515600" cy="2104337"/>
          </a:xfrm>
        </p:spPr>
        <p:txBody>
          <a:bodyPr/>
          <a:lstStyle/>
          <a:p>
            <a:pPr algn="ctr"/>
            <a:r>
              <a:rPr lang="en-US" b="1" dirty="0"/>
              <a:t>Distance Metrics with Mixed Variable Types</a:t>
            </a:r>
          </a:p>
        </p:txBody>
      </p:sp>
    </p:spTree>
    <p:extLst>
      <p:ext uri="{BB962C8B-B14F-4D97-AF65-F5344CB8AC3E}">
        <p14:creationId xmlns:p14="http://schemas.microsoft.com/office/powerpoint/2010/main" val="28378349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ordinal variables</a:t>
                </a:r>
                <a:r>
                  <a:rPr lang="en-US" dirty="0">
                    <a:latin typeface="+mn-lt"/>
                  </a:rPr>
                  <a:t>? </a:t>
                </a:r>
              </a:p>
              <a:p>
                <a:pPr lvl="1"/>
                <a:r>
                  <a:rPr lang="en-US" dirty="0">
                    <a:latin typeface="+mn-lt"/>
                  </a:rPr>
                  <a:t>Star ratings, e.g. 1 to 5 stars</a:t>
                </a:r>
              </a:p>
              <a:p>
                <a:pPr lvl="1"/>
                <a:r>
                  <a:rPr lang="en-US" dirty="0">
                    <a:latin typeface="+mn-lt"/>
                  </a:rPr>
                  <a:t>Dollar range, $, $$, $$$, $$$$</a:t>
                </a:r>
              </a:p>
              <a:p>
                <a:r>
                  <a:rPr lang="en-US" dirty="0">
                    <a:latin typeface="+mn-lt"/>
                  </a:rPr>
                  <a:t>Base </a:t>
                </a:r>
                <a:r>
                  <a:rPr lang="en-US" b="1" dirty="0">
                    <a:latin typeface="+mn-lt"/>
                  </a:rPr>
                  <a:t>ordinal dissimilarity </a:t>
                </a:r>
                <a:r>
                  <a:rPr lang="en-US" dirty="0">
                    <a:latin typeface="+mn-lt"/>
                  </a:rPr>
                  <a:t>on </a:t>
                </a:r>
                <a:r>
                  <a:rPr lang="en-US" b="1" dirty="0">
                    <a:latin typeface="+mn-lt"/>
                  </a:rPr>
                  <a:t>rank</a:t>
                </a:r>
                <a:r>
                  <a:rPr lang="en-US" dirty="0">
                    <a:latin typeface="+mn-lt"/>
                  </a:rPr>
                  <a:t> </a:t>
                </a:r>
                <a:r>
                  <a:rPr lang="en-US" b="1" dirty="0">
                    <a:latin typeface="+mn-lt"/>
                  </a:rPr>
                  <a:t>differences</a:t>
                </a:r>
              </a:p>
              <a:p>
                <a:pPr lvl="1"/>
                <a:r>
                  <a:rPr lang="en-US" dirty="0">
                    <a:latin typeface="+mn-lt"/>
                  </a:rPr>
                  <a:t>Let 1 star = 1, 2 star = 2, 3 star = 3, 4 star = 4, and 5 star = 5</a:t>
                </a:r>
              </a:p>
              <a:p>
                <a:pPr lvl="1"/>
                <a:r>
                  <a:rPr lang="en-US" dirty="0">
                    <a:latin typeface="+mn-lt"/>
                  </a:rPr>
                  <a:t>The distance between a 2 star and 4 star restaurant is 2</a:t>
                </a:r>
              </a:p>
              <a:p>
                <a:r>
                  <a:rPr lang="en-US" dirty="0">
                    <a:latin typeface="+mn-lt"/>
                  </a:rPr>
                  <a:t>Or in normalized form with </a:t>
                </a:r>
                <a:r>
                  <a:rPr lang="en-US" i="1" dirty="0">
                    <a:latin typeface="+mn-lt"/>
                  </a:rPr>
                  <a:t>M  </a:t>
                </a:r>
                <a:r>
                  <a:rPr lang="en-US" dirty="0">
                    <a:latin typeface="+mn-lt"/>
                  </a:rPr>
                  <a:t>possible levels, and ranks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oMath>
                </a14:m>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b="0" i="1" smtClean="0">
                                  <a:latin typeface="Cambria Math" panose="02040503050406030204" pitchFamily="18" charset="0"/>
                                </a:rPr>
                                <m:t>′</m:t>
                              </m:r>
                            </m:e>
                            <m:sub>
                              <m:r>
                                <a:rPr lang="en-US" i="1">
                                  <a:latin typeface="Cambria Math" panose="02040503050406030204" pitchFamily="18" charset="0"/>
                                </a:rPr>
                                <m:t>𝑖</m:t>
                              </m:r>
                            </m:sub>
                          </m:sSub>
                        </m:e>
                      </m:d>
                      <m:r>
                        <a:rPr lang="en-US" b="0" i="0"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num>
                        <m:den>
                          <m:r>
                            <a:rPr lang="en-US" b="0" i="1" smtClean="0">
                              <a:latin typeface="Cambria Math" panose="02040503050406030204" pitchFamily="18" charset="0"/>
                            </a:rPr>
                            <m:t>𝑀</m:t>
                          </m:r>
                          <m:r>
                            <a:rPr lang="en-US" b="0" i="1" smtClean="0">
                              <a:latin typeface="Cambria Math" panose="02040503050406030204" pitchFamily="18" charset="0"/>
                            </a:rPr>
                            <m:t>−1</m:t>
                          </m:r>
                        </m:den>
                      </m:f>
                    </m:oMath>
                  </m:oMathPara>
                </a14:m>
                <a:endParaRPr lang="en-US" b="0" dirty="0">
                  <a:latin typeface="+mn-lt"/>
                </a:endParaRPr>
              </a:p>
              <a:p>
                <a:r>
                  <a:rPr lang="en-US" dirty="0">
                    <a:latin typeface="+mn-lt"/>
                  </a:rPr>
                  <a:t>On a 5-star scale, the dissimilarity between a 3 star and 5 star restaurant:</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3−5</m:t>
                              </m:r>
                            </m:e>
                          </m:d>
                        </m:num>
                        <m:den>
                          <m:r>
                            <a:rPr lang="en-US" b="0" i="1" smtClean="0">
                              <a:latin typeface="Cambria Math" panose="02040503050406030204" pitchFamily="18" charset="0"/>
                            </a:rPr>
                            <m:t>4</m:t>
                          </m:r>
                        </m:den>
                      </m:f>
                      <m:r>
                        <a:rPr lang="en-US" b="0" i="0" smtClean="0">
                          <a:latin typeface="Cambria Math" panose="02040503050406030204" pitchFamily="18" charset="0"/>
                        </a:rPr>
                        <m:t>=0.5</m:t>
                      </m:r>
                    </m:oMath>
                  </m:oMathPara>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499509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unordered categorical variables</a:t>
            </a:r>
            <a:r>
              <a:rPr lang="en-US" dirty="0">
                <a:latin typeface="+mn-lt"/>
              </a:rPr>
              <a:t>? </a:t>
            </a:r>
          </a:p>
          <a:p>
            <a:r>
              <a:rPr lang="en-US" dirty="0">
                <a:latin typeface="+mn-lt"/>
              </a:rPr>
              <a:t>Use a coding scheme</a:t>
            </a:r>
          </a:p>
          <a:p>
            <a:pPr lvl="1"/>
            <a:r>
              <a:rPr lang="en-US" sz="2800" dirty="0">
                <a:latin typeface="+mn-lt"/>
              </a:rPr>
              <a:t>e.g. a binary scheme, 1 if different categories, 0 if the same</a:t>
            </a:r>
          </a:p>
          <a:p>
            <a:pPr lvl="1"/>
            <a:r>
              <a:rPr lang="en-US" sz="2800" dirty="0">
                <a:latin typeface="+mn-lt"/>
              </a:rPr>
              <a:t>Optionally, normalize</a:t>
            </a:r>
          </a:p>
          <a:p>
            <a:pPr lvl="1"/>
            <a:r>
              <a:rPr lang="en-US" sz="2800" dirty="0">
                <a:latin typeface="+mn-lt"/>
              </a:rPr>
              <a:t>e.g., normalize by dividing by number of categories</a:t>
            </a:r>
          </a:p>
          <a:p>
            <a:r>
              <a:rPr lang="en-US" dirty="0">
                <a:latin typeface="+mn-lt"/>
              </a:rPr>
              <a:t>Example; restaurant type with 5 choices:</a:t>
            </a:r>
          </a:p>
          <a:p>
            <a:pPr lvl="1"/>
            <a:r>
              <a:rPr lang="en-US" sz="2800" dirty="0">
                <a:latin typeface="+mn-lt"/>
              </a:rPr>
              <a:t>Vegetarian, Thai, Mexican, Pizza, Burgers</a:t>
            </a:r>
          </a:p>
          <a:p>
            <a:pPr lvl="1"/>
            <a:r>
              <a:rPr lang="en-US" sz="2800" dirty="0">
                <a:latin typeface="+mn-lt"/>
              </a:rPr>
              <a:t>Distance Vegetarian to Burgers = 1/5 = 0.2</a:t>
            </a:r>
          </a:p>
          <a:p>
            <a:pPr lvl="1"/>
            <a:r>
              <a:rPr lang="en-US" sz="2800" dirty="0">
                <a:latin typeface="+mn-lt"/>
              </a:rPr>
              <a:t>Distance Burgers to Burgers = 0</a:t>
            </a:r>
          </a:p>
          <a:p>
            <a:pPr lvl="1"/>
            <a:r>
              <a:rPr lang="en-US" sz="2800" dirty="0">
                <a:latin typeface="+mn-lt"/>
              </a:rPr>
              <a:t>The distance between any dissimilar categories must be equal</a:t>
            </a:r>
          </a:p>
          <a:p>
            <a:r>
              <a:rPr lang="en-US" dirty="0">
                <a:latin typeface="+mn-lt"/>
              </a:rPr>
              <a:t>Can have more complex scheme if required</a:t>
            </a:r>
          </a:p>
        </p:txBody>
      </p:sp>
    </p:spTree>
    <p:extLst>
      <p:ext uri="{BB962C8B-B14F-4D97-AF65-F5344CB8AC3E}">
        <p14:creationId xmlns:p14="http://schemas.microsoft.com/office/powerpoint/2010/main" val="1325599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Can we combine dissimilarities of different types of variables</a:t>
            </a:r>
          </a:p>
          <a:p>
            <a:r>
              <a:rPr lang="en-US" dirty="0">
                <a:latin typeface="+mn-lt"/>
              </a:rPr>
              <a:t>Yes, but with carefully!</a:t>
            </a:r>
          </a:p>
          <a:p>
            <a:r>
              <a:rPr lang="en-US" dirty="0">
                <a:latin typeface="+mn-lt"/>
              </a:rPr>
              <a:t>Scaling important, or some variable types dominate as a result of coding</a:t>
            </a:r>
          </a:p>
          <a:p>
            <a:pPr lvl="1"/>
            <a:r>
              <a:rPr lang="en-US" dirty="0">
                <a:latin typeface="+mn-lt"/>
              </a:rPr>
              <a:t>The numeric range of values must be similar</a:t>
            </a:r>
          </a:p>
          <a:p>
            <a:pPr lvl="1"/>
            <a:r>
              <a:rPr lang="en-US" dirty="0">
                <a:latin typeface="+mn-lt"/>
              </a:rPr>
              <a:t>e.g. We do not want ordinal variables to dominate numeric and categorical</a:t>
            </a:r>
          </a:p>
          <a:p>
            <a:r>
              <a:rPr lang="en-US" dirty="0">
                <a:latin typeface="+mn-lt"/>
              </a:rPr>
              <a:t>But, weighting is problem dependent!</a:t>
            </a:r>
          </a:p>
          <a:p>
            <a:pPr lvl="1"/>
            <a:r>
              <a:rPr lang="en-US" dirty="0">
                <a:latin typeface="+mn-lt"/>
              </a:rPr>
              <a:t>Unfortunately, no simple procedure for correct weighting</a:t>
            </a:r>
          </a:p>
          <a:p>
            <a:pPr lvl="1"/>
            <a:r>
              <a:rPr lang="en-US" dirty="0">
                <a:latin typeface="+mn-lt"/>
              </a:rPr>
              <a:t>Do I care more about the (ordinal) star rating or calories of the meal (numeric) when choosing a restaurant? </a:t>
            </a:r>
          </a:p>
          <a:p>
            <a:pPr lvl="1"/>
            <a:endParaRPr lang="en-US" dirty="0">
              <a:latin typeface="+mn-lt"/>
            </a:endParaRPr>
          </a:p>
          <a:p>
            <a:pPr marL="0" indent="0">
              <a:buNone/>
            </a:pPr>
            <a:r>
              <a:rPr lang="en-US" sz="2400" i="1" dirty="0">
                <a:latin typeface="+mn-lt"/>
              </a:rPr>
              <a:t>Important Note: There is some controversy around methodology for combining distance metrics of different data types. Some textbooks and theoreticians say combining types should never be done. Pragmatists realize we must do something, even if questionable. </a:t>
            </a:r>
          </a:p>
        </p:txBody>
      </p:sp>
    </p:spTree>
    <p:extLst>
      <p:ext uri="{BB962C8B-B14F-4D97-AF65-F5344CB8AC3E}">
        <p14:creationId xmlns:p14="http://schemas.microsoft.com/office/powerpoint/2010/main" val="2216943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92100" y="937010"/>
            <a:ext cx="11983041" cy="5698998"/>
          </a:xfrm>
        </p:spPr>
        <p:txBody>
          <a:bodyPr>
            <a:normAutofit/>
          </a:bodyPr>
          <a:lstStyle/>
          <a:p>
            <a:r>
              <a:rPr lang="en-US" dirty="0">
                <a:latin typeface="+mn-lt"/>
              </a:rPr>
              <a:t>An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Absolute dissimilarity between R1 and R4, a Mexican and vegetarian restaurant</a:t>
            </a:r>
          </a:p>
          <a:p>
            <a:pPr marL="0" indent="0">
              <a:buNone/>
            </a:pPr>
            <a:r>
              <a:rPr lang="en-US" sz="2400" dirty="0">
                <a:latin typeface="+mn-lt"/>
              </a:rPr>
              <a:t>[¼ + |0.8-0.3| + |0.7-0.1| + |3-1|/2 + |5-4|/4]/5 = [0.25 + 0.5 + 0.6 + 0.5 + 0.25]/5 = </a:t>
            </a:r>
            <a:r>
              <a:rPr lang="en-US" sz="2400" b="1" dirty="0">
                <a:latin typeface="+mn-lt"/>
              </a:rPr>
              <a:t>0.42</a:t>
            </a:r>
          </a:p>
          <a:p>
            <a:r>
              <a:rPr lang="en-US" dirty="0">
                <a:latin typeface="+mn-lt"/>
              </a:rPr>
              <a:t>Absolute dissimilarity between R2 and R3, two pizza places</a:t>
            </a:r>
          </a:p>
          <a:p>
            <a:pPr marL="0" indent="0">
              <a:buNone/>
            </a:pPr>
            <a:r>
              <a:rPr lang="en-US" sz="2400" dirty="0">
                <a:latin typeface="+mn-lt"/>
              </a:rPr>
              <a:t>[0 + |0.9-0.8| + |0.6-0.4| + |2-3|/2 + |4-3|/4]/5 = [0 + 0.1 + 0.2 + 0.5 + 0.25]/5 = </a:t>
            </a:r>
            <a:r>
              <a:rPr lang="en-US" sz="2400" b="1" dirty="0">
                <a:latin typeface="+mn-lt"/>
              </a:rPr>
              <a:t>0.21</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3180248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08958" y="896079"/>
            <a:ext cx="11983041" cy="5698998"/>
          </a:xfrm>
        </p:spPr>
        <p:txBody>
          <a:bodyPr>
            <a:normAutofit/>
          </a:bodyPr>
          <a:lstStyle/>
          <a:p>
            <a:r>
              <a:rPr lang="en-US" dirty="0">
                <a:latin typeface="+mn-lt"/>
              </a:rPr>
              <a:t>Another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Squared dissimilarity between R1 and R4, a Mexican and vegetarian restaurant</a:t>
            </a:r>
          </a:p>
          <a:p>
            <a:pPr marL="0" indent="0">
              <a:buNone/>
            </a:pPr>
            <a:r>
              <a:rPr lang="en-US" sz="2400" dirty="0">
                <a:latin typeface="+mn-lt"/>
              </a:rPr>
              <a:t>[0.25</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+ 0.6</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[0.125 + 0.25 + 0.36 + 0.25+ 0.125]/5 = </a:t>
            </a:r>
            <a:r>
              <a:rPr lang="en-US" sz="2400" b="1" dirty="0">
                <a:latin typeface="+mn-lt"/>
              </a:rPr>
              <a:t>0.22</a:t>
            </a:r>
          </a:p>
          <a:p>
            <a:r>
              <a:rPr lang="en-US" dirty="0">
                <a:latin typeface="+mn-lt"/>
              </a:rPr>
              <a:t>Squared dissimilarity between R2 and R3, two pizza places</a:t>
            </a:r>
          </a:p>
          <a:p>
            <a:pPr marL="0" indent="0">
              <a:buNone/>
            </a:pPr>
            <a:r>
              <a:rPr lang="en-US" sz="2400" dirty="0">
                <a:latin typeface="+mn-lt"/>
              </a:rPr>
              <a:t>[0 + 0.1</a:t>
            </a:r>
            <a:r>
              <a:rPr lang="en-US" sz="2400" baseline="30000" dirty="0">
                <a:latin typeface="+mn-lt"/>
              </a:rPr>
              <a:t>2</a:t>
            </a:r>
            <a:r>
              <a:rPr lang="en-US" sz="2400" dirty="0">
                <a:latin typeface="+mn-lt"/>
              </a:rPr>
              <a:t> + 0.2</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 + 0.01 + 0.04 + 0.25 + 0.125]/5 = </a:t>
            </a:r>
            <a:r>
              <a:rPr lang="en-US" sz="2400" b="1" dirty="0">
                <a:latin typeface="+mn-lt"/>
              </a:rPr>
              <a:t>0.085</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124206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much do different metrics matter?</a:t>
                </a:r>
              </a:p>
              <a:p>
                <a:r>
                  <a:rPr lang="en-US" dirty="0">
                    <a:latin typeface="+mn-lt"/>
                  </a:rPr>
                  <a:t>A lot!</a:t>
                </a:r>
              </a:p>
              <a:p>
                <a:r>
                  <a:rPr lang="en-US" dirty="0">
                    <a:latin typeface="+mn-lt"/>
                  </a:rPr>
                  <a:t>Compare dissimilarity metrics between the restaurants</a:t>
                </a:r>
              </a:p>
              <a:p>
                <a:endParaRPr lang="en-US" dirty="0">
                  <a:latin typeface="+mn-lt"/>
                </a:endParaRPr>
              </a:p>
              <a:p>
                <a:endParaRPr lang="en-US" dirty="0">
                  <a:latin typeface="+mn-lt"/>
                </a:endParaRPr>
              </a:p>
              <a:p>
                <a:endParaRPr lang="en-US" dirty="0">
                  <a:latin typeface="+mn-lt"/>
                </a:endParaRPr>
              </a:p>
              <a:p>
                <a:r>
                  <a:rPr lang="en-US" dirty="0">
                    <a:latin typeface="+mn-lt"/>
                  </a:rPr>
                  <a:t>Manhattan distance,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1</m:t>
                        </m:r>
                      </m:sub>
                    </m:sSub>
                  </m:oMath>
                </a14:m>
                <a:r>
                  <a:rPr lang="en-US" dirty="0">
                    <a:latin typeface="+mn-lt"/>
                  </a:rPr>
                  <a:t>, less sensitive to extreme differences </a:t>
                </a:r>
              </a:p>
              <a:p>
                <a:pPr marL="4572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0.42</m:t>
                          </m:r>
                        </m:num>
                        <m:den>
                          <m:r>
                            <a:rPr lang="en-US" b="0" i="1" smtClean="0">
                              <a:latin typeface="Cambria Math" panose="02040503050406030204" pitchFamily="18" charset="0"/>
                            </a:rPr>
                            <m:t>0.21</m:t>
                          </m:r>
                        </m:den>
                      </m:f>
                      <m:r>
                        <a:rPr lang="en-US" b="0" i="1" smtClean="0">
                          <a:latin typeface="Cambria Math" panose="02040503050406030204" pitchFamily="18" charset="0"/>
                        </a:rPr>
                        <m:t>=2.0</m:t>
                      </m:r>
                    </m:oMath>
                  </m:oMathPara>
                </a14:m>
                <a:endParaRPr lang="en-US" dirty="0">
                  <a:latin typeface="+mn-lt"/>
                </a:endParaRPr>
              </a:p>
              <a:p>
                <a:r>
                  <a:rPr lang="en-US" dirty="0">
                    <a:latin typeface="+mn-lt"/>
                  </a:rPr>
                  <a:t>The Euclidean,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2</m:t>
                        </m:r>
                      </m:sub>
                    </m:sSub>
                  </m:oMath>
                </a14:m>
                <a:r>
                  <a:rPr lang="en-US" dirty="0">
                    <a:latin typeface="+mn-lt"/>
                  </a:rPr>
                  <a:t>, distance emphasizes larger differences in feature values  </a:t>
                </a:r>
              </a:p>
              <a:p>
                <a:pPr marL="457200" lvl="1"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0.22</m:t>
                          </m:r>
                        </m:num>
                        <m:den>
                          <m:r>
                            <a:rPr lang="en-US" i="1">
                              <a:latin typeface="Cambria Math" panose="02040503050406030204" pitchFamily="18" charset="0"/>
                            </a:rPr>
                            <m:t>0.085</m:t>
                          </m:r>
                        </m:den>
                      </m:f>
                      <m:r>
                        <a:rPr lang="en-US" i="1">
                          <a:latin typeface="Cambria Math" panose="02040503050406030204" pitchFamily="18" charset="0"/>
                        </a:rPr>
                        <m:t>=2.6</m:t>
                      </m:r>
                    </m:oMath>
                  </m:oMathPara>
                </a14:m>
                <a:endParaRPr lang="en-US" dirty="0"/>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graphicFrame>
        <p:nvGraphicFramePr>
          <p:cNvPr id="5" name="Table 5">
            <a:extLst>
              <a:ext uri="{FF2B5EF4-FFF2-40B4-BE49-F238E27FC236}">
                <a16:creationId xmlns:a16="http://schemas.microsoft.com/office/drawing/2014/main" id="{1CB42A7F-F831-4FC9-A747-7D416F91ED9D}"/>
              </a:ext>
            </a:extLst>
          </p:cNvPr>
          <p:cNvGraphicFramePr>
            <a:graphicFrameLocks noGrp="1"/>
          </p:cNvGraphicFramePr>
          <p:nvPr>
            <p:extLst>
              <p:ext uri="{D42A27DB-BD31-4B8C-83A1-F6EECF244321}">
                <p14:modId xmlns:p14="http://schemas.microsoft.com/office/powerpoint/2010/main" val="1696918281"/>
              </p:ext>
            </p:extLst>
          </p:nvPr>
        </p:nvGraphicFramePr>
        <p:xfrm>
          <a:off x="709478" y="2588217"/>
          <a:ext cx="9638223" cy="1416441"/>
        </p:xfrm>
        <a:graphic>
          <a:graphicData uri="http://schemas.openxmlformats.org/drawingml/2006/table">
            <a:tbl>
              <a:tblPr firstRow="1" bandRow="1">
                <a:tableStyleId>{5C22544A-7EE6-4342-B048-85BDC9FD1C3A}</a:tableStyleId>
              </a:tblPr>
              <a:tblGrid>
                <a:gridCol w="3212741">
                  <a:extLst>
                    <a:ext uri="{9D8B030D-6E8A-4147-A177-3AD203B41FA5}">
                      <a16:colId xmlns:a16="http://schemas.microsoft.com/office/drawing/2014/main" val="4235277372"/>
                    </a:ext>
                  </a:extLst>
                </a:gridCol>
                <a:gridCol w="3212741">
                  <a:extLst>
                    <a:ext uri="{9D8B030D-6E8A-4147-A177-3AD203B41FA5}">
                      <a16:colId xmlns:a16="http://schemas.microsoft.com/office/drawing/2014/main" val="2417895486"/>
                    </a:ext>
                  </a:extLst>
                </a:gridCol>
                <a:gridCol w="3212741">
                  <a:extLst>
                    <a:ext uri="{9D8B030D-6E8A-4147-A177-3AD203B41FA5}">
                      <a16:colId xmlns:a16="http://schemas.microsoft.com/office/drawing/2014/main" val="747759040"/>
                    </a:ext>
                  </a:extLst>
                </a:gridCol>
              </a:tblGrid>
              <a:tr h="472147">
                <a:tc>
                  <a:txBody>
                    <a:bodyPr/>
                    <a:lstStyle/>
                    <a:p>
                      <a:endParaRPr lang="en-US" sz="2400" dirty="0">
                        <a:solidFill>
                          <a:schemeClr val="tx1"/>
                        </a:solidFill>
                      </a:endParaRPr>
                    </a:p>
                  </a:txBody>
                  <a:tcPr/>
                </a:tc>
                <a:tc>
                  <a:txBody>
                    <a:bodyPr/>
                    <a:lstStyle/>
                    <a:p>
                      <a:pPr algn="ctr"/>
                      <a:r>
                        <a:rPr lang="en-US" sz="2400" dirty="0">
                          <a:solidFill>
                            <a:schemeClr val="tx1"/>
                          </a:solidFill>
                        </a:rPr>
                        <a:t>Mexican – Vegetarian</a:t>
                      </a:r>
                    </a:p>
                  </a:txBody>
                  <a:tcPr/>
                </a:tc>
                <a:tc>
                  <a:txBody>
                    <a:bodyPr/>
                    <a:lstStyle/>
                    <a:p>
                      <a:pPr algn="ctr"/>
                      <a:r>
                        <a:rPr lang="en-US" sz="2400" dirty="0">
                          <a:solidFill>
                            <a:schemeClr val="tx1"/>
                          </a:solidFill>
                        </a:rPr>
                        <a:t>2 Pizza Places</a:t>
                      </a:r>
                    </a:p>
                  </a:txBody>
                  <a:tcPr/>
                </a:tc>
                <a:extLst>
                  <a:ext uri="{0D108BD9-81ED-4DB2-BD59-A6C34878D82A}">
                    <a16:rowId xmlns:a16="http://schemas.microsoft.com/office/drawing/2014/main" val="634146937"/>
                  </a:ext>
                </a:extLst>
              </a:tr>
              <a:tr h="472147">
                <a:tc>
                  <a:txBody>
                    <a:bodyPr/>
                    <a:lstStyle/>
                    <a:p>
                      <a:r>
                        <a:rPr lang="en-US" sz="2400" b="1" dirty="0">
                          <a:solidFill>
                            <a:schemeClr val="tx1"/>
                          </a:solidFill>
                        </a:rPr>
                        <a:t>Absolute distance</a:t>
                      </a:r>
                    </a:p>
                  </a:txBody>
                  <a:tcPr/>
                </a:tc>
                <a:tc>
                  <a:txBody>
                    <a:bodyPr/>
                    <a:lstStyle/>
                    <a:p>
                      <a:pPr algn="r"/>
                      <a:r>
                        <a:rPr lang="en-US" sz="2400" dirty="0">
                          <a:solidFill>
                            <a:schemeClr val="tx1"/>
                          </a:solidFill>
                        </a:rPr>
                        <a:t>0.42</a:t>
                      </a:r>
                    </a:p>
                  </a:txBody>
                  <a:tcPr/>
                </a:tc>
                <a:tc>
                  <a:txBody>
                    <a:bodyPr/>
                    <a:lstStyle/>
                    <a:p>
                      <a:pPr algn="r"/>
                      <a:r>
                        <a:rPr lang="en-US" sz="2400" dirty="0">
                          <a:solidFill>
                            <a:schemeClr val="tx1"/>
                          </a:solidFill>
                        </a:rPr>
                        <a:t>0.21</a:t>
                      </a:r>
                    </a:p>
                  </a:txBody>
                  <a:tcPr/>
                </a:tc>
                <a:extLst>
                  <a:ext uri="{0D108BD9-81ED-4DB2-BD59-A6C34878D82A}">
                    <a16:rowId xmlns:a16="http://schemas.microsoft.com/office/drawing/2014/main" val="1267392511"/>
                  </a:ext>
                </a:extLst>
              </a:tr>
              <a:tr h="472147">
                <a:tc>
                  <a:txBody>
                    <a:bodyPr/>
                    <a:lstStyle/>
                    <a:p>
                      <a:r>
                        <a:rPr lang="en-US" sz="2400" b="1" dirty="0">
                          <a:solidFill>
                            <a:schemeClr val="tx1"/>
                          </a:solidFill>
                        </a:rPr>
                        <a:t>Euclidean distance</a:t>
                      </a:r>
                    </a:p>
                  </a:txBody>
                  <a:tcPr/>
                </a:tc>
                <a:tc>
                  <a:txBody>
                    <a:bodyPr/>
                    <a:lstStyle/>
                    <a:p>
                      <a:pPr algn="r"/>
                      <a:r>
                        <a:rPr lang="en-US" sz="2400" dirty="0">
                          <a:solidFill>
                            <a:schemeClr val="tx1"/>
                          </a:solidFill>
                        </a:rPr>
                        <a:t>0.22</a:t>
                      </a:r>
                    </a:p>
                  </a:txBody>
                  <a:tcPr/>
                </a:tc>
                <a:tc>
                  <a:txBody>
                    <a:bodyPr/>
                    <a:lstStyle/>
                    <a:p>
                      <a:pPr algn="r"/>
                      <a:r>
                        <a:rPr lang="en-US" sz="2400" dirty="0">
                          <a:solidFill>
                            <a:schemeClr val="tx1"/>
                          </a:solidFill>
                        </a:rPr>
                        <a:t>0.085</a:t>
                      </a:r>
                    </a:p>
                  </a:txBody>
                  <a:tcPr/>
                </a:tc>
                <a:extLst>
                  <a:ext uri="{0D108BD9-81ED-4DB2-BD59-A6C34878D82A}">
                    <a16:rowId xmlns:a16="http://schemas.microsoft.com/office/drawing/2014/main" val="4269338162"/>
                  </a:ext>
                </a:extLst>
              </a:tr>
            </a:tbl>
          </a:graphicData>
        </a:graphic>
      </p:graphicFrame>
    </p:spTree>
    <p:extLst>
      <p:ext uri="{BB962C8B-B14F-4D97-AF65-F5344CB8AC3E}">
        <p14:creationId xmlns:p14="http://schemas.microsoft.com/office/powerpoint/2010/main" val="316345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728F5-5F65-F174-2A1A-90A4137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04B82-BDCC-AFBB-B6F0-5B82CE6979F0}"/>
              </a:ext>
            </a:extLst>
          </p:cNvPr>
          <p:cNvSpPr>
            <a:spLocks noGrp="1"/>
          </p:cNvSpPr>
          <p:nvPr>
            <p:ph type="title"/>
          </p:nvPr>
        </p:nvSpPr>
        <p:spPr>
          <a:xfrm>
            <a:off x="831850" y="1709738"/>
            <a:ext cx="10515600" cy="2104337"/>
          </a:xfrm>
        </p:spPr>
        <p:txBody>
          <a:bodyPr/>
          <a:lstStyle/>
          <a:p>
            <a:pPr algn="ctr"/>
            <a:r>
              <a:rPr lang="en-US" b="1" dirty="0"/>
              <a:t>Similarity Metrics</a:t>
            </a:r>
          </a:p>
        </p:txBody>
      </p:sp>
    </p:spTree>
    <p:extLst>
      <p:ext uri="{BB962C8B-B14F-4D97-AF65-F5344CB8AC3E}">
        <p14:creationId xmlns:p14="http://schemas.microsoft.com/office/powerpoint/2010/main" val="40564725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and similarity</a:t>
            </a:r>
          </a:p>
        </p:txBody>
      </p:sp>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Do we always work with dissimilarity?</a:t>
            </a:r>
          </a:p>
          <a:p>
            <a:r>
              <a:rPr lang="en-US" dirty="0">
                <a:latin typeface="+mn-lt"/>
              </a:rPr>
              <a:t>No! </a:t>
            </a:r>
          </a:p>
          <a:p>
            <a:r>
              <a:rPr lang="en-US" dirty="0">
                <a:latin typeface="+mn-lt"/>
              </a:rPr>
              <a:t>We often work with measures of </a:t>
            </a:r>
            <a:r>
              <a:rPr lang="en-US" b="1" dirty="0">
                <a:latin typeface="+mn-lt"/>
              </a:rPr>
              <a:t>similarity</a:t>
            </a:r>
          </a:p>
          <a:p>
            <a:r>
              <a:rPr lang="en-US" dirty="0">
                <a:latin typeface="+mn-lt"/>
              </a:rPr>
              <a:t>The closer points are in a space (smaller distance) the more similar they are</a:t>
            </a:r>
          </a:p>
          <a:p>
            <a:r>
              <a:rPr lang="en-US" dirty="0">
                <a:latin typeface="+mn-lt"/>
              </a:rPr>
              <a:t>In many cases, similarity measures can be transformed to dissimilarity </a:t>
            </a:r>
            <a:endParaRPr lang="en-US" b="1" dirty="0">
              <a:latin typeface="+mn-lt"/>
            </a:endParaRPr>
          </a:p>
          <a:p>
            <a:r>
              <a:rPr lang="en-US" dirty="0">
                <a:latin typeface="+mn-lt"/>
              </a:rPr>
              <a:t>For data with positive and negative coding similarity must be in the range [-1,1]</a:t>
            </a:r>
          </a:p>
          <a:p>
            <a:pPr lvl="1"/>
            <a:r>
              <a:rPr lang="en-US" dirty="0">
                <a:latin typeface="+mn-lt"/>
              </a:rPr>
              <a:t>Similarity = 1, maximum similarity, points are at the same location in the space</a:t>
            </a:r>
          </a:p>
          <a:p>
            <a:pPr lvl="1"/>
            <a:r>
              <a:rPr lang="en-US" dirty="0">
                <a:latin typeface="+mn-lt"/>
              </a:rPr>
              <a:t>Similarity = 0, points are </a:t>
            </a:r>
            <a:r>
              <a:rPr lang="en-US" b="1" dirty="0">
                <a:latin typeface="+mn-lt"/>
              </a:rPr>
              <a:t>orthogonal</a:t>
            </a:r>
            <a:r>
              <a:rPr lang="en-US" dirty="0">
                <a:latin typeface="+mn-lt"/>
              </a:rPr>
              <a:t> in the space, no similarity</a:t>
            </a:r>
          </a:p>
          <a:p>
            <a:pPr lvl="1"/>
            <a:r>
              <a:rPr lang="en-US" dirty="0">
                <a:latin typeface="+mn-lt"/>
              </a:rPr>
              <a:t>Similarity = -1, minimum similarity, points have completely opposite coding </a:t>
            </a:r>
          </a:p>
          <a:p>
            <a:r>
              <a:rPr lang="en-US" dirty="0">
                <a:latin typeface="+mn-lt"/>
              </a:rPr>
              <a:t>For non-negative data similarity in range [0,1] </a:t>
            </a:r>
          </a:p>
          <a:p>
            <a:pPr lvl="1"/>
            <a:r>
              <a:rPr lang="en-US" dirty="0">
                <a:latin typeface="+mn-lt"/>
              </a:rPr>
              <a:t>Example, binary data</a:t>
            </a:r>
          </a:p>
        </p:txBody>
      </p:sp>
    </p:spTree>
    <p:extLst>
      <p:ext uri="{BB962C8B-B14F-4D97-AF65-F5344CB8AC3E}">
        <p14:creationId xmlns:p14="http://schemas.microsoft.com/office/powerpoint/2010/main" val="2245636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Pearson correlation</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f>
                        <m:fPr>
                          <m:ctrlPr>
                            <a:rPr lang="en-US" b="0" i="1" smtClean="0">
                              <a:latin typeface="Cambria Math" panose="02040503050406030204" pitchFamily="18" charset="0"/>
                            </a:rPr>
                          </m:ctrlPr>
                        </m:fPr>
                        <m:num>
                          <m:r>
                            <a:rPr lang="en-US" b="0" i="1" smtClean="0">
                              <a:latin typeface="Cambria Math" panose="02040503050406030204" pitchFamily="18" charset="0"/>
                            </a:rPr>
                            <m:t>𝐶𝑜𝑣</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num>
                        <m:den>
                          <m:rad>
                            <m:radPr>
                              <m:degHide m:val="on"/>
                              <m:ctrlPr>
                                <a:rPr lang="en-US" b="0" i="1" smtClean="0">
                                  <a:latin typeface="Cambria Math" panose="02040503050406030204" pitchFamily="18" charset="0"/>
                                </a:rPr>
                              </m:ctrlPr>
                            </m:radPr>
                            <m:deg/>
                            <m:e>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m:t>
                              </m:r>
                            </m:e>
                          </m:rad>
                        </m:den>
                      </m:f>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𝑥</m:t>
                              </m:r>
                            </m:e>
                          </m:acc>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i="1" dirty="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b="0" i="1" dirty="0" smtClean="0">
                                  <a:latin typeface="Cambria Math" panose="02040503050406030204" pitchFamily="18" charset="0"/>
                                </a:rPr>
                                <m:t>′)</m:t>
                              </m:r>
                            </m:e>
                            <m:sup>
                              <m:r>
                                <a:rPr lang="en-US" b="0" i="1" dirty="0" smtClean="0">
                                  <a:latin typeface="Cambria Math" panose="02040503050406030204" pitchFamily="18" charset="0"/>
                                </a:rPr>
                                <m:t>𝑇</m:t>
                              </m:r>
                            </m:sup>
                          </m:sSup>
                        </m:num>
                        <m:den>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rad>
                        </m:den>
                      </m:f>
                      <m:r>
                        <a:rPr lang="en-US" b="0" i="1" smtClean="0">
                          <a:latin typeface="Cambria Math" panose="02040503050406030204" pitchFamily="18" charset="0"/>
                        </a:rPr>
                        <m:t> </m:t>
                      </m:r>
                    </m:oMath>
                  </m:oMathPara>
                </a14:m>
                <a:endParaRPr lang="en-US" dirty="0">
                  <a:latin typeface="+mn-lt"/>
                </a:endParaRPr>
              </a:p>
              <a:p>
                <a:r>
                  <a:rPr lang="en-US" dirty="0">
                    <a:latin typeface="+mn-lt"/>
                  </a:rPr>
                  <a:t>Range of [-1,1]</a:t>
                </a:r>
              </a:p>
              <a:p>
                <a:r>
                  <a:rPr lang="en-US" dirty="0">
                    <a:latin typeface="+mn-lt"/>
                  </a:rPr>
                  <a:t>Other correlation measures of similarity, e.g. </a:t>
                </a:r>
                <a:r>
                  <a:rPr lang="en-US" b="1" dirty="0">
                    <a:latin typeface="+mn-lt"/>
                  </a:rPr>
                  <a:t>rank-based</a:t>
                </a:r>
                <a:r>
                  <a:rPr lang="en-US" dirty="0">
                    <a:latin typeface="+mn-lt"/>
                  </a:rPr>
                  <a:t> measures </a:t>
                </a:r>
              </a:p>
              <a:p>
                <a:pPr lvl="1"/>
                <a:r>
                  <a:rPr lang="en-US" b="1" dirty="0">
                    <a:latin typeface="+mn-lt"/>
                    <a:hlinkClick r:id="rId3"/>
                  </a:rPr>
                  <a:t>Kendal</a:t>
                </a:r>
                <a:r>
                  <a:rPr lang="en-US" dirty="0">
                    <a:latin typeface="+mn-lt"/>
                  </a:rPr>
                  <a:t>, </a:t>
                </a:r>
                <a:r>
                  <a:rPr lang="en-US" b="1" dirty="0">
                    <a:latin typeface="+mn-lt"/>
                    <a:hlinkClick r:id="rId4"/>
                  </a:rPr>
                  <a:t>Spearman</a:t>
                </a:r>
                <a:r>
                  <a:rPr lang="en-US" dirty="0">
                    <a:latin typeface="+mn-lt"/>
                  </a:rPr>
                  <a:t>, are rank correlations, more robust than Pearson</a:t>
                </a:r>
              </a:p>
              <a:p>
                <a:pPr lvl="1"/>
                <a:r>
                  <a:rPr lang="en-US" dirty="0">
                    <a:latin typeface="+mn-lt"/>
                  </a:rPr>
                  <a:t>Often better choices for data mining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5"/>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511240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268121"/>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similarity? </a:t>
                </a:r>
              </a:p>
              <a:p>
                <a:pPr marL="285750" indent="-285750">
                  <a:buFont typeface="Arial" panose="020B0604020202020204" pitchFamily="34" charset="0"/>
                  <a:buChar char="•"/>
                </a:pPr>
                <a:r>
                  <a:rPr lang="en-US" sz="2400" dirty="0"/>
                  <a:t>Cosine similarity</a:t>
                </a: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𝑐𝑜𝑠</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m:t>
                      </m:r>
                      <m:box>
                        <m:boxPr>
                          <m:ctrlPr>
                            <a:rPr lang="en-US" sz="2400" b="0" i="1" smtClean="0">
                              <a:latin typeface="Cambria Math" panose="02040503050406030204" pitchFamily="18" charset="0"/>
                            </a:rPr>
                          </m:ctrlPr>
                        </m:boxPr>
                        <m:e>
                          <m:argPr>
                            <m:argSz m:val="-1"/>
                          </m:argP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2∗4 +1∗3</m:t>
                              </m:r>
                            </m:num>
                            <m:den>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4</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3</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den>
                          </m:f>
                        </m:e>
                      </m:box>
                      <m:r>
                        <a:rPr lang="en-US" sz="2400" b="0" i="1" smtClean="0">
                          <a:latin typeface="Cambria Math" panose="02040503050406030204" pitchFamily="18" charset="0"/>
                        </a:rPr>
                        <m:t>=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11</m:t>
                          </m:r>
                        </m:num>
                        <m:den>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5</m:t>
                              </m:r>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25</m:t>
                              </m:r>
                            </m:e>
                            <m:sup>
                              <m:r>
                                <a:rPr lang="en-US" sz="2400" b="0" i="1" smtClean="0">
                                  <a:latin typeface="Cambria Math" panose="02040503050406030204" pitchFamily="18" charset="0"/>
                                </a:rPr>
                                <m:t>1/2</m:t>
                              </m:r>
                            </m:sup>
                          </m:sSup>
                        </m:den>
                      </m:f>
                      <m:r>
                        <a:rPr lang="en-US" sz="2400" b="0" i="1" smtClean="0">
                          <a:latin typeface="Cambria Math" panose="02040503050406030204" pitchFamily="18" charset="0"/>
                        </a:rPr>
                        <m:t>=0.984</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268121"/>
              </a:xfrm>
              <a:prstGeom prst="rect">
                <a:avLst/>
              </a:prstGeom>
              <a:blipFill>
                <a:blip r:embed="rId4"/>
                <a:stretch>
                  <a:fillRect l="-1229" t="-215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708529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566600"/>
              </a:xfrm>
              <a:prstGeom prst="rect">
                <a:avLst/>
              </a:prstGeom>
              <a:noFill/>
            </p:spPr>
            <p:txBody>
              <a:bodyPr wrap="square" rtlCol="0">
                <a:spAutoFit/>
              </a:bodyPr>
              <a:lstStyle/>
              <a:p>
                <a:pPr marL="285750" indent="-285750">
                  <a:buFont typeface="Arial" panose="020B0604020202020204" pitchFamily="34" charset="0"/>
                  <a:buChar char="•"/>
                </a:pPr>
                <a:r>
                  <a:rPr lang="en-US" sz="2400" dirty="0"/>
                  <a:t>If vectors point in same direction </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=0,</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=1 </m:t>
                      </m:r>
                    </m:oMath>
                  </m:oMathPara>
                </a14:m>
                <a:endParaRPr lang="en-US" sz="2400" b="0" dirty="0">
                  <a:ea typeface="Cambria Math" panose="02040503050406030204" pitchFamily="18" charset="0"/>
                </a:endParaRPr>
              </a:p>
              <a:p>
                <a:pPr marL="285750" indent="-285750">
                  <a:buFont typeface="Arial" panose="020B0604020202020204" pitchFamily="34" charset="0"/>
                  <a:buChar char="•"/>
                </a:pPr>
                <a:r>
                  <a:rPr lang="en-US" sz="2400" dirty="0"/>
                  <a:t>If vectors point in opposite direction </a:t>
                </a: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Cambria Math" panose="02040503050406030204" pitchFamily="18" charset="0"/>
                        </a:rPr>
                        <m:t>𝜃</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𝜋</m:t>
                      </m:r>
                      <m:r>
                        <a:rPr lang="en-US" sz="2400" i="1">
                          <a:latin typeface="Cambria Math" panose="02040503050406030204" pitchFamily="18" charset="0"/>
                          <a:ea typeface="Cambria Math" panose="02040503050406030204" pitchFamily="18" charset="0"/>
                        </a:rPr>
                        <m:t>,</m:t>
                      </m:r>
                      <m:func>
                        <m:funcPr>
                          <m:ctrlPr>
                            <a:rPr lang="en-US" sz="2400" i="1">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cos</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e>
                      </m:func>
                      <m:r>
                        <a:rPr lang="en-US" sz="2400" i="1">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1 </m:t>
                      </m:r>
                    </m:oMath>
                  </m:oMathPara>
                </a14:m>
                <a:endParaRPr lang="en-US" sz="2400" dirty="0"/>
              </a:p>
              <a:p>
                <a:pPr marL="285750" indent="-285750">
                  <a:buFont typeface="Arial" panose="020B0604020202020204" pitchFamily="34" charset="0"/>
                  <a:buChar char="•"/>
                </a:pPr>
                <a:r>
                  <a:rPr lang="en-US" sz="2400" dirty="0"/>
                  <a:t>If vectors orthogonal</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 </m:t>
                      </m:r>
                      <m:f>
                        <m:fPr>
                          <m:ctrlPr>
                            <a:rPr lang="en-US" sz="2400" b="0" i="1" smtClean="0">
                              <a:latin typeface="Cambria Math" panose="02040503050406030204" pitchFamily="18" charset="0"/>
                              <a:ea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𝜋</m:t>
                          </m:r>
                        </m:num>
                        <m:den>
                          <m:r>
                            <a:rPr lang="en-US" sz="2400" b="0" i="1" smtClean="0">
                              <a:latin typeface="Cambria Math" panose="02040503050406030204" pitchFamily="18" charset="0"/>
                              <a:ea typeface="Cambria Math" panose="02040503050406030204" pitchFamily="18" charset="0"/>
                            </a:rPr>
                            <m:t>2</m:t>
                          </m:r>
                        </m:den>
                      </m:f>
                      <m:r>
                        <a:rPr lang="en-US" sz="2400" b="0" i="1" smtClean="0">
                          <a:latin typeface="Cambria Math" panose="02040503050406030204" pitchFamily="18" charset="0"/>
                          <a:ea typeface="Cambria Math" panose="02040503050406030204" pitchFamily="18" charset="0"/>
                        </a:rPr>
                        <m:t>,</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=0</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566600"/>
              </a:xfrm>
              <a:prstGeom prst="rect">
                <a:avLst/>
              </a:prstGeom>
              <a:blipFill>
                <a:blip r:embed="rId4"/>
                <a:stretch>
                  <a:fillRect l="-1229" t="-1900"/>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015783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F10CD-2ACC-6B1E-9524-86AB2729DF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51176-3A7B-4E9F-FB87-648BF47F1784}"/>
              </a:ext>
            </a:extLst>
          </p:cNvPr>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5191FB6-AA30-982A-19DE-0E6AAD95EB9B}"/>
                  </a:ext>
                </a:extLst>
              </p:cNvPr>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Dot product similarity</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dirty="0" smtClean="0">
                          <a:latin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b="0" i="1" dirty="0" smtClean="0">
                          <a:latin typeface="Cambria Math" panose="02040503050406030204" pitchFamily="18" charset="0"/>
                        </a:rPr>
                        <m:t>′</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r>
                        <a:rPr lang="en-US" b="0" i="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e>
                        <m:sup>
                          <m:r>
                            <a:rPr lang="en-US" i="1" dirty="0">
                              <a:latin typeface="Cambria Math" panose="02040503050406030204" pitchFamily="18" charset="0"/>
                            </a:rPr>
                            <m:t>𝑇</m:t>
                          </m:r>
                        </m:sup>
                      </m:sSup>
                    </m:oMath>
                  </m:oMathPara>
                </a14:m>
                <a:endParaRPr lang="en-US" dirty="0">
                  <a:latin typeface="+mn-lt"/>
                </a:endParaRPr>
              </a:p>
              <a:p>
                <a:r>
                  <a:rPr lang="en-US" dirty="0">
                    <a:latin typeface="+mn-lt"/>
                  </a:rPr>
                  <a:t>Range is unbounded!</a:t>
                </a:r>
              </a:p>
              <a:p>
                <a:r>
                  <a:rPr lang="en-US" dirty="0">
                    <a:latin typeface="+mn-lt"/>
                  </a:rPr>
                  <a:t>If </a:t>
                </a:r>
                <a14:m>
                  <m:oMath xmlns:m="http://schemas.openxmlformats.org/officeDocument/2006/math">
                    <m:r>
                      <a:rPr lang="en-US" i="1" dirty="0">
                        <a:latin typeface="Cambria Math" panose="02040503050406030204" pitchFamily="18" charset="0"/>
                      </a:rPr>
                      <m:t>𝑥</m:t>
                    </m:r>
                  </m:oMath>
                </a14:m>
                <a:r>
                  <a:rPr lang="en-US" dirty="0">
                    <a:latin typeface="+mn-lt"/>
                  </a:rPr>
                  <a:t>, </a:t>
                </a:r>
                <a14:m>
                  <m:oMath xmlns:m="http://schemas.openxmlformats.org/officeDocument/2006/math">
                    <m:r>
                      <a:rPr lang="en-US" i="1" dirty="0">
                        <a:latin typeface="Cambria Math" panose="02040503050406030204" pitchFamily="18" charset="0"/>
                      </a:rPr>
                      <m:t>𝑥</m:t>
                    </m:r>
                    <m:r>
                      <a:rPr lang="en-US" b="0" i="1" dirty="0" smtClean="0">
                        <a:latin typeface="Cambria Math" panose="02040503050406030204" pitchFamily="18" charset="0"/>
                      </a:rPr>
                      <m:t>′</m:t>
                    </m:r>
                  </m:oMath>
                </a14:m>
                <a:r>
                  <a:rPr lang="en-US" dirty="0">
                    <a:latin typeface="+mn-lt"/>
                  </a:rPr>
                  <a:t> have unit Euclidean norm, is same as Pearson correlation</a:t>
                </a:r>
              </a:p>
              <a:p>
                <a:pPr lvl="1"/>
                <a:r>
                  <a:rPr lang="en-US" dirty="0">
                    <a:latin typeface="+mn-lt"/>
                  </a:rPr>
                  <a:t>Compute </a:t>
                </a:r>
                <a:r>
                  <a:rPr lang="en-US" b="1" dirty="0">
                    <a:latin typeface="+mn-lt"/>
                  </a:rPr>
                  <a:t>Pearson correlation </a:t>
                </a:r>
                <a:r>
                  <a:rPr lang="en-US" dirty="0">
                    <a:latin typeface="+mn-lt"/>
                  </a:rPr>
                  <a:t>by taking dot product of zero centered unit variance vectors </a:t>
                </a:r>
              </a:p>
              <a:p>
                <a:pPr marL="0" indent="0">
                  <a:buNone/>
                </a:pPr>
                <a:endParaRPr lang="en-US" dirty="0">
                  <a:latin typeface="+mn-lt"/>
                </a:endParaRPr>
              </a:p>
            </p:txBody>
          </p:sp>
        </mc:Choice>
        <mc:Fallback xmlns="">
          <p:sp>
            <p:nvSpPr>
              <p:cNvPr id="3" name="Content Placeholder 2">
                <a:extLst>
                  <a:ext uri="{FF2B5EF4-FFF2-40B4-BE49-F238E27FC236}">
                    <a16:creationId xmlns:a16="http://schemas.microsoft.com/office/drawing/2014/main" id="{85191FB6-AA30-982A-19DE-0E6AAD95EB9B}"/>
                  </a:ext>
                </a:extLst>
              </p:cNvPr>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356347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fontScale="92500"/>
              </a:bodyPr>
              <a:lstStyle/>
              <a:p>
                <a:pPr marL="0" indent="0">
                  <a:buNone/>
                </a:pPr>
                <a:r>
                  <a:rPr lang="en-US" dirty="0">
                    <a:latin typeface="+mn-lt"/>
                  </a:rPr>
                  <a:t>Different metrics for similarity can be computed for discretely coded or numeric variables in p dimensions</a:t>
                </a:r>
              </a:p>
              <a:p>
                <a:r>
                  <a:rPr lang="en-US" b="1" dirty="0">
                    <a:latin typeface="+mn-lt"/>
                    <a:hlinkClick r:id="rId3"/>
                  </a:rPr>
                  <a:t>Jaccard Similarity</a:t>
                </a:r>
                <a:r>
                  <a:rPr lang="en-US" b="1" dirty="0">
                    <a:latin typeface="+mn-lt"/>
                  </a:rPr>
                  <a:t>:</a:t>
                </a:r>
                <a:r>
                  <a:rPr lang="en-US" dirty="0">
                    <a:latin typeface="+mn-lt"/>
                  </a:rPr>
                  <a:t> For discretely coded data</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𝐼𝑛𝑡𝑒𝑟𝑠𝑒𝑐𝑡𝑖𝑜𝑛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num>
                        <m:den>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𝑈𝑛𝑖𝑜𝑛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num>
                        <m:den>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den>
                      </m:f>
                    </m:oMath>
                  </m:oMathPara>
                </a14:m>
                <a:endParaRPr lang="en-US" b="0" dirty="0">
                  <a:latin typeface="+mn-lt"/>
                </a:endParaRPr>
              </a:p>
              <a:p>
                <a:r>
                  <a:rPr lang="en-US" dirty="0">
                    <a:latin typeface="+mn-lt"/>
                  </a:rPr>
                  <a:t>Jaccard similarity in range </a:t>
                </a:r>
                <a14:m>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0,1</m:t>
                        </m:r>
                      </m:e>
                    </m:d>
                  </m:oMath>
                </a14:m>
                <a:endParaRPr lang="en-US" dirty="0">
                  <a:latin typeface="+mn-lt"/>
                </a:endParaRPr>
              </a:p>
              <a:p>
                <a:r>
                  <a:rPr lang="en-US" dirty="0">
                    <a:latin typeface="+mn-lt"/>
                  </a:rPr>
                  <a:t>Example: consider the following character strings</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m:t>
                          </m:r>
                        </m:e>
                      </m:d>
                      <m:r>
                        <a:rPr lang="en-US" b="0" i="1" smtClean="0">
                          <a:latin typeface="Cambria Math" panose="02040503050406030204" pitchFamily="18" charset="0"/>
                        </a:rPr>
                        <m:t>=6</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𝑡h𝑖𝑠𝑚𝑦𝑜𝑙𝑑𝑔𝑐𝑎</m:t>
                          </m:r>
                        </m:e>
                      </m:d>
                      <m:r>
                        <a:rPr lang="en-US" b="0" i="1" smtClean="0">
                          <a:latin typeface="Cambria Math" panose="02040503050406030204" pitchFamily="18" charset="0"/>
                        </a:rPr>
                        <m:t>=12</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𝐽𝑎𝑐𝑐𝑎𝑟𝑑</m:t>
                          </m:r>
                          <m:r>
                            <a:rPr lang="en-US" b="0" i="1" smtClean="0">
                              <a:latin typeface="Cambria Math" panose="02040503050406030204" pitchFamily="18" charset="0"/>
                            </a:rPr>
                            <m:t> </m:t>
                          </m:r>
                          <m:r>
                            <a:rPr lang="en-US" b="0" i="1" smtClean="0">
                              <a:latin typeface="Cambria Math" panose="02040503050406030204" pitchFamily="18" charset="0"/>
                            </a:rPr>
                            <m:t>𝑆𝑖𝑚𝑖𝑙𝑎𝑟𝑖𝑡𝑦</m:t>
                          </m:r>
                          <m:r>
                            <a:rPr lang="en-US" b="0" i="1" smtClean="0">
                              <a:latin typeface="Cambria Math" panose="02040503050406030204" pitchFamily="18" charset="0"/>
                            </a:rPr>
                            <m:t>= </m:t>
                          </m:r>
                          <m:r>
                            <a:rPr lang="en-US" b="0" i="1" smtClean="0">
                              <a:latin typeface="Cambria Math" panose="02040503050406030204" pitchFamily="18" charset="0"/>
                            </a:rPr>
                            <m:t>𝑠</m:t>
                          </m:r>
                        </m:e>
                        <m:sub>
                          <m:r>
                            <a:rPr lang="en-US" b="0" i="1" smtClean="0">
                              <a:latin typeface="Cambria Math" panose="02040503050406030204" pitchFamily="18" charset="0"/>
                            </a:rPr>
                            <m:t>𝐽</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6</m:t>
                          </m:r>
                        </m:num>
                        <m:den>
                          <m:r>
                            <a:rPr lang="en-US" b="0" i="1" smtClean="0">
                              <a:latin typeface="Cambria Math" panose="02040503050406030204" pitchFamily="18" charset="0"/>
                              <a:ea typeface="Cambria Math" panose="02040503050406030204" pitchFamily="18" charset="0"/>
                            </a:rPr>
                            <m:t>12</m:t>
                          </m:r>
                        </m:den>
                      </m:f>
                      <m:r>
                        <a:rPr lang="en-US" b="0" i="1" smtClean="0">
                          <a:latin typeface="Cambria Math" panose="02040503050406030204" pitchFamily="18" charset="0"/>
                          <a:ea typeface="Cambria Math" panose="02040503050406030204" pitchFamily="18" charset="0"/>
                        </a:rPr>
                        <m:t>=0.5</m:t>
                      </m:r>
                    </m:oMath>
                  </m:oMathPara>
                </a14:m>
                <a:endParaRPr lang="en-US" dirty="0">
                  <a:latin typeface="+mn-lt"/>
                </a:endParaRPr>
              </a:p>
              <a:p>
                <a:r>
                  <a:rPr lang="en-US" dirty="0">
                    <a:latin typeface="+mn-lt"/>
                  </a:rPr>
                  <a:t>Jaccard similarity often used for data with many categories like natural languages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952" t="-1604" b="-1070"/>
                </a:stretch>
              </a:blipFill>
            </p:spPr>
            <p:txBody>
              <a:bodyPr/>
              <a:lstStyle/>
              <a:p>
                <a:r>
                  <a:rPr lang="en-US">
                    <a:noFill/>
                  </a:rPr>
                  <a:t> </a:t>
                </a:r>
              </a:p>
            </p:txBody>
          </p:sp>
        </mc:Fallback>
      </mc:AlternateContent>
    </p:spTree>
    <p:extLst>
      <p:ext uri="{BB962C8B-B14F-4D97-AF65-F5344CB8AC3E}">
        <p14:creationId xmlns:p14="http://schemas.microsoft.com/office/powerpoint/2010/main" val="2366237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Similarity and Distance</a:t>
            </a:r>
          </a:p>
        </p:txBody>
      </p:sp>
      <p:sp>
        <p:nvSpPr>
          <p:cNvPr id="3" name="Content Placeholder 2"/>
          <p:cNvSpPr>
            <a:spLocks noGrp="1"/>
          </p:cNvSpPr>
          <p:nvPr>
            <p:ph sz="quarter" idx="10"/>
          </p:nvPr>
        </p:nvSpPr>
        <p:spPr>
          <a:xfrm>
            <a:off x="333375" y="896079"/>
            <a:ext cx="11525250" cy="2141761"/>
          </a:xfrm>
        </p:spPr>
        <p:txBody>
          <a:bodyPr>
            <a:normAutofit lnSpcReduction="10000"/>
          </a:bodyPr>
          <a:lstStyle/>
          <a:p>
            <a:pPr marL="0" indent="0">
              <a:buNone/>
            </a:pPr>
            <a:r>
              <a:rPr lang="en-US" dirty="0">
                <a:latin typeface="+mn-lt"/>
              </a:rPr>
              <a:t>Some similarity measures can be transformed to distance metrics</a:t>
            </a:r>
          </a:p>
          <a:p>
            <a:r>
              <a:rPr lang="en-US" dirty="0">
                <a:latin typeface="+mn-lt"/>
              </a:rPr>
              <a:t>Transform is an inverse function</a:t>
            </a:r>
          </a:p>
          <a:p>
            <a:r>
              <a:rPr lang="en-US" dirty="0">
                <a:latin typeface="+mn-lt"/>
              </a:rPr>
              <a:t>Resulting distance usually has limited range (limited support)</a:t>
            </a:r>
          </a:p>
          <a:p>
            <a:r>
              <a:rPr lang="en-US" dirty="0">
                <a:latin typeface="+mn-lt"/>
              </a:rPr>
              <a:t>Examples: </a:t>
            </a:r>
          </a:p>
          <a:p>
            <a:pPr marL="0" indent="0">
              <a:buNone/>
            </a:pPr>
            <a:endParaRPr lang="en-US" dirty="0">
              <a:latin typeface="+mn-lt"/>
            </a:endParaRPr>
          </a:p>
        </p:txBody>
      </p:sp>
      <mc:AlternateContent xmlns:mc="http://schemas.openxmlformats.org/markup-compatibility/2006" xmlns:a14="http://schemas.microsoft.com/office/drawing/2010/main">
        <mc:Choice Requires="a14">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37084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370840">
                    <a:tc>
                      <a:txBody>
                        <a:bodyPr/>
                        <a:lstStyle/>
                        <a:p>
                          <a:r>
                            <a:rPr lang="en-US" sz="2800" dirty="0">
                              <a:solidFill>
                                <a:schemeClr val="tx1"/>
                              </a:solidFill>
                            </a:rPr>
                            <a:t>Pearson Correlation</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f>
                                  <m:fPr>
                                    <m:ctrlPr>
                                      <a:rPr lang="en-US" sz="2800" b="0" i="1" smtClean="0">
                                        <a:solidFill>
                                          <a:schemeClr val="tx1"/>
                                        </a:solidFill>
                                        <a:latin typeface="Cambria Math" panose="02040503050406030204" pitchFamily="18" charset="0"/>
                                      </a:rPr>
                                    </m:ctrlPr>
                                  </m:fPr>
                                  <m:num>
                                    <m:r>
                                      <a:rPr lang="en-US" sz="2800" b="0" i="1" smtClean="0">
                                        <a:solidFill>
                                          <a:schemeClr val="tx1"/>
                                        </a:solidFill>
                                        <a:latin typeface="Cambria Math" panose="02040503050406030204" pitchFamily="18" charset="0"/>
                                      </a:rPr>
                                      <m:t>1</m:t>
                                    </m:r>
                                  </m:num>
                                  <m:den>
                                    <m:r>
                                      <a:rPr lang="en-US" sz="2800" b="0" i="1" smtClean="0">
                                        <a:solidFill>
                                          <a:schemeClr val="tx1"/>
                                        </a:solidFill>
                                        <a:latin typeface="Cambria Math" panose="02040503050406030204" pitchFamily="18" charset="0"/>
                                      </a:rPr>
                                      <m:t>2</m:t>
                                    </m:r>
                                  </m:den>
                                </m:f>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e>
                                </m:d>
                              </m:oMath>
                            </m:oMathPara>
                          </a14:m>
                          <a:endParaRPr lang="en-US" sz="2800" dirty="0">
                            <a:solidFill>
                              <a:schemeClr val="tx1"/>
                            </a:solidFill>
                          </a:endParaRPr>
                        </a:p>
                      </a:txBody>
                      <a:tcPr/>
                    </a:tc>
                    <a:extLst>
                      <a:ext uri="{0D108BD9-81ED-4DB2-BD59-A6C34878D82A}">
                        <a16:rowId xmlns:a16="http://schemas.microsoft.com/office/drawing/2014/main" val="3941939117"/>
                      </a:ext>
                    </a:extLst>
                  </a:tr>
                  <a:tr h="370840">
                    <a:tc>
                      <a:txBody>
                        <a:bodyPr/>
                        <a:lstStyle/>
                        <a:p>
                          <a:r>
                            <a:rPr lang="en-US" sz="2800" dirty="0">
                              <a:solidFill>
                                <a:schemeClr val="tx1"/>
                              </a:solidFill>
                            </a:rPr>
                            <a:t>Jaccard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𝐽</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𝐽</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518136395"/>
                      </a:ext>
                    </a:extLst>
                  </a:tr>
                  <a:tr h="370840">
                    <a:tc>
                      <a:txBody>
                        <a:bodyPr/>
                        <a:lstStyle/>
                        <a:p>
                          <a:r>
                            <a:rPr lang="en-US" sz="2800" dirty="0">
                              <a:solidFill>
                                <a:schemeClr val="tx1"/>
                              </a:solidFill>
                            </a:rPr>
                            <a:t>Hamming Similarity (</a:t>
                          </a:r>
                          <a14:m>
                            <m:oMath xmlns:m="http://schemas.openxmlformats.org/officeDocument/2006/math">
                              <m:r>
                                <a:rPr lang="en-US" sz="2800" b="0" i="1" smtClean="0">
                                  <a:solidFill>
                                    <a:schemeClr val="tx1"/>
                                  </a:solidFill>
                                  <a:latin typeface="Cambria Math" panose="02040503050406030204" pitchFamily="18" charset="0"/>
                                </a:rPr>
                                <m:t>𝑛</m:t>
                              </m:r>
                            </m:oMath>
                          </a14:m>
                          <a:r>
                            <a:rPr lang="en-US" sz="2800" dirty="0">
                              <a:solidFill>
                                <a:schemeClr val="tx1"/>
                              </a:solidFill>
                            </a:rPr>
                            <a:t> length string)</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h</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𝑛</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h</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1091878639"/>
                      </a:ext>
                    </a:extLst>
                  </a:tr>
                  <a:tr h="370840">
                    <a:tc>
                      <a:txBody>
                        <a:bodyPr/>
                        <a:lstStyle/>
                        <a:p>
                          <a:r>
                            <a:rPr lang="en-US" sz="2800" dirty="0">
                              <a:solidFill>
                                <a:schemeClr val="tx1"/>
                              </a:solidFill>
                            </a:rPr>
                            <a:t>Cosine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𝑎𝑛𝑔𝑢𝑙𝑎𝑟</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 </m:t>
                                </m:r>
                                <m:f>
                                  <m:fPr>
                                    <m:ctrlPr>
                                      <a:rPr lang="en-US" sz="2800" b="0" i="1" smtClean="0">
                                        <a:solidFill>
                                          <a:schemeClr val="tx1"/>
                                        </a:solidFill>
                                        <a:latin typeface="Cambria Math" panose="02040503050406030204" pitchFamily="18" charset="0"/>
                                      </a:rPr>
                                    </m:ctrlPr>
                                  </m:fPr>
                                  <m:num>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𝑐𝑜𝑠</m:t>
                                        </m:r>
                                      </m:e>
                                      <m:sup>
                                        <m:r>
                                          <a:rPr lang="en-US" sz="2800" b="0" i="1" smtClean="0">
                                            <a:solidFill>
                                              <a:schemeClr val="tx1"/>
                                            </a:solidFill>
                                            <a:latin typeface="Cambria Math" panose="02040503050406030204" pitchFamily="18" charset="0"/>
                                          </a:rPr>
                                          <m:t>−1</m:t>
                                        </m:r>
                                      </m:sup>
                                    </m:sSup>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𝑐𝑜𝑠</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num>
                                  <m:den>
                                    <m:r>
                                      <a:rPr lang="en-US" sz="2800" b="0" i="1" smtClean="0">
                                        <a:solidFill>
                                          <a:schemeClr val="tx1"/>
                                        </a:solidFill>
                                        <a:latin typeface="Cambria Math" panose="02040503050406030204" pitchFamily="18" charset="0"/>
                                        <a:ea typeface="Cambria Math" panose="02040503050406030204" pitchFamily="18" charset="0"/>
                                      </a:rPr>
                                      <m:t>𝜋</m:t>
                                    </m:r>
                                  </m:den>
                                </m:f>
                              </m:oMath>
                            </m:oMathPara>
                          </a14:m>
                          <a:endParaRPr lang="en-US" sz="2800" dirty="0">
                            <a:solidFill>
                              <a:schemeClr val="tx1"/>
                            </a:solidFill>
                          </a:endParaRPr>
                        </a:p>
                      </a:txBody>
                      <a:tcPr/>
                    </a:tc>
                    <a:extLst>
                      <a:ext uri="{0D108BD9-81ED-4DB2-BD59-A6C34878D82A}">
                        <a16:rowId xmlns:a16="http://schemas.microsoft.com/office/drawing/2014/main" val="3545086956"/>
                      </a:ext>
                    </a:extLst>
                  </a:tr>
                </a:tbl>
              </a:graphicData>
            </a:graphic>
          </p:graphicFrame>
        </mc:Choice>
        <mc:Fallback xmlns="">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51816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890270">
                    <a:tc>
                      <a:txBody>
                        <a:bodyPr/>
                        <a:lstStyle/>
                        <a:p>
                          <a:r>
                            <a:rPr lang="en-US" sz="2800" dirty="0">
                              <a:solidFill>
                                <a:schemeClr val="tx1"/>
                              </a:solidFill>
                            </a:rPr>
                            <a:t>Pearson Correlation</a:t>
                          </a:r>
                        </a:p>
                      </a:txBody>
                      <a:tcPr/>
                    </a:tc>
                    <a:tc>
                      <a:txBody>
                        <a:bodyPr/>
                        <a:lstStyle/>
                        <a:p>
                          <a:endParaRPr lang="en-US"/>
                        </a:p>
                      </a:txBody>
                      <a:tcPr>
                        <a:blipFill>
                          <a:blip r:embed="rId3"/>
                          <a:stretch>
                            <a:fillRect l="-91691" t="-64384" r="-391" b="-228082"/>
                          </a:stretch>
                        </a:blipFill>
                      </a:tcPr>
                    </a:tc>
                    <a:extLst>
                      <a:ext uri="{0D108BD9-81ED-4DB2-BD59-A6C34878D82A}">
                        <a16:rowId xmlns:a16="http://schemas.microsoft.com/office/drawing/2014/main" val="3941939117"/>
                      </a:ext>
                    </a:extLst>
                  </a:tr>
                  <a:tr h="548069">
                    <a:tc>
                      <a:txBody>
                        <a:bodyPr/>
                        <a:lstStyle/>
                        <a:p>
                          <a:r>
                            <a:rPr lang="en-US" sz="2800" dirty="0">
                              <a:solidFill>
                                <a:schemeClr val="tx1"/>
                              </a:solidFill>
                            </a:rPr>
                            <a:t>Jaccard Similarity</a:t>
                          </a:r>
                        </a:p>
                      </a:txBody>
                      <a:tcPr/>
                    </a:tc>
                    <a:tc>
                      <a:txBody>
                        <a:bodyPr/>
                        <a:lstStyle/>
                        <a:p>
                          <a:endParaRPr lang="en-US"/>
                        </a:p>
                      </a:txBody>
                      <a:tcPr>
                        <a:blipFill>
                          <a:blip r:embed="rId3"/>
                          <a:stretch>
                            <a:fillRect l="-91691" t="-266667" r="-391" b="-270000"/>
                          </a:stretch>
                        </a:blipFill>
                      </a:tcPr>
                    </a:tc>
                    <a:extLst>
                      <a:ext uri="{0D108BD9-81ED-4DB2-BD59-A6C34878D82A}">
                        <a16:rowId xmlns:a16="http://schemas.microsoft.com/office/drawing/2014/main" val="518136395"/>
                      </a:ext>
                    </a:extLst>
                  </a:tr>
                  <a:tr h="518160">
                    <a:tc>
                      <a:txBody>
                        <a:bodyPr/>
                        <a:lstStyle/>
                        <a:p>
                          <a:endParaRPr lang="en-US"/>
                        </a:p>
                      </a:txBody>
                      <a:tcPr>
                        <a:blipFill>
                          <a:blip r:embed="rId3"/>
                          <a:stretch>
                            <a:fillRect l="-107" t="-388235" r="-109605" b="-185882"/>
                          </a:stretch>
                        </a:blipFill>
                      </a:tcPr>
                    </a:tc>
                    <a:tc>
                      <a:txBody>
                        <a:bodyPr/>
                        <a:lstStyle/>
                        <a:p>
                          <a:endParaRPr lang="en-US"/>
                        </a:p>
                      </a:txBody>
                      <a:tcPr>
                        <a:blipFill>
                          <a:blip r:embed="rId3"/>
                          <a:stretch>
                            <a:fillRect l="-91691" t="-388235" r="-391" b="-185882"/>
                          </a:stretch>
                        </a:blipFill>
                      </a:tcPr>
                    </a:tc>
                    <a:extLst>
                      <a:ext uri="{0D108BD9-81ED-4DB2-BD59-A6C34878D82A}">
                        <a16:rowId xmlns:a16="http://schemas.microsoft.com/office/drawing/2014/main" val="1091878639"/>
                      </a:ext>
                    </a:extLst>
                  </a:tr>
                  <a:tr h="946785">
                    <a:tc>
                      <a:txBody>
                        <a:bodyPr/>
                        <a:lstStyle/>
                        <a:p>
                          <a:r>
                            <a:rPr lang="en-US" sz="2800" dirty="0">
                              <a:solidFill>
                                <a:schemeClr val="tx1"/>
                              </a:solidFill>
                            </a:rPr>
                            <a:t>Cosine Similarity</a:t>
                          </a:r>
                        </a:p>
                      </a:txBody>
                      <a:tcPr/>
                    </a:tc>
                    <a:tc>
                      <a:txBody>
                        <a:bodyPr/>
                        <a:lstStyle/>
                        <a:p>
                          <a:endParaRPr lang="en-US"/>
                        </a:p>
                      </a:txBody>
                      <a:tcPr>
                        <a:blipFill>
                          <a:blip r:embed="rId3"/>
                          <a:stretch>
                            <a:fillRect l="-91691" t="-266026" r="-391" b="-1282"/>
                          </a:stretch>
                        </a:blipFill>
                      </a:tcPr>
                    </a:tc>
                    <a:extLst>
                      <a:ext uri="{0D108BD9-81ED-4DB2-BD59-A6C34878D82A}">
                        <a16:rowId xmlns:a16="http://schemas.microsoft.com/office/drawing/2014/main" val="3545086956"/>
                      </a:ext>
                    </a:extLst>
                  </a:tr>
                </a:tbl>
              </a:graphicData>
            </a:graphic>
          </p:graphicFrame>
        </mc:Fallback>
      </mc:AlternateContent>
    </p:spTree>
    <p:extLst>
      <p:ext uri="{BB962C8B-B14F-4D97-AF65-F5344CB8AC3E}">
        <p14:creationId xmlns:p14="http://schemas.microsoft.com/office/powerpoint/2010/main" val="375258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Distance and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In some cases distance measures can be transformed to similarity</a:t>
                </a:r>
              </a:p>
              <a:p>
                <a:r>
                  <a:rPr lang="en-US" dirty="0">
                    <a:latin typeface="+mn-lt"/>
                  </a:rPr>
                  <a:t>May not be a unique transformation   </a:t>
                </a:r>
              </a:p>
              <a:p>
                <a:r>
                  <a:rPr lang="en-US" dirty="0">
                    <a:latin typeface="+mn-lt"/>
                  </a:rPr>
                  <a:t>Similarity must be in proper range:  </a:t>
                </a:r>
              </a:p>
              <a:p>
                <a:pPr lvl="1"/>
                <a:r>
                  <a:rPr lang="en-US" dirty="0">
                    <a:latin typeface="+mn-lt"/>
                  </a:rPr>
                  <a:t>[-1,1]</a:t>
                </a:r>
              </a:p>
              <a:p>
                <a:pPr lvl="1"/>
                <a:r>
                  <a:rPr lang="en-US" dirty="0">
                    <a:latin typeface="+mn-lt"/>
                  </a:rPr>
                  <a:t>[0,1] </a:t>
                </a:r>
              </a:p>
              <a:p>
                <a:r>
                  <a:rPr lang="en-US" dirty="0">
                    <a:latin typeface="+mn-lt"/>
                  </a:rPr>
                  <a:t>Distance always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0</m:t>
                    </m:r>
                  </m:oMath>
                </a14:m>
                <a:endParaRPr lang="en-US" dirty="0">
                  <a:latin typeface="+mn-lt"/>
                </a:endParaRPr>
              </a:p>
              <a:p>
                <a:r>
                  <a:rPr lang="en-US" dirty="0">
                    <a:latin typeface="+mn-lt"/>
                  </a:rPr>
                  <a:t>Examples </a:t>
                </a:r>
                <a:r>
                  <a:rPr lang="en-US">
                    <a:latin typeface="+mn-lt"/>
                  </a:rPr>
                  <a:t>of transformations for Euclidean metrics </a:t>
                </a:r>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1+</m:t>
                          </m:r>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den>
                      </m:f>
                    </m:oMath>
                  </m:oMathPara>
                </a14:m>
                <a:endParaRPr lang="en-US" dirty="0"/>
              </a:p>
              <a:p>
                <a:pPr marL="0" indent="0">
                  <a:buNone/>
                </a:pPr>
                <a:endParaRPr lang="en-US" sz="1200"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p>
                            <m:sSupPr>
                              <m:ctrlPr>
                                <a:rPr lang="en-US" i="1">
                                  <a:latin typeface="Cambria Math" panose="02040503050406030204" pitchFamily="18" charset="0"/>
                                </a:rPr>
                              </m:ctrlPr>
                            </m:sSupPr>
                            <m:e>
                              <m:r>
                                <a:rPr lang="en-US" i="1">
                                  <a:latin typeface="Cambria Math" panose="02040503050406030204" pitchFamily="18" charset="0"/>
                                </a:rPr>
                                <m:t>𝑒</m:t>
                              </m:r>
                            </m:e>
                            <m:sup>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sup>
                          </m:sSup>
                        </m:den>
                      </m:f>
                    </m:oMath>
                  </m:oMathPara>
                </a14:m>
                <a:endParaRPr lang="en-US" dirty="0"/>
              </a:p>
              <a:p>
                <a:pPr marL="0" indent="0">
                  <a:buNone/>
                </a:pPr>
                <a:endParaRPr lang="en-US" sz="2400"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400016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DECDF-814A-B2D1-F5F0-82FF12F079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266A1-0CB3-712B-C7AA-92B375DAF3B2}"/>
              </a:ext>
            </a:extLst>
          </p:cNvPr>
          <p:cNvSpPr>
            <a:spLocks noGrp="1"/>
          </p:cNvSpPr>
          <p:nvPr>
            <p:ph type="title"/>
          </p:nvPr>
        </p:nvSpPr>
        <p:spPr>
          <a:xfrm>
            <a:off x="831850" y="1709738"/>
            <a:ext cx="10515600" cy="2104337"/>
          </a:xfrm>
        </p:spPr>
        <p:txBody>
          <a:bodyPr/>
          <a:lstStyle/>
          <a:p>
            <a:pPr algn="ctr"/>
            <a:r>
              <a:rPr lang="en-US" b="1" dirty="0"/>
              <a:t>Scaling Distance and Similarity Metrics</a:t>
            </a:r>
          </a:p>
        </p:txBody>
      </p:sp>
    </p:spTree>
    <p:extLst>
      <p:ext uri="{BB962C8B-B14F-4D97-AF65-F5344CB8AC3E}">
        <p14:creationId xmlns:p14="http://schemas.microsoft.com/office/powerpoint/2010/main" val="41490671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mc:AlternateContent xmlns:mc="http://schemas.openxmlformats.org/markup-compatibility/2006">
        <mc:Choice xmlns:a14="http://schemas.microsoft.com/office/drawing/2010/main"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pPr lvl="1"/>
                <a14:m>
                  <m:oMath xmlns:m="http://schemas.openxmlformats.org/officeDocument/2006/math">
                    <m:f>
                      <m:fPr>
                        <m:ctrlPr>
                          <a:rPr lang="en-US" i="1">
                            <a:latin typeface="+mn-lt"/>
                          </a:rPr>
                        </m:ctrlPr>
                      </m:fPr>
                      <m:num>
                        <m:r>
                          <a:rPr lang="en-US" i="1">
                            <a:latin typeface="+mn-lt"/>
                          </a:rPr>
                          <m:t>𝑛</m:t>
                        </m:r>
                        <m:d>
                          <m:dPr>
                            <m:ctrlPr>
                              <a:rPr lang="en-US" i="1">
                                <a:latin typeface="+mn-lt"/>
                              </a:rPr>
                            </m:ctrlPr>
                          </m:dPr>
                          <m:e>
                            <m:r>
                              <a:rPr lang="en-US" i="1">
                                <a:latin typeface="+mn-lt"/>
                              </a:rPr>
                              <m:t>𝑛</m:t>
                            </m:r>
                            <m:r>
                              <a:rPr lang="en-US" i="1">
                                <a:latin typeface="+mn-lt"/>
                              </a:rPr>
                              <m:t>−1</m:t>
                            </m:r>
                          </m:e>
                        </m:d>
                      </m:num>
                      <m:den>
                        <m:r>
                          <a:rPr lang="en-US" i="1">
                            <a:latin typeface="+mn-lt"/>
                          </a:rPr>
                          <m:t>2</m:t>
                        </m:r>
                      </m:den>
                    </m:f>
                  </m:oMath>
                </a14:m>
                <a:r>
                  <a:rPr lang="en-US" dirty="0">
                    <a:latin typeface="+mn-lt"/>
                  </a:rPr>
                  <a:t> unique values</a:t>
                </a:r>
              </a:p>
              <a:p>
                <a:r>
                  <a:rPr lang="en-US" dirty="0">
                    <a:latin typeface="+mn-lt"/>
                  </a:rPr>
                  <a:t>But, 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mn-lt"/>
                      </a:rPr>
                      <m:t>𝑶</m:t>
                    </m:r>
                    <m:d>
                      <m:dPr>
                        <m:ctrlPr>
                          <a:rPr lang="en-US" b="1" i="1" smtClean="0">
                            <a:latin typeface="+mn-lt"/>
                          </a:rPr>
                        </m:ctrlPr>
                      </m:dPr>
                      <m:e>
                        <m:sSup>
                          <m:sSupPr>
                            <m:ctrlPr>
                              <a:rPr lang="en-US" b="1" i="1" smtClean="0">
                                <a:latin typeface="+mn-lt"/>
                              </a:rPr>
                            </m:ctrlPr>
                          </m:sSupPr>
                          <m:e>
                            <m:r>
                              <a:rPr lang="en-US" b="1" i="1" smtClean="0">
                                <a:latin typeface="+mn-lt"/>
                              </a:rPr>
                              <m:t>𝒏</m:t>
                            </m:r>
                          </m:e>
                          <m:sup>
                            <m:r>
                              <a:rPr lang="en-US" b="1" i="1" smtClean="0">
                                <a:latin typeface="+mn-lt"/>
                              </a:rPr>
                              <m:t>𝟐</m:t>
                            </m:r>
                          </m:sup>
                        </m:sSup>
                      </m:e>
                    </m:d>
                  </m:oMath>
                </a14:m>
                <a:endParaRPr lang="en-US" dirty="0">
                  <a:latin typeface="+mn-lt"/>
                </a:endParaRPr>
              </a:p>
              <a:p>
                <a:endParaRPr lang="en-US" dirty="0">
                  <a:latin typeface="+mn-lt"/>
                </a:endParaRPr>
              </a:p>
            </p:txBody>
          </p:sp>
        </mc:Choice>
        <mc:Fallback>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6794698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dirty="0">
                    <a:latin typeface="+mn-lt"/>
                  </a:rPr>
                  <a:t>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r>
                      <a:rPr lang="en-US" b="1" i="1">
                        <a:latin typeface="Cambria Math" panose="02040503050406030204" pitchFamily="18" charset="0"/>
                      </a:rPr>
                      <m:t> </m:t>
                    </m:r>
                  </m:oMath>
                </a14:m>
                <a:endParaRPr lang="en-US" dirty="0">
                  <a:latin typeface="+mn-lt"/>
                </a:endParaRPr>
              </a:p>
              <a:p>
                <a:r>
                  <a:rPr lang="en-US" dirty="0">
                    <a:latin typeface="+mn-lt"/>
                  </a:rPr>
                  <a:t>How can we </a:t>
                </a:r>
                <a:r>
                  <a:rPr lang="en-US" b="1" dirty="0">
                    <a:latin typeface="+mn-lt"/>
                  </a:rPr>
                  <a:t>massively scale</a:t>
                </a:r>
                <a:r>
                  <a:rPr lang="en-US" dirty="0">
                    <a:latin typeface="+mn-lt"/>
                  </a:rPr>
                  <a:t>?    </a:t>
                </a:r>
              </a:p>
              <a:p>
                <a:r>
                  <a:rPr lang="en-US" b="1" dirty="0">
                    <a:latin typeface="+mn-lt"/>
                  </a:rPr>
                  <a:t>Use an approximate sparse graph representation!</a:t>
                </a:r>
              </a:p>
              <a:p>
                <a:r>
                  <a:rPr lang="en-US" dirty="0">
                    <a:latin typeface="+mn-lt"/>
                  </a:rPr>
                  <a:t>Compute distance or similarity metric along graph edges </a:t>
                </a:r>
              </a:p>
              <a:p>
                <a:pPr lvl="1"/>
                <a:r>
                  <a:rPr lang="en-US" dirty="0">
                    <a:latin typeface="+mn-lt"/>
                  </a:rPr>
                  <a:t>Only consider metric between </a:t>
                </a:r>
                <a:r>
                  <a:rPr lang="en-US" b="1" dirty="0">
                    <a:latin typeface="+mn-lt"/>
                  </a:rPr>
                  <a:t>nearest neighbors (NNs)</a:t>
                </a:r>
              </a:p>
              <a:p>
                <a:pPr lvl="1"/>
                <a:r>
                  <a:rPr lang="en-US" dirty="0">
                    <a:latin typeface="+mn-lt"/>
                  </a:rPr>
                  <a:t>Nearest neighbors are most important </a:t>
                </a:r>
              </a:p>
              <a:p>
                <a:pPr lvl="1"/>
                <a:r>
                  <a:rPr lang="en-US" dirty="0">
                    <a:latin typeface="+mn-lt"/>
                  </a:rPr>
                  <a:t>The nearest neighbor approximation </a:t>
                </a:r>
              </a:p>
              <a:p>
                <a:pPr marL="0" indent="0">
                  <a:buNone/>
                </a:pPr>
                <a:r>
                  <a:rPr lang="en-US" b="1" dirty="0">
                    <a:solidFill>
                      <a:srgbClr val="C00000"/>
                    </a:solidFill>
                    <a:latin typeface="+mn-lt"/>
                  </a:rPr>
                  <a:t>Don’t confuse this idea with clustering models! – No cluster assignment</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353821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b="1" dirty="0">
                <a:latin typeface="+mn-lt"/>
              </a:rPr>
              <a:t>Sparse graph representation</a:t>
            </a:r>
            <a:r>
              <a:rPr lang="en-US" dirty="0">
                <a:latin typeface="+mn-lt"/>
              </a:rPr>
              <a:t> reduces computation and memory use    </a:t>
            </a:r>
          </a:p>
          <a:p>
            <a:r>
              <a:rPr lang="en-US" dirty="0">
                <a:latin typeface="+mn-lt"/>
              </a:rPr>
              <a:t>In many practical situations only need measure for closest neighbors   </a:t>
            </a:r>
          </a:p>
          <a:p>
            <a:pPr lvl="1"/>
            <a:r>
              <a:rPr lang="en-US" dirty="0">
                <a:latin typeface="+mn-lt"/>
              </a:rPr>
              <a:t>Construct graph of </a:t>
            </a:r>
            <a:r>
              <a:rPr lang="en-US" b="1" dirty="0">
                <a:latin typeface="+mn-lt"/>
              </a:rPr>
              <a:t>nearest neighbors     </a:t>
            </a:r>
          </a:p>
          <a:p>
            <a:pPr lvl="1"/>
            <a:r>
              <a:rPr lang="en-US" dirty="0">
                <a:latin typeface="+mn-lt"/>
              </a:rPr>
              <a:t>Neglect metric for less important distant nodes</a:t>
            </a:r>
          </a:p>
          <a:p>
            <a:r>
              <a:rPr lang="en-US" dirty="0">
                <a:latin typeface="+mn-lt"/>
              </a:rPr>
              <a:t>Ways to define nearest neighbor      </a:t>
            </a:r>
          </a:p>
          <a:p>
            <a:pPr lvl="1"/>
            <a:r>
              <a:rPr lang="en-US" dirty="0">
                <a:latin typeface="+mn-lt"/>
              </a:rPr>
              <a:t>Neighbors within radius </a:t>
            </a:r>
            <a:r>
              <a:rPr lang="en-US" b="1" dirty="0">
                <a:latin typeface="+mn-lt"/>
              </a:rPr>
              <a:t>r</a:t>
            </a:r>
          </a:p>
          <a:p>
            <a:pPr lvl="1"/>
            <a:r>
              <a:rPr lang="en-US" dirty="0">
                <a:latin typeface="+mn-lt"/>
              </a:rPr>
              <a:t>Nearest </a:t>
            </a:r>
            <a:r>
              <a:rPr lang="en-US" b="1" dirty="0">
                <a:latin typeface="+mn-lt"/>
              </a:rPr>
              <a:t>k </a:t>
            </a:r>
            <a:r>
              <a:rPr lang="en-US" dirty="0">
                <a:latin typeface="+mn-lt"/>
              </a:rPr>
              <a:t>neighbors     </a:t>
            </a:r>
            <a:endParaRPr lang="en-US" b="1" dirty="0">
              <a:latin typeface="+mn-lt"/>
            </a:endParaRPr>
          </a:p>
          <a:p>
            <a:endParaRPr lang="en-US" dirty="0">
              <a:latin typeface="+mn-lt"/>
            </a:endParaRPr>
          </a:p>
        </p:txBody>
      </p:sp>
    </p:spTree>
    <p:extLst>
      <p:ext uri="{BB962C8B-B14F-4D97-AF65-F5344CB8AC3E}">
        <p14:creationId xmlns:p14="http://schemas.microsoft.com/office/powerpoint/2010/main" val="3969366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p:pic>
        <p:nvPicPr>
          <p:cNvPr id="5" name="Picture 4">
            <a:extLst>
              <a:ext uri="{FF2B5EF4-FFF2-40B4-BE49-F238E27FC236}">
                <a16:creationId xmlns:a16="http://schemas.microsoft.com/office/drawing/2014/main" id="{A5548DED-98F8-A31E-5342-F683E842C912}"/>
              </a:ext>
            </a:extLst>
          </p:cNvPr>
          <p:cNvPicPr>
            <a:picLocks noChangeAspect="1"/>
          </p:cNvPicPr>
          <p:nvPr/>
        </p:nvPicPr>
        <p:blipFill>
          <a:blip r:embed="rId3"/>
          <a:stretch>
            <a:fillRect/>
          </a:stretch>
        </p:blipFill>
        <p:spPr>
          <a:xfrm>
            <a:off x="6637362" y="1398559"/>
            <a:ext cx="5263486" cy="5379935"/>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7" y="1709893"/>
                <a:ext cx="605873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radius   </a:t>
                </a:r>
              </a:p>
              <a:p>
                <a:pPr marL="285750" indent="-285750">
                  <a:buFont typeface="Arial" panose="020B0604020202020204" pitchFamily="34" charset="0"/>
                  <a:buChar char="•"/>
                </a:pPr>
                <a:r>
                  <a:rPr lang="en-US" sz="2800" dirty="0"/>
                  <a:t>Need to select a radius   </a:t>
                </a:r>
              </a:p>
              <a:p>
                <a:pPr marL="285750" indent="-285750">
                  <a:buFont typeface="Arial" panose="020B0604020202020204" pitchFamily="34" charset="0"/>
                  <a:buChar char="•"/>
                </a:pPr>
                <a:r>
                  <a:rPr lang="en-US" sz="2800" dirty="0"/>
                  <a:t>Connectivity increases with radius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𝑚𝑜𝑟𝑒</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𝑑𝑖𝑠𝑐𝑜𝑛𝑛𝑒𝑐𝑡𝑒𝑑</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7" y="1709893"/>
                <a:ext cx="6058732" cy="3970318"/>
              </a:xfrm>
              <a:prstGeom prst="rect">
                <a:avLst/>
              </a:prstGeom>
              <a:blipFill>
                <a:blip r:embed="rId4"/>
                <a:stretch>
                  <a:fillRect l="-1811" t="-1380" b="-3374"/>
                </a:stretch>
              </a:blipFill>
            </p:spPr>
            <p:txBody>
              <a:bodyPr/>
              <a:lstStyle/>
              <a:p>
                <a:r>
                  <a:rPr lang="en-US">
                    <a:noFill/>
                  </a:rPr>
                  <a:t> </a:t>
                </a:r>
              </a:p>
            </p:txBody>
          </p:sp>
        </mc:Fallback>
      </mc:AlternateContent>
    </p:spTree>
    <p:extLst>
      <p:ext uri="{BB962C8B-B14F-4D97-AF65-F5344CB8AC3E}">
        <p14:creationId xmlns:p14="http://schemas.microsoft.com/office/powerpoint/2010/main" val="3644900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8" y="1709893"/>
                <a:ext cx="585190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number of neighbors, </a:t>
                </a:r>
                <a:r>
                  <a:rPr lang="en-US" sz="2800" i="1" dirty="0"/>
                  <a:t>k</a:t>
                </a:r>
                <a:r>
                  <a:rPr lang="en-US" sz="2800" dirty="0"/>
                  <a:t> </a:t>
                </a:r>
              </a:p>
              <a:p>
                <a:pPr marL="285750" indent="-285750">
                  <a:buFont typeface="Arial" panose="020B0604020202020204" pitchFamily="34" charset="0"/>
                  <a:buChar char="•"/>
                </a:pPr>
                <a:r>
                  <a:rPr lang="en-US" sz="2800" dirty="0"/>
                  <a:t>Need to select </a:t>
                </a:r>
                <a:r>
                  <a:rPr lang="en-US" sz="2800" i="1" dirty="0"/>
                  <a:t>k</a:t>
                </a:r>
              </a:p>
              <a:p>
                <a:pPr marL="285750" indent="-285750">
                  <a:buFont typeface="Arial" panose="020B0604020202020204" pitchFamily="34" charset="0"/>
                  <a:buChar char="•"/>
                </a:pPr>
                <a:r>
                  <a:rPr lang="en-US" sz="2800" dirty="0"/>
                  <a:t>Connectivity increases with </a:t>
                </a:r>
                <a:r>
                  <a:rPr lang="en-US" sz="2800" i="1" dirty="0"/>
                  <a:t>k</a:t>
                </a:r>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𝑚𝑜𝑟𝑒</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8" y="1709893"/>
                <a:ext cx="5851902" cy="3970318"/>
              </a:xfrm>
              <a:prstGeom prst="rect">
                <a:avLst/>
              </a:prstGeom>
              <a:blipFill>
                <a:blip r:embed="rId3"/>
                <a:stretch>
                  <a:fillRect l="-1875" t="-1380" b="-3374"/>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297319D1-4DCF-AFF0-425A-78BBDE86D563}"/>
              </a:ext>
            </a:extLst>
          </p:cNvPr>
          <p:cNvPicPr>
            <a:picLocks noChangeAspect="1"/>
          </p:cNvPicPr>
          <p:nvPr/>
        </p:nvPicPr>
        <p:blipFill>
          <a:blip r:embed="rId4"/>
          <a:stretch>
            <a:fillRect/>
          </a:stretch>
        </p:blipFill>
        <p:spPr>
          <a:xfrm>
            <a:off x="6405349" y="1319284"/>
            <a:ext cx="5225962" cy="5477301"/>
          </a:xfrm>
          <a:prstGeom prst="rect">
            <a:avLst/>
          </a:prstGeom>
        </p:spPr>
      </p:pic>
    </p:spTree>
    <p:extLst>
      <p:ext uri="{BB962C8B-B14F-4D97-AF65-F5344CB8AC3E}">
        <p14:creationId xmlns:p14="http://schemas.microsoft.com/office/powerpoint/2010/main" val="399259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009F9-38F8-D01E-FD1B-36661DE8F9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A2C7FF-A030-E540-3122-5EC52D0805A5}"/>
              </a:ext>
            </a:extLst>
          </p:cNvPr>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A4F0993-0786-0096-C5C8-4A5AB5B496D8}"/>
                  </a:ext>
                </a:extLst>
              </p:cNvPr>
              <p:cNvSpPr>
                <a:spLocks noGrp="1"/>
              </p:cNvSpPr>
              <p:nvPr>
                <p:ph sz="quarter" idx="10"/>
              </p:nvPr>
            </p:nvSpPr>
            <p:spPr>
              <a:xfrm>
                <a:off x="333375" y="896078"/>
                <a:ext cx="11525250" cy="5523771"/>
              </a:xfrm>
            </p:spPr>
            <p:txBody>
              <a:bodyPr>
                <a:normAutofit lnSpcReduction="10000"/>
              </a:bodyPr>
              <a:lstStyle/>
              <a:p>
                <a:pPr marL="0" indent="0">
                  <a:buNone/>
                </a:pPr>
                <a:r>
                  <a:rPr lang="en-US" dirty="0">
                    <a:latin typeface="+mn-lt"/>
                  </a:rPr>
                  <a:t>Represent a graph by its association matrix, </a:t>
                </a:r>
                <a:r>
                  <a:rPr lang="en-US" i="1" dirty="0">
                    <a:latin typeface="+mn-lt"/>
                  </a:rPr>
                  <a:t>A</a:t>
                </a:r>
                <a:endParaRPr lang="en-US" sz="2800" i="1" baseline="-25000" dirty="0">
                  <a:latin typeface="+mn-lt"/>
                </a:endParaRPr>
              </a:p>
              <a:p>
                <a:r>
                  <a:rPr lang="en-US" dirty="0">
                    <a:latin typeface="+mn-lt"/>
                  </a:rPr>
                  <a:t>The values in the association matrix represent the distance or similarity between nodes of the graph </a:t>
                </a:r>
              </a:p>
              <a:p>
                <a:pPr lvl="1"/>
                <a:r>
                  <a:rPr lang="en-US" dirty="0">
                    <a:latin typeface="+mn-lt"/>
                  </a:rPr>
                  <a:t>Example the distance between node </a:t>
                </a:r>
                <a14:m>
                  <m:oMath xmlns:m="http://schemas.openxmlformats.org/officeDocument/2006/math">
                    <m:r>
                      <a:rPr lang="en-US" i="1">
                        <a:latin typeface="Cambria Math" panose="02040503050406030204" pitchFamily="18" charset="0"/>
                      </a:rPr>
                      <m:t>𝑖</m:t>
                    </m:r>
                  </m:oMath>
                </a14:m>
                <a:r>
                  <a:rPr lang="en-US" dirty="0">
                    <a:latin typeface="+mn-lt"/>
                  </a:rPr>
                  <a:t> and node </a:t>
                </a:r>
                <a14:m>
                  <m:oMath xmlns:m="http://schemas.openxmlformats.org/officeDocument/2006/math">
                    <m:r>
                      <a:rPr lang="en-US" i="1">
                        <a:latin typeface="Cambria Math" panose="02040503050406030204" pitchFamily="18" charset="0"/>
                      </a:rPr>
                      <m:t>𝑗</m:t>
                    </m:r>
                  </m:oMath>
                </a14:m>
                <a:r>
                  <a:rPr lang="en-US" dirty="0">
                    <a:latin typeface="+mn-lt"/>
                  </a:rPr>
                  <a:t> is represented as the matrix element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oMath>
                </a14:m>
                <a:endParaRPr lang="en-US" dirty="0">
                  <a:latin typeface="+mn-lt"/>
                </a:endParaRPr>
              </a:p>
              <a:p>
                <a:r>
                  <a:rPr lang="en-US" dirty="0">
                    <a:latin typeface="+mn-lt"/>
                  </a:rPr>
                  <a:t>A dense graph has </a:t>
                </a:r>
                <a14:m>
                  <m:oMath xmlns:m="http://schemas.openxmlformats.org/officeDocument/2006/math">
                    <m:r>
                      <a:rPr lang="en-US" b="1" i="1">
                        <a:latin typeface="Cambria Math" panose="02040503050406030204" pitchFamily="18" charset="0"/>
                      </a:rPr>
                      <m:t>𝑶</m:t>
                    </m:r>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𝒏</m:t>
                            </m:r>
                          </m:e>
                          <m:sup>
                            <m:r>
                              <a:rPr lang="en-US" b="1" i="1">
                                <a:latin typeface="Cambria Math" panose="02040503050406030204" pitchFamily="18" charset="0"/>
                              </a:rPr>
                              <m:t>𝟐</m:t>
                            </m:r>
                          </m:sup>
                        </m:sSup>
                      </m:e>
                    </m:d>
                  </m:oMath>
                </a14:m>
                <a:r>
                  <a:rPr lang="en-US" b="1" dirty="0">
                    <a:latin typeface="+mn-lt"/>
                  </a:rPr>
                  <a:t> </a:t>
                </a:r>
                <a:r>
                  <a:rPr lang="en-US" dirty="0">
                    <a:latin typeface="+mn-lt"/>
                  </a:rPr>
                  <a:t>edges in the association matrix   </a:t>
                </a:r>
              </a:p>
              <a:p>
                <a:pPr lvl="1"/>
                <a:r>
                  <a:rPr lang="en-US" dirty="0">
                    <a:latin typeface="+mn-lt"/>
                  </a:rPr>
                  <a:t>A distance or similarity graph is symmetric,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𝑖</m:t>
                        </m:r>
                      </m:sub>
                    </m:sSub>
                  </m:oMath>
                </a14:m>
                <a:r>
                  <a:rPr lang="en-US" dirty="0">
                    <a:latin typeface="+mn-lt"/>
                  </a:rPr>
                  <a:t>, and has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oMath>
                </a14:m>
                <a:r>
                  <a:rPr lang="en-US" dirty="0">
                    <a:latin typeface="+mn-lt"/>
                  </a:rPr>
                  <a:t> unique values</a:t>
                </a:r>
              </a:p>
              <a:p>
                <a:pPr lvl="1"/>
                <a:r>
                  <a:rPr lang="en-US" dirty="0">
                    <a:latin typeface="+mn-lt"/>
                  </a:rPr>
                  <a:t>The graph can be represented by an upper or lower triangular matrix  </a:t>
                </a:r>
              </a:p>
              <a:p>
                <a:r>
                  <a:rPr lang="en-US" b="1" dirty="0">
                    <a:latin typeface="+mn-lt"/>
                  </a:rPr>
                  <a:t>Sparse nearest neighbor graph representation</a:t>
                </a:r>
                <a:r>
                  <a:rPr lang="en-US" dirty="0">
                    <a:latin typeface="+mn-lt"/>
                  </a:rPr>
                  <a:t> reduces the number of nonzero edge values     </a:t>
                </a:r>
              </a:p>
              <a:p>
                <a:pPr lvl="1"/>
                <a:r>
                  <a:rPr lang="en-US" dirty="0">
                    <a:latin typeface="+mn-lt"/>
                  </a:rPr>
                  <a:t>We do not need to store the zero values   </a:t>
                </a:r>
              </a:p>
              <a:p>
                <a:pPr lvl="1"/>
                <a:r>
                  <a:rPr lang="en-US" dirty="0">
                    <a:latin typeface="+mn-lt"/>
                  </a:rPr>
                  <a:t>Can use </a:t>
                </a:r>
                <a14:m>
                  <m:oMath xmlns:m="http://schemas.openxmlformats.org/officeDocument/2006/math">
                    <m:d>
                      <m:dPr>
                        <m:ctrlPr>
                          <a:rPr lang="en-US"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r>
                          <a:rPr lang="en-US" b="0" i="1" smtClean="0">
                            <a:latin typeface="Cambria Math" panose="02040503050406030204" pitchFamily="18" charset="0"/>
                          </a:rPr>
                          <m:t>𝑉</m:t>
                        </m:r>
                      </m:e>
                    </m:d>
                  </m:oMath>
                </a14:m>
                <a:r>
                  <a:rPr lang="en-US" dirty="0">
                    <a:latin typeface="+mn-lt"/>
                  </a:rPr>
                  <a:t> pairs with </a:t>
                </a:r>
                <a14:m>
                  <m:oMath xmlns:m="http://schemas.openxmlformats.org/officeDocument/2006/math">
                    <m:r>
                      <a:rPr lang="en-US" b="0" i="1" smtClean="0">
                        <a:latin typeface="Cambria Math" panose="02040503050406030204" pitchFamily="18" charset="0"/>
                      </a:rPr>
                      <m:t>𝑘𝑒𝑦</m:t>
                    </m:r>
                    <m:r>
                      <a:rPr lang="en-US" b="0" i="1" smtClean="0">
                        <a:latin typeface="Cambria Math" panose="02040503050406030204" pitchFamily="18" charset="0"/>
                      </a:rPr>
                      <m:t>= </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latin typeface="+mn-lt"/>
                  </a:rPr>
                  <a:t> and value of distance or similarity   </a:t>
                </a:r>
              </a:p>
              <a:p>
                <a:pPr lvl="1"/>
                <a:r>
                  <a:rPr lang="en-US" dirty="0">
                    <a:latin typeface="+mn-lt"/>
                  </a:rPr>
                  <a:t>The is know as the </a:t>
                </a:r>
                <a:r>
                  <a:rPr lang="en-US" b="1" dirty="0">
                    <a:latin typeface="+mn-lt"/>
                  </a:rPr>
                  <a:t>Yale representation</a:t>
                </a:r>
                <a:r>
                  <a:rPr lang="en-US" dirty="0">
                    <a:latin typeface="+mn-lt"/>
                  </a:rPr>
                  <a:t> of a sparse matrix   </a:t>
                </a:r>
                <a:r>
                  <a:rPr lang="en-US" b="1" dirty="0">
                    <a:latin typeface="+mn-lt"/>
                  </a:rPr>
                  <a:t>  </a:t>
                </a:r>
              </a:p>
              <a:p>
                <a:endParaRPr lang="en-US" dirty="0">
                  <a:latin typeface="+mn-lt"/>
                </a:endParaRPr>
              </a:p>
            </p:txBody>
          </p:sp>
        </mc:Choice>
        <mc:Fallback xmlns="">
          <p:sp>
            <p:nvSpPr>
              <p:cNvPr id="3" name="Content Placeholder 2">
                <a:extLst>
                  <a:ext uri="{FF2B5EF4-FFF2-40B4-BE49-F238E27FC236}">
                    <a16:creationId xmlns:a16="http://schemas.microsoft.com/office/drawing/2014/main" id="{EA4F0993-0786-0096-C5C8-4A5AB5B496D8}"/>
                  </a:ext>
                </a:extLst>
              </p:cNvPr>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2539"/>
                </a:stretch>
              </a:blipFill>
            </p:spPr>
            <p:txBody>
              <a:bodyPr/>
              <a:lstStyle/>
              <a:p>
                <a:r>
                  <a:rPr lang="en-US">
                    <a:noFill/>
                  </a:rPr>
                  <a:t> </a:t>
                </a:r>
              </a:p>
            </p:txBody>
          </p:sp>
        </mc:Fallback>
      </mc:AlternateContent>
    </p:spTree>
    <p:extLst>
      <p:ext uri="{BB962C8B-B14F-4D97-AF65-F5344CB8AC3E}">
        <p14:creationId xmlns:p14="http://schemas.microsoft.com/office/powerpoint/2010/main" val="3859003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1C15D-FF73-4393-A9E9-9025B85C8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2FCEA4-DC27-7894-D38A-1403A36F4BEA}"/>
              </a:ext>
            </a:extLst>
          </p:cNvPr>
          <p:cNvSpPr>
            <a:spLocks noGrp="1"/>
          </p:cNvSpPr>
          <p:nvPr>
            <p:ph type="title"/>
          </p:nvPr>
        </p:nvSpPr>
        <p:spPr>
          <a:xfrm>
            <a:off x="831850" y="1709738"/>
            <a:ext cx="10515600" cy="2104337"/>
          </a:xfrm>
        </p:spPr>
        <p:txBody>
          <a:bodyPr/>
          <a:lstStyle/>
          <a:p>
            <a:pPr algn="ctr"/>
            <a:r>
              <a:rPr lang="en-US" b="1" dirty="0"/>
              <a:t>Summary</a:t>
            </a:r>
          </a:p>
        </p:txBody>
      </p:sp>
    </p:spTree>
    <p:extLst>
      <p:ext uri="{BB962C8B-B14F-4D97-AF65-F5344CB8AC3E}">
        <p14:creationId xmlns:p14="http://schemas.microsoft.com/office/powerpoint/2010/main" val="6927848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Summary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Key points for this lesson</a:t>
            </a:r>
          </a:p>
          <a:p>
            <a:r>
              <a:rPr lang="en-US" b="1" dirty="0">
                <a:latin typeface="+mn-lt"/>
              </a:rPr>
              <a:t>Distance metrics </a:t>
            </a:r>
            <a:r>
              <a:rPr lang="en-US" dirty="0">
                <a:latin typeface="+mn-lt"/>
              </a:rPr>
              <a:t>and </a:t>
            </a:r>
            <a:r>
              <a:rPr lang="en-US" b="1" dirty="0">
                <a:latin typeface="+mn-lt"/>
              </a:rPr>
              <a:t>similarity metrics</a:t>
            </a:r>
            <a:r>
              <a:rPr lang="en-US" dirty="0">
                <a:latin typeface="+mn-lt"/>
              </a:rPr>
              <a:t> are foundational for unsupervised learning</a:t>
            </a:r>
          </a:p>
          <a:p>
            <a:r>
              <a:rPr lang="en-US" dirty="0">
                <a:latin typeface="+mn-lt"/>
              </a:rPr>
              <a:t>Distance and similarity metrics map 2 multivariate (vector) values to a scalar  </a:t>
            </a:r>
          </a:p>
          <a:p>
            <a:r>
              <a:rPr lang="en-US" dirty="0">
                <a:latin typeface="+mn-lt"/>
              </a:rPr>
              <a:t>Distance metric must conform to the </a:t>
            </a:r>
            <a:r>
              <a:rPr lang="en-US" b="1" dirty="0">
                <a:latin typeface="+mn-lt"/>
              </a:rPr>
              <a:t>4 axioms</a:t>
            </a:r>
            <a:r>
              <a:rPr lang="en-US" dirty="0">
                <a:latin typeface="+mn-lt"/>
              </a:rPr>
              <a:t>!  </a:t>
            </a:r>
          </a:p>
          <a:p>
            <a:r>
              <a:rPr lang="en-US" dirty="0">
                <a:latin typeface="+mn-lt"/>
              </a:rPr>
              <a:t>Different distance and similarity metrics find different relationships in data</a:t>
            </a:r>
          </a:p>
          <a:p>
            <a:pPr lvl="1"/>
            <a:r>
              <a:rPr lang="en-US" dirty="0">
                <a:latin typeface="+mn-lt"/>
              </a:rPr>
              <a:t>There is no one best metric!</a:t>
            </a:r>
          </a:p>
          <a:p>
            <a:pPr lvl="1"/>
            <a:r>
              <a:rPr lang="en-US" dirty="0">
                <a:latin typeface="+mn-lt"/>
              </a:rPr>
              <a:t>In practice, try several </a:t>
            </a:r>
          </a:p>
          <a:p>
            <a:r>
              <a:rPr lang="en-US" dirty="0">
                <a:latin typeface="+mn-lt"/>
              </a:rPr>
              <a:t>Can transform from similarity to distance </a:t>
            </a:r>
          </a:p>
          <a:p>
            <a:r>
              <a:rPr lang="en-US" sz="2800" dirty="0">
                <a:latin typeface="+mn-lt"/>
              </a:rPr>
              <a:t>Use </a:t>
            </a:r>
            <a:r>
              <a:rPr lang="en-US" dirty="0">
                <a:latin typeface="+mn-lt"/>
              </a:rPr>
              <a:t>sparse graph representation to massively improve scalability</a:t>
            </a:r>
            <a:endParaRPr lang="en-US" sz="2800" dirty="0">
              <a:latin typeface="+mn-lt"/>
            </a:endParaRPr>
          </a:p>
          <a:p>
            <a:pPr lvl="1"/>
            <a:endParaRPr lang="en-US" dirty="0"/>
          </a:p>
        </p:txBody>
      </p:sp>
    </p:spTree>
    <p:extLst>
      <p:ext uri="{BB962C8B-B14F-4D97-AF65-F5344CB8AC3E}">
        <p14:creationId xmlns:p14="http://schemas.microsoft.com/office/powerpoint/2010/main" val="18142524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12555</TotalTime>
  <Words>3352</Words>
  <Application>Microsoft Office PowerPoint</Application>
  <PresentationFormat>Widescreen</PresentationFormat>
  <Paragraphs>562</Paragraphs>
  <Slides>49</Slides>
  <Notes>41</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49</vt:i4>
      </vt:variant>
    </vt:vector>
  </HeadingPairs>
  <TitlesOfParts>
    <vt:vector size="57" baseType="lpstr">
      <vt:lpstr>Arial</vt:lpstr>
      <vt:lpstr>Calibri</vt:lpstr>
      <vt:lpstr>Calibri Light</vt:lpstr>
      <vt:lpstr>Cambria Math</vt:lpstr>
      <vt:lpstr>Segoe UI</vt:lpstr>
      <vt:lpstr>Segoe UI Light</vt:lpstr>
      <vt:lpstr>Symbol</vt:lpstr>
      <vt:lpstr>Office Theme</vt:lpstr>
      <vt:lpstr>CSCI E-96 Data Mining, Discovery and Exploration Distance and Similarity Measures</vt:lpstr>
      <vt:lpstr>Main topics in this course </vt:lpstr>
      <vt:lpstr>Measuring similarity and dissimilarity</vt:lpstr>
      <vt:lpstr>Measuring similarity and dissimilarity</vt:lpstr>
      <vt:lpstr>Properties of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Basic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Distance Metrics with Mixed Variable Types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Similarity Metrics</vt:lpstr>
      <vt:lpstr>Measuring distance and similarity</vt:lpstr>
      <vt:lpstr>Measuring Similarity</vt:lpstr>
      <vt:lpstr>Measuring Similarity</vt:lpstr>
      <vt:lpstr>Measuring Similarity</vt:lpstr>
      <vt:lpstr>Measuring Similarity</vt:lpstr>
      <vt:lpstr>Measuring Similarity</vt:lpstr>
      <vt:lpstr>Relationship Between Similarity and Distance</vt:lpstr>
      <vt:lpstr>Relationship Between Distance and Similarity</vt:lpstr>
      <vt:lpstr>Scaling Distance and Similarity Metrics</vt:lpstr>
      <vt:lpstr>Scaling distance and similarity measures</vt:lpstr>
      <vt:lpstr>Massively scaling distance and similarity measures</vt:lpstr>
      <vt:lpstr>Massively scaling distance and similarity measures</vt:lpstr>
      <vt:lpstr>Scaling distance and similarity measures</vt:lpstr>
      <vt:lpstr>Scaling distance and similarity measures</vt:lpstr>
      <vt:lpstr>Massively scaling distance and similarity measures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E-96 Data Mining, Discovery and Exploration Similarity Measres</dc:title>
  <dc:creator>Stephe Elston</dc:creator>
  <cp:lastModifiedBy>Stephen Elston</cp:lastModifiedBy>
  <cp:revision>289</cp:revision>
  <dcterms:created xsi:type="dcterms:W3CDTF">2021-06-01T18:04:30Z</dcterms:created>
  <dcterms:modified xsi:type="dcterms:W3CDTF">2026-06-25T02:00:45Z</dcterms:modified>
</cp:coreProperties>
</file>