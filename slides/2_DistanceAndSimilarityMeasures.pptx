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1"/>
  </p:notesMasterIdLst>
  <p:sldIdLst>
    <p:sldId id="719" r:id="rId2"/>
    <p:sldId id="819" r:id="rId3"/>
    <p:sldId id="604" r:id="rId4"/>
    <p:sldId id="731" r:id="rId5"/>
    <p:sldId id="687" r:id="rId6"/>
    <p:sldId id="778" r:id="rId7"/>
    <p:sldId id="686" r:id="rId8"/>
    <p:sldId id="672" r:id="rId9"/>
    <p:sldId id="608" r:id="rId10"/>
    <p:sldId id="612" r:id="rId11"/>
    <p:sldId id="722" r:id="rId12"/>
    <p:sldId id="779" r:id="rId13"/>
    <p:sldId id="607" r:id="rId14"/>
    <p:sldId id="673" r:id="rId15"/>
    <p:sldId id="674" r:id="rId16"/>
    <p:sldId id="783" r:id="rId17"/>
    <p:sldId id="721" r:id="rId18"/>
    <p:sldId id="732" r:id="rId19"/>
    <p:sldId id="734" r:id="rId20"/>
    <p:sldId id="736" r:id="rId21"/>
    <p:sldId id="735" r:id="rId22"/>
    <p:sldId id="680" r:id="rId23"/>
    <p:sldId id="730" r:id="rId24"/>
    <p:sldId id="610" r:id="rId25"/>
    <p:sldId id="611" r:id="rId26"/>
    <p:sldId id="780" r:id="rId27"/>
    <p:sldId id="609" r:id="rId28"/>
    <p:sldId id="613" r:id="rId29"/>
    <p:sldId id="616" r:id="rId30"/>
    <p:sldId id="615" r:id="rId31"/>
    <p:sldId id="617" r:id="rId32"/>
    <p:sldId id="618" r:id="rId33"/>
    <p:sldId id="781" r:id="rId34"/>
    <p:sldId id="641" r:id="rId35"/>
    <p:sldId id="679" r:id="rId36"/>
    <p:sldId id="724" r:id="rId37"/>
    <p:sldId id="723" r:id="rId38"/>
    <p:sldId id="737" r:id="rId39"/>
    <p:sldId id="685" r:id="rId40"/>
    <p:sldId id="682" r:id="rId41"/>
    <p:sldId id="683" r:id="rId42"/>
    <p:sldId id="782" r:id="rId43"/>
    <p:sldId id="725" r:id="rId44"/>
    <p:sldId id="726" r:id="rId45"/>
    <p:sldId id="727" r:id="rId46"/>
    <p:sldId id="728" r:id="rId47"/>
    <p:sldId id="729" r:id="rId48"/>
    <p:sldId id="784" r:id="rId49"/>
    <p:sldId id="720" r:id="rId5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983" autoAdjust="0"/>
    <p:restoredTop sz="94660"/>
  </p:normalViewPr>
  <p:slideViewPr>
    <p:cSldViewPr snapToGrid="0">
      <p:cViewPr varScale="1">
        <p:scale>
          <a:sx n="77" d="100"/>
          <a:sy n="77" d="100"/>
        </p:scale>
        <p:origin x="247"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DD534D1-5B48-49E9-A024-C5EAE54CADD0}" type="datetimeFigureOut">
              <a:rPr lang="en-US" smtClean="0"/>
              <a:t>6/16/2026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E2EEBAC-B083-4D6F-9402-80E985106B02}" type="slidenum">
              <a:rPr lang="en-US" smtClean="0"/>
              <a:t>‹#›</a:t>
            </a:fld>
            <a:endParaRPr lang="en-US"/>
          </a:p>
        </p:txBody>
      </p:sp>
    </p:spTree>
    <p:extLst>
      <p:ext uri="{BB962C8B-B14F-4D97-AF65-F5344CB8AC3E}">
        <p14:creationId xmlns:p14="http://schemas.microsoft.com/office/powerpoint/2010/main" val="28788251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3</a:t>
            </a:fld>
            <a:endParaRPr lang="en-US"/>
          </a:p>
        </p:txBody>
      </p:sp>
    </p:spTree>
    <p:extLst>
      <p:ext uri="{BB962C8B-B14F-4D97-AF65-F5344CB8AC3E}">
        <p14:creationId xmlns:p14="http://schemas.microsoft.com/office/powerpoint/2010/main" val="65526431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4</a:t>
            </a:fld>
            <a:endParaRPr lang="en-US"/>
          </a:p>
        </p:txBody>
      </p:sp>
    </p:spTree>
    <p:extLst>
      <p:ext uri="{BB962C8B-B14F-4D97-AF65-F5344CB8AC3E}">
        <p14:creationId xmlns:p14="http://schemas.microsoft.com/office/powerpoint/2010/main" val="34169082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5</a:t>
            </a:fld>
            <a:endParaRPr lang="en-US"/>
          </a:p>
        </p:txBody>
      </p:sp>
    </p:spTree>
    <p:extLst>
      <p:ext uri="{BB962C8B-B14F-4D97-AF65-F5344CB8AC3E}">
        <p14:creationId xmlns:p14="http://schemas.microsoft.com/office/powerpoint/2010/main" val="112992834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7</a:t>
            </a:fld>
            <a:endParaRPr lang="en-US"/>
          </a:p>
        </p:txBody>
      </p:sp>
    </p:spTree>
    <p:extLst>
      <p:ext uri="{BB962C8B-B14F-4D97-AF65-F5344CB8AC3E}">
        <p14:creationId xmlns:p14="http://schemas.microsoft.com/office/powerpoint/2010/main" val="148900169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8</a:t>
            </a:fld>
            <a:endParaRPr lang="en-US"/>
          </a:p>
        </p:txBody>
      </p:sp>
    </p:spTree>
    <p:extLst>
      <p:ext uri="{BB962C8B-B14F-4D97-AF65-F5344CB8AC3E}">
        <p14:creationId xmlns:p14="http://schemas.microsoft.com/office/powerpoint/2010/main" val="77425125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9</a:t>
            </a:fld>
            <a:endParaRPr lang="en-US"/>
          </a:p>
        </p:txBody>
      </p:sp>
    </p:spTree>
    <p:extLst>
      <p:ext uri="{BB962C8B-B14F-4D97-AF65-F5344CB8AC3E}">
        <p14:creationId xmlns:p14="http://schemas.microsoft.com/office/powerpoint/2010/main" val="182957749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10</a:t>
            </a:fld>
            <a:endParaRPr lang="en-US"/>
          </a:p>
        </p:txBody>
      </p:sp>
    </p:spTree>
    <p:extLst>
      <p:ext uri="{BB962C8B-B14F-4D97-AF65-F5344CB8AC3E}">
        <p14:creationId xmlns:p14="http://schemas.microsoft.com/office/powerpoint/2010/main" val="275023457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11</a:t>
            </a:fld>
            <a:endParaRPr lang="en-US"/>
          </a:p>
        </p:txBody>
      </p:sp>
    </p:spTree>
    <p:extLst>
      <p:ext uri="{BB962C8B-B14F-4D97-AF65-F5344CB8AC3E}">
        <p14:creationId xmlns:p14="http://schemas.microsoft.com/office/powerpoint/2010/main" val="265173033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13</a:t>
            </a:fld>
            <a:endParaRPr lang="en-US"/>
          </a:p>
        </p:txBody>
      </p:sp>
    </p:spTree>
    <p:extLst>
      <p:ext uri="{BB962C8B-B14F-4D97-AF65-F5344CB8AC3E}">
        <p14:creationId xmlns:p14="http://schemas.microsoft.com/office/powerpoint/2010/main" val="351960745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14</a:t>
            </a:fld>
            <a:endParaRPr lang="en-US"/>
          </a:p>
        </p:txBody>
      </p:sp>
    </p:spTree>
    <p:extLst>
      <p:ext uri="{BB962C8B-B14F-4D97-AF65-F5344CB8AC3E}">
        <p14:creationId xmlns:p14="http://schemas.microsoft.com/office/powerpoint/2010/main" val="320696465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15</a:t>
            </a:fld>
            <a:endParaRPr lang="en-US"/>
          </a:p>
        </p:txBody>
      </p:sp>
    </p:spTree>
    <p:extLst>
      <p:ext uri="{BB962C8B-B14F-4D97-AF65-F5344CB8AC3E}">
        <p14:creationId xmlns:p14="http://schemas.microsoft.com/office/powerpoint/2010/main" val="194243987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89892-C190-7F80-E633-2F0B93F3C2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DC9374-452A-2F26-4391-D7ECF17EFD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764D72-7AD7-307A-D8AC-AA5460C2A9B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1824AC6-4BE7-1798-4C03-A5E1D907E8AD}"/>
              </a:ext>
            </a:extLst>
          </p:cNvPr>
          <p:cNvSpPr>
            <a:spLocks noGrp="1"/>
          </p:cNvSpPr>
          <p:nvPr>
            <p:ph type="sldNum" sz="quarter" idx="10"/>
          </p:nvPr>
        </p:nvSpPr>
        <p:spPr/>
        <p:txBody>
          <a:bodyPr/>
          <a:lstStyle/>
          <a:p>
            <a:fld id="{4CFD207A-07DF-40AD-A916-9872E089CE7A}" type="slidenum">
              <a:rPr lang="en-US" smtClean="0"/>
              <a:pPr/>
              <a:t>16</a:t>
            </a:fld>
            <a:endParaRPr lang="en-US"/>
          </a:p>
        </p:txBody>
      </p:sp>
    </p:spTree>
    <p:extLst>
      <p:ext uri="{BB962C8B-B14F-4D97-AF65-F5344CB8AC3E}">
        <p14:creationId xmlns:p14="http://schemas.microsoft.com/office/powerpoint/2010/main" val="112101366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17</a:t>
            </a:fld>
            <a:endParaRPr lang="en-US"/>
          </a:p>
        </p:txBody>
      </p:sp>
    </p:spTree>
    <p:extLst>
      <p:ext uri="{BB962C8B-B14F-4D97-AF65-F5344CB8AC3E}">
        <p14:creationId xmlns:p14="http://schemas.microsoft.com/office/powerpoint/2010/main" val="387599921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18</a:t>
            </a:fld>
            <a:endParaRPr lang="en-US"/>
          </a:p>
        </p:txBody>
      </p:sp>
    </p:spTree>
    <p:extLst>
      <p:ext uri="{BB962C8B-B14F-4D97-AF65-F5344CB8AC3E}">
        <p14:creationId xmlns:p14="http://schemas.microsoft.com/office/powerpoint/2010/main" val="81017593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19</a:t>
            </a:fld>
            <a:endParaRPr lang="en-US"/>
          </a:p>
        </p:txBody>
      </p:sp>
    </p:spTree>
    <p:extLst>
      <p:ext uri="{BB962C8B-B14F-4D97-AF65-F5344CB8AC3E}">
        <p14:creationId xmlns:p14="http://schemas.microsoft.com/office/powerpoint/2010/main" val="205834578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20</a:t>
            </a:fld>
            <a:endParaRPr lang="en-US"/>
          </a:p>
        </p:txBody>
      </p:sp>
    </p:spTree>
    <p:extLst>
      <p:ext uri="{BB962C8B-B14F-4D97-AF65-F5344CB8AC3E}">
        <p14:creationId xmlns:p14="http://schemas.microsoft.com/office/powerpoint/2010/main" val="400888276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21</a:t>
            </a:fld>
            <a:endParaRPr lang="en-US"/>
          </a:p>
        </p:txBody>
      </p:sp>
    </p:spTree>
    <p:extLst>
      <p:ext uri="{BB962C8B-B14F-4D97-AF65-F5344CB8AC3E}">
        <p14:creationId xmlns:p14="http://schemas.microsoft.com/office/powerpoint/2010/main" val="195810091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22</a:t>
            </a:fld>
            <a:endParaRPr lang="en-US"/>
          </a:p>
        </p:txBody>
      </p:sp>
    </p:spTree>
    <p:extLst>
      <p:ext uri="{BB962C8B-B14F-4D97-AF65-F5344CB8AC3E}">
        <p14:creationId xmlns:p14="http://schemas.microsoft.com/office/powerpoint/2010/main" val="26951543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FDD6AC-BBD5-0301-5EC0-682DF15FF2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C36AFC-AEBA-94F9-213E-59AA2F4FC68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8174B8-2DA8-0FF6-67B4-878A73B0E1C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777531D-0D14-78C7-3AD8-1F582CCA33BF}"/>
              </a:ext>
            </a:extLst>
          </p:cNvPr>
          <p:cNvSpPr>
            <a:spLocks noGrp="1"/>
          </p:cNvSpPr>
          <p:nvPr>
            <p:ph type="sldNum" sz="quarter" idx="10"/>
          </p:nvPr>
        </p:nvSpPr>
        <p:spPr/>
        <p:txBody>
          <a:bodyPr/>
          <a:lstStyle/>
          <a:p>
            <a:fld id="{4CFD207A-07DF-40AD-A916-9872E089CE7A}" type="slidenum">
              <a:rPr lang="en-US" smtClean="0"/>
              <a:pPr/>
              <a:t>23</a:t>
            </a:fld>
            <a:endParaRPr lang="en-US"/>
          </a:p>
        </p:txBody>
      </p:sp>
    </p:spTree>
    <p:extLst>
      <p:ext uri="{BB962C8B-B14F-4D97-AF65-F5344CB8AC3E}">
        <p14:creationId xmlns:p14="http://schemas.microsoft.com/office/powerpoint/2010/main" val="413444464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24</a:t>
            </a:fld>
            <a:endParaRPr lang="en-US"/>
          </a:p>
        </p:txBody>
      </p:sp>
    </p:spTree>
    <p:extLst>
      <p:ext uri="{BB962C8B-B14F-4D97-AF65-F5344CB8AC3E}">
        <p14:creationId xmlns:p14="http://schemas.microsoft.com/office/powerpoint/2010/main" val="48953690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25</a:t>
            </a:fld>
            <a:endParaRPr lang="en-US"/>
          </a:p>
        </p:txBody>
      </p:sp>
    </p:spTree>
    <p:extLst>
      <p:ext uri="{BB962C8B-B14F-4D97-AF65-F5344CB8AC3E}">
        <p14:creationId xmlns:p14="http://schemas.microsoft.com/office/powerpoint/2010/main" val="24342011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27</a:t>
            </a:fld>
            <a:endParaRPr lang="en-US"/>
          </a:p>
        </p:txBody>
      </p:sp>
    </p:spTree>
    <p:extLst>
      <p:ext uri="{BB962C8B-B14F-4D97-AF65-F5344CB8AC3E}">
        <p14:creationId xmlns:p14="http://schemas.microsoft.com/office/powerpoint/2010/main" val="368242566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28</a:t>
            </a:fld>
            <a:endParaRPr lang="en-US"/>
          </a:p>
        </p:txBody>
      </p:sp>
    </p:spTree>
    <p:extLst>
      <p:ext uri="{BB962C8B-B14F-4D97-AF65-F5344CB8AC3E}">
        <p14:creationId xmlns:p14="http://schemas.microsoft.com/office/powerpoint/2010/main" val="109072200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29</a:t>
            </a:fld>
            <a:endParaRPr lang="en-US"/>
          </a:p>
        </p:txBody>
      </p:sp>
    </p:spTree>
    <p:extLst>
      <p:ext uri="{BB962C8B-B14F-4D97-AF65-F5344CB8AC3E}">
        <p14:creationId xmlns:p14="http://schemas.microsoft.com/office/powerpoint/2010/main" val="287551575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30</a:t>
            </a:fld>
            <a:endParaRPr lang="en-US"/>
          </a:p>
        </p:txBody>
      </p:sp>
    </p:spTree>
    <p:extLst>
      <p:ext uri="{BB962C8B-B14F-4D97-AF65-F5344CB8AC3E}">
        <p14:creationId xmlns:p14="http://schemas.microsoft.com/office/powerpoint/2010/main" val="406586664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31</a:t>
            </a:fld>
            <a:endParaRPr lang="en-US"/>
          </a:p>
        </p:txBody>
      </p:sp>
    </p:spTree>
    <p:extLst>
      <p:ext uri="{BB962C8B-B14F-4D97-AF65-F5344CB8AC3E}">
        <p14:creationId xmlns:p14="http://schemas.microsoft.com/office/powerpoint/2010/main" val="357501906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32</a:t>
            </a:fld>
            <a:endParaRPr lang="en-US"/>
          </a:p>
        </p:txBody>
      </p:sp>
    </p:spTree>
    <p:extLst>
      <p:ext uri="{BB962C8B-B14F-4D97-AF65-F5344CB8AC3E}">
        <p14:creationId xmlns:p14="http://schemas.microsoft.com/office/powerpoint/2010/main" val="23050272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34</a:t>
            </a:fld>
            <a:endParaRPr lang="en-US"/>
          </a:p>
        </p:txBody>
      </p:sp>
    </p:spTree>
    <p:extLst>
      <p:ext uri="{BB962C8B-B14F-4D97-AF65-F5344CB8AC3E}">
        <p14:creationId xmlns:p14="http://schemas.microsoft.com/office/powerpoint/2010/main" val="299502568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35</a:t>
            </a:fld>
            <a:endParaRPr lang="en-US"/>
          </a:p>
        </p:txBody>
      </p:sp>
    </p:spTree>
    <p:extLst>
      <p:ext uri="{BB962C8B-B14F-4D97-AF65-F5344CB8AC3E}">
        <p14:creationId xmlns:p14="http://schemas.microsoft.com/office/powerpoint/2010/main" val="240099922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36</a:t>
            </a:fld>
            <a:endParaRPr lang="en-US"/>
          </a:p>
        </p:txBody>
      </p:sp>
    </p:spTree>
    <p:extLst>
      <p:ext uri="{BB962C8B-B14F-4D97-AF65-F5344CB8AC3E}">
        <p14:creationId xmlns:p14="http://schemas.microsoft.com/office/powerpoint/2010/main" val="256039813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37</a:t>
            </a:fld>
            <a:endParaRPr lang="en-US"/>
          </a:p>
        </p:txBody>
      </p:sp>
    </p:spTree>
    <p:extLst>
      <p:ext uri="{BB962C8B-B14F-4D97-AF65-F5344CB8AC3E}">
        <p14:creationId xmlns:p14="http://schemas.microsoft.com/office/powerpoint/2010/main" val="55576395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735AC6-D7C3-4A45-12C9-4F3BDB675F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08A115-FD26-C36C-22EC-2D0DF1CE04D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76CD3D-1DCD-A893-77AC-09CAEB36AF6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1E8AFF8-7FDB-815E-4024-E6FAB2B541FA}"/>
              </a:ext>
            </a:extLst>
          </p:cNvPr>
          <p:cNvSpPr>
            <a:spLocks noGrp="1"/>
          </p:cNvSpPr>
          <p:nvPr>
            <p:ph type="sldNum" sz="quarter" idx="10"/>
          </p:nvPr>
        </p:nvSpPr>
        <p:spPr/>
        <p:txBody>
          <a:bodyPr/>
          <a:lstStyle/>
          <a:p>
            <a:fld id="{4CFD207A-07DF-40AD-A916-9872E089CE7A}" type="slidenum">
              <a:rPr lang="en-US" smtClean="0"/>
              <a:pPr/>
              <a:t>38</a:t>
            </a:fld>
            <a:endParaRPr lang="en-US"/>
          </a:p>
        </p:txBody>
      </p:sp>
    </p:spTree>
    <p:extLst>
      <p:ext uri="{BB962C8B-B14F-4D97-AF65-F5344CB8AC3E}">
        <p14:creationId xmlns:p14="http://schemas.microsoft.com/office/powerpoint/2010/main" val="4656463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39</a:t>
            </a:fld>
            <a:endParaRPr lang="en-US"/>
          </a:p>
        </p:txBody>
      </p:sp>
    </p:spTree>
    <p:extLst>
      <p:ext uri="{BB962C8B-B14F-4D97-AF65-F5344CB8AC3E}">
        <p14:creationId xmlns:p14="http://schemas.microsoft.com/office/powerpoint/2010/main" val="74486596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40</a:t>
            </a:fld>
            <a:endParaRPr lang="en-US"/>
          </a:p>
        </p:txBody>
      </p:sp>
    </p:spTree>
    <p:extLst>
      <p:ext uri="{BB962C8B-B14F-4D97-AF65-F5344CB8AC3E}">
        <p14:creationId xmlns:p14="http://schemas.microsoft.com/office/powerpoint/2010/main" val="193740660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41</a:t>
            </a:fld>
            <a:endParaRPr lang="en-US"/>
          </a:p>
        </p:txBody>
      </p:sp>
    </p:spTree>
    <p:extLst>
      <p:ext uri="{BB962C8B-B14F-4D97-AF65-F5344CB8AC3E}">
        <p14:creationId xmlns:p14="http://schemas.microsoft.com/office/powerpoint/2010/main" val="181775017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43</a:t>
            </a:fld>
            <a:endParaRPr lang="en-US"/>
          </a:p>
        </p:txBody>
      </p:sp>
    </p:spTree>
    <p:extLst>
      <p:ext uri="{BB962C8B-B14F-4D97-AF65-F5344CB8AC3E}">
        <p14:creationId xmlns:p14="http://schemas.microsoft.com/office/powerpoint/2010/main" val="401915654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44</a:t>
            </a:fld>
            <a:endParaRPr lang="en-US"/>
          </a:p>
        </p:txBody>
      </p:sp>
    </p:spTree>
    <p:extLst>
      <p:ext uri="{BB962C8B-B14F-4D97-AF65-F5344CB8AC3E}">
        <p14:creationId xmlns:p14="http://schemas.microsoft.com/office/powerpoint/2010/main" val="373171806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45</a:t>
            </a:fld>
            <a:endParaRPr lang="en-US"/>
          </a:p>
        </p:txBody>
      </p:sp>
    </p:spTree>
    <p:extLst>
      <p:ext uri="{BB962C8B-B14F-4D97-AF65-F5344CB8AC3E}">
        <p14:creationId xmlns:p14="http://schemas.microsoft.com/office/powerpoint/2010/main" val="178188372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46</a:t>
            </a:fld>
            <a:endParaRPr lang="en-US"/>
          </a:p>
        </p:txBody>
      </p:sp>
    </p:spTree>
    <p:extLst>
      <p:ext uri="{BB962C8B-B14F-4D97-AF65-F5344CB8AC3E}">
        <p14:creationId xmlns:p14="http://schemas.microsoft.com/office/powerpoint/2010/main" val="363115054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47</a:t>
            </a:fld>
            <a:endParaRPr lang="en-US"/>
          </a:p>
        </p:txBody>
      </p:sp>
    </p:spTree>
    <p:extLst>
      <p:ext uri="{BB962C8B-B14F-4D97-AF65-F5344CB8AC3E}">
        <p14:creationId xmlns:p14="http://schemas.microsoft.com/office/powerpoint/2010/main" val="13952351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49</a:t>
            </a:fld>
            <a:endParaRPr lang="en-US"/>
          </a:p>
        </p:txBody>
      </p:sp>
    </p:spTree>
    <p:extLst>
      <p:ext uri="{BB962C8B-B14F-4D97-AF65-F5344CB8AC3E}">
        <p14:creationId xmlns:p14="http://schemas.microsoft.com/office/powerpoint/2010/main" val="141553755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33BF2D-41FA-4DC4-ACC3-8DBE09B5CD7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2013E280-A648-496F-85AA-9A66AAFBBEF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BCF1F5B-8D44-4C83-9847-9551BDB9F97E}"/>
              </a:ext>
            </a:extLst>
          </p:cNvPr>
          <p:cNvSpPr>
            <a:spLocks noGrp="1"/>
          </p:cNvSpPr>
          <p:nvPr>
            <p:ph type="dt" sz="half" idx="10"/>
          </p:nvPr>
        </p:nvSpPr>
        <p:spPr/>
        <p:txBody>
          <a:bodyPr/>
          <a:lstStyle/>
          <a:p>
            <a:fld id="{9DC183D5-83EE-4A48-BB2E-1FC30CD8E44A}" type="datetimeFigureOut">
              <a:rPr lang="en-US" smtClean="0"/>
              <a:t>6/16/2026</a:t>
            </a:fld>
            <a:endParaRPr lang="en-US"/>
          </a:p>
        </p:txBody>
      </p:sp>
      <p:sp>
        <p:nvSpPr>
          <p:cNvPr id="5" name="Footer Placeholder 4">
            <a:extLst>
              <a:ext uri="{FF2B5EF4-FFF2-40B4-BE49-F238E27FC236}">
                <a16:creationId xmlns:a16="http://schemas.microsoft.com/office/drawing/2014/main" id="{331C3EC5-9432-4A66-9E64-E003554DE78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54260A7-E873-4AE3-A514-E4BB65FC705B}"/>
              </a:ext>
            </a:extLst>
          </p:cNvPr>
          <p:cNvSpPr>
            <a:spLocks noGrp="1"/>
          </p:cNvSpPr>
          <p:nvPr>
            <p:ph type="sldNum" sz="quarter" idx="12"/>
          </p:nvPr>
        </p:nvSpPr>
        <p:spPr/>
        <p:txBody>
          <a:bodyPr/>
          <a:lstStyle/>
          <a:p>
            <a:fld id="{CAA66CA4-86AD-483A-BC4E-558825227675}" type="slidenum">
              <a:rPr lang="en-US" smtClean="0"/>
              <a:t>‹#›</a:t>
            </a:fld>
            <a:endParaRPr lang="en-US"/>
          </a:p>
        </p:txBody>
      </p:sp>
    </p:spTree>
    <p:extLst>
      <p:ext uri="{BB962C8B-B14F-4D97-AF65-F5344CB8AC3E}">
        <p14:creationId xmlns:p14="http://schemas.microsoft.com/office/powerpoint/2010/main" val="373938824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17F54C-82AC-4275-8221-D46FC26677B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ABB4F01-9014-47D8-8412-C244B62E111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F5CB737-AC34-448C-98C8-898605FAE4DA}"/>
              </a:ext>
            </a:extLst>
          </p:cNvPr>
          <p:cNvSpPr>
            <a:spLocks noGrp="1"/>
          </p:cNvSpPr>
          <p:nvPr>
            <p:ph type="dt" sz="half" idx="10"/>
          </p:nvPr>
        </p:nvSpPr>
        <p:spPr/>
        <p:txBody>
          <a:bodyPr/>
          <a:lstStyle/>
          <a:p>
            <a:fld id="{9DC183D5-83EE-4A48-BB2E-1FC30CD8E44A}" type="datetimeFigureOut">
              <a:rPr lang="en-US" smtClean="0"/>
              <a:t>6/16/2026</a:t>
            </a:fld>
            <a:endParaRPr lang="en-US"/>
          </a:p>
        </p:txBody>
      </p:sp>
      <p:sp>
        <p:nvSpPr>
          <p:cNvPr id="5" name="Footer Placeholder 4">
            <a:extLst>
              <a:ext uri="{FF2B5EF4-FFF2-40B4-BE49-F238E27FC236}">
                <a16:creationId xmlns:a16="http://schemas.microsoft.com/office/drawing/2014/main" id="{DA7AE056-A155-42C1-99FF-436668779E8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EF504B6-2335-4095-8B32-5F546DC69426}"/>
              </a:ext>
            </a:extLst>
          </p:cNvPr>
          <p:cNvSpPr>
            <a:spLocks noGrp="1"/>
          </p:cNvSpPr>
          <p:nvPr>
            <p:ph type="sldNum" sz="quarter" idx="12"/>
          </p:nvPr>
        </p:nvSpPr>
        <p:spPr/>
        <p:txBody>
          <a:bodyPr/>
          <a:lstStyle/>
          <a:p>
            <a:fld id="{CAA66CA4-86AD-483A-BC4E-558825227675}" type="slidenum">
              <a:rPr lang="en-US" smtClean="0"/>
              <a:t>‹#›</a:t>
            </a:fld>
            <a:endParaRPr lang="en-US"/>
          </a:p>
        </p:txBody>
      </p:sp>
    </p:spTree>
    <p:extLst>
      <p:ext uri="{BB962C8B-B14F-4D97-AF65-F5344CB8AC3E}">
        <p14:creationId xmlns:p14="http://schemas.microsoft.com/office/powerpoint/2010/main" val="428012392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BE2810-4E61-4DB3-B18D-C9651617E17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3A02EFD-6306-4EE5-A93E-C3B3D397720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8F6911E-21ED-48DB-87D1-BAEBD3DE5EAC}"/>
              </a:ext>
            </a:extLst>
          </p:cNvPr>
          <p:cNvSpPr>
            <a:spLocks noGrp="1"/>
          </p:cNvSpPr>
          <p:nvPr>
            <p:ph type="dt" sz="half" idx="10"/>
          </p:nvPr>
        </p:nvSpPr>
        <p:spPr/>
        <p:txBody>
          <a:bodyPr/>
          <a:lstStyle/>
          <a:p>
            <a:fld id="{9DC183D5-83EE-4A48-BB2E-1FC30CD8E44A}" type="datetimeFigureOut">
              <a:rPr lang="en-US" smtClean="0"/>
              <a:t>6/16/2026</a:t>
            </a:fld>
            <a:endParaRPr lang="en-US"/>
          </a:p>
        </p:txBody>
      </p:sp>
      <p:sp>
        <p:nvSpPr>
          <p:cNvPr id="5" name="Footer Placeholder 4">
            <a:extLst>
              <a:ext uri="{FF2B5EF4-FFF2-40B4-BE49-F238E27FC236}">
                <a16:creationId xmlns:a16="http://schemas.microsoft.com/office/drawing/2014/main" id="{4FF8AC4B-FA15-4C3B-8886-15F84DD5959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1E126E0-E09D-46FC-99D1-733DF58D67F8}"/>
              </a:ext>
            </a:extLst>
          </p:cNvPr>
          <p:cNvSpPr>
            <a:spLocks noGrp="1"/>
          </p:cNvSpPr>
          <p:nvPr>
            <p:ph type="sldNum" sz="quarter" idx="12"/>
          </p:nvPr>
        </p:nvSpPr>
        <p:spPr/>
        <p:txBody>
          <a:bodyPr/>
          <a:lstStyle/>
          <a:p>
            <a:fld id="{CAA66CA4-86AD-483A-BC4E-558825227675}" type="slidenum">
              <a:rPr lang="en-US" smtClean="0"/>
              <a:t>‹#›</a:t>
            </a:fld>
            <a:endParaRPr lang="en-US"/>
          </a:p>
        </p:txBody>
      </p:sp>
    </p:spTree>
    <p:extLst>
      <p:ext uri="{BB962C8B-B14F-4D97-AF65-F5344CB8AC3E}">
        <p14:creationId xmlns:p14="http://schemas.microsoft.com/office/powerpoint/2010/main" val="36264275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FC5468-6E3C-464D-A6F9-9A5E61BD9E9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6FE0FFA-BA3D-4026-B5EE-95A00E43FC5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CC18753-9280-4B68-B1BA-6C5B41A53AC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1FAF946-8BD2-4E05-B886-1FBA90C04FE2}"/>
              </a:ext>
            </a:extLst>
          </p:cNvPr>
          <p:cNvSpPr>
            <a:spLocks noGrp="1"/>
          </p:cNvSpPr>
          <p:nvPr>
            <p:ph type="dt" sz="half" idx="10"/>
          </p:nvPr>
        </p:nvSpPr>
        <p:spPr/>
        <p:txBody>
          <a:bodyPr/>
          <a:lstStyle/>
          <a:p>
            <a:fld id="{9DC183D5-83EE-4A48-BB2E-1FC30CD8E44A}" type="datetimeFigureOut">
              <a:rPr lang="en-US" smtClean="0"/>
              <a:t>6/16/2026</a:t>
            </a:fld>
            <a:endParaRPr lang="en-US"/>
          </a:p>
        </p:txBody>
      </p:sp>
      <p:sp>
        <p:nvSpPr>
          <p:cNvPr id="6" name="Footer Placeholder 5">
            <a:extLst>
              <a:ext uri="{FF2B5EF4-FFF2-40B4-BE49-F238E27FC236}">
                <a16:creationId xmlns:a16="http://schemas.microsoft.com/office/drawing/2014/main" id="{C68ECCFF-AF08-450A-8E24-1D390154895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D357094-F2F0-4A8D-A5C3-D80BC46D67AC}"/>
              </a:ext>
            </a:extLst>
          </p:cNvPr>
          <p:cNvSpPr>
            <a:spLocks noGrp="1"/>
          </p:cNvSpPr>
          <p:nvPr>
            <p:ph type="sldNum" sz="quarter" idx="12"/>
          </p:nvPr>
        </p:nvSpPr>
        <p:spPr/>
        <p:txBody>
          <a:bodyPr/>
          <a:lstStyle/>
          <a:p>
            <a:fld id="{CAA66CA4-86AD-483A-BC4E-558825227675}" type="slidenum">
              <a:rPr lang="en-US" smtClean="0"/>
              <a:t>‹#›</a:t>
            </a:fld>
            <a:endParaRPr lang="en-US"/>
          </a:p>
        </p:txBody>
      </p:sp>
    </p:spTree>
    <p:extLst>
      <p:ext uri="{BB962C8B-B14F-4D97-AF65-F5344CB8AC3E}">
        <p14:creationId xmlns:p14="http://schemas.microsoft.com/office/powerpoint/2010/main" val="200068572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FED42C-20FB-433D-B2FA-15722CF5DCA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7D6BDB4-437B-4186-8704-EDB6B55F036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D4AE20E-37E7-4857-AB8D-67948CF372A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F763DCC-87D5-46CD-B027-BA49CC6B1B4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3433A01-0D20-4787-9FA8-283275AB48F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5A574D2-843D-4F2D-AF16-E7E1F35B2558}"/>
              </a:ext>
            </a:extLst>
          </p:cNvPr>
          <p:cNvSpPr>
            <a:spLocks noGrp="1"/>
          </p:cNvSpPr>
          <p:nvPr>
            <p:ph type="dt" sz="half" idx="10"/>
          </p:nvPr>
        </p:nvSpPr>
        <p:spPr/>
        <p:txBody>
          <a:bodyPr/>
          <a:lstStyle/>
          <a:p>
            <a:fld id="{9DC183D5-83EE-4A48-BB2E-1FC30CD8E44A}" type="datetimeFigureOut">
              <a:rPr lang="en-US" smtClean="0"/>
              <a:t>6/16/2026</a:t>
            </a:fld>
            <a:endParaRPr lang="en-US"/>
          </a:p>
        </p:txBody>
      </p:sp>
      <p:sp>
        <p:nvSpPr>
          <p:cNvPr id="8" name="Footer Placeholder 7">
            <a:extLst>
              <a:ext uri="{FF2B5EF4-FFF2-40B4-BE49-F238E27FC236}">
                <a16:creationId xmlns:a16="http://schemas.microsoft.com/office/drawing/2014/main" id="{E0E64638-A973-4BE2-AA0D-66B04C9B3F7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406A5EE-6F5E-4133-B608-A36D2C049298}"/>
              </a:ext>
            </a:extLst>
          </p:cNvPr>
          <p:cNvSpPr>
            <a:spLocks noGrp="1"/>
          </p:cNvSpPr>
          <p:nvPr>
            <p:ph type="sldNum" sz="quarter" idx="12"/>
          </p:nvPr>
        </p:nvSpPr>
        <p:spPr/>
        <p:txBody>
          <a:bodyPr/>
          <a:lstStyle/>
          <a:p>
            <a:fld id="{CAA66CA4-86AD-483A-BC4E-558825227675}" type="slidenum">
              <a:rPr lang="en-US" smtClean="0"/>
              <a:t>‹#›</a:t>
            </a:fld>
            <a:endParaRPr lang="en-US"/>
          </a:p>
        </p:txBody>
      </p:sp>
    </p:spTree>
    <p:extLst>
      <p:ext uri="{BB962C8B-B14F-4D97-AF65-F5344CB8AC3E}">
        <p14:creationId xmlns:p14="http://schemas.microsoft.com/office/powerpoint/2010/main" val="157024195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FA0394-55C9-4C4A-93DB-AAA9493A59D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E02A156-2986-4ABD-88EB-80463BB880BD}"/>
              </a:ext>
            </a:extLst>
          </p:cNvPr>
          <p:cNvSpPr>
            <a:spLocks noGrp="1"/>
          </p:cNvSpPr>
          <p:nvPr>
            <p:ph type="dt" sz="half" idx="10"/>
          </p:nvPr>
        </p:nvSpPr>
        <p:spPr/>
        <p:txBody>
          <a:bodyPr/>
          <a:lstStyle/>
          <a:p>
            <a:fld id="{9DC183D5-83EE-4A48-BB2E-1FC30CD8E44A}" type="datetimeFigureOut">
              <a:rPr lang="en-US" smtClean="0"/>
              <a:t>6/16/2026</a:t>
            </a:fld>
            <a:endParaRPr lang="en-US"/>
          </a:p>
        </p:txBody>
      </p:sp>
      <p:sp>
        <p:nvSpPr>
          <p:cNvPr id="4" name="Footer Placeholder 3">
            <a:extLst>
              <a:ext uri="{FF2B5EF4-FFF2-40B4-BE49-F238E27FC236}">
                <a16:creationId xmlns:a16="http://schemas.microsoft.com/office/drawing/2014/main" id="{49E26ACC-44A1-415B-AB92-2445AC79E13A}"/>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0A5FF18-7690-4BEF-A85B-1A8FDA4300D1}"/>
              </a:ext>
            </a:extLst>
          </p:cNvPr>
          <p:cNvSpPr>
            <a:spLocks noGrp="1"/>
          </p:cNvSpPr>
          <p:nvPr>
            <p:ph type="sldNum" sz="quarter" idx="12"/>
          </p:nvPr>
        </p:nvSpPr>
        <p:spPr/>
        <p:txBody>
          <a:bodyPr/>
          <a:lstStyle/>
          <a:p>
            <a:fld id="{CAA66CA4-86AD-483A-BC4E-558825227675}" type="slidenum">
              <a:rPr lang="en-US" smtClean="0"/>
              <a:t>‹#›</a:t>
            </a:fld>
            <a:endParaRPr lang="en-US"/>
          </a:p>
        </p:txBody>
      </p:sp>
    </p:spTree>
    <p:extLst>
      <p:ext uri="{BB962C8B-B14F-4D97-AF65-F5344CB8AC3E}">
        <p14:creationId xmlns:p14="http://schemas.microsoft.com/office/powerpoint/2010/main" val="24457004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BF4E047-CF1F-417C-929D-18F84456776C}"/>
              </a:ext>
            </a:extLst>
          </p:cNvPr>
          <p:cNvSpPr>
            <a:spLocks noGrp="1"/>
          </p:cNvSpPr>
          <p:nvPr>
            <p:ph type="dt" sz="half" idx="10"/>
          </p:nvPr>
        </p:nvSpPr>
        <p:spPr/>
        <p:txBody>
          <a:bodyPr/>
          <a:lstStyle/>
          <a:p>
            <a:fld id="{9DC183D5-83EE-4A48-BB2E-1FC30CD8E44A}" type="datetimeFigureOut">
              <a:rPr lang="en-US" smtClean="0"/>
              <a:t>6/16/2026</a:t>
            </a:fld>
            <a:endParaRPr lang="en-US"/>
          </a:p>
        </p:txBody>
      </p:sp>
      <p:sp>
        <p:nvSpPr>
          <p:cNvPr id="3" name="Footer Placeholder 2">
            <a:extLst>
              <a:ext uri="{FF2B5EF4-FFF2-40B4-BE49-F238E27FC236}">
                <a16:creationId xmlns:a16="http://schemas.microsoft.com/office/drawing/2014/main" id="{AAAA4F07-AD23-4E5E-9D5E-A87F2D58CE9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D353E95-DB56-411B-BBAF-EB0EAFEE3F3A}"/>
              </a:ext>
            </a:extLst>
          </p:cNvPr>
          <p:cNvSpPr>
            <a:spLocks noGrp="1"/>
          </p:cNvSpPr>
          <p:nvPr>
            <p:ph type="sldNum" sz="quarter" idx="12"/>
          </p:nvPr>
        </p:nvSpPr>
        <p:spPr/>
        <p:txBody>
          <a:bodyPr/>
          <a:lstStyle/>
          <a:p>
            <a:fld id="{CAA66CA4-86AD-483A-BC4E-558825227675}" type="slidenum">
              <a:rPr lang="en-US" smtClean="0"/>
              <a:t>‹#›</a:t>
            </a:fld>
            <a:endParaRPr lang="en-US"/>
          </a:p>
        </p:txBody>
      </p:sp>
    </p:spTree>
    <p:extLst>
      <p:ext uri="{BB962C8B-B14F-4D97-AF65-F5344CB8AC3E}">
        <p14:creationId xmlns:p14="http://schemas.microsoft.com/office/powerpoint/2010/main" val="270876947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955A-B592-4DB6-A7B5-B68170C51B0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E851CCC-97B2-4BF2-8369-40860ECB319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91F55B1-BF41-4C84-B04F-06D900AC381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CBFF8CC-17EE-455F-8D16-116AB1736CE6}"/>
              </a:ext>
            </a:extLst>
          </p:cNvPr>
          <p:cNvSpPr>
            <a:spLocks noGrp="1"/>
          </p:cNvSpPr>
          <p:nvPr>
            <p:ph type="dt" sz="half" idx="10"/>
          </p:nvPr>
        </p:nvSpPr>
        <p:spPr/>
        <p:txBody>
          <a:bodyPr/>
          <a:lstStyle/>
          <a:p>
            <a:fld id="{9DC183D5-83EE-4A48-BB2E-1FC30CD8E44A}" type="datetimeFigureOut">
              <a:rPr lang="en-US" smtClean="0"/>
              <a:t>6/16/2026</a:t>
            </a:fld>
            <a:endParaRPr lang="en-US"/>
          </a:p>
        </p:txBody>
      </p:sp>
      <p:sp>
        <p:nvSpPr>
          <p:cNvPr id="6" name="Footer Placeholder 5">
            <a:extLst>
              <a:ext uri="{FF2B5EF4-FFF2-40B4-BE49-F238E27FC236}">
                <a16:creationId xmlns:a16="http://schemas.microsoft.com/office/drawing/2014/main" id="{23DBF062-FCFC-4AB6-9E1B-1BFB8D9BF4E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F017FCE-EFD7-4175-A763-32BF3DBC6F0D}"/>
              </a:ext>
            </a:extLst>
          </p:cNvPr>
          <p:cNvSpPr>
            <a:spLocks noGrp="1"/>
          </p:cNvSpPr>
          <p:nvPr>
            <p:ph type="sldNum" sz="quarter" idx="12"/>
          </p:nvPr>
        </p:nvSpPr>
        <p:spPr/>
        <p:txBody>
          <a:bodyPr/>
          <a:lstStyle/>
          <a:p>
            <a:fld id="{CAA66CA4-86AD-483A-BC4E-558825227675}" type="slidenum">
              <a:rPr lang="en-US" smtClean="0"/>
              <a:t>‹#›</a:t>
            </a:fld>
            <a:endParaRPr lang="en-US"/>
          </a:p>
        </p:txBody>
      </p:sp>
    </p:spTree>
    <p:extLst>
      <p:ext uri="{BB962C8B-B14F-4D97-AF65-F5344CB8AC3E}">
        <p14:creationId xmlns:p14="http://schemas.microsoft.com/office/powerpoint/2010/main" val="24915431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49326B-82FA-4368-92A0-C51E5CC7E2D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9304CE4-5C9C-4E2A-9970-F159A60B7EB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5C66A65-F884-4AEB-B19D-2497ADCFC0F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E7EAC10-F420-471E-84BC-C7B24E229345}"/>
              </a:ext>
            </a:extLst>
          </p:cNvPr>
          <p:cNvSpPr>
            <a:spLocks noGrp="1"/>
          </p:cNvSpPr>
          <p:nvPr>
            <p:ph type="dt" sz="half" idx="10"/>
          </p:nvPr>
        </p:nvSpPr>
        <p:spPr/>
        <p:txBody>
          <a:bodyPr/>
          <a:lstStyle/>
          <a:p>
            <a:fld id="{9DC183D5-83EE-4A48-BB2E-1FC30CD8E44A}" type="datetimeFigureOut">
              <a:rPr lang="en-US" smtClean="0"/>
              <a:t>6/16/2026</a:t>
            </a:fld>
            <a:endParaRPr lang="en-US"/>
          </a:p>
        </p:txBody>
      </p:sp>
      <p:sp>
        <p:nvSpPr>
          <p:cNvPr id="6" name="Footer Placeholder 5">
            <a:extLst>
              <a:ext uri="{FF2B5EF4-FFF2-40B4-BE49-F238E27FC236}">
                <a16:creationId xmlns:a16="http://schemas.microsoft.com/office/drawing/2014/main" id="{2517FE1D-5DF8-4727-A7F1-8BCA4EDE00C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2922EEE-ACB0-49BB-9812-5ADB795B7FC5}"/>
              </a:ext>
            </a:extLst>
          </p:cNvPr>
          <p:cNvSpPr>
            <a:spLocks noGrp="1"/>
          </p:cNvSpPr>
          <p:nvPr>
            <p:ph type="sldNum" sz="quarter" idx="12"/>
          </p:nvPr>
        </p:nvSpPr>
        <p:spPr/>
        <p:txBody>
          <a:bodyPr/>
          <a:lstStyle/>
          <a:p>
            <a:fld id="{CAA66CA4-86AD-483A-BC4E-558825227675}" type="slidenum">
              <a:rPr lang="en-US" smtClean="0"/>
              <a:t>‹#›</a:t>
            </a:fld>
            <a:endParaRPr lang="en-US"/>
          </a:p>
        </p:txBody>
      </p:sp>
    </p:spTree>
    <p:extLst>
      <p:ext uri="{BB962C8B-B14F-4D97-AF65-F5344CB8AC3E}">
        <p14:creationId xmlns:p14="http://schemas.microsoft.com/office/powerpoint/2010/main" val="25696627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2079D8-3828-4F5E-A0BB-AE8F18A2DC7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4EB49175-8BA9-4D53-9A50-7147572795E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22669A9-F519-4FA9-87F2-1A347FB6E161}"/>
              </a:ext>
            </a:extLst>
          </p:cNvPr>
          <p:cNvSpPr>
            <a:spLocks noGrp="1"/>
          </p:cNvSpPr>
          <p:nvPr>
            <p:ph type="dt" sz="half" idx="10"/>
          </p:nvPr>
        </p:nvSpPr>
        <p:spPr/>
        <p:txBody>
          <a:bodyPr/>
          <a:lstStyle/>
          <a:p>
            <a:fld id="{9DC183D5-83EE-4A48-BB2E-1FC30CD8E44A}" type="datetimeFigureOut">
              <a:rPr lang="en-US" smtClean="0"/>
              <a:t>6/16/2026</a:t>
            </a:fld>
            <a:endParaRPr lang="en-US"/>
          </a:p>
        </p:txBody>
      </p:sp>
      <p:sp>
        <p:nvSpPr>
          <p:cNvPr id="5" name="Footer Placeholder 4">
            <a:extLst>
              <a:ext uri="{FF2B5EF4-FFF2-40B4-BE49-F238E27FC236}">
                <a16:creationId xmlns:a16="http://schemas.microsoft.com/office/drawing/2014/main" id="{6B68528B-FA2D-4D43-8A7A-88991C0E1E9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AE2180F-7D0D-482B-8460-366B45705009}"/>
              </a:ext>
            </a:extLst>
          </p:cNvPr>
          <p:cNvSpPr>
            <a:spLocks noGrp="1"/>
          </p:cNvSpPr>
          <p:nvPr>
            <p:ph type="sldNum" sz="quarter" idx="12"/>
          </p:nvPr>
        </p:nvSpPr>
        <p:spPr/>
        <p:txBody>
          <a:bodyPr/>
          <a:lstStyle/>
          <a:p>
            <a:fld id="{CAA66CA4-86AD-483A-BC4E-558825227675}" type="slidenum">
              <a:rPr lang="en-US" smtClean="0"/>
              <a:t>‹#›</a:t>
            </a:fld>
            <a:endParaRPr lang="en-US"/>
          </a:p>
        </p:txBody>
      </p:sp>
    </p:spTree>
    <p:extLst>
      <p:ext uri="{BB962C8B-B14F-4D97-AF65-F5344CB8AC3E}">
        <p14:creationId xmlns:p14="http://schemas.microsoft.com/office/powerpoint/2010/main" val="47856634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EF92452-B6BA-4A34-9679-D34A2491E77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C89B900-A9C9-4E80-B0A6-A832725EC2C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458F2A1-3E26-417B-A42B-3427FF814199}"/>
              </a:ext>
            </a:extLst>
          </p:cNvPr>
          <p:cNvSpPr>
            <a:spLocks noGrp="1"/>
          </p:cNvSpPr>
          <p:nvPr>
            <p:ph type="dt" sz="half" idx="10"/>
          </p:nvPr>
        </p:nvSpPr>
        <p:spPr/>
        <p:txBody>
          <a:bodyPr/>
          <a:lstStyle/>
          <a:p>
            <a:fld id="{9DC183D5-83EE-4A48-BB2E-1FC30CD8E44A}" type="datetimeFigureOut">
              <a:rPr lang="en-US" smtClean="0"/>
              <a:t>6/16/2026</a:t>
            </a:fld>
            <a:endParaRPr lang="en-US"/>
          </a:p>
        </p:txBody>
      </p:sp>
      <p:sp>
        <p:nvSpPr>
          <p:cNvPr id="5" name="Footer Placeholder 4">
            <a:extLst>
              <a:ext uri="{FF2B5EF4-FFF2-40B4-BE49-F238E27FC236}">
                <a16:creationId xmlns:a16="http://schemas.microsoft.com/office/drawing/2014/main" id="{BCB67A0C-4E40-41D0-87DD-C9D859600A8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8910001-2CEE-4F16-93B6-4F0DBBE73594}"/>
              </a:ext>
            </a:extLst>
          </p:cNvPr>
          <p:cNvSpPr>
            <a:spLocks noGrp="1"/>
          </p:cNvSpPr>
          <p:nvPr>
            <p:ph type="sldNum" sz="quarter" idx="12"/>
          </p:nvPr>
        </p:nvSpPr>
        <p:spPr/>
        <p:txBody>
          <a:bodyPr/>
          <a:lstStyle/>
          <a:p>
            <a:fld id="{CAA66CA4-86AD-483A-BC4E-558825227675}" type="slidenum">
              <a:rPr lang="en-US" smtClean="0"/>
              <a:t>‹#›</a:t>
            </a:fld>
            <a:endParaRPr lang="en-US"/>
          </a:p>
        </p:txBody>
      </p:sp>
    </p:spTree>
    <p:extLst>
      <p:ext uri="{BB962C8B-B14F-4D97-AF65-F5344CB8AC3E}">
        <p14:creationId xmlns:p14="http://schemas.microsoft.com/office/powerpoint/2010/main" val="293656336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lvl1pPr>
              <a:defRPr>
                <a:latin typeface="Segoe UI" panose="020B0502040204020203" pitchFamily="34" charset="0"/>
                <a:cs typeface="Segoe UI" panose="020B0502040204020203" pitchFamily="34" charset="0"/>
              </a:defRPr>
            </a:lvl1pPr>
          </a:lstStyle>
          <a:p>
            <a:r>
              <a:rPr lang="en-US" dirty="0"/>
              <a:t>Click to edit Master title style</a:t>
            </a:r>
          </a:p>
        </p:txBody>
      </p:sp>
      <p:sp>
        <p:nvSpPr>
          <p:cNvPr id="6" name="Content Placeholder 5"/>
          <p:cNvSpPr>
            <a:spLocks noGrp="1"/>
          </p:cNvSpPr>
          <p:nvPr>
            <p:ph sz="quarter" idx="10"/>
          </p:nvPr>
        </p:nvSpPr>
        <p:spPr>
          <a:xfrm>
            <a:off x="379413" y="1388226"/>
            <a:ext cx="11525250" cy="5290388"/>
          </a:xfrm>
          <a:prstGeom prst="rect">
            <a:avLst/>
          </a:prstGeom>
        </p:spPr>
        <p:txBody>
          <a:bodyPr/>
          <a:lstStyle>
            <a:lvl1pPr>
              <a:spcBef>
                <a:spcPts val="1400"/>
              </a:spcBef>
              <a:defRPr b="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a:defRPr>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a:defRPr>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a:defRPr>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a:defRPr>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0398548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97FB1D0-F1BF-42CA-83CA-B3568E5EFC4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7813485-E4D3-4F57-A46D-C56DED0FC00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56A6D78-2DED-4113-B1CF-35F3181329D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183D5-83EE-4A48-BB2E-1FC30CD8E44A}" type="datetimeFigureOut">
              <a:rPr lang="en-US" smtClean="0"/>
              <a:t>6/16/2026</a:t>
            </a:fld>
            <a:endParaRPr lang="en-US"/>
          </a:p>
        </p:txBody>
      </p:sp>
      <p:sp>
        <p:nvSpPr>
          <p:cNvPr id="5" name="Footer Placeholder 4">
            <a:extLst>
              <a:ext uri="{FF2B5EF4-FFF2-40B4-BE49-F238E27FC236}">
                <a16:creationId xmlns:a16="http://schemas.microsoft.com/office/drawing/2014/main" id="{4EA7174D-3533-4CD4-AD63-7B08E040289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B860482C-E75C-4391-BC8F-CC4721087A3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AA66CA4-86AD-483A-BC4E-558825227675}" type="slidenum">
              <a:rPr lang="en-US" smtClean="0"/>
              <a:t>‹#›</a:t>
            </a:fld>
            <a:endParaRPr lang="en-US"/>
          </a:p>
        </p:txBody>
      </p:sp>
    </p:spTree>
    <p:extLst>
      <p:ext uri="{BB962C8B-B14F-4D97-AF65-F5344CB8AC3E}">
        <p14:creationId xmlns:p14="http://schemas.microsoft.com/office/powerpoint/2010/main" val="395462179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12.xml"/><Relationship Id="rId4" Type="http://schemas.openxmlformats.org/officeDocument/2006/relationships/image" Target="../media/image60.png"/></Relationships>
</file>

<file path=ppt/slides/_rels/slide15.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11.xml"/><Relationship Id="rId1" Type="http://schemas.openxmlformats.org/officeDocument/2006/relationships/slideLayout" Target="../slideLayouts/slideLayout12.xml"/><Relationship Id="rId4" Type="http://schemas.openxmlformats.org/officeDocument/2006/relationships/image" Target="../media/image80.png"/></Relationships>
</file>

<file path=ppt/slides/_rels/slide1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12.xml"/><Relationship Id="rId4" Type="http://schemas.openxmlformats.org/officeDocument/2006/relationships/image" Target="../media/image9.png"/></Relationships>
</file>

<file path=ppt/slides/_rels/slide17.xml.rels><?xml version="1.0" encoding="UTF-8" standalone="yes"?>
<Relationships xmlns="http://schemas.openxmlformats.org/package/2006/relationships"><Relationship Id="rId3" Type="http://schemas.openxmlformats.org/officeDocument/2006/relationships/hyperlink" Target="https://en.wikipedia.org/wiki/Mahalanobis_distance" TargetMode="External"/><Relationship Id="rId2" Type="http://schemas.openxmlformats.org/officeDocument/2006/relationships/notesSlide" Target="../notesSlides/notesSlide13.xml"/><Relationship Id="rId1" Type="http://schemas.openxmlformats.org/officeDocument/2006/relationships/slideLayout" Target="../slideLayouts/slideLayout12.xml"/><Relationship Id="rId5" Type="http://schemas.openxmlformats.org/officeDocument/2006/relationships/image" Target="../media/image71.png"/><Relationship Id="rId4" Type="http://schemas.openxmlformats.org/officeDocument/2006/relationships/hyperlink" Target="https://www.statisticshowto.com/mahalanobis-distance/" TargetMode="External"/></Relationships>
</file>

<file path=ppt/slides/_rels/slide18.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14.xml"/><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5.xml"/><Relationship Id="rId1" Type="http://schemas.openxmlformats.org/officeDocument/2006/relationships/slideLayout" Target="../slideLayouts/slideLayout12.xml"/><Relationship Id="rId4" Type="http://schemas.openxmlformats.org/officeDocument/2006/relationships/hyperlink" Target="https://eecs.csuohio.edu/~sschung/CIS660/MahalanobisDistance.pdf" TargetMode="External"/></Relationships>
</file>

<file path=ppt/slides/_rels/slide20.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16.xml"/><Relationship Id="rId1" Type="http://schemas.openxmlformats.org/officeDocument/2006/relationships/slideLayout" Target="../slideLayouts/slideLayout12.xml"/><Relationship Id="rId5" Type="http://schemas.openxmlformats.org/officeDocument/2006/relationships/image" Target="../media/image11.png"/><Relationship Id="rId4" Type="http://schemas.openxmlformats.org/officeDocument/2006/relationships/hyperlink" Target="https://eecs.csuohio.edu/~sschung/CIS660/MahalanobisDistance.pdf" TargetMode="External"/></Relationships>
</file>

<file path=ppt/slides/_rels/slide21.xml.rels><?xml version="1.0" encoding="UTF-8" standalone="yes"?>
<Relationships xmlns="http://schemas.openxmlformats.org/package/2006/relationships"><Relationship Id="rId3" Type="http://schemas.openxmlformats.org/officeDocument/2006/relationships/hyperlink" Target="https://eecs.csuohio.edu/~sschung/CIS660/MahalanobisDistance.pdf" TargetMode="External"/><Relationship Id="rId2" Type="http://schemas.openxmlformats.org/officeDocument/2006/relationships/notesSlide" Target="../notesSlides/notesSlide17.xml"/><Relationship Id="rId1" Type="http://schemas.openxmlformats.org/officeDocument/2006/relationships/slideLayout" Target="../slideLayouts/slideLayout12.xml"/><Relationship Id="rId5" Type="http://schemas.openxmlformats.org/officeDocument/2006/relationships/image" Target="../media/image13.png"/><Relationship Id="rId4" Type="http://schemas.openxmlformats.org/officeDocument/2006/relationships/image" Target="../media/image12.png"/></Relationships>
</file>

<file path=ppt/slides/_rels/slide22.xml.rels><?xml version="1.0" encoding="UTF-8" standalone="yes"?>
<Relationships xmlns="http://schemas.openxmlformats.org/package/2006/relationships"><Relationship Id="rId3" Type="http://schemas.openxmlformats.org/officeDocument/2006/relationships/hyperlink" Target="https://en.wikipedia.org/wiki/Levenshtein_distance" TargetMode="External"/><Relationship Id="rId2" Type="http://schemas.openxmlformats.org/officeDocument/2006/relationships/notesSlide" Target="../notesSlides/notesSlide18.xml"/><Relationship Id="rId1" Type="http://schemas.openxmlformats.org/officeDocument/2006/relationships/slideLayout" Target="../slideLayouts/slideLayout12.xml"/><Relationship Id="rId4" Type="http://schemas.openxmlformats.org/officeDocument/2006/relationships/image" Target="../media/image14.png"/></Relationships>
</file>

<file path=ppt/slides/_rels/slide23.xml.rels><?xml version="1.0" encoding="UTF-8" standalone="yes"?>
<Relationships xmlns="http://schemas.openxmlformats.org/package/2006/relationships"><Relationship Id="rId3" Type="http://schemas.openxmlformats.org/officeDocument/2006/relationships/hyperlink" Target="https://en.wikipedia.org/wiki/Hamming_distance" TargetMode="External"/><Relationship Id="rId2" Type="http://schemas.openxmlformats.org/officeDocument/2006/relationships/notesSlide" Target="../notesSlides/notesSlide19.xml"/><Relationship Id="rId1" Type="http://schemas.openxmlformats.org/officeDocument/2006/relationships/slideLayout" Target="../slideLayouts/slideLayout12.xml"/><Relationship Id="rId4" Type="http://schemas.openxmlformats.org/officeDocument/2006/relationships/image" Target="../media/image101.png"/></Relationships>
</file>

<file path=ppt/slides/_rels/slide2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0.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21.xml"/><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notesSlide" Target="../notesSlides/notesSlide22.xml"/><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2.xml"/></Relationships>
</file>

<file path=ppt/slides/_rels/slide3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7.xml"/><Relationship Id="rId1" Type="http://schemas.openxmlformats.org/officeDocument/2006/relationships/slideLayout" Target="../slideLayouts/slideLayout1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2.xml"/></Relationships>
</file>

<file path=ppt/slides/_rels/slide35.xml.rels><?xml version="1.0" encoding="UTF-8" standalone="yes"?>
<Relationships xmlns="http://schemas.openxmlformats.org/package/2006/relationships"><Relationship Id="rId3" Type="http://schemas.openxmlformats.org/officeDocument/2006/relationships/hyperlink" Target="https://en.wikipedia.org/wiki/Kendall_rank_correlation_coefficient" TargetMode="External"/><Relationship Id="rId2" Type="http://schemas.openxmlformats.org/officeDocument/2006/relationships/notesSlide" Target="../notesSlides/notesSlide29.xml"/><Relationship Id="rId1" Type="http://schemas.openxmlformats.org/officeDocument/2006/relationships/slideLayout" Target="../slideLayouts/slideLayout12.xml"/><Relationship Id="rId5" Type="http://schemas.openxmlformats.org/officeDocument/2006/relationships/image" Target="../media/image161.png"/><Relationship Id="rId4" Type="http://schemas.openxmlformats.org/officeDocument/2006/relationships/hyperlink" Target="https://en.wikipedia.org/wiki/Spearman%27s_rank_correlation_coefficient" TargetMode="External"/></Relationships>
</file>

<file path=ppt/slides/_rels/slide36.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30.xml"/><Relationship Id="rId1" Type="http://schemas.openxmlformats.org/officeDocument/2006/relationships/slideLayout" Target="../slideLayouts/slideLayout12.xml"/><Relationship Id="rId4" Type="http://schemas.openxmlformats.org/officeDocument/2006/relationships/image" Target="../media/image17.png"/></Relationships>
</file>

<file path=ppt/slides/_rels/slide37.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31.xml"/><Relationship Id="rId1" Type="http://schemas.openxmlformats.org/officeDocument/2006/relationships/slideLayout" Target="../slideLayouts/slideLayout12.xml"/><Relationship Id="rId4" Type="http://schemas.openxmlformats.org/officeDocument/2006/relationships/image" Target="../media/image170.png"/></Relationships>
</file>

<file path=ppt/slides/_rels/slide3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2.xml"/><Relationship Id="rId1" Type="http://schemas.openxmlformats.org/officeDocument/2006/relationships/slideLayout" Target="../slideLayouts/slideLayout12.xml"/></Relationships>
</file>

<file path=ppt/slides/_rels/slide39.xml.rels><?xml version="1.0" encoding="UTF-8" standalone="yes"?>
<Relationships xmlns="http://schemas.openxmlformats.org/package/2006/relationships"><Relationship Id="rId3" Type="http://schemas.openxmlformats.org/officeDocument/2006/relationships/hyperlink" Target="https://en.wikipedia.org/wiki/Jaccard_index" TargetMode="External"/><Relationship Id="rId2" Type="http://schemas.openxmlformats.org/officeDocument/2006/relationships/notesSlide" Target="../notesSlides/notesSlide33.xml"/><Relationship Id="rId1" Type="http://schemas.openxmlformats.org/officeDocument/2006/relationships/slideLayout" Target="../slideLayouts/slideLayout12.xml"/><Relationship Id="rId4" Type="http://schemas.openxmlformats.org/officeDocument/2006/relationships/image" Target="../media/image140.png"/></Relationships>
</file>

<file path=ppt/slides/_rels/slide40.xml.rels><?xml version="1.0" encoding="UTF-8" standalone="yes"?>
<Relationships xmlns="http://schemas.openxmlformats.org/package/2006/relationships"><Relationship Id="rId3" Type="http://schemas.openxmlformats.org/officeDocument/2006/relationships/image" Target="../media/image180.png"/><Relationship Id="rId2" Type="http://schemas.openxmlformats.org/officeDocument/2006/relationships/notesSlide" Target="../notesSlides/notesSlide34.xml"/><Relationship Id="rId1" Type="http://schemas.openxmlformats.org/officeDocument/2006/relationships/slideLayout" Target="../slideLayouts/slideLayout12.xml"/></Relationships>
</file>

<file path=ppt/slides/_rels/slide4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5.xml"/><Relationship Id="rId1" Type="http://schemas.openxmlformats.org/officeDocument/2006/relationships/slideLayout" Target="../slideLayouts/slideLayout1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6.xml"/><Relationship Id="rId1" Type="http://schemas.openxmlformats.org/officeDocument/2006/relationships/slideLayout" Target="../slideLayouts/slideLayout12.xml"/></Relationships>
</file>

<file path=ppt/slides/_rels/slide4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7.xml"/><Relationship Id="rId1" Type="http://schemas.openxmlformats.org/officeDocument/2006/relationships/slideLayout" Target="../slideLayouts/slideLayout1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2.xml"/></Relationships>
</file>

<file path=ppt/slides/_rels/slide4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9.xml"/><Relationship Id="rId1" Type="http://schemas.openxmlformats.org/officeDocument/2006/relationships/slideLayout" Target="../slideLayouts/slideLayout12.xml"/><Relationship Id="rId4" Type="http://schemas.openxmlformats.org/officeDocument/2006/relationships/image" Target="../media/image23.png"/></Relationships>
</file>

<file path=ppt/slides/_rels/slide4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40.xml"/><Relationship Id="rId1" Type="http://schemas.openxmlformats.org/officeDocument/2006/relationships/slideLayout" Target="../slideLayouts/slideLayout12.xml"/><Relationship Id="rId4" Type="http://schemas.openxmlformats.org/officeDocument/2006/relationships/image" Target="../media/image2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DEAD34-FE4D-4A41-82A2-223615631262}"/>
              </a:ext>
            </a:extLst>
          </p:cNvPr>
          <p:cNvSpPr>
            <a:spLocks noGrp="1"/>
          </p:cNvSpPr>
          <p:nvPr>
            <p:ph type="ctrTitle"/>
          </p:nvPr>
        </p:nvSpPr>
        <p:spPr>
          <a:xfrm>
            <a:off x="1295400" y="1636650"/>
            <a:ext cx="9601200" cy="2387600"/>
          </a:xfrm>
        </p:spPr>
        <p:txBody>
          <a:bodyPr>
            <a:normAutofit fontScale="90000"/>
          </a:bodyPr>
          <a:lstStyle/>
          <a:p>
            <a:r>
              <a:rPr lang="en-US" dirty="0">
                <a:latin typeface="+mn-lt"/>
              </a:rPr>
              <a:t>CSCI E-96</a:t>
            </a:r>
            <a:br>
              <a:rPr lang="en-US" dirty="0">
                <a:latin typeface="+mn-lt"/>
              </a:rPr>
            </a:br>
            <a:r>
              <a:rPr lang="en-US" dirty="0">
                <a:latin typeface="+mn-lt"/>
              </a:rPr>
              <a:t>Data Mining, Discovery and Exploration</a:t>
            </a:r>
            <a:br>
              <a:rPr lang="en-US" dirty="0">
                <a:latin typeface="+mn-lt"/>
              </a:rPr>
            </a:br>
            <a:r>
              <a:rPr lang="en-US" dirty="0">
                <a:latin typeface="+mn-lt"/>
              </a:rPr>
              <a:t>Distance and Similarity Measures</a:t>
            </a:r>
          </a:p>
        </p:txBody>
      </p:sp>
      <p:sp>
        <p:nvSpPr>
          <p:cNvPr id="3" name="Subtitle 2">
            <a:extLst>
              <a:ext uri="{FF2B5EF4-FFF2-40B4-BE49-F238E27FC236}">
                <a16:creationId xmlns:a16="http://schemas.microsoft.com/office/drawing/2014/main" id="{B25A855A-A2B4-41D5-81C1-CAA6D45AA9D5}"/>
              </a:ext>
            </a:extLst>
          </p:cNvPr>
          <p:cNvSpPr>
            <a:spLocks noGrp="1"/>
          </p:cNvSpPr>
          <p:nvPr>
            <p:ph type="subTitle" idx="1"/>
          </p:nvPr>
        </p:nvSpPr>
        <p:spPr>
          <a:xfrm>
            <a:off x="1524000" y="4115222"/>
            <a:ext cx="9144000" cy="494102"/>
          </a:xfrm>
        </p:spPr>
        <p:txBody>
          <a:bodyPr/>
          <a:lstStyle/>
          <a:p>
            <a:r>
              <a:rPr lang="en-US" dirty="0"/>
              <a:t>Steve Elston</a:t>
            </a:r>
          </a:p>
          <a:p>
            <a:endParaRPr lang="en-US" dirty="0"/>
          </a:p>
        </p:txBody>
      </p:sp>
      <p:pic>
        <p:nvPicPr>
          <p:cNvPr id="1026" name="Picture 2" descr="Image result for harvard extension school logo">
            <a:extLst>
              <a:ext uri="{FF2B5EF4-FFF2-40B4-BE49-F238E27FC236}">
                <a16:creationId xmlns:a16="http://schemas.microsoft.com/office/drawing/2014/main" id="{0512F5AD-ED64-4E88-80AB-F8D75DDF288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317158" y="4791269"/>
            <a:ext cx="3333750" cy="137160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D3F2317F-F47E-4078-8A9E-272A9AB83B75}"/>
              </a:ext>
            </a:extLst>
          </p:cNvPr>
          <p:cNvSpPr txBox="1"/>
          <p:nvPr/>
        </p:nvSpPr>
        <p:spPr>
          <a:xfrm>
            <a:off x="3348567" y="6421967"/>
            <a:ext cx="5744633" cy="369332"/>
          </a:xfrm>
          <a:prstGeom prst="rect">
            <a:avLst/>
          </a:prstGeom>
          <a:noFill/>
        </p:spPr>
        <p:txBody>
          <a:bodyPr wrap="square" rtlCol="0">
            <a:spAutoFit/>
          </a:bodyPr>
          <a:lstStyle/>
          <a:p>
            <a:pPr algn="ctr"/>
            <a:r>
              <a:rPr lang="en-US" sz="1100" dirty="0"/>
              <a:t>Copyright 2021, 2022, 2023, 2024, 2025 Stephen F Elston. All rights reserved</a:t>
            </a:r>
            <a:r>
              <a:rPr lang="en-US" dirty="0"/>
              <a:t>.</a:t>
            </a:r>
          </a:p>
        </p:txBody>
      </p:sp>
    </p:spTree>
    <p:extLst>
      <p:ext uri="{BB962C8B-B14F-4D97-AF65-F5344CB8AC3E}">
        <p14:creationId xmlns:p14="http://schemas.microsoft.com/office/powerpoint/2010/main" val="17788340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7A9242-6F04-0255-B6E4-003EE805CF9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C0B4EF-F7E3-7E82-AE6D-66E8ED303FDB}"/>
              </a:ext>
            </a:extLst>
          </p:cNvPr>
          <p:cNvSpPr>
            <a:spLocks noGrp="1"/>
          </p:cNvSpPr>
          <p:nvPr>
            <p:ph type="title"/>
          </p:nvPr>
        </p:nvSpPr>
        <p:spPr>
          <a:xfrm>
            <a:off x="916187" y="249623"/>
            <a:ext cx="10515600" cy="662230"/>
          </a:xfrm>
        </p:spPr>
        <p:txBody>
          <a:bodyPr>
            <a:normAutofit fontScale="90000"/>
          </a:bodyPr>
          <a:lstStyle/>
          <a:p>
            <a:r>
              <a:rPr lang="en-US" sz="4900" dirty="0">
                <a:latin typeface="+mn-lt"/>
              </a:rPr>
              <a:t>Main topics in this course</a:t>
            </a:r>
            <a:br>
              <a:rPr lang="en-US" sz="4000" dirty="0">
                <a:latin typeface="+mn-lt"/>
              </a:rPr>
            </a:br>
            <a:endParaRPr lang="en-US" sz="4000" dirty="0">
              <a:latin typeface="+mn-lt"/>
            </a:endParaRPr>
          </a:p>
        </p:txBody>
      </p:sp>
      <p:sp>
        <p:nvSpPr>
          <p:cNvPr id="3" name="Left Brace 2">
            <a:extLst>
              <a:ext uri="{FF2B5EF4-FFF2-40B4-BE49-F238E27FC236}">
                <a16:creationId xmlns:a16="http://schemas.microsoft.com/office/drawing/2014/main" id="{B43E0B5E-B811-4BBC-CEDF-97FC2AAC1766}"/>
              </a:ext>
            </a:extLst>
          </p:cNvPr>
          <p:cNvSpPr/>
          <p:nvPr/>
        </p:nvSpPr>
        <p:spPr>
          <a:xfrm>
            <a:off x="756889" y="1964356"/>
            <a:ext cx="225209" cy="1273261"/>
          </a:xfrm>
          <a:prstGeom prst="leftBrace">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4" name="TextBox 3">
            <a:extLst>
              <a:ext uri="{FF2B5EF4-FFF2-40B4-BE49-F238E27FC236}">
                <a16:creationId xmlns:a16="http://schemas.microsoft.com/office/drawing/2014/main" id="{77BB0425-4708-2E61-70FB-876C788A79E2}"/>
              </a:ext>
            </a:extLst>
          </p:cNvPr>
          <p:cNvSpPr txBox="1"/>
          <p:nvPr/>
        </p:nvSpPr>
        <p:spPr>
          <a:xfrm rot="16200000">
            <a:off x="-238228" y="2251765"/>
            <a:ext cx="1571596" cy="400110"/>
          </a:xfrm>
          <a:prstGeom prst="rect">
            <a:avLst/>
          </a:prstGeom>
          <a:noFill/>
        </p:spPr>
        <p:txBody>
          <a:bodyPr wrap="square" rtlCol="0">
            <a:spAutoFit/>
          </a:bodyPr>
          <a:lstStyle/>
          <a:p>
            <a:pPr algn="ctr"/>
            <a:r>
              <a:rPr lang="en-US" sz="2000" dirty="0"/>
              <a:t>Foundations </a:t>
            </a:r>
          </a:p>
        </p:txBody>
      </p:sp>
      <p:sp>
        <p:nvSpPr>
          <p:cNvPr id="5" name="Rectangle 4">
            <a:extLst>
              <a:ext uri="{FF2B5EF4-FFF2-40B4-BE49-F238E27FC236}">
                <a16:creationId xmlns:a16="http://schemas.microsoft.com/office/drawing/2014/main" id="{DAA42CDB-2EBC-28B2-6456-04829EC7EF48}"/>
              </a:ext>
            </a:extLst>
          </p:cNvPr>
          <p:cNvSpPr/>
          <p:nvPr/>
        </p:nvSpPr>
        <p:spPr>
          <a:xfrm>
            <a:off x="1259812" y="1983695"/>
            <a:ext cx="1951346" cy="1253922"/>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1. Hashing and K-V pair management </a:t>
            </a:r>
          </a:p>
        </p:txBody>
      </p:sp>
      <p:sp>
        <p:nvSpPr>
          <p:cNvPr id="6" name="Rectangle 5">
            <a:extLst>
              <a:ext uri="{FF2B5EF4-FFF2-40B4-BE49-F238E27FC236}">
                <a16:creationId xmlns:a16="http://schemas.microsoft.com/office/drawing/2014/main" id="{F5C7F060-78DB-AC42-6BFD-05BD50198440}"/>
              </a:ext>
            </a:extLst>
          </p:cNvPr>
          <p:cNvSpPr/>
          <p:nvPr/>
        </p:nvSpPr>
        <p:spPr>
          <a:xfrm>
            <a:off x="3740233" y="2021536"/>
            <a:ext cx="2157426" cy="1178239"/>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2. Distance and Similarity Metrics</a:t>
            </a:r>
          </a:p>
        </p:txBody>
      </p:sp>
      <p:sp>
        <p:nvSpPr>
          <p:cNvPr id="7" name="Rectangle 6">
            <a:extLst>
              <a:ext uri="{FF2B5EF4-FFF2-40B4-BE49-F238E27FC236}">
                <a16:creationId xmlns:a16="http://schemas.microsoft.com/office/drawing/2014/main" id="{F20B3888-4A09-E889-C7DE-5ECE32C17693}"/>
              </a:ext>
            </a:extLst>
          </p:cNvPr>
          <p:cNvSpPr/>
          <p:nvPr/>
        </p:nvSpPr>
        <p:spPr>
          <a:xfrm>
            <a:off x="6408020" y="2037908"/>
            <a:ext cx="2058805" cy="1213337"/>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3. Graph Algorithms</a:t>
            </a:r>
          </a:p>
        </p:txBody>
      </p:sp>
      <p:sp>
        <p:nvSpPr>
          <p:cNvPr id="8" name="Rectangle 7">
            <a:extLst>
              <a:ext uri="{FF2B5EF4-FFF2-40B4-BE49-F238E27FC236}">
                <a16:creationId xmlns:a16="http://schemas.microsoft.com/office/drawing/2014/main" id="{A234FC6E-068F-82BA-D948-0872902BF117}"/>
              </a:ext>
            </a:extLst>
          </p:cNvPr>
          <p:cNvSpPr/>
          <p:nvPr/>
        </p:nvSpPr>
        <p:spPr>
          <a:xfrm>
            <a:off x="1215334" y="3591320"/>
            <a:ext cx="2085982" cy="1074244"/>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2. Dimensionality Reduction</a:t>
            </a:r>
          </a:p>
        </p:txBody>
      </p:sp>
      <p:sp>
        <p:nvSpPr>
          <p:cNvPr id="10" name="Left Brace 9">
            <a:extLst>
              <a:ext uri="{FF2B5EF4-FFF2-40B4-BE49-F238E27FC236}">
                <a16:creationId xmlns:a16="http://schemas.microsoft.com/office/drawing/2014/main" id="{6B807C0C-B6B7-55FC-4A73-937C1A517C09}"/>
              </a:ext>
            </a:extLst>
          </p:cNvPr>
          <p:cNvSpPr/>
          <p:nvPr/>
        </p:nvSpPr>
        <p:spPr>
          <a:xfrm>
            <a:off x="865089" y="3571535"/>
            <a:ext cx="172578" cy="1094029"/>
          </a:xfrm>
          <a:prstGeom prst="leftBrace">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1" name="TextBox 10">
            <a:extLst>
              <a:ext uri="{FF2B5EF4-FFF2-40B4-BE49-F238E27FC236}">
                <a16:creationId xmlns:a16="http://schemas.microsoft.com/office/drawing/2014/main" id="{CD0513D5-3561-EC84-E71B-4706879A90A1}"/>
              </a:ext>
            </a:extLst>
          </p:cNvPr>
          <p:cNvSpPr txBox="1"/>
          <p:nvPr/>
        </p:nvSpPr>
        <p:spPr>
          <a:xfrm rot="16200000">
            <a:off x="-286998" y="3724841"/>
            <a:ext cx="1571596" cy="707886"/>
          </a:xfrm>
          <a:prstGeom prst="rect">
            <a:avLst/>
          </a:prstGeom>
          <a:noFill/>
        </p:spPr>
        <p:txBody>
          <a:bodyPr wrap="square" rtlCol="0">
            <a:spAutoFit/>
          </a:bodyPr>
          <a:lstStyle/>
          <a:p>
            <a:pPr algn="ctr"/>
            <a:r>
              <a:rPr lang="en-US" sz="2000" dirty="0"/>
              <a:t>Core Algorithms</a:t>
            </a:r>
          </a:p>
        </p:txBody>
      </p:sp>
      <p:sp>
        <p:nvSpPr>
          <p:cNvPr id="12" name="Rectangle 11">
            <a:extLst>
              <a:ext uri="{FF2B5EF4-FFF2-40B4-BE49-F238E27FC236}">
                <a16:creationId xmlns:a16="http://schemas.microsoft.com/office/drawing/2014/main" id="{B042D63B-E913-3364-5865-54C574ED22CD}"/>
              </a:ext>
            </a:extLst>
          </p:cNvPr>
          <p:cNvSpPr/>
          <p:nvPr/>
        </p:nvSpPr>
        <p:spPr>
          <a:xfrm>
            <a:off x="1280175" y="5154275"/>
            <a:ext cx="1961804" cy="1264023"/>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3. Social Network Analysis</a:t>
            </a:r>
          </a:p>
        </p:txBody>
      </p:sp>
      <p:sp>
        <p:nvSpPr>
          <p:cNvPr id="14" name="Left Brace 13">
            <a:extLst>
              <a:ext uri="{FF2B5EF4-FFF2-40B4-BE49-F238E27FC236}">
                <a16:creationId xmlns:a16="http://schemas.microsoft.com/office/drawing/2014/main" id="{35E5DEDA-5FFD-FC06-5888-EB758D78C155}"/>
              </a:ext>
            </a:extLst>
          </p:cNvPr>
          <p:cNvSpPr/>
          <p:nvPr/>
        </p:nvSpPr>
        <p:spPr>
          <a:xfrm>
            <a:off x="858563" y="5154275"/>
            <a:ext cx="164275" cy="1264024"/>
          </a:xfrm>
          <a:prstGeom prst="leftBrace">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5" name="TextBox 14">
            <a:extLst>
              <a:ext uri="{FF2B5EF4-FFF2-40B4-BE49-F238E27FC236}">
                <a16:creationId xmlns:a16="http://schemas.microsoft.com/office/drawing/2014/main" id="{3061D0C7-FA6D-00D7-CF2A-B875D7CF029B}"/>
              </a:ext>
            </a:extLst>
          </p:cNvPr>
          <p:cNvSpPr txBox="1"/>
          <p:nvPr/>
        </p:nvSpPr>
        <p:spPr>
          <a:xfrm rot="16200000">
            <a:off x="-322189" y="5405146"/>
            <a:ext cx="1571596" cy="707886"/>
          </a:xfrm>
          <a:prstGeom prst="rect">
            <a:avLst/>
          </a:prstGeom>
          <a:noFill/>
        </p:spPr>
        <p:txBody>
          <a:bodyPr wrap="square" rtlCol="0">
            <a:spAutoFit/>
          </a:bodyPr>
          <a:lstStyle/>
          <a:p>
            <a:pPr algn="ctr"/>
            <a:r>
              <a:rPr lang="en-US" sz="2000" dirty="0"/>
              <a:t>Taks </a:t>
            </a:r>
            <a:r>
              <a:rPr lang="en-US" sz="2000"/>
              <a:t>Speific </a:t>
            </a:r>
            <a:r>
              <a:rPr lang="en-US" sz="2000" dirty="0"/>
              <a:t>Algorithms</a:t>
            </a:r>
          </a:p>
        </p:txBody>
      </p:sp>
      <p:sp>
        <p:nvSpPr>
          <p:cNvPr id="16" name="Rectangle 15">
            <a:extLst>
              <a:ext uri="{FF2B5EF4-FFF2-40B4-BE49-F238E27FC236}">
                <a16:creationId xmlns:a16="http://schemas.microsoft.com/office/drawing/2014/main" id="{8BCB2792-FBF9-D76F-A378-7E6596D54E0F}"/>
              </a:ext>
            </a:extLst>
          </p:cNvPr>
          <p:cNvSpPr/>
          <p:nvPr/>
        </p:nvSpPr>
        <p:spPr>
          <a:xfrm>
            <a:off x="3811677" y="3631085"/>
            <a:ext cx="2085982" cy="1094029"/>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5. Similarity Search and NN Algorithms</a:t>
            </a:r>
          </a:p>
        </p:txBody>
      </p:sp>
      <p:sp>
        <p:nvSpPr>
          <p:cNvPr id="17" name="Rectangle 16">
            <a:extLst>
              <a:ext uri="{FF2B5EF4-FFF2-40B4-BE49-F238E27FC236}">
                <a16:creationId xmlns:a16="http://schemas.microsoft.com/office/drawing/2014/main" id="{9A8CAD2D-EC71-A5F3-683F-41BF65DE958F}"/>
              </a:ext>
            </a:extLst>
          </p:cNvPr>
          <p:cNvSpPr/>
          <p:nvPr/>
        </p:nvSpPr>
        <p:spPr>
          <a:xfrm>
            <a:off x="6408020" y="3640978"/>
            <a:ext cx="2038966" cy="1123564"/>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4. Online Algorithms</a:t>
            </a:r>
          </a:p>
        </p:txBody>
      </p:sp>
      <p:sp>
        <p:nvSpPr>
          <p:cNvPr id="18" name="Rectangle 17">
            <a:extLst>
              <a:ext uri="{FF2B5EF4-FFF2-40B4-BE49-F238E27FC236}">
                <a16:creationId xmlns:a16="http://schemas.microsoft.com/office/drawing/2014/main" id="{67EB3589-9BBE-D38D-C09A-C7A36757F4E1}"/>
              </a:ext>
            </a:extLst>
          </p:cNvPr>
          <p:cNvSpPr/>
          <p:nvPr/>
        </p:nvSpPr>
        <p:spPr>
          <a:xfrm>
            <a:off x="8985680" y="5155489"/>
            <a:ext cx="1894527" cy="1262809"/>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8. Clustering Algorithms</a:t>
            </a:r>
          </a:p>
        </p:txBody>
      </p:sp>
      <p:sp>
        <p:nvSpPr>
          <p:cNvPr id="20" name="Rectangle 19">
            <a:extLst>
              <a:ext uri="{FF2B5EF4-FFF2-40B4-BE49-F238E27FC236}">
                <a16:creationId xmlns:a16="http://schemas.microsoft.com/office/drawing/2014/main" id="{5C5EBFDB-140B-9B88-CE63-77419A11C6E4}"/>
              </a:ext>
            </a:extLst>
          </p:cNvPr>
          <p:cNvSpPr/>
          <p:nvPr/>
        </p:nvSpPr>
        <p:spPr>
          <a:xfrm>
            <a:off x="6470354" y="5154275"/>
            <a:ext cx="2016833" cy="1245689"/>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7. Recommender  Algorithms</a:t>
            </a:r>
          </a:p>
        </p:txBody>
      </p:sp>
      <p:sp>
        <p:nvSpPr>
          <p:cNvPr id="21" name="Rectangle 20">
            <a:extLst>
              <a:ext uri="{FF2B5EF4-FFF2-40B4-BE49-F238E27FC236}">
                <a16:creationId xmlns:a16="http://schemas.microsoft.com/office/drawing/2014/main" id="{69AB1FD0-27FA-3784-41E8-6432B45E080D}"/>
              </a:ext>
            </a:extLst>
          </p:cNvPr>
          <p:cNvSpPr/>
          <p:nvPr/>
        </p:nvSpPr>
        <p:spPr>
          <a:xfrm>
            <a:off x="3760595" y="5172609"/>
            <a:ext cx="2085981" cy="1245689"/>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6. Web/Document ranking and search</a:t>
            </a:r>
          </a:p>
        </p:txBody>
      </p:sp>
      <p:sp>
        <p:nvSpPr>
          <p:cNvPr id="22" name="Content Placeholder 2">
            <a:extLst>
              <a:ext uri="{FF2B5EF4-FFF2-40B4-BE49-F238E27FC236}">
                <a16:creationId xmlns:a16="http://schemas.microsoft.com/office/drawing/2014/main" id="{302608D4-DE73-B603-CD44-1D4BB221F2DE}"/>
              </a:ext>
            </a:extLst>
          </p:cNvPr>
          <p:cNvSpPr txBox="1">
            <a:spLocks/>
          </p:cNvSpPr>
          <p:nvPr/>
        </p:nvSpPr>
        <p:spPr>
          <a:xfrm>
            <a:off x="865089" y="797597"/>
            <a:ext cx="10515600" cy="850578"/>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t>The main topics in this course are interconnected and build on each other</a:t>
            </a:r>
          </a:p>
        </p:txBody>
      </p:sp>
    </p:spTree>
    <p:extLst>
      <p:ext uri="{BB962C8B-B14F-4D97-AF65-F5344CB8AC3E}">
        <p14:creationId xmlns:p14="http://schemas.microsoft.com/office/powerpoint/2010/main" val="5812348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similarity and dissimilarity</a:t>
            </a:r>
          </a:p>
        </p:txBody>
      </p:sp>
      <p:sp>
        <p:nvSpPr>
          <p:cNvPr id="3" name="Content Placeholder 2"/>
          <p:cNvSpPr>
            <a:spLocks noGrp="1"/>
          </p:cNvSpPr>
          <p:nvPr>
            <p:ph sz="quarter" idx="10"/>
          </p:nvPr>
        </p:nvSpPr>
        <p:spPr>
          <a:xfrm>
            <a:off x="333375" y="896079"/>
            <a:ext cx="11525250" cy="5290388"/>
          </a:xfrm>
        </p:spPr>
        <p:txBody>
          <a:bodyPr>
            <a:normAutofit/>
          </a:bodyPr>
          <a:lstStyle/>
          <a:p>
            <a:pPr marL="0" indent="0">
              <a:buNone/>
            </a:pPr>
            <a:r>
              <a:rPr lang="en-US" dirty="0">
                <a:latin typeface="+mn-lt"/>
              </a:rPr>
              <a:t>Many data mining algorithms require searching for the most similar or dissimilar cases</a:t>
            </a:r>
          </a:p>
          <a:p>
            <a:r>
              <a:rPr lang="en-US" dirty="0">
                <a:latin typeface="+mn-lt"/>
              </a:rPr>
              <a:t>Cluster models  </a:t>
            </a:r>
          </a:p>
          <a:p>
            <a:r>
              <a:rPr lang="en-US" dirty="0">
                <a:latin typeface="+mn-lt"/>
              </a:rPr>
              <a:t>Nearest neighbor graph algorithms   </a:t>
            </a:r>
          </a:p>
          <a:p>
            <a:r>
              <a:rPr lang="en-US" dirty="0">
                <a:latin typeface="+mn-lt"/>
              </a:rPr>
              <a:t>Recommender systems   </a:t>
            </a:r>
          </a:p>
          <a:p>
            <a:r>
              <a:rPr lang="en-US" dirty="0">
                <a:latin typeface="+mn-lt"/>
              </a:rPr>
              <a:t>Dimensionality reduction </a:t>
            </a:r>
          </a:p>
          <a:p>
            <a:r>
              <a:rPr lang="en-US" dirty="0">
                <a:latin typeface="+mn-lt"/>
              </a:rPr>
              <a:t>Document and image search</a:t>
            </a:r>
          </a:p>
          <a:p>
            <a:r>
              <a:rPr lang="en-US" dirty="0">
                <a:latin typeface="+mn-lt"/>
              </a:rPr>
              <a:t>Retrieval augmented generation (RAG)</a:t>
            </a:r>
          </a:p>
          <a:p>
            <a:r>
              <a:rPr lang="en-US" dirty="0" err="1">
                <a:latin typeface="+mn-lt"/>
              </a:rPr>
              <a:t>Etc</a:t>
            </a:r>
            <a:r>
              <a:rPr lang="en-US" dirty="0">
                <a:latin typeface="+mn-lt"/>
              </a:rPr>
              <a:t>…     </a:t>
            </a:r>
          </a:p>
          <a:p>
            <a:endParaRPr lang="en-US" dirty="0">
              <a:latin typeface="+mn-lt"/>
            </a:endParaRPr>
          </a:p>
          <a:p>
            <a:endParaRPr lang="en-US" sz="2800" dirty="0">
              <a:latin typeface="+mn-lt"/>
            </a:endParaRPr>
          </a:p>
          <a:p>
            <a:pPr lvl="1"/>
            <a:endParaRPr lang="en-US" dirty="0"/>
          </a:p>
        </p:txBody>
      </p:sp>
    </p:spTree>
    <p:extLst>
      <p:ext uri="{BB962C8B-B14F-4D97-AF65-F5344CB8AC3E}">
        <p14:creationId xmlns:p14="http://schemas.microsoft.com/office/powerpoint/2010/main" val="926542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similarity and dissimilarity</a:t>
            </a:r>
          </a:p>
        </p:txBody>
      </p:sp>
      <p:sp>
        <p:nvSpPr>
          <p:cNvPr id="3" name="Content Placeholder 2"/>
          <p:cNvSpPr>
            <a:spLocks noGrp="1"/>
          </p:cNvSpPr>
          <p:nvPr>
            <p:ph sz="quarter" idx="10"/>
          </p:nvPr>
        </p:nvSpPr>
        <p:spPr>
          <a:xfrm>
            <a:off x="333375" y="896079"/>
            <a:ext cx="11525250" cy="5290388"/>
          </a:xfrm>
        </p:spPr>
        <p:txBody>
          <a:bodyPr>
            <a:normAutofit/>
          </a:bodyPr>
          <a:lstStyle/>
          <a:p>
            <a:pPr marL="0" indent="0">
              <a:buNone/>
            </a:pPr>
            <a:r>
              <a:rPr lang="en-US" dirty="0">
                <a:latin typeface="+mn-lt"/>
              </a:rPr>
              <a:t>Many data mining solutions use search for the most similar or dissimilar cases</a:t>
            </a:r>
          </a:p>
          <a:p>
            <a:r>
              <a:rPr lang="en-US" dirty="0">
                <a:latin typeface="+mn-lt"/>
              </a:rPr>
              <a:t>Searching for similar documents</a:t>
            </a:r>
          </a:p>
          <a:p>
            <a:r>
              <a:rPr lang="en-US" dirty="0">
                <a:latin typeface="+mn-lt"/>
              </a:rPr>
              <a:t>Searching for similar images</a:t>
            </a:r>
          </a:p>
          <a:p>
            <a:r>
              <a:rPr lang="en-US" dirty="0">
                <a:latin typeface="+mn-lt"/>
              </a:rPr>
              <a:t>Web search</a:t>
            </a:r>
          </a:p>
          <a:p>
            <a:r>
              <a:rPr lang="en-US" dirty="0">
                <a:latin typeface="+mn-lt"/>
              </a:rPr>
              <a:t>Discovering similar mRNA sequences </a:t>
            </a:r>
          </a:p>
          <a:p>
            <a:r>
              <a:rPr lang="en-US" dirty="0">
                <a:latin typeface="+mn-lt"/>
              </a:rPr>
              <a:t>Finding the most similar sensor streams </a:t>
            </a:r>
          </a:p>
          <a:p>
            <a:r>
              <a:rPr lang="en-US" dirty="0">
                <a:latin typeface="+mn-lt"/>
              </a:rPr>
              <a:t>Finding similar products for recommendation </a:t>
            </a:r>
          </a:p>
          <a:p>
            <a:r>
              <a:rPr lang="en-US" dirty="0">
                <a:latin typeface="+mn-lt"/>
              </a:rPr>
              <a:t>And many others……………….. </a:t>
            </a:r>
          </a:p>
          <a:p>
            <a:endParaRPr lang="en-US" sz="2800" dirty="0">
              <a:latin typeface="+mn-lt"/>
            </a:endParaRPr>
          </a:p>
          <a:p>
            <a:pPr lvl="1"/>
            <a:endParaRPr lang="en-US" dirty="0"/>
          </a:p>
        </p:txBody>
      </p:sp>
    </p:spTree>
    <p:extLst>
      <p:ext uri="{BB962C8B-B14F-4D97-AF65-F5344CB8AC3E}">
        <p14:creationId xmlns:p14="http://schemas.microsoft.com/office/powerpoint/2010/main" val="30431097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similarity and dissimilarity</a:t>
            </a:r>
          </a:p>
        </p:txBody>
      </p:sp>
      <p:sp>
        <p:nvSpPr>
          <p:cNvPr id="3" name="Content Placeholder 2"/>
          <p:cNvSpPr>
            <a:spLocks noGrp="1"/>
          </p:cNvSpPr>
          <p:nvPr>
            <p:ph sz="quarter" idx="10"/>
          </p:nvPr>
        </p:nvSpPr>
        <p:spPr>
          <a:xfrm>
            <a:off x="333375" y="896079"/>
            <a:ext cx="11525250" cy="5290388"/>
          </a:xfrm>
        </p:spPr>
        <p:txBody>
          <a:bodyPr>
            <a:normAutofit/>
          </a:bodyPr>
          <a:lstStyle/>
          <a:p>
            <a:pPr marL="0" indent="0">
              <a:buNone/>
            </a:pPr>
            <a:r>
              <a:rPr lang="en-US" dirty="0">
                <a:latin typeface="+mn-lt"/>
              </a:rPr>
              <a:t>Measuring similarity and dissimilarity is fundamental to data mining</a:t>
            </a:r>
          </a:p>
          <a:p>
            <a:r>
              <a:rPr lang="en-US" dirty="0">
                <a:latin typeface="+mn-lt"/>
              </a:rPr>
              <a:t>Distance and similarity measures are the foundation of unsupervised learning</a:t>
            </a:r>
          </a:p>
          <a:p>
            <a:r>
              <a:rPr lang="en-US" dirty="0">
                <a:latin typeface="+mn-lt"/>
              </a:rPr>
              <a:t>A wide range of metrics used in data mining</a:t>
            </a:r>
          </a:p>
          <a:p>
            <a:r>
              <a:rPr lang="en-US" dirty="0">
                <a:latin typeface="+mn-lt"/>
              </a:rPr>
              <a:t>The metrics used must fit the nature of the data and the analysis </a:t>
            </a:r>
          </a:p>
          <a:p>
            <a:pPr lvl="1"/>
            <a:r>
              <a:rPr lang="en-US" dirty="0">
                <a:latin typeface="+mn-lt"/>
              </a:rPr>
              <a:t>Binary data</a:t>
            </a:r>
          </a:p>
          <a:p>
            <a:pPr lvl="1"/>
            <a:r>
              <a:rPr lang="en-US" dirty="0">
                <a:latin typeface="+mn-lt"/>
              </a:rPr>
              <a:t>Text strings</a:t>
            </a:r>
          </a:p>
          <a:p>
            <a:pPr lvl="1"/>
            <a:r>
              <a:rPr lang="en-US" dirty="0">
                <a:latin typeface="+mn-lt"/>
              </a:rPr>
              <a:t>Numeric data</a:t>
            </a:r>
          </a:p>
          <a:p>
            <a:pPr lvl="1"/>
            <a:r>
              <a:rPr lang="en-US" dirty="0">
                <a:latin typeface="+mn-lt"/>
              </a:rPr>
              <a:t>Ordinal data; e.g. rankings and ratings </a:t>
            </a:r>
          </a:p>
          <a:p>
            <a:pPr lvl="1"/>
            <a:r>
              <a:rPr lang="en-US" dirty="0">
                <a:latin typeface="+mn-lt"/>
              </a:rPr>
              <a:t>Unordered categorical data</a:t>
            </a:r>
          </a:p>
          <a:p>
            <a:r>
              <a:rPr lang="en-US" b="1" dirty="0">
                <a:latin typeface="+mn-lt"/>
              </a:rPr>
              <a:t>There is no one best metric!</a:t>
            </a:r>
          </a:p>
          <a:p>
            <a:endParaRPr lang="en-US" sz="2800" dirty="0">
              <a:latin typeface="+mn-lt"/>
            </a:endParaRPr>
          </a:p>
          <a:p>
            <a:pPr lvl="1"/>
            <a:endParaRPr lang="en-US" dirty="0"/>
          </a:p>
        </p:txBody>
      </p:sp>
    </p:spTree>
    <p:extLst>
      <p:ext uri="{BB962C8B-B14F-4D97-AF65-F5344CB8AC3E}">
        <p14:creationId xmlns:p14="http://schemas.microsoft.com/office/powerpoint/2010/main" val="3123496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635853-3F71-2F6B-5E06-87812B26D4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19A469B-973B-CC90-9785-C2ABFBCC7E17}"/>
              </a:ext>
            </a:extLst>
          </p:cNvPr>
          <p:cNvSpPr>
            <a:spLocks noGrp="1"/>
          </p:cNvSpPr>
          <p:nvPr>
            <p:ph type="title"/>
          </p:nvPr>
        </p:nvSpPr>
        <p:spPr>
          <a:xfrm>
            <a:off x="831850" y="1709738"/>
            <a:ext cx="10515600" cy="2104337"/>
          </a:xfrm>
        </p:spPr>
        <p:txBody>
          <a:bodyPr/>
          <a:lstStyle/>
          <a:p>
            <a:pPr algn="ctr"/>
            <a:r>
              <a:rPr lang="en-US" b="1" dirty="0"/>
              <a:t>Properties of Distance Metrics</a:t>
            </a:r>
          </a:p>
        </p:txBody>
      </p:sp>
    </p:spTree>
    <p:extLst>
      <p:ext uri="{BB962C8B-B14F-4D97-AF65-F5344CB8AC3E}">
        <p14:creationId xmlns:p14="http://schemas.microsoft.com/office/powerpoint/2010/main" val="392859570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5290388"/>
              </a:xfrm>
            </p:spPr>
            <p:txBody>
              <a:bodyPr>
                <a:normAutofit/>
              </a:bodyPr>
              <a:lstStyle/>
              <a:p>
                <a:pPr marL="0" indent="0">
                  <a:buNone/>
                </a:pPr>
                <a:r>
                  <a:rPr lang="en-US" dirty="0">
                    <a:latin typeface="+mn-lt"/>
                  </a:rPr>
                  <a:t>Relationships between variables in a dataset are often based on </a:t>
                </a:r>
                <a:r>
                  <a:rPr lang="en-US" b="1" dirty="0">
                    <a:latin typeface="+mn-lt"/>
                  </a:rPr>
                  <a:t>dissimilarity</a:t>
                </a:r>
                <a:r>
                  <a:rPr lang="en-US" dirty="0">
                    <a:latin typeface="+mn-lt"/>
                  </a:rPr>
                  <a:t> using a </a:t>
                </a:r>
                <a:r>
                  <a:rPr lang="en-US" b="1" dirty="0">
                    <a:latin typeface="+mn-lt"/>
                  </a:rPr>
                  <a:t>distance metric</a:t>
                </a:r>
                <a:endParaRPr lang="en-US" sz="2800" b="1" dirty="0">
                  <a:latin typeface="+mn-lt"/>
                </a:endParaRPr>
              </a:p>
              <a:p>
                <a:r>
                  <a:rPr lang="en-US" sz="2800" dirty="0">
                    <a:latin typeface="+mn-lt"/>
                  </a:rPr>
                  <a:t>The variables or observations </a:t>
                </a:r>
                <a:r>
                  <a:rPr lang="en-US" dirty="0">
                    <a:latin typeface="+mn-lt"/>
                  </a:rPr>
                  <a:t>are </a:t>
                </a:r>
                <a:r>
                  <a:rPr lang="en-US" b="1" dirty="0">
                    <a:latin typeface="+mn-lt"/>
                  </a:rPr>
                  <a:t>vector valued</a:t>
                </a:r>
              </a:p>
              <a:p>
                <a:r>
                  <a:rPr lang="en-US" dirty="0">
                    <a:latin typeface="+mn-lt"/>
                  </a:rPr>
                  <a:t>Distance and similarity are </a:t>
                </a:r>
                <a:r>
                  <a:rPr lang="en-US" b="1" dirty="0">
                    <a:latin typeface="+mn-lt"/>
                  </a:rPr>
                  <a:t>scalar values </a:t>
                </a:r>
              </a:p>
              <a:p>
                <a:r>
                  <a:rPr lang="en-US" sz="3200" dirty="0">
                    <a:latin typeface="+mn-lt"/>
                  </a:rPr>
                  <a:t>Distance (similarity) metrics </a:t>
                </a:r>
                <a:r>
                  <a:rPr lang="en-US" sz="3200" b="1" dirty="0">
                    <a:latin typeface="+mn-lt"/>
                  </a:rPr>
                  <a:t>map two vector valued variables </a:t>
                </a:r>
                <a:r>
                  <a:rPr lang="en-US" sz="3200" dirty="0">
                    <a:latin typeface="+mn-lt"/>
                  </a:rPr>
                  <a:t>to a </a:t>
                </a:r>
                <a:r>
                  <a:rPr lang="en-US" sz="3200" b="1" dirty="0">
                    <a:latin typeface="+mn-lt"/>
                  </a:rPr>
                  <a:t>real valued scalar</a:t>
                </a:r>
              </a:p>
              <a:p>
                <a:pPr marL="0" indent="0">
                  <a:buNone/>
                </a:pPr>
                <a14:m>
                  <m:oMathPara xmlns:m="http://schemas.openxmlformats.org/officeDocument/2006/math">
                    <m:oMathParaPr>
                      <m:jc m:val="centerGroup"/>
                    </m:oMathParaPr>
                    <m:oMath xmlns:m="http://schemas.openxmlformats.org/officeDocument/2006/math">
                      <m:r>
                        <a:rPr lang="en-US" sz="3200" i="1">
                          <a:latin typeface="Cambria Math" panose="02040503050406030204" pitchFamily="18" charset="0"/>
                        </a:rPr>
                        <m:t>𝑑</m:t>
                      </m:r>
                      <m:d>
                        <m:dPr>
                          <m:ctrlPr>
                            <a:rPr lang="en-US" sz="3200" i="1">
                              <a:latin typeface="Cambria Math" panose="02040503050406030204" pitchFamily="18" charset="0"/>
                            </a:rPr>
                          </m:ctrlPr>
                        </m:dPr>
                        <m:e>
                          <m:sSub>
                            <m:sSubPr>
                              <m:ctrlPr>
                                <a:rPr lang="en-US" sz="3200" i="1">
                                  <a:latin typeface="Cambria Math" panose="02040503050406030204" pitchFamily="18" charset="0"/>
                                </a:rPr>
                              </m:ctrlPr>
                            </m:sSubPr>
                            <m:e>
                              <m:r>
                                <a:rPr lang="en-US" sz="3200" i="1">
                                  <a:latin typeface="Cambria Math" panose="02040503050406030204" pitchFamily="18" charset="0"/>
                                </a:rPr>
                                <m:t>𝑥</m:t>
                              </m:r>
                            </m:e>
                            <m:sub>
                              <m:r>
                                <a:rPr lang="en-US" sz="3200" i="1">
                                  <a:latin typeface="Cambria Math" panose="02040503050406030204" pitchFamily="18" charset="0"/>
                                </a:rPr>
                                <m:t>𝑖</m:t>
                              </m:r>
                            </m:sub>
                          </m:sSub>
                          <m:r>
                            <a:rPr lang="en-US" sz="3200" i="1">
                              <a:latin typeface="Cambria Math" panose="02040503050406030204" pitchFamily="18" charset="0"/>
                            </a:rPr>
                            <m:t>,</m:t>
                          </m:r>
                          <m:sSub>
                            <m:sSubPr>
                              <m:ctrlPr>
                                <a:rPr lang="en-US" sz="3200" i="1">
                                  <a:latin typeface="Cambria Math" panose="02040503050406030204" pitchFamily="18" charset="0"/>
                                </a:rPr>
                              </m:ctrlPr>
                            </m:sSubPr>
                            <m:e>
                              <m:r>
                                <a:rPr lang="en-US" sz="3200" i="1">
                                  <a:latin typeface="Cambria Math" panose="02040503050406030204" pitchFamily="18" charset="0"/>
                                </a:rPr>
                                <m:t>𝑥</m:t>
                              </m:r>
                            </m:e>
                            <m:sub>
                              <m:r>
                                <a:rPr lang="en-US" sz="3200" i="1">
                                  <a:latin typeface="Cambria Math" panose="02040503050406030204" pitchFamily="18" charset="0"/>
                                </a:rPr>
                                <m:t>𝑗</m:t>
                              </m:r>
                            </m:sub>
                          </m:sSub>
                        </m:e>
                      </m:d>
                      <m:r>
                        <a:rPr lang="en-US" sz="3200" i="1" smtClean="0">
                          <a:latin typeface="Cambria Math" panose="02040503050406030204" pitchFamily="18" charset="0"/>
                          <a:ea typeface="Cambria Math" panose="02040503050406030204" pitchFamily="18" charset="0"/>
                        </a:rPr>
                        <m:t>→</m:t>
                      </m:r>
                      <m:r>
                        <a:rPr lang="en-US" sz="3200" b="0" i="1" smtClean="0">
                          <a:latin typeface="Cambria Math" panose="02040503050406030204" pitchFamily="18" charset="0"/>
                          <a:ea typeface="Cambria Math" panose="02040503050406030204" pitchFamily="18" charset="0"/>
                        </a:rPr>
                        <m:t>𝑠</m:t>
                      </m:r>
                    </m:oMath>
                  </m:oMathPara>
                </a14:m>
                <a:endParaRPr lang="en-US" sz="3200" b="1" dirty="0">
                  <a:latin typeface="+mn-lt"/>
                </a:endParaRPr>
              </a:p>
              <a:p>
                <a:pPr marL="0" indent="0">
                  <a:buNone/>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𝑠</m:t>
                      </m:r>
                      <m:r>
                        <a:rPr lang="en-US" sz="3200" b="0" i="1" smtClean="0">
                          <a:latin typeface="Cambria Math" panose="02040503050406030204" pitchFamily="18" charset="0"/>
                          <a:ea typeface="Cambria Math" panose="02040503050406030204" pitchFamily="18" charset="0"/>
                        </a:rPr>
                        <m:t>∈</m:t>
                      </m:r>
                      <m:sSup>
                        <m:sSupPr>
                          <m:ctrlPr>
                            <a:rPr lang="en-US" sz="3200" i="1" smtClean="0">
                              <a:latin typeface="Cambria Math" panose="02040503050406030204" pitchFamily="18" charset="0"/>
                              <a:ea typeface="Cambria Math" panose="02040503050406030204" pitchFamily="18" charset="0"/>
                            </a:rPr>
                          </m:ctrlPr>
                        </m:sSupPr>
                        <m:e>
                          <m:r>
                            <a:rPr lang="en-US" sz="3200" b="0" i="1" smtClean="0">
                              <a:latin typeface="Cambria Math" panose="02040503050406030204" pitchFamily="18" charset="0"/>
                              <a:ea typeface="Cambria Math" panose="02040503050406030204" pitchFamily="18" charset="0"/>
                            </a:rPr>
                            <m:t>𝑅</m:t>
                          </m:r>
                        </m:e>
                        <m:sup>
                          <m:r>
                            <a:rPr lang="en-US" sz="3200" b="0" i="1" smtClean="0">
                              <a:latin typeface="Cambria Math" panose="02040503050406030204" pitchFamily="18" charset="0"/>
                              <a:ea typeface="Cambria Math" panose="02040503050406030204" pitchFamily="18" charset="0"/>
                            </a:rPr>
                            <m:t> </m:t>
                          </m:r>
                        </m:sup>
                      </m:sSup>
                      <m:r>
                        <a:rPr lang="en-US" sz="3200" b="0" i="1" smtClean="0">
                          <a:latin typeface="Cambria Math" panose="02040503050406030204" pitchFamily="18" charset="0"/>
                          <a:ea typeface="Cambria Math" panose="02040503050406030204" pitchFamily="18" charset="0"/>
                        </a:rPr>
                        <m:t>,   </m:t>
                      </m:r>
                      <m:sSub>
                        <m:sSubPr>
                          <m:ctrlPr>
                            <a:rPr lang="en-US" sz="3200" i="1">
                              <a:latin typeface="Cambria Math" panose="02040503050406030204" pitchFamily="18" charset="0"/>
                            </a:rPr>
                          </m:ctrlPr>
                        </m:sSubPr>
                        <m:e>
                          <m:r>
                            <a:rPr lang="en-US" sz="3200" b="0" i="1">
                              <a:latin typeface="Cambria Math" panose="02040503050406030204" pitchFamily="18" charset="0"/>
                            </a:rPr>
                            <m:t>𝑥</m:t>
                          </m:r>
                        </m:e>
                        <m:sub>
                          <m:r>
                            <a:rPr lang="en-US" sz="3200" b="0" i="1">
                              <a:latin typeface="Cambria Math" panose="02040503050406030204" pitchFamily="18" charset="0"/>
                            </a:rPr>
                            <m:t>𝑖</m:t>
                          </m:r>
                        </m:sub>
                      </m:sSub>
                      <m:r>
                        <a:rPr lang="en-US" sz="3200" b="0" i="1">
                          <a:latin typeface="Cambria Math" panose="02040503050406030204" pitchFamily="18" charset="0"/>
                        </a:rPr>
                        <m:t>,</m:t>
                      </m:r>
                      <m:sSub>
                        <m:sSubPr>
                          <m:ctrlPr>
                            <a:rPr lang="en-US" sz="3200" i="1">
                              <a:latin typeface="Cambria Math" panose="02040503050406030204" pitchFamily="18" charset="0"/>
                            </a:rPr>
                          </m:ctrlPr>
                        </m:sSubPr>
                        <m:e>
                          <m:r>
                            <a:rPr lang="en-US" sz="3200" b="0" i="1">
                              <a:latin typeface="Cambria Math" panose="02040503050406030204" pitchFamily="18" charset="0"/>
                            </a:rPr>
                            <m:t>𝑥</m:t>
                          </m:r>
                        </m:e>
                        <m:sub>
                          <m:r>
                            <a:rPr lang="en-US" sz="3200" b="0" i="1">
                              <a:latin typeface="Cambria Math" panose="02040503050406030204" pitchFamily="18" charset="0"/>
                            </a:rPr>
                            <m:t>𝑗</m:t>
                          </m:r>
                        </m:sub>
                      </m:sSub>
                      <m:r>
                        <a:rPr lang="en-US" sz="3200" i="1">
                          <a:latin typeface="Cambria Math" panose="02040503050406030204" pitchFamily="18" charset="0"/>
                          <a:ea typeface="Cambria Math" panose="02040503050406030204" pitchFamily="18" charset="0"/>
                        </a:rPr>
                        <m:t>∈</m:t>
                      </m:r>
                      <m:sSup>
                        <m:sSupPr>
                          <m:ctrlPr>
                            <a:rPr lang="en-US" sz="3200" i="1" smtClean="0">
                              <a:latin typeface="Cambria Math" panose="02040503050406030204" pitchFamily="18" charset="0"/>
                              <a:ea typeface="Cambria Math" panose="02040503050406030204" pitchFamily="18" charset="0"/>
                            </a:rPr>
                          </m:ctrlPr>
                        </m:sSupPr>
                        <m:e>
                          <m:r>
                            <a:rPr lang="en-US" sz="3200" b="0" i="1" smtClean="0">
                              <a:latin typeface="Cambria Math" panose="02040503050406030204" pitchFamily="18" charset="0"/>
                              <a:ea typeface="Cambria Math" panose="02040503050406030204" pitchFamily="18" charset="0"/>
                            </a:rPr>
                            <m:t>𝑅</m:t>
                          </m:r>
                        </m:e>
                        <m:sup>
                          <m:r>
                            <a:rPr lang="en-US" sz="3200" b="0" i="1" smtClean="0">
                              <a:latin typeface="Cambria Math" panose="02040503050406030204" pitchFamily="18" charset="0"/>
                              <a:ea typeface="Cambria Math" panose="02040503050406030204" pitchFamily="18" charset="0"/>
                            </a:rPr>
                            <m:t>𝑛</m:t>
                          </m:r>
                        </m:sup>
                      </m:sSup>
                    </m:oMath>
                  </m:oMathPara>
                </a14:m>
                <a:endParaRPr lang="en-US" sz="3200"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5290388"/>
              </a:xfrm>
              <a:blipFill>
                <a:blip r:embed="rId3"/>
                <a:stretch>
                  <a:fillRect l="-1217" t="-1959" r="-212"/>
                </a:stretch>
              </a:blipFill>
            </p:spPr>
            <p:txBody>
              <a:bodyPr/>
              <a:lstStyle/>
              <a:p>
                <a:r>
                  <a:rPr lang="en-US">
                    <a:noFill/>
                  </a:rPr>
                  <a:t> </a:t>
                </a:r>
              </a:p>
            </p:txBody>
          </p:sp>
        </mc:Fallback>
      </mc:AlternateContent>
    </p:spTree>
    <p:extLst>
      <p:ext uri="{BB962C8B-B14F-4D97-AF65-F5344CB8AC3E}">
        <p14:creationId xmlns:p14="http://schemas.microsoft.com/office/powerpoint/2010/main" val="30085154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5290388"/>
              </a:xfrm>
            </p:spPr>
            <p:txBody>
              <a:bodyPr>
                <a:normAutofit/>
              </a:bodyPr>
              <a:lstStyle/>
              <a:p>
                <a:pPr marL="0" indent="0">
                  <a:buNone/>
                </a:pPr>
                <a:r>
                  <a:rPr lang="en-US" dirty="0">
                    <a:latin typeface="+mn-lt"/>
                  </a:rPr>
                  <a:t>Distance metrics between two points, </a:t>
                </a:r>
                <a14:m>
                  <m:oMath xmlns:m="http://schemas.openxmlformats.org/officeDocument/2006/math">
                    <m:r>
                      <a:rPr lang="en-US" b="0" i="1" smtClean="0">
                        <a:latin typeface="Cambria Math" panose="02040503050406030204" pitchFamily="18" charset="0"/>
                      </a:rPr>
                      <m:t>𝑑</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𝑦</m:t>
                    </m:r>
                    <m:r>
                      <a:rPr lang="en-US" b="0" i="1" smtClean="0">
                        <a:latin typeface="Cambria Math" panose="02040503050406030204" pitchFamily="18" charset="0"/>
                      </a:rPr>
                      <m:t>)</m:t>
                    </m:r>
                  </m:oMath>
                </a14:m>
                <a:r>
                  <a:rPr lang="en-US" dirty="0">
                    <a:latin typeface="+mn-lt"/>
                  </a:rPr>
                  <a:t>, must conform to these </a:t>
                </a:r>
                <a:r>
                  <a:rPr lang="en-US" b="1" dirty="0">
                    <a:latin typeface="+mn-lt"/>
                  </a:rPr>
                  <a:t>4 axioms</a:t>
                </a:r>
                <a:r>
                  <a:rPr lang="en-US" dirty="0">
                    <a:latin typeface="+mn-lt"/>
                  </a:rPr>
                  <a:t>:</a:t>
                </a:r>
              </a:p>
              <a:p>
                <a:pPr marL="514350" indent="-514350">
                  <a:buFont typeface="+mj-lt"/>
                  <a:buAutoNum type="arabicPeriod"/>
                </a:pPr>
                <a:r>
                  <a:rPr lang="en-US" dirty="0">
                    <a:latin typeface="+mn-lt"/>
                    <a:ea typeface="Cambria Math" panose="02040503050406030204" pitchFamily="18" charset="0"/>
                  </a:rPr>
                  <a:t>Distances are </a:t>
                </a:r>
                <a:r>
                  <a:rPr lang="en-US" b="1" dirty="0">
                    <a:latin typeface="+mn-lt"/>
                    <a:ea typeface="Cambria Math" panose="02040503050406030204" pitchFamily="18" charset="0"/>
                  </a:rPr>
                  <a:t>nonnegative</a:t>
                </a:r>
                <a:r>
                  <a:rPr lang="en-US" dirty="0">
                    <a:latin typeface="+mn-lt"/>
                    <a:ea typeface="Cambria Math" panose="02040503050406030204" pitchFamily="18" charset="0"/>
                  </a:rPr>
                  <a:t> </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ea typeface="Cambria Math" panose="02040503050406030204" pitchFamily="18" charset="0"/>
                        </a:rPr>
                        <m:t>𝑑</m:t>
                      </m:r>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𝑦</m:t>
                          </m:r>
                        </m:e>
                      </m:d>
                      <m:r>
                        <a:rPr lang="en-US" b="0" i="1" smtClean="0">
                          <a:latin typeface="Cambria Math" panose="02040503050406030204" pitchFamily="18" charset="0"/>
                          <a:ea typeface="Cambria Math" panose="02040503050406030204" pitchFamily="18" charset="0"/>
                        </a:rPr>
                        <m:t>≥0</m:t>
                      </m:r>
                    </m:oMath>
                  </m:oMathPara>
                </a14:m>
                <a:endParaRPr lang="en-US" dirty="0">
                  <a:latin typeface="+mn-lt"/>
                  <a:ea typeface="Cambria Math" panose="02040503050406030204" pitchFamily="18" charset="0"/>
                </a:endParaRPr>
              </a:p>
              <a:p>
                <a:pPr marL="514350" indent="-514350">
                  <a:buFont typeface="+mj-lt"/>
                  <a:buAutoNum type="arabicPeriod" startAt="2"/>
                </a:pPr>
                <a:r>
                  <a:rPr lang="en-US" sz="2800" b="0" dirty="0">
                    <a:latin typeface="+mn-lt"/>
                    <a:ea typeface="Cambria Math" panose="02040503050406030204" pitchFamily="18" charset="0"/>
                  </a:rPr>
                  <a:t>Distances are </a:t>
                </a:r>
                <a:r>
                  <a:rPr lang="en-US" b="1" dirty="0">
                    <a:latin typeface="+mn-lt"/>
                    <a:ea typeface="Cambria Math" panose="02040503050406030204" pitchFamily="18" charset="0"/>
                  </a:rPr>
                  <a:t>only 0</a:t>
                </a:r>
                <a:r>
                  <a:rPr lang="en-US" sz="2800" b="1" dirty="0">
                    <a:latin typeface="+mn-lt"/>
                    <a:ea typeface="Cambria Math" panose="02040503050406030204" pitchFamily="18" charset="0"/>
                  </a:rPr>
                  <a:t> between a point and itself </a:t>
                </a:r>
              </a:p>
              <a:p>
                <a:pPr marL="0" indent="0">
                  <a:buNone/>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ea typeface="Cambria Math" panose="02040503050406030204" pitchFamily="18" charset="0"/>
                        </a:rPr>
                        <m:t>𝑑</m:t>
                      </m:r>
                      <m:d>
                        <m:dPr>
                          <m:ctrlPr>
                            <a:rPr lang="en-US" sz="2800" b="0" i="1" smtClean="0">
                              <a:latin typeface="Cambria Math" panose="02040503050406030204" pitchFamily="18" charset="0"/>
                              <a:ea typeface="Cambria Math" panose="02040503050406030204" pitchFamily="18" charset="0"/>
                            </a:rPr>
                          </m:ctrlPr>
                        </m:dPr>
                        <m:e>
                          <m:r>
                            <a:rPr lang="en-US" sz="2800" b="0" i="1" smtClean="0">
                              <a:latin typeface="Cambria Math" panose="02040503050406030204" pitchFamily="18" charset="0"/>
                              <a:ea typeface="Cambria Math" panose="02040503050406030204" pitchFamily="18" charset="0"/>
                            </a:rPr>
                            <m:t>𝑥</m:t>
                          </m:r>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𝑦</m:t>
                          </m:r>
                        </m:e>
                      </m:d>
                      <m:r>
                        <a:rPr lang="en-US" sz="2800" b="0" i="1" smtClean="0">
                          <a:latin typeface="Cambria Math" panose="02040503050406030204" pitchFamily="18" charset="0"/>
                          <a:ea typeface="Cambria Math" panose="02040503050406030204" pitchFamily="18" charset="0"/>
                        </a:rPr>
                        <m:t>=0 </m:t>
                      </m:r>
                      <m:r>
                        <a:rPr lang="en-US" sz="2800" b="0" i="1" smtClean="0">
                          <a:latin typeface="Cambria Math" panose="02040503050406030204" pitchFamily="18" charset="0"/>
                          <a:ea typeface="Cambria Math" panose="02040503050406030204" pitchFamily="18" charset="0"/>
                        </a:rPr>
                        <m:t>𝑖𝑓𝑓</m:t>
                      </m:r>
                      <m:r>
                        <a:rPr lang="en-US" sz="2800" b="0" i="1" smtClean="0">
                          <a:latin typeface="Cambria Math" panose="02040503050406030204" pitchFamily="18" charset="0"/>
                          <a:ea typeface="Cambria Math" panose="02040503050406030204" pitchFamily="18" charset="0"/>
                        </a:rPr>
                        <m:t> </m:t>
                      </m:r>
                      <m:r>
                        <a:rPr lang="en-US" sz="2800" b="0" i="1" smtClean="0">
                          <a:latin typeface="Cambria Math" panose="02040503050406030204" pitchFamily="18" charset="0"/>
                          <a:ea typeface="Cambria Math" panose="02040503050406030204" pitchFamily="18" charset="0"/>
                        </a:rPr>
                        <m:t>𝑥</m:t>
                      </m:r>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𝑦</m:t>
                      </m:r>
                    </m:oMath>
                  </m:oMathPara>
                </a14:m>
                <a:endParaRPr lang="en-US" sz="2800" b="0" dirty="0">
                  <a:latin typeface="+mn-lt"/>
                  <a:ea typeface="Cambria Math" panose="02040503050406030204" pitchFamily="18" charset="0"/>
                </a:endParaRPr>
              </a:p>
              <a:p>
                <a:pPr marL="514350" indent="-514350">
                  <a:buFont typeface="+mj-lt"/>
                  <a:buAutoNum type="arabicPeriod" startAt="3"/>
                </a:pPr>
                <a:r>
                  <a:rPr lang="en-US" dirty="0">
                    <a:latin typeface="+mn-lt"/>
                    <a:ea typeface="Cambria Math" panose="02040503050406030204" pitchFamily="18" charset="0"/>
                  </a:rPr>
                  <a:t>Distances are </a:t>
                </a:r>
                <a:r>
                  <a:rPr lang="en-US" b="1" dirty="0">
                    <a:latin typeface="+mn-lt"/>
                    <a:ea typeface="Cambria Math" panose="02040503050406030204" pitchFamily="18" charset="0"/>
                  </a:rPr>
                  <a:t>symmetric</a:t>
                </a:r>
                <a:r>
                  <a:rPr lang="en-US" dirty="0">
                    <a:latin typeface="+mn-lt"/>
                    <a:ea typeface="Cambria Math" panose="02040503050406030204" pitchFamily="18" charset="0"/>
                  </a:rPr>
                  <a:t> </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ea typeface="Cambria Math" panose="02040503050406030204" pitchFamily="18" charset="0"/>
                        </a:rPr>
                        <m:t>𝑑</m:t>
                      </m:r>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𝑦</m:t>
                          </m:r>
                        </m:e>
                      </m:d>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𝑑</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𝑦</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oMath>
                  </m:oMathPara>
                </a14:m>
                <a:endParaRPr lang="en-US" dirty="0">
                  <a:latin typeface="+mn-lt"/>
                  <a:ea typeface="Cambria Math" panose="02040503050406030204" pitchFamily="18" charset="0"/>
                </a:endParaRPr>
              </a:p>
              <a:p>
                <a:pPr marL="514350" indent="-514350">
                  <a:buFont typeface="+mj-lt"/>
                  <a:buAutoNum type="arabicPeriod" startAt="4"/>
                </a:pPr>
                <a:r>
                  <a:rPr lang="en-US" sz="2800" b="0" dirty="0">
                    <a:latin typeface="+mn-lt"/>
                    <a:ea typeface="Cambria Math" panose="02040503050406030204" pitchFamily="18" charset="0"/>
                  </a:rPr>
                  <a:t>Distances must follow the </a:t>
                </a:r>
                <a:r>
                  <a:rPr lang="en-US" sz="2800" b="1" dirty="0">
                    <a:latin typeface="+mn-lt"/>
                    <a:ea typeface="Cambria Math" panose="02040503050406030204" pitchFamily="18" charset="0"/>
                  </a:rPr>
                  <a:t>triangle inequality </a:t>
                </a:r>
                <a:r>
                  <a:rPr lang="en-US" sz="2800" b="0" dirty="0">
                    <a:latin typeface="+mn-lt"/>
                    <a:ea typeface="Cambria Math" panose="02040503050406030204" pitchFamily="18" charset="0"/>
                  </a:rPr>
                  <a:t>(no shortcuts!)  </a:t>
                </a:r>
              </a:p>
              <a:p>
                <a:pPr marL="0" indent="0">
                  <a:buNone/>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ea typeface="Cambria Math" panose="02040503050406030204" pitchFamily="18" charset="0"/>
                        </a:rPr>
                        <m:t>𝑑</m:t>
                      </m:r>
                      <m:d>
                        <m:dPr>
                          <m:ctrlPr>
                            <a:rPr lang="en-US" sz="2800" b="0" i="1" smtClean="0">
                              <a:latin typeface="Cambria Math" panose="02040503050406030204" pitchFamily="18" charset="0"/>
                              <a:ea typeface="Cambria Math" panose="02040503050406030204" pitchFamily="18" charset="0"/>
                            </a:rPr>
                          </m:ctrlPr>
                        </m:dPr>
                        <m:e>
                          <m:r>
                            <a:rPr lang="en-US" sz="2800" b="0" i="1" smtClean="0">
                              <a:latin typeface="Cambria Math" panose="02040503050406030204" pitchFamily="18" charset="0"/>
                              <a:ea typeface="Cambria Math" panose="02040503050406030204" pitchFamily="18" charset="0"/>
                            </a:rPr>
                            <m:t>𝑥</m:t>
                          </m:r>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𝑦</m:t>
                          </m:r>
                        </m:e>
                      </m:d>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𝑑</m:t>
                      </m:r>
                      <m:d>
                        <m:dPr>
                          <m:ctrlPr>
                            <a:rPr lang="en-US" sz="2800" b="0" i="1" smtClean="0">
                              <a:latin typeface="Cambria Math" panose="02040503050406030204" pitchFamily="18" charset="0"/>
                              <a:ea typeface="Cambria Math" panose="02040503050406030204" pitchFamily="18" charset="0"/>
                            </a:rPr>
                          </m:ctrlPr>
                        </m:dPr>
                        <m:e>
                          <m:r>
                            <a:rPr lang="en-US" sz="2800" b="0" i="1" smtClean="0">
                              <a:latin typeface="Cambria Math" panose="02040503050406030204" pitchFamily="18" charset="0"/>
                              <a:ea typeface="Cambria Math" panose="02040503050406030204" pitchFamily="18" charset="0"/>
                            </a:rPr>
                            <m:t>𝑥</m:t>
                          </m:r>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𝑧</m:t>
                          </m:r>
                        </m:e>
                      </m:d>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𝑑</m:t>
                      </m:r>
                      <m:d>
                        <m:dPr>
                          <m:ctrlPr>
                            <a:rPr lang="en-US" sz="2800" b="0" i="1" smtClean="0">
                              <a:latin typeface="Cambria Math" panose="02040503050406030204" pitchFamily="18" charset="0"/>
                              <a:ea typeface="Cambria Math" panose="02040503050406030204" pitchFamily="18" charset="0"/>
                            </a:rPr>
                          </m:ctrlPr>
                        </m:dPr>
                        <m:e>
                          <m:r>
                            <a:rPr lang="en-US" sz="2800" b="0" i="1" smtClean="0">
                              <a:latin typeface="Cambria Math" panose="02040503050406030204" pitchFamily="18" charset="0"/>
                              <a:ea typeface="Cambria Math" panose="02040503050406030204" pitchFamily="18" charset="0"/>
                            </a:rPr>
                            <m:t>𝑧</m:t>
                          </m:r>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𝑦</m:t>
                          </m:r>
                        </m:e>
                      </m:d>
                      <m:r>
                        <a:rPr lang="en-US" sz="2800" b="0" i="1" smtClean="0">
                          <a:latin typeface="Cambria Math" panose="02040503050406030204" pitchFamily="18" charset="0"/>
                          <a:ea typeface="Cambria Math" panose="02040503050406030204" pitchFamily="18" charset="0"/>
                        </a:rPr>
                        <m:t>  ∀ </m:t>
                      </m:r>
                      <m:r>
                        <a:rPr lang="en-US" sz="2800" b="0" i="1" smtClean="0">
                          <a:latin typeface="Cambria Math" panose="02040503050406030204" pitchFamily="18" charset="0"/>
                          <a:ea typeface="Cambria Math" panose="02040503050406030204" pitchFamily="18" charset="0"/>
                        </a:rPr>
                        <m:t>𝑝𝑜𝑖𝑛𝑡𝑠</m:t>
                      </m:r>
                      <m:r>
                        <a:rPr lang="en-US" sz="2800" b="0" i="1" smtClean="0">
                          <a:latin typeface="Cambria Math" panose="02040503050406030204" pitchFamily="18" charset="0"/>
                          <a:ea typeface="Cambria Math" panose="02040503050406030204" pitchFamily="18" charset="0"/>
                        </a:rPr>
                        <m:t> </m:t>
                      </m:r>
                      <m:r>
                        <a:rPr lang="en-US" sz="2800" b="0" i="1" smtClean="0">
                          <a:latin typeface="Cambria Math" panose="02040503050406030204" pitchFamily="18" charset="0"/>
                          <a:ea typeface="Cambria Math" panose="02040503050406030204" pitchFamily="18" charset="0"/>
                        </a:rPr>
                        <m:t>𝑥</m:t>
                      </m:r>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𝑦</m:t>
                      </m:r>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𝑧</m:t>
                      </m:r>
                    </m:oMath>
                  </m:oMathPara>
                </a14:m>
                <a:endParaRPr lang="en-US" sz="2800" b="0" dirty="0">
                  <a:latin typeface="+mn-lt"/>
                  <a:ea typeface="Cambria Math" panose="02040503050406030204" pitchFamily="18" charset="0"/>
                </a:endParaRPr>
              </a:p>
              <a:p>
                <a:endParaRPr lang="en-US" sz="2800" dirty="0">
                  <a:latin typeface="+mn-lt"/>
                </a:endParaRPr>
              </a:p>
              <a:p>
                <a:pPr lvl="1"/>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5290388"/>
              </a:xfrm>
              <a:blipFill>
                <a:blip r:embed="rId3"/>
                <a:stretch>
                  <a:fillRect l="-1111" t="-1959"/>
                </a:stretch>
              </a:blipFill>
            </p:spPr>
            <p:txBody>
              <a:bodyPr/>
              <a:lstStyle/>
              <a:p>
                <a:r>
                  <a:rPr lang="en-US">
                    <a:noFill/>
                  </a:rPr>
                  <a:t> </a:t>
                </a:r>
              </a:p>
            </p:txBody>
          </p:sp>
        </mc:Fallback>
      </mc:AlternateContent>
    </p:spTree>
    <p:extLst>
      <p:ext uri="{BB962C8B-B14F-4D97-AF65-F5344CB8AC3E}">
        <p14:creationId xmlns:p14="http://schemas.microsoft.com/office/powerpoint/2010/main" val="40102923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900312"/>
                <a:ext cx="11525250" cy="5290388"/>
              </a:xfrm>
            </p:spPr>
            <p:txBody>
              <a:bodyPr>
                <a:normAutofit/>
              </a:bodyPr>
              <a:lstStyle/>
              <a:p>
                <a:pPr marL="0" indent="0">
                  <a:buNone/>
                </a:pPr>
                <a:r>
                  <a:rPr lang="en-US" dirty="0">
                    <a:latin typeface="+mn-lt"/>
                  </a:rPr>
                  <a:t>Structure in data arises from </a:t>
                </a:r>
                <a:r>
                  <a:rPr lang="en-US" b="1" dirty="0">
                    <a:latin typeface="+mn-lt"/>
                  </a:rPr>
                  <a:t>dissimilarity</a:t>
                </a:r>
                <a:r>
                  <a:rPr lang="en-US" dirty="0">
                    <a:latin typeface="+mn-lt"/>
                  </a:rPr>
                  <a:t> measured by some </a:t>
                </a:r>
                <a:r>
                  <a:rPr lang="en-US" b="1" dirty="0">
                    <a:latin typeface="+mn-lt"/>
                  </a:rPr>
                  <a:t>distance metric</a:t>
                </a:r>
                <a:endParaRPr lang="en-US" sz="2800" b="1" dirty="0">
                  <a:latin typeface="+mn-lt"/>
                </a:endParaRPr>
              </a:p>
              <a:p>
                <a:r>
                  <a:rPr lang="en-US" sz="2800" dirty="0">
                    <a:latin typeface="+mn-lt"/>
                  </a:rPr>
                  <a:t>How do we organize dissimilarity (similarity) values? </a:t>
                </a:r>
              </a:p>
              <a:p>
                <a:r>
                  <a:rPr lang="en-US" dirty="0">
                    <a:latin typeface="+mn-lt"/>
                  </a:rPr>
                  <a:t>Create a </a:t>
                </a:r>
                <a:r>
                  <a:rPr lang="en-US" b="1" dirty="0">
                    <a:latin typeface="+mn-lt"/>
                  </a:rPr>
                  <a:t>dissimilarity matrix </a:t>
                </a:r>
                <a:r>
                  <a:rPr lang="en-US" dirty="0">
                    <a:latin typeface="+mn-lt"/>
                  </a:rPr>
                  <a:t>of the distances between each case </a:t>
                </a:r>
                <a:r>
                  <a:rPr lang="en-US" i="1" dirty="0">
                    <a:latin typeface="+mn-lt"/>
                  </a:rPr>
                  <a:t>x</a:t>
                </a:r>
                <a:r>
                  <a:rPr lang="en-US" i="1" baseline="-25000" dirty="0">
                    <a:latin typeface="+mn-lt"/>
                  </a:rPr>
                  <a:t>i</a:t>
                </a:r>
                <a:r>
                  <a:rPr lang="en-US" dirty="0">
                    <a:latin typeface="+mn-lt"/>
                  </a:rPr>
                  <a:t> and every other case </a:t>
                </a:r>
                <a:r>
                  <a:rPr lang="en-US" i="1" dirty="0" err="1">
                    <a:latin typeface="+mn-lt"/>
                  </a:rPr>
                  <a:t>x’</a:t>
                </a:r>
                <a:r>
                  <a:rPr lang="en-US" i="1" baseline="-25000" dirty="0" err="1">
                    <a:latin typeface="+mn-lt"/>
                  </a:rPr>
                  <a:t>i</a:t>
                </a:r>
                <a:r>
                  <a:rPr lang="en-US" dirty="0">
                    <a:latin typeface="+mn-lt"/>
                  </a:rPr>
                  <a:t>,</a:t>
                </a:r>
                <a:r>
                  <a:rPr lang="en-US" i="1" dirty="0">
                    <a:latin typeface="+mn-lt"/>
                  </a:rPr>
                  <a:t> d(x</a:t>
                </a:r>
                <a:r>
                  <a:rPr lang="en-US" i="1" baseline="-25000" dirty="0">
                    <a:latin typeface="+mn-lt"/>
                  </a:rPr>
                  <a:t>i</a:t>
                </a:r>
                <a:r>
                  <a:rPr lang="en-US" i="1" dirty="0">
                    <a:latin typeface="+mn-lt"/>
                  </a:rPr>
                  <a:t>, </a:t>
                </a:r>
                <a:r>
                  <a:rPr lang="en-US" i="1" dirty="0" err="1">
                    <a:latin typeface="+mn-lt"/>
                  </a:rPr>
                  <a:t>x’</a:t>
                </a:r>
                <a:r>
                  <a:rPr lang="en-US" i="1" baseline="-25000" dirty="0" err="1">
                    <a:latin typeface="+mn-lt"/>
                  </a:rPr>
                  <a:t>i</a:t>
                </a:r>
                <a:r>
                  <a:rPr lang="en-US" i="1" dirty="0">
                    <a:latin typeface="+mn-lt"/>
                  </a:rPr>
                  <a:t>)</a:t>
                </a:r>
              </a:p>
              <a:p>
                <a:endParaRPr lang="en-US" sz="2800" i="1" baseline="-25000" dirty="0">
                  <a:latin typeface="+mn-lt"/>
                </a:endParaRPr>
              </a:p>
              <a:p>
                <a:pPr marL="0" indent="0">
                  <a:buNone/>
                </a:pPr>
                <a14:m>
                  <m:oMathPara xmlns:m="http://schemas.openxmlformats.org/officeDocument/2006/math">
                    <m:oMathParaPr>
                      <m:jc m:val="centerGroup"/>
                    </m:oMathParaPr>
                    <m:oMath xmlns:m="http://schemas.openxmlformats.org/officeDocument/2006/math">
                      <m:r>
                        <m:rPr>
                          <m:sty m:val="p"/>
                        </m:rPr>
                        <a:rPr lang="en-US" sz="2800" b="0" i="0" smtClean="0">
                          <a:latin typeface="Cambria Math" panose="02040503050406030204" pitchFamily="18" charset="0"/>
                        </a:rPr>
                        <m:t>D</m:t>
                      </m:r>
                      <m:d>
                        <m:dPr>
                          <m:ctrlPr>
                            <a:rPr lang="en-US" sz="2800" b="0" i="1" smtClean="0">
                              <a:latin typeface="Cambria Math" panose="02040503050406030204" pitchFamily="18" charset="0"/>
                            </a:rPr>
                          </m:ctrlPr>
                        </m:dPr>
                        <m:e>
                          <m:r>
                            <m:rPr>
                              <m:sty m:val="p"/>
                            </m:rPr>
                            <a:rPr lang="en-US" sz="2800" b="0" i="0" smtClean="0">
                              <a:latin typeface="Cambria Math" panose="02040503050406030204" pitchFamily="18" charset="0"/>
                            </a:rPr>
                            <m:t>X</m:t>
                          </m:r>
                        </m:e>
                      </m:d>
                      <m:r>
                        <a:rPr lang="en-US" sz="2800" b="0" i="0" smtClean="0">
                          <a:latin typeface="Cambria Math" panose="02040503050406030204" pitchFamily="18" charset="0"/>
                        </a:rPr>
                        <m:t>=</m:t>
                      </m:r>
                      <m:d>
                        <m:dPr>
                          <m:ctrlPr>
                            <a:rPr lang="en-US" sz="2800" b="0" i="1" smtClean="0">
                              <a:latin typeface="Cambria Math" panose="02040503050406030204" pitchFamily="18" charset="0"/>
                            </a:rPr>
                          </m:ctrlPr>
                        </m:dPr>
                        <m:e>
                          <m:m>
                            <m:mPr>
                              <m:mcs>
                                <m:mc>
                                  <m:mcPr>
                                    <m:count m:val="3"/>
                                    <m:mcJc m:val="center"/>
                                  </m:mcPr>
                                </m:mc>
                              </m:mcs>
                              <m:ctrlPr>
                                <a:rPr lang="en-US" sz="2800" b="0" i="1" smtClean="0">
                                  <a:latin typeface="Cambria Math" panose="02040503050406030204" pitchFamily="18" charset="0"/>
                                </a:rPr>
                              </m:ctrlPr>
                            </m:mPr>
                            <m:mr>
                              <m:e>
                                <m:r>
                                  <m:rPr>
                                    <m:brk m:alnAt="7"/>
                                  </m:rPr>
                                  <a:rPr lang="en-US" sz="2800" b="0" i="1" smtClean="0">
                                    <a:latin typeface="Cambria Math" panose="02040503050406030204" pitchFamily="18" charset="0"/>
                                  </a:rPr>
                                  <m:t>𝑑</m:t>
                                </m:r>
                                <m:d>
                                  <m:dPr>
                                    <m:ctrlPr>
                                      <a:rPr lang="en-US" sz="2800" b="0" i="1" smtClean="0">
                                        <a:latin typeface="Cambria Math" panose="02040503050406030204" pitchFamily="18" charset="0"/>
                                      </a:rPr>
                                    </m:ctrlPr>
                                  </m:dPr>
                                  <m:e>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𝑥</m:t>
                                        </m:r>
                                      </m:e>
                                      <m:sub>
                                        <m:r>
                                          <a:rPr lang="en-US" sz="2800" b="0" i="1" smtClean="0">
                                            <a:latin typeface="Cambria Math" panose="02040503050406030204" pitchFamily="18" charset="0"/>
                                          </a:rPr>
                                          <m:t>1</m:t>
                                        </m:r>
                                      </m:sub>
                                    </m:sSub>
                                    <m:r>
                                      <m:rPr>
                                        <m:brk m:alnAt="7"/>
                                      </m:rPr>
                                      <a:rPr lang="en-US" sz="2800" b="0" i="1" smtClean="0">
                                        <a:latin typeface="Cambria Math" panose="02040503050406030204" pitchFamily="18" charset="0"/>
                                      </a:rPr>
                                      <m:t>,</m:t>
                                    </m:r>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𝑥</m:t>
                                        </m:r>
                                      </m:e>
                                      <m:sub>
                                        <m:r>
                                          <a:rPr lang="en-US" sz="2800" b="0" i="1" smtClean="0">
                                            <a:latin typeface="Cambria Math" panose="02040503050406030204" pitchFamily="18" charset="0"/>
                                          </a:rPr>
                                          <m:t>1</m:t>
                                        </m:r>
                                      </m:sub>
                                    </m:sSub>
                                  </m:e>
                                </m:d>
                                <m:r>
                                  <m:rPr>
                                    <m:brk m:alnAt="7"/>
                                  </m:rPr>
                                  <a:rPr lang="en-US" i="1">
                                    <a:latin typeface="Cambria Math" panose="02040503050406030204" pitchFamily="18" charset="0"/>
                                  </a:rPr>
                                  <m:t>,</m:t>
                                </m:r>
                                <m:r>
                                  <a:rPr lang="en-US" b="0" i="1" smtClean="0">
                                    <a:latin typeface="Cambria Math" panose="02040503050406030204" pitchFamily="18" charset="0"/>
                                  </a:rPr>
                                  <m:t> </m:t>
                                </m:r>
                                <m: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r>
                                  <m:rPr>
                                    <m:brk m:alnAt="7"/>
                                  </m:rPr>
                                  <a:rPr lang="en-US" i="1">
                                    <a:latin typeface="Cambria Math" panose="02040503050406030204" pitchFamily="18" charset="0"/>
                                  </a:rPr>
                                  <m:t>)</m:t>
                                </m:r>
                              </m:e>
                              <m:e>
                                <m:r>
                                  <a:rPr lang="en-US" sz="2800" b="0" i="1" smtClean="0">
                                    <a:latin typeface="Cambria Math" panose="02040503050406030204" pitchFamily="18" charset="0"/>
                                  </a:rPr>
                                  <m:t>⋯</m:t>
                                </m:r>
                              </m:e>
                              <m:e>
                                <m:r>
                                  <m:rPr>
                                    <m:brk m:alnAt="7"/>
                                  </m:rP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e>
                            </m:mr>
                            <m:mr>
                              <m:e>
                                <m:r>
                                  <a:rPr lang="en-US" i="1">
                                    <a:latin typeface="Cambria Math" panose="02040503050406030204" pitchFamily="18" charset="0"/>
                                  </a:rPr>
                                  <m:t>⋮</m:t>
                                </m:r>
                                <m:r>
                                  <a:rPr lang="en-US" b="0" i="1" smtClean="0">
                                    <a:latin typeface="Cambria Math" panose="02040503050406030204" pitchFamily="18" charset="0"/>
                                  </a:rPr>
                                  <m:t>                 </m:t>
                                </m:r>
                                <m:r>
                                  <a:rPr lang="en-US" sz="2800" b="0" i="1" smtClean="0">
                                    <a:latin typeface="Cambria Math" panose="02040503050406030204" pitchFamily="18" charset="0"/>
                                  </a:rPr>
                                  <m:t>⋮</m:t>
                                </m:r>
                              </m:e>
                              <m:e>
                                <m:r>
                                  <a:rPr lang="en-US" sz="2800" b="0" i="1" smtClean="0">
                                    <a:latin typeface="Cambria Math" panose="02040503050406030204" pitchFamily="18" charset="0"/>
                                  </a:rPr>
                                  <m:t>⋱</m:t>
                                </m:r>
                              </m:e>
                              <m:e>
                                <m:r>
                                  <a:rPr lang="en-US" sz="2800" b="0" i="1" smtClean="0">
                                    <a:latin typeface="Cambria Math" panose="02040503050406030204" pitchFamily="18" charset="0"/>
                                  </a:rPr>
                                  <m:t>⋮</m:t>
                                </m:r>
                              </m:e>
                            </m:mr>
                            <m:mr>
                              <m:e>
                                <m:r>
                                  <m:rPr>
                                    <m:brk m:alnAt="7"/>
                                  </m:rPr>
                                  <a:rPr lang="en-US" i="1">
                                    <a:latin typeface="Cambria Math" panose="02040503050406030204" pitchFamily="18" charset="0"/>
                                  </a:rPr>
                                  <m:t>𝑑</m:t>
                                </m:r>
                                <m:d>
                                  <m:dPr>
                                    <m:ctrlPr>
                                      <a:rPr lang="en-US" i="1">
                                        <a:latin typeface="Cambria Math" panose="02040503050406030204" pitchFamily="18" charset="0"/>
                                      </a:rPr>
                                    </m:ctrlPr>
                                  </m:dPr>
                                  <m:e>
                                    <m:sSub>
                                      <m:sSubPr>
                                        <m:ctrlPr>
                                          <a:rPr lang="en-US"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𝑛</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e>
                                </m:d>
                                <m:r>
                                  <m:rPr>
                                    <m:brk m:alnAt="7"/>
                                  </m:rPr>
                                  <a:rPr lang="en-US" b="0" i="1" smtClean="0">
                                    <a:latin typeface="Cambria Math" panose="02040503050406030204" pitchFamily="18" charset="0"/>
                                  </a:rPr>
                                  <m:t>,</m:t>
                                </m:r>
                                <m: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r>
                                  <m:rPr>
                                    <m:brk m:alnAt="7"/>
                                  </m:rPr>
                                  <a:rPr lang="en-US" i="1">
                                    <a:latin typeface="Cambria Math" panose="02040503050406030204" pitchFamily="18" charset="0"/>
                                  </a:rPr>
                                  <m:t>)</m:t>
                                </m:r>
                              </m:e>
                              <m:e>
                                <m:r>
                                  <a:rPr lang="en-US" sz="2800" b="0" i="1" smtClean="0">
                                    <a:latin typeface="Cambria Math" panose="02040503050406030204" pitchFamily="18" charset="0"/>
                                  </a:rPr>
                                  <m:t>⋯</m:t>
                                </m:r>
                              </m:e>
                              <m:e>
                                <m:r>
                                  <m:rPr>
                                    <m:brk m:alnAt="7"/>
                                  </m:rP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e>
                            </m:mr>
                          </m:m>
                        </m:e>
                      </m:d>
                    </m:oMath>
                  </m:oMathPara>
                </a14:m>
                <a:endParaRPr lang="en-US" sz="2800" dirty="0">
                  <a:latin typeface="+mn-lt"/>
                </a:endParaRPr>
              </a:p>
              <a:p>
                <a:pPr lvl="1"/>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900312"/>
                <a:ext cx="11525250" cy="5290388"/>
              </a:xfrm>
              <a:blipFill>
                <a:blip r:embed="rId3"/>
                <a:stretch>
                  <a:fillRect l="-1111" t="-1959" r="-1693"/>
                </a:stretch>
              </a:blipFill>
            </p:spPr>
            <p:txBody>
              <a:bodyPr/>
              <a:lstStyle/>
              <a:p>
                <a:r>
                  <a:rPr lang="en-US">
                    <a:noFill/>
                  </a:rPr>
                  <a:t> </a:t>
                </a:r>
              </a:p>
            </p:txBody>
          </p:sp>
        </mc:Fallback>
      </mc:AlternateContent>
    </p:spTree>
    <p:extLst>
      <p:ext uri="{BB962C8B-B14F-4D97-AF65-F5344CB8AC3E}">
        <p14:creationId xmlns:p14="http://schemas.microsoft.com/office/powerpoint/2010/main" val="23487956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8"/>
                <a:ext cx="11525250" cy="5523771"/>
              </a:xfrm>
            </p:spPr>
            <p:txBody>
              <a:bodyPr>
                <a:normAutofit lnSpcReduction="10000"/>
              </a:bodyPr>
              <a:lstStyle/>
              <a:p>
                <a:pPr marL="0" indent="0">
                  <a:buNone/>
                </a:pPr>
                <a:r>
                  <a:rPr lang="en-US" dirty="0">
                    <a:latin typeface="+mn-lt"/>
                  </a:rPr>
                  <a:t>A dissimilarity matrix contains the distances between each case </a:t>
                </a:r>
                <a:r>
                  <a:rPr lang="en-US" i="1" dirty="0">
                    <a:latin typeface="+mn-lt"/>
                  </a:rPr>
                  <a:t>x</a:t>
                </a:r>
                <a:r>
                  <a:rPr lang="en-US" i="1" baseline="-25000" dirty="0">
                    <a:latin typeface="+mn-lt"/>
                  </a:rPr>
                  <a:t>i</a:t>
                </a:r>
                <a:r>
                  <a:rPr lang="en-US" dirty="0">
                    <a:latin typeface="+mn-lt"/>
                  </a:rPr>
                  <a:t> and every other case </a:t>
                </a:r>
                <a:r>
                  <a:rPr lang="en-US" i="1" dirty="0" err="1">
                    <a:latin typeface="+mn-lt"/>
                  </a:rPr>
                  <a:t>x’</a:t>
                </a:r>
                <a:r>
                  <a:rPr lang="en-US" i="1" baseline="-25000" dirty="0" err="1">
                    <a:latin typeface="+mn-lt"/>
                  </a:rPr>
                  <a:t>i</a:t>
                </a:r>
                <a:r>
                  <a:rPr lang="en-US" dirty="0">
                    <a:latin typeface="+mn-lt"/>
                  </a:rPr>
                  <a:t>,</a:t>
                </a:r>
                <a:r>
                  <a:rPr lang="en-US" i="1" dirty="0">
                    <a:latin typeface="+mn-lt"/>
                  </a:rPr>
                  <a:t> d(x</a:t>
                </a:r>
                <a:r>
                  <a:rPr lang="en-US" i="1" baseline="-25000" dirty="0">
                    <a:latin typeface="+mn-lt"/>
                  </a:rPr>
                  <a:t>i</a:t>
                </a:r>
                <a:r>
                  <a:rPr lang="en-US" i="1" dirty="0">
                    <a:latin typeface="+mn-lt"/>
                  </a:rPr>
                  <a:t>, </a:t>
                </a:r>
                <a:r>
                  <a:rPr lang="en-US" i="1" dirty="0" err="1">
                    <a:latin typeface="+mn-lt"/>
                  </a:rPr>
                  <a:t>x’</a:t>
                </a:r>
                <a:r>
                  <a:rPr lang="en-US" i="1" baseline="-25000" dirty="0" err="1">
                    <a:latin typeface="+mn-lt"/>
                  </a:rPr>
                  <a:t>i</a:t>
                </a:r>
                <a:r>
                  <a:rPr lang="en-US" i="1" dirty="0">
                    <a:latin typeface="+mn-lt"/>
                  </a:rPr>
                  <a:t>)</a:t>
                </a:r>
              </a:p>
              <a:p>
                <a:endParaRPr lang="en-US" sz="2800" i="1" baseline="-25000" dirty="0">
                  <a:latin typeface="+mn-lt"/>
                </a:endParaRPr>
              </a:p>
              <a:p>
                <a:pPr marL="0" indent="0">
                  <a:buNone/>
                </a:pPr>
                <a14:m>
                  <m:oMathPara xmlns:m="http://schemas.openxmlformats.org/officeDocument/2006/math">
                    <m:oMathParaPr>
                      <m:jc m:val="centerGroup"/>
                    </m:oMathParaPr>
                    <m:oMath xmlns:m="http://schemas.openxmlformats.org/officeDocument/2006/math">
                      <m:r>
                        <m:rPr>
                          <m:sty m:val="p"/>
                        </m:rPr>
                        <a:rPr lang="en-US" sz="2800" b="0" i="0" smtClean="0">
                          <a:latin typeface="Cambria Math" panose="02040503050406030204" pitchFamily="18" charset="0"/>
                        </a:rPr>
                        <m:t>D</m:t>
                      </m:r>
                      <m:d>
                        <m:dPr>
                          <m:ctrlPr>
                            <a:rPr lang="en-US" sz="2800" b="0" i="1" smtClean="0">
                              <a:latin typeface="Cambria Math" panose="02040503050406030204" pitchFamily="18" charset="0"/>
                            </a:rPr>
                          </m:ctrlPr>
                        </m:dPr>
                        <m:e>
                          <m:r>
                            <m:rPr>
                              <m:sty m:val="p"/>
                            </m:rPr>
                            <a:rPr lang="en-US" sz="2800" b="0" i="0" smtClean="0">
                              <a:latin typeface="Cambria Math" panose="02040503050406030204" pitchFamily="18" charset="0"/>
                            </a:rPr>
                            <m:t>X</m:t>
                          </m:r>
                        </m:e>
                      </m:d>
                      <m:r>
                        <a:rPr lang="en-US" sz="2800" b="0" i="0" smtClean="0">
                          <a:latin typeface="Cambria Math" panose="02040503050406030204" pitchFamily="18" charset="0"/>
                        </a:rPr>
                        <m:t>=</m:t>
                      </m:r>
                      <m:d>
                        <m:dPr>
                          <m:ctrlPr>
                            <a:rPr lang="en-US" sz="2800" b="0" i="1" smtClean="0">
                              <a:latin typeface="Cambria Math" panose="02040503050406030204" pitchFamily="18" charset="0"/>
                            </a:rPr>
                          </m:ctrlPr>
                        </m:dPr>
                        <m:e>
                          <m:m>
                            <m:mPr>
                              <m:mcs>
                                <m:mc>
                                  <m:mcPr>
                                    <m:count m:val="3"/>
                                    <m:mcJc m:val="center"/>
                                  </m:mcPr>
                                </m:mc>
                              </m:mcs>
                              <m:ctrlPr>
                                <a:rPr lang="en-US" sz="2800" b="0" i="1" smtClean="0">
                                  <a:latin typeface="Cambria Math" panose="02040503050406030204" pitchFamily="18" charset="0"/>
                                </a:rPr>
                              </m:ctrlPr>
                            </m:mPr>
                            <m:mr>
                              <m:e>
                                <m:r>
                                  <m:rPr>
                                    <m:brk m:alnAt="7"/>
                                  </m:rPr>
                                  <a:rPr lang="en-US" sz="2800" b="0" i="1" smtClean="0">
                                    <a:latin typeface="Cambria Math" panose="02040503050406030204" pitchFamily="18" charset="0"/>
                                  </a:rPr>
                                  <m:t>𝑑</m:t>
                                </m:r>
                                <m:d>
                                  <m:dPr>
                                    <m:ctrlPr>
                                      <a:rPr lang="en-US" sz="2800" b="0" i="1" smtClean="0">
                                        <a:latin typeface="Cambria Math" panose="02040503050406030204" pitchFamily="18" charset="0"/>
                                      </a:rPr>
                                    </m:ctrlPr>
                                  </m:dPr>
                                  <m:e>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𝑥</m:t>
                                        </m:r>
                                      </m:e>
                                      <m:sub>
                                        <m:r>
                                          <a:rPr lang="en-US" sz="2800" b="0" i="1" smtClean="0">
                                            <a:latin typeface="Cambria Math" panose="02040503050406030204" pitchFamily="18" charset="0"/>
                                          </a:rPr>
                                          <m:t>1</m:t>
                                        </m:r>
                                      </m:sub>
                                    </m:sSub>
                                    <m:r>
                                      <m:rPr>
                                        <m:brk m:alnAt="7"/>
                                      </m:rPr>
                                      <a:rPr lang="en-US" sz="2800" b="0" i="1" smtClean="0">
                                        <a:latin typeface="Cambria Math" panose="02040503050406030204" pitchFamily="18" charset="0"/>
                                      </a:rPr>
                                      <m:t>,</m:t>
                                    </m:r>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𝑥</m:t>
                                        </m:r>
                                      </m:e>
                                      <m:sub>
                                        <m:r>
                                          <a:rPr lang="en-US" sz="2800" b="0" i="1" smtClean="0">
                                            <a:latin typeface="Cambria Math" panose="02040503050406030204" pitchFamily="18" charset="0"/>
                                          </a:rPr>
                                          <m:t>1</m:t>
                                        </m:r>
                                      </m:sub>
                                    </m:sSub>
                                  </m:e>
                                </m:d>
                                <m:r>
                                  <m:rPr>
                                    <m:brk m:alnAt="7"/>
                                  </m:rPr>
                                  <a:rPr lang="en-US" i="1">
                                    <a:latin typeface="Cambria Math" panose="02040503050406030204" pitchFamily="18" charset="0"/>
                                  </a:rPr>
                                  <m:t>,</m:t>
                                </m:r>
                                <m:r>
                                  <a:rPr lang="en-US" b="0" i="1" smtClean="0">
                                    <a:latin typeface="Cambria Math" panose="02040503050406030204" pitchFamily="18" charset="0"/>
                                  </a:rPr>
                                  <m:t> </m:t>
                                </m:r>
                                <m: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r>
                                  <m:rPr>
                                    <m:brk m:alnAt="7"/>
                                  </m:rPr>
                                  <a:rPr lang="en-US" i="1">
                                    <a:latin typeface="Cambria Math" panose="02040503050406030204" pitchFamily="18" charset="0"/>
                                  </a:rPr>
                                  <m:t>)</m:t>
                                </m:r>
                              </m:e>
                              <m:e>
                                <m:r>
                                  <a:rPr lang="en-US" sz="2800" b="0" i="1" smtClean="0">
                                    <a:latin typeface="Cambria Math" panose="02040503050406030204" pitchFamily="18" charset="0"/>
                                  </a:rPr>
                                  <m:t>⋯</m:t>
                                </m:r>
                              </m:e>
                              <m:e>
                                <m:r>
                                  <m:rPr>
                                    <m:brk m:alnAt="7"/>
                                  </m:rP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e>
                            </m:mr>
                            <m:mr>
                              <m:e>
                                <m:r>
                                  <a:rPr lang="en-US" sz="2800" b="0" i="1" smtClean="0">
                                    <a:latin typeface="Cambria Math" panose="02040503050406030204" pitchFamily="18" charset="0"/>
                                  </a:rPr>
                                  <m:t>⋮</m:t>
                                </m:r>
                              </m:e>
                              <m:e>
                                <m:r>
                                  <a:rPr lang="en-US" sz="2800" b="0" i="1" smtClean="0">
                                    <a:latin typeface="Cambria Math" panose="02040503050406030204" pitchFamily="18" charset="0"/>
                                  </a:rPr>
                                  <m:t>⋱</m:t>
                                </m:r>
                              </m:e>
                              <m:e>
                                <m:r>
                                  <a:rPr lang="en-US" sz="2800" b="0" i="1" smtClean="0">
                                    <a:latin typeface="Cambria Math" panose="02040503050406030204" pitchFamily="18" charset="0"/>
                                  </a:rPr>
                                  <m:t>⋮</m:t>
                                </m:r>
                              </m:e>
                            </m:mr>
                            <m:mr>
                              <m:e>
                                <m:r>
                                  <m:rPr>
                                    <m:brk m:alnAt="7"/>
                                  </m:rPr>
                                  <a:rPr lang="en-US" i="1">
                                    <a:latin typeface="Cambria Math" panose="02040503050406030204" pitchFamily="18" charset="0"/>
                                  </a:rPr>
                                  <m:t>𝑑</m:t>
                                </m:r>
                                <m:d>
                                  <m:dPr>
                                    <m:ctrlPr>
                                      <a:rPr lang="en-US" i="1">
                                        <a:latin typeface="Cambria Math" panose="02040503050406030204" pitchFamily="18" charset="0"/>
                                      </a:rPr>
                                    </m:ctrlPr>
                                  </m:dPr>
                                  <m:e>
                                    <m:r>
                                      <a:rPr lang="en-US" b="0" i="1" smtClean="0">
                                        <a:latin typeface="Cambria Math" panose="02040503050406030204" pitchFamily="18" charset="0"/>
                                      </a:rPr>
                                      <m:t>𝑥</m:t>
                                    </m:r>
                                    <m:r>
                                      <m:rPr>
                                        <m:brk m:alnAt="7"/>
                                      </m:rPr>
                                      <a:rPr lang="en-US" b="0" i="1" baseline="-25000" smtClean="0">
                                        <a:latin typeface="Cambria Math" panose="02040503050406030204" pitchFamily="18" charset="0"/>
                                      </a:rPr>
                                      <m:t>𝑛</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e>
                                </m:d>
                                <m:r>
                                  <m:rPr>
                                    <m:brk m:alnAt="7"/>
                                  </m:rPr>
                                  <a:rPr lang="en-US" b="0" i="1" smtClean="0">
                                    <a:latin typeface="Cambria Math" panose="02040503050406030204" pitchFamily="18" charset="0"/>
                                  </a:rPr>
                                  <m:t>,</m:t>
                                </m:r>
                                <m: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r>
                                  <m:rPr>
                                    <m:brk m:alnAt="7"/>
                                  </m:rPr>
                                  <a:rPr lang="en-US" i="1">
                                    <a:latin typeface="Cambria Math" panose="02040503050406030204" pitchFamily="18" charset="0"/>
                                  </a:rPr>
                                  <m:t>)</m:t>
                                </m:r>
                              </m:e>
                              <m:e>
                                <m:r>
                                  <a:rPr lang="en-US" sz="2800" b="0" i="1" smtClean="0">
                                    <a:latin typeface="Cambria Math" panose="02040503050406030204" pitchFamily="18" charset="0"/>
                                  </a:rPr>
                                  <m:t>⋯</m:t>
                                </m:r>
                              </m:e>
                              <m:e>
                                <m:r>
                                  <m:rPr>
                                    <m:brk m:alnAt="7"/>
                                  </m:rP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e>
                            </m:mr>
                          </m:m>
                        </m:e>
                      </m:d>
                    </m:oMath>
                  </m:oMathPara>
                </a14:m>
                <a:endParaRPr lang="en-US" sz="2800" dirty="0">
                  <a:latin typeface="+mn-lt"/>
                </a:endParaRPr>
              </a:p>
              <a:p>
                <a:pPr lvl="1"/>
                <a:endParaRPr lang="en-US" dirty="0"/>
              </a:p>
              <a:p>
                <a:r>
                  <a:rPr lang="en-US" dirty="0">
                    <a:latin typeface="+mn-lt"/>
                  </a:rPr>
                  <a:t>Dissimilarity matrix is symmetric, </a:t>
                </a:r>
                <a14:m>
                  <m:oMath xmlns:m="http://schemas.openxmlformats.org/officeDocument/2006/math">
                    <m:r>
                      <m:rPr>
                        <m:brk m:alnAt="7"/>
                      </m:rPr>
                      <a:rPr lang="en-US" i="1">
                        <a:latin typeface="Cambria Math" panose="02040503050406030204" pitchFamily="18" charset="0"/>
                      </a:rPr>
                      <m:t>𝑑</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𝑖</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𝑗</m:t>
                            </m:r>
                          </m:sub>
                        </m:sSub>
                      </m:e>
                    </m:d>
                    <m:r>
                      <a:rPr lang="en-US" b="0" i="1" smtClean="0">
                        <a:latin typeface="Cambria Math" panose="02040503050406030204" pitchFamily="18" charset="0"/>
                      </a:rPr>
                      <m:t>=</m:t>
                    </m:r>
                    <m:r>
                      <m:rPr>
                        <m:brk m:alnAt="7"/>
                      </m:rPr>
                      <a:rPr lang="en-US" i="1">
                        <a:latin typeface="Cambria Math" panose="02040503050406030204" pitchFamily="18" charset="0"/>
                      </a:rPr>
                      <m:t>𝑑</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𝑗</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𝑖</m:t>
                            </m:r>
                          </m:sub>
                        </m:sSub>
                      </m:e>
                    </m:d>
                  </m:oMath>
                </a14:m>
                <a:endParaRPr lang="en-US" dirty="0">
                  <a:latin typeface="+mn-lt"/>
                </a:endParaRPr>
              </a:p>
              <a:p>
                <a:r>
                  <a:rPr lang="en-US" dirty="0">
                    <a:latin typeface="+mn-lt"/>
                  </a:rPr>
                  <a:t>The diagonal elements of the dissimilarity matrix are all 0, there is no dissimilarity</a:t>
                </a:r>
              </a:p>
              <a:p>
                <a:r>
                  <a:rPr lang="en-US" dirty="0">
                    <a:latin typeface="+mn-lt"/>
                  </a:rPr>
                  <a:t>Similarity matrix is the inverse of dissimilarity matrix    </a:t>
                </a:r>
              </a:p>
              <a:p>
                <a:pPr lvl="1"/>
                <a:r>
                  <a:rPr lang="en-US" dirty="0">
                    <a:latin typeface="+mn-lt"/>
                  </a:rPr>
                  <a:t>Symmetric</a:t>
                </a:r>
              </a:p>
              <a:p>
                <a:pPr lvl="1"/>
                <a:r>
                  <a:rPr lang="en-US" dirty="0">
                    <a:latin typeface="+mn-lt"/>
                  </a:rPr>
                  <a:t>All 1s on the diagonal   </a:t>
                </a: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8"/>
                <a:ext cx="11525250" cy="5523771"/>
              </a:xfrm>
              <a:blipFill>
                <a:blip r:embed="rId3"/>
                <a:stretch>
                  <a:fillRect l="-1111" t="-2539" b="-1104"/>
                </a:stretch>
              </a:blipFill>
            </p:spPr>
            <p:txBody>
              <a:bodyPr/>
              <a:lstStyle/>
              <a:p>
                <a:r>
                  <a:rPr lang="en-US">
                    <a:noFill/>
                  </a:rPr>
                  <a:t> </a:t>
                </a:r>
              </a:p>
            </p:txBody>
          </p:sp>
        </mc:Fallback>
      </mc:AlternateContent>
    </p:spTree>
    <p:extLst>
      <p:ext uri="{BB962C8B-B14F-4D97-AF65-F5344CB8AC3E}">
        <p14:creationId xmlns:p14="http://schemas.microsoft.com/office/powerpoint/2010/main" val="23501902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8"/>
                <a:ext cx="11525250" cy="5523771"/>
              </a:xfrm>
            </p:spPr>
            <p:txBody>
              <a:bodyPr>
                <a:normAutofit/>
              </a:bodyPr>
              <a:lstStyle/>
              <a:p>
                <a:pPr marL="0" indent="0">
                  <a:buNone/>
                </a:pPr>
                <a:r>
                  <a:rPr lang="en-US" dirty="0">
                    <a:latin typeface="+mn-lt"/>
                  </a:rPr>
                  <a:t>A dissimilarity matrix contains the differences between each case </a:t>
                </a:r>
                <a:r>
                  <a:rPr lang="en-US" i="1" dirty="0">
                    <a:latin typeface="+mn-lt"/>
                  </a:rPr>
                  <a:t>x</a:t>
                </a:r>
                <a:r>
                  <a:rPr lang="en-US" i="1" baseline="-25000" dirty="0">
                    <a:latin typeface="+mn-lt"/>
                  </a:rPr>
                  <a:t>i</a:t>
                </a:r>
                <a:r>
                  <a:rPr lang="en-US" dirty="0">
                    <a:latin typeface="+mn-lt"/>
                  </a:rPr>
                  <a:t> and every other case </a:t>
                </a:r>
                <a:r>
                  <a:rPr lang="en-US" i="1" dirty="0" err="1">
                    <a:latin typeface="+mn-lt"/>
                  </a:rPr>
                  <a:t>x’</a:t>
                </a:r>
                <a:r>
                  <a:rPr lang="en-US" i="1" baseline="-25000" dirty="0" err="1">
                    <a:latin typeface="+mn-lt"/>
                  </a:rPr>
                  <a:t>i</a:t>
                </a:r>
                <a:r>
                  <a:rPr lang="en-US" dirty="0">
                    <a:latin typeface="+mn-lt"/>
                  </a:rPr>
                  <a:t>,</a:t>
                </a:r>
                <a:r>
                  <a:rPr lang="en-US" i="1" dirty="0">
                    <a:latin typeface="+mn-lt"/>
                  </a:rPr>
                  <a:t> d(x</a:t>
                </a:r>
                <a:r>
                  <a:rPr lang="en-US" i="1" baseline="-25000" dirty="0">
                    <a:latin typeface="+mn-lt"/>
                  </a:rPr>
                  <a:t>i</a:t>
                </a:r>
                <a:r>
                  <a:rPr lang="en-US" i="1" dirty="0">
                    <a:latin typeface="+mn-lt"/>
                  </a:rPr>
                  <a:t>, </a:t>
                </a:r>
                <a:r>
                  <a:rPr lang="en-US" i="1" dirty="0" err="1">
                    <a:latin typeface="+mn-lt"/>
                  </a:rPr>
                  <a:t>x’</a:t>
                </a:r>
                <a:r>
                  <a:rPr lang="en-US" i="1" baseline="-25000" dirty="0" err="1">
                    <a:latin typeface="+mn-lt"/>
                  </a:rPr>
                  <a:t>i</a:t>
                </a:r>
                <a:r>
                  <a:rPr lang="en-US" i="1" dirty="0">
                    <a:latin typeface="+mn-lt"/>
                  </a:rPr>
                  <a:t>)</a:t>
                </a:r>
              </a:p>
              <a:p>
                <a:endParaRPr lang="en-US" sz="2800" i="1" baseline="-25000" dirty="0">
                  <a:latin typeface="+mn-lt"/>
                </a:endParaRPr>
              </a:p>
              <a:p>
                <a:pPr marL="0" indent="0">
                  <a:buNone/>
                </a:pPr>
                <a14:m>
                  <m:oMathPara xmlns:m="http://schemas.openxmlformats.org/officeDocument/2006/math">
                    <m:oMathParaPr>
                      <m:jc m:val="centerGroup"/>
                    </m:oMathParaPr>
                    <m:oMath xmlns:m="http://schemas.openxmlformats.org/officeDocument/2006/math">
                      <m:r>
                        <m:rPr>
                          <m:sty m:val="p"/>
                        </m:rPr>
                        <a:rPr lang="en-US" sz="2800" b="0" i="0" smtClean="0">
                          <a:latin typeface="Cambria Math" panose="02040503050406030204" pitchFamily="18" charset="0"/>
                        </a:rPr>
                        <m:t>D</m:t>
                      </m:r>
                      <m:d>
                        <m:dPr>
                          <m:ctrlPr>
                            <a:rPr lang="en-US" sz="2800" b="0" i="1" smtClean="0">
                              <a:latin typeface="Cambria Math" panose="02040503050406030204" pitchFamily="18" charset="0"/>
                            </a:rPr>
                          </m:ctrlPr>
                        </m:dPr>
                        <m:e>
                          <m:r>
                            <m:rPr>
                              <m:sty m:val="p"/>
                            </m:rPr>
                            <a:rPr lang="en-US" sz="2800" b="0" i="0" smtClean="0">
                              <a:latin typeface="Cambria Math" panose="02040503050406030204" pitchFamily="18" charset="0"/>
                            </a:rPr>
                            <m:t>X</m:t>
                          </m:r>
                        </m:e>
                      </m:d>
                      <m:r>
                        <a:rPr lang="en-US" sz="2800" b="0" i="0" smtClean="0">
                          <a:latin typeface="Cambria Math" panose="02040503050406030204" pitchFamily="18" charset="0"/>
                        </a:rPr>
                        <m:t>=</m:t>
                      </m:r>
                      <m:d>
                        <m:dPr>
                          <m:ctrlPr>
                            <a:rPr lang="en-US" sz="2800" b="0" i="1" smtClean="0">
                              <a:latin typeface="Cambria Math" panose="02040503050406030204" pitchFamily="18" charset="0"/>
                            </a:rPr>
                          </m:ctrlPr>
                        </m:dPr>
                        <m:e>
                          <m:m>
                            <m:mPr>
                              <m:mcs>
                                <m:mc>
                                  <m:mcPr>
                                    <m:count m:val="3"/>
                                    <m:mcJc m:val="center"/>
                                  </m:mcPr>
                                </m:mc>
                              </m:mcs>
                              <m:ctrlPr>
                                <a:rPr lang="en-US" sz="2800" b="0" i="1" smtClean="0">
                                  <a:latin typeface="Cambria Math" panose="02040503050406030204" pitchFamily="18" charset="0"/>
                                </a:rPr>
                              </m:ctrlPr>
                            </m:mPr>
                            <m:mr>
                              <m:e>
                                <m:r>
                                  <m:rPr>
                                    <m:brk m:alnAt="7"/>
                                  </m:rPr>
                                  <a:rPr lang="en-US" sz="2800" b="0" i="1" smtClean="0">
                                    <a:latin typeface="Cambria Math" panose="02040503050406030204" pitchFamily="18" charset="0"/>
                                  </a:rPr>
                                  <m:t>𝑑</m:t>
                                </m:r>
                                <m:d>
                                  <m:dPr>
                                    <m:ctrlPr>
                                      <a:rPr lang="en-US" sz="2800" b="0" i="1" smtClean="0">
                                        <a:latin typeface="Cambria Math" panose="02040503050406030204" pitchFamily="18" charset="0"/>
                                      </a:rPr>
                                    </m:ctrlPr>
                                  </m:dPr>
                                  <m:e>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𝑥</m:t>
                                        </m:r>
                                      </m:e>
                                      <m:sub>
                                        <m:r>
                                          <a:rPr lang="en-US" sz="2800" b="0" i="1" smtClean="0">
                                            <a:latin typeface="Cambria Math" panose="02040503050406030204" pitchFamily="18" charset="0"/>
                                          </a:rPr>
                                          <m:t>1</m:t>
                                        </m:r>
                                      </m:sub>
                                    </m:sSub>
                                    <m:r>
                                      <m:rPr>
                                        <m:brk m:alnAt="7"/>
                                      </m:rPr>
                                      <a:rPr lang="en-US" sz="2800" b="0" i="1" smtClean="0">
                                        <a:latin typeface="Cambria Math" panose="02040503050406030204" pitchFamily="18" charset="0"/>
                                      </a:rPr>
                                      <m:t>,</m:t>
                                    </m:r>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𝑥</m:t>
                                        </m:r>
                                      </m:e>
                                      <m:sub>
                                        <m:r>
                                          <a:rPr lang="en-US" sz="2800" b="0" i="1" smtClean="0">
                                            <a:latin typeface="Cambria Math" panose="02040503050406030204" pitchFamily="18" charset="0"/>
                                          </a:rPr>
                                          <m:t>1</m:t>
                                        </m:r>
                                      </m:sub>
                                    </m:sSub>
                                  </m:e>
                                </m:d>
                                <m:r>
                                  <m:rPr>
                                    <m:brk m:alnAt="7"/>
                                  </m:rPr>
                                  <a:rPr lang="en-US" i="1">
                                    <a:latin typeface="Cambria Math" panose="02040503050406030204" pitchFamily="18" charset="0"/>
                                  </a:rPr>
                                  <m:t>,</m:t>
                                </m:r>
                                <m:r>
                                  <a:rPr lang="en-US" b="0" i="1" smtClean="0">
                                    <a:latin typeface="Cambria Math" panose="02040503050406030204" pitchFamily="18" charset="0"/>
                                  </a:rPr>
                                  <m:t> </m:t>
                                </m:r>
                                <m: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r>
                                  <m:rPr>
                                    <m:brk m:alnAt="7"/>
                                  </m:rPr>
                                  <a:rPr lang="en-US" i="1">
                                    <a:latin typeface="Cambria Math" panose="02040503050406030204" pitchFamily="18" charset="0"/>
                                  </a:rPr>
                                  <m:t>)</m:t>
                                </m:r>
                              </m:e>
                              <m:e>
                                <m:r>
                                  <a:rPr lang="en-US" sz="2800" b="0" i="1" smtClean="0">
                                    <a:latin typeface="Cambria Math" panose="02040503050406030204" pitchFamily="18" charset="0"/>
                                  </a:rPr>
                                  <m:t>⋯</m:t>
                                </m:r>
                              </m:e>
                              <m:e>
                                <m:r>
                                  <m:rPr>
                                    <m:brk m:alnAt="7"/>
                                  </m:rP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e>
                            </m:mr>
                            <m:mr>
                              <m:e>
                                <m:r>
                                  <a:rPr lang="en-US" sz="2800" b="0" i="1" smtClean="0">
                                    <a:latin typeface="Cambria Math" panose="02040503050406030204" pitchFamily="18" charset="0"/>
                                  </a:rPr>
                                  <m:t>⋮</m:t>
                                </m:r>
                              </m:e>
                              <m:e>
                                <m:r>
                                  <a:rPr lang="en-US" sz="2800" b="0" i="1" smtClean="0">
                                    <a:latin typeface="Cambria Math" panose="02040503050406030204" pitchFamily="18" charset="0"/>
                                  </a:rPr>
                                  <m:t>⋱</m:t>
                                </m:r>
                              </m:e>
                              <m:e>
                                <m:r>
                                  <a:rPr lang="en-US" sz="2800" b="0" i="1" smtClean="0">
                                    <a:latin typeface="Cambria Math" panose="02040503050406030204" pitchFamily="18" charset="0"/>
                                  </a:rPr>
                                  <m:t>⋮</m:t>
                                </m:r>
                              </m:e>
                            </m:mr>
                            <m:mr>
                              <m:e>
                                <m:r>
                                  <m:rPr>
                                    <m:brk m:alnAt="7"/>
                                  </m:rPr>
                                  <a:rPr lang="en-US" i="1">
                                    <a:latin typeface="Cambria Math" panose="02040503050406030204" pitchFamily="18" charset="0"/>
                                  </a:rPr>
                                  <m:t>𝑑</m:t>
                                </m:r>
                                <m:d>
                                  <m:dPr>
                                    <m:ctrlPr>
                                      <a:rPr lang="en-US" i="1">
                                        <a:latin typeface="Cambria Math" panose="02040503050406030204" pitchFamily="18" charset="0"/>
                                      </a:rPr>
                                    </m:ctrlPr>
                                  </m:dPr>
                                  <m:e>
                                    <m:r>
                                      <a:rPr lang="en-US" b="0" i="1" smtClean="0">
                                        <a:latin typeface="Cambria Math" panose="02040503050406030204" pitchFamily="18" charset="0"/>
                                      </a:rPr>
                                      <m:t>𝑥</m:t>
                                    </m:r>
                                    <m:r>
                                      <m:rPr>
                                        <m:brk m:alnAt="7"/>
                                      </m:rPr>
                                      <a:rPr lang="en-US" b="0" i="1" baseline="-25000" smtClean="0">
                                        <a:latin typeface="Cambria Math" panose="02040503050406030204" pitchFamily="18" charset="0"/>
                                      </a:rPr>
                                      <m:t>𝑛</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e>
                                </m:d>
                                <m:r>
                                  <m:rPr>
                                    <m:brk m:alnAt="7"/>
                                  </m:rPr>
                                  <a:rPr lang="en-US" b="0" i="1" smtClean="0">
                                    <a:latin typeface="Cambria Math" panose="02040503050406030204" pitchFamily="18" charset="0"/>
                                  </a:rPr>
                                  <m:t>,</m:t>
                                </m:r>
                                <m: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r>
                                  <m:rPr>
                                    <m:brk m:alnAt="7"/>
                                  </m:rPr>
                                  <a:rPr lang="en-US" i="1">
                                    <a:latin typeface="Cambria Math" panose="02040503050406030204" pitchFamily="18" charset="0"/>
                                  </a:rPr>
                                  <m:t>)</m:t>
                                </m:r>
                              </m:e>
                              <m:e>
                                <m:r>
                                  <a:rPr lang="en-US" sz="2800" b="0" i="1" smtClean="0">
                                    <a:latin typeface="Cambria Math" panose="02040503050406030204" pitchFamily="18" charset="0"/>
                                  </a:rPr>
                                  <m:t>⋯</m:t>
                                </m:r>
                              </m:e>
                              <m:e>
                                <m:r>
                                  <m:rPr>
                                    <m:brk m:alnAt="7"/>
                                  </m:rP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e>
                            </m:mr>
                          </m:m>
                        </m:e>
                      </m:d>
                    </m:oMath>
                  </m:oMathPara>
                </a14:m>
                <a:endParaRPr lang="en-US" sz="2800" dirty="0">
                  <a:latin typeface="+mn-lt"/>
                </a:endParaRPr>
              </a:p>
              <a:p>
                <a:pPr lvl="1"/>
                <a:endParaRPr lang="en-US" dirty="0"/>
              </a:p>
              <a:p>
                <a:r>
                  <a:rPr lang="en-US" dirty="0">
                    <a:latin typeface="+mn-lt"/>
                  </a:rPr>
                  <a:t>Only need to store upper (or lower) triangular elements of array  </a:t>
                </a:r>
              </a:p>
              <a:p>
                <a:r>
                  <a:rPr lang="en-US" dirty="0">
                    <a:latin typeface="+mn-lt"/>
                  </a:rPr>
                  <a:t>Is a </a:t>
                </a:r>
                <a:r>
                  <a:rPr lang="en-US" b="1" dirty="0">
                    <a:latin typeface="+mn-lt"/>
                  </a:rPr>
                  <a:t>dense and memory intensive representation</a:t>
                </a:r>
                <a:r>
                  <a:rPr lang="en-US" dirty="0">
                    <a:latin typeface="+mn-lt"/>
                  </a:rPr>
                  <a:t> requiring </a:t>
                </a:r>
                <a14:m>
                  <m:oMath xmlns:m="http://schemas.openxmlformats.org/officeDocument/2006/math">
                    <m:r>
                      <a:rPr lang="en-US" b="1" i="1">
                        <a:latin typeface="Cambria Math" panose="02040503050406030204" pitchFamily="18" charset="0"/>
                      </a:rPr>
                      <m:t>𝑶</m:t>
                    </m:r>
                    <m:d>
                      <m:dPr>
                        <m:ctrlPr>
                          <a:rPr lang="en-US" b="1" i="1" smtClean="0">
                            <a:latin typeface="Cambria Math" panose="02040503050406030204" pitchFamily="18" charset="0"/>
                          </a:rPr>
                        </m:ctrlPr>
                      </m:dPr>
                      <m:e>
                        <m:sSup>
                          <m:sSupPr>
                            <m:ctrlPr>
                              <a:rPr lang="en-US" b="1" i="1" smtClean="0">
                                <a:latin typeface="Cambria Math" panose="02040503050406030204" pitchFamily="18" charset="0"/>
                              </a:rPr>
                            </m:ctrlPr>
                          </m:sSupPr>
                          <m:e>
                            <m:r>
                              <a:rPr lang="en-US" b="1" i="1" smtClean="0">
                                <a:latin typeface="Cambria Math" panose="02040503050406030204" pitchFamily="18" charset="0"/>
                              </a:rPr>
                              <m:t>𝒏</m:t>
                            </m:r>
                          </m:e>
                          <m:sup>
                            <m:r>
                              <a:rPr lang="en-US" b="1" i="1" smtClean="0">
                                <a:latin typeface="Cambria Math" panose="02040503050406030204" pitchFamily="18" charset="0"/>
                              </a:rPr>
                              <m:t>𝟐</m:t>
                            </m:r>
                          </m:sup>
                        </m:sSup>
                      </m:e>
                    </m:d>
                  </m:oMath>
                </a14:m>
                <a:r>
                  <a:rPr lang="en-US" b="1" dirty="0">
                    <a:latin typeface="+mn-lt"/>
                  </a:rPr>
                  <a:t>  </a:t>
                </a:r>
                <a:r>
                  <a:rPr lang="en-US" dirty="0">
                    <a:latin typeface="+mn-lt"/>
                  </a:rPr>
                  <a:t>memory</a:t>
                </a:r>
              </a:p>
              <a:p>
                <a:pPr marL="0" indent="0">
                  <a:buNone/>
                </a:pPr>
                <a:endParaRPr lang="en-US" b="1"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8"/>
                <a:ext cx="11525250" cy="5523771"/>
              </a:xfrm>
              <a:blipFill>
                <a:blip r:embed="rId3"/>
                <a:stretch>
                  <a:fillRect l="-1111" t="-1876" r="-370"/>
                </a:stretch>
              </a:blipFill>
            </p:spPr>
            <p:txBody>
              <a:bodyPr/>
              <a:lstStyle/>
              <a:p>
                <a:r>
                  <a:rPr lang="en-US">
                    <a:noFill/>
                  </a:rPr>
                  <a:t> </a:t>
                </a:r>
              </a:p>
            </p:txBody>
          </p:sp>
        </mc:Fallback>
      </mc:AlternateContent>
    </p:spTree>
    <p:extLst>
      <p:ext uri="{BB962C8B-B14F-4D97-AF65-F5344CB8AC3E}">
        <p14:creationId xmlns:p14="http://schemas.microsoft.com/office/powerpoint/2010/main" val="15338645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B672CC-21A1-D54E-D475-EFA6405D92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845793-B39C-CE61-D1B0-1E4A2293A0BF}"/>
              </a:ext>
            </a:extLst>
          </p:cNvPr>
          <p:cNvSpPr>
            <a:spLocks noGrp="1"/>
          </p:cNvSpPr>
          <p:nvPr>
            <p:ph type="title"/>
          </p:nvPr>
        </p:nvSpPr>
        <p:spPr>
          <a:xfrm>
            <a:off x="831850" y="1709738"/>
            <a:ext cx="10515600" cy="2104337"/>
          </a:xfrm>
        </p:spPr>
        <p:txBody>
          <a:bodyPr/>
          <a:lstStyle/>
          <a:p>
            <a:pPr algn="ctr"/>
            <a:r>
              <a:rPr lang="en-US" b="1" dirty="0"/>
              <a:t>Basic Distance Metrics</a:t>
            </a:r>
          </a:p>
        </p:txBody>
      </p:sp>
    </p:spTree>
    <p:extLst>
      <p:ext uri="{BB962C8B-B14F-4D97-AF65-F5344CB8AC3E}">
        <p14:creationId xmlns:p14="http://schemas.microsoft.com/office/powerpoint/2010/main" val="30160325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5698998"/>
              </a:xfrm>
            </p:spPr>
            <p:txBody>
              <a:bodyPr>
                <a:normAutofit/>
              </a:bodyPr>
              <a:lstStyle/>
              <a:p>
                <a:pPr marL="0" indent="0">
                  <a:buNone/>
                </a:pPr>
                <a:r>
                  <a:rPr lang="en-US" dirty="0">
                    <a:latin typeface="+mn-lt"/>
                  </a:rPr>
                  <a:t>Different metrics for dissimilarity can be computed for numeric variables with p dimensions</a:t>
                </a:r>
              </a:p>
              <a:p>
                <a:r>
                  <a:rPr lang="en-US" b="1" dirty="0">
                    <a:latin typeface="+mn-lt"/>
                  </a:rPr>
                  <a:t>Euclidian distance, (L2</a:t>
                </a:r>
                <a:r>
                  <a:rPr lang="en-US" dirty="0">
                    <a:latin typeface="+mn-lt"/>
                  </a:rPr>
                  <a:t>)</a:t>
                </a:r>
              </a:p>
              <a:p>
                <a:pPr marL="0" indent="0">
                  <a:buNone/>
                </a:pPr>
                <a14:m>
                  <m:oMathPara xmlns:m="http://schemas.openxmlformats.org/officeDocument/2006/math">
                    <m:oMathParaPr>
                      <m:jc m:val="centerGroup"/>
                    </m:oMathParaPr>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𝑑</m:t>
                          </m:r>
                        </m:e>
                        <m:sub>
                          <m:r>
                            <a:rPr lang="en-US" b="0" i="1" dirty="0" smtClean="0">
                              <a:latin typeface="Cambria Math" panose="02040503050406030204" pitchFamily="18" charset="0"/>
                            </a:rPr>
                            <m:t>𝐿</m:t>
                          </m:r>
                          <m:r>
                            <a:rPr lang="en-US" b="0" i="1" dirty="0" smtClean="0">
                              <a:latin typeface="Cambria Math" panose="02040503050406030204" pitchFamily="18" charset="0"/>
                            </a:rPr>
                            <m:t>2</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e>
                      </m:d>
                      <m:r>
                        <a:rPr lang="en-US" b="0" i="1" smtClean="0">
                          <a:latin typeface="Cambria Math" panose="02040503050406030204" pitchFamily="18" charset="0"/>
                        </a:rPr>
                        <m:t>= </m:t>
                      </m:r>
                      <m:sSup>
                        <m:sSupPr>
                          <m:ctrlPr>
                            <a:rPr lang="en-US" b="0" i="1" smtClean="0">
                              <a:latin typeface="Cambria Math" panose="02040503050406030204" pitchFamily="18" charset="0"/>
                            </a:rPr>
                          </m:ctrlPr>
                        </m:sSupPr>
                        <m:e>
                          <m:d>
                            <m:dPr>
                              <m:begChr m:val="["/>
                              <m:endChr m:val="]"/>
                              <m:ctrlPr>
                                <a:rPr lang="en-US" b="0" i="1" smtClean="0">
                                  <a:latin typeface="Cambria Math" panose="02040503050406030204" pitchFamily="18" charset="0"/>
                                </a:rPr>
                              </m:ctrlPr>
                            </m:dPr>
                            <m:e>
                              <m:nary>
                                <m:naryPr>
                                  <m:chr m:val="∑"/>
                                  <m:ctrlPr>
                                    <a:rPr lang="en-US" i="1">
                                      <a:latin typeface="Cambria Math" panose="02040503050406030204" pitchFamily="18" charset="0"/>
                                    </a:rPr>
                                  </m:ctrlPr>
                                </m:naryPr>
                                <m:sub>
                                  <m:r>
                                    <m:rPr>
                                      <m:brk m:alnAt="23"/>
                                    </m:rPr>
                                    <a:rPr lang="en-US" i="1">
                                      <a:latin typeface="Cambria Math" panose="02040503050406030204" pitchFamily="18" charset="0"/>
                                    </a:rPr>
                                    <m:t>𝑖</m:t>
                                  </m:r>
                                  <m:r>
                                    <a:rPr lang="en-US" i="1">
                                      <a:latin typeface="Cambria Math" panose="02040503050406030204" pitchFamily="18" charset="0"/>
                                    </a:rPr>
                                    <m:t>=1</m:t>
                                  </m:r>
                                </m:sub>
                                <m:sup>
                                  <m:r>
                                    <a:rPr lang="en-US" i="1">
                                      <a:latin typeface="Cambria Math" panose="02040503050406030204" pitchFamily="18" charset="0"/>
                                    </a:rPr>
                                    <m:t>𝑝</m:t>
                                  </m:r>
                                </m:sup>
                                <m:e>
                                  <m:r>
                                    <a:rPr lang="en-US" i="1" smtClean="0">
                                      <a:latin typeface="Cambria Math" panose="02040503050406030204" pitchFamily="18" charset="0"/>
                                    </a:rPr>
                                    <m:t> </m:t>
                                  </m:r>
                                  <m:r>
                                    <a:rPr lang="en-US" i="1">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𝑥</m:t>
                                      </m:r>
                                    </m:e>
                                    <m:sub>
                                      <m:r>
                                        <a:rPr lang="en-US" i="1">
                                          <a:latin typeface="Cambria Math" panose="02040503050406030204" pitchFamily="18" charset="0"/>
                                        </a:rPr>
                                        <m:t>𝑖</m:t>
                                      </m:r>
                                    </m:sub>
                                    <m:sup>
                                      <m:r>
                                        <a:rPr lang="en-US" i="1">
                                          <a:latin typeface="Cambria Math" panose="02040503050406030204" pitchFamily="18" charset="0"/>
                                        </a:rPr>
                                        <m:t> </m:t>
                                      </m:r>
                                    </m:sup>
                                  </m:sSubSup>
                                  <m:r>
                                    <a:rPr lang="en-US" i="1">
                                      <a:latin typeface="Cambria Math" panose="02040503050406030204" pitchFamily="18" charset="0"/>
                                    </a:rPr>
                                    <m:t>−</m:t>
                                  </m:r>
                                  <m:sSub>
                                    <m:sSubPr>
                                      <m:ctrlPr>
                                        <a:rPr lang="en-US" i="1">
                                          <a:latin typeface="Cambria Math" panose="02040503050406030204" pitchFamily="18" charset="0"/>
                                        </a:rPr>
                                      </m:ctrlPr>
                                    </m:sSubPr>
                                    <m:e>
                                      <m:sSub>
                                        <m:sSubPr>
                                          <m:ctrlPr>
                                            <a:rPr lang="en-US"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r>
                                        <a:rPr lang="en-US" i="1">
                                          <a:latin typeface="Cambria Math" panose="02040503050406030204" pitchFamily="18" charset="0"/>
                                        </a:rPr>
                                        <m:t>′</m:t>
                                      </m:r>
                                    </m:e>
                                    <m:sub>
                                      <m:r>
                                        <a:rPr lang="en-US" b="0" i="1" smtClean="0">
                                          <a:latin typeface="Cambria Math" panose="02040503050406030204" pitchFamily="18" charset="0"/>
                                        </a:rPr>
                                        <m:t> </m:t>
                                      </m:r>
                                    </m:sub>
                                  </m:sSub>
                                  <m:sSup>
                                    <m:sSupPr>
                                      <m:ctrlPr>
                                        <a:rPr lang="en-US" i="1">
                                          <a:latin typeface="Cambria Math" panose="02040503050406030204" pitchFamily="18" charset="0"/>
                                        </a:rPr>
                                      </m:ctrlPr>
                                    </m:sSupPr>
                                    <m:e>
                                      <m:r>
                                        <a:rPr lang="en-US" i="1">
                                          <a:latin typeface="Cambria Math" panose="02040503050406030204" pitchFamily="18" charset="0"/>
                                        </a:rPr>
                                        <m:t>)</m:t>
                                      </m:r>
                                    </m:e>
                                    <m:sup>
                                      <m:r>
                                        <a:rPr lang="en-US" i="1">
                                          <a:latin typeface="Cambria Math" panose="02040503050406030204" pitchFamily="18" charset="0"/>
                                        </a:rPr>
                                        <m:t>2</m:t>
                                      </m:r>
                                    </m:sup>
                                  </m:sSup>
                                </m:e>
                              </m:nary>
                            </m:e>
                          </m:d>
                        </m:e>
                        <m:sup>
                          <m:f>
                            <m:fPr>
                              <m:type m:val="skw"/>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sup>
                      </m:sSup>
                    </m:oMath>
                  </m:oMathPara>
                </a14:m>
                <a:endParaRPr lang="en-US" dirty="0">
                  <a:latin typeface="+mn-lt"/>
                </a:endParaRPr>
              </a:p>
              <a:p>
                <a:r>
                  <a:rPr lang="en-US" b="1" dirty="0">
                    <a:latin typeface="+mn-lt"/>
                  </a:rPr>
                  <a:t>Absolute distance</a:t>
                </a:r>
                <a:r>
                  <a:rPr lang="en-US" dirty="0">
                    <a:latin typeface="+mn-lt"/>
                  </a:rPr>
                  <a:t> or </a:t>
                </a:r>
                <a:r>
                  <a:rPr lang="en-US" b="1" dirty="0">
                    <a:latin typeface="+mn-lt"/>
                  </a:rPr>
                  <a:t>Manhattan distance (L1)</a:t>
                </a:r>
              </a:p>
              <a:p>
                <a:pPr marL="0" indent="0">
                  <a:buNone/>
                </a:pPr>
                <a14:m>
                  <m:oMathPara xmlns:m="http://schemas.openxmlformats.org/officeDocument/2006/math">
                    <m:oMathParaPr>
                      <m:jc m:val="centerGroup"/>
                    </m:oMathParaPr>
                    <m:oMath xmlns:m="http://schemas.openxmlformats.org/officeDocument/2006/math">
                      <m:sSub>
                        <m:sSubPr>
                          <m:ctrlPr>
                            <a:rPr lang="en-US" i="1" dirty="0">
                              <a:latin typeface="Cambria Math" panose="02040503050406030204" pitchFamily="18" charset="0"/>
                            </a:rPr>
                          </m:ctrlPr>
                        </m:sSubPr>
                        <m:e>
                          <m:r>
                            <a:rPr lang="en-US" i="1" dirty="0">
                              <a:latin typeface="Cambria Math" panose="02040503050406030204" pitchFamily="18" charset="0"/>
                            </a:rPr>
                            <m:t>𝑑</m:t>
                          </m:r>
                        </m:e>
                        <m:sub>
                          <m:r>
                            <a:rPr lang="en-US" i="1" dirty="0">
                              <a:latin typeface="Cambria Math" panose="02040503050406030204" pitchFamily="18" charset="0"/>
                            </a:rPr>
                            <m:t>𝐿</m:t>
                          </m:r>
                          <m:r>
                            <a:rPr lang="en-US" b="0" i="1" dirty="0" smtClean="0">
                              <a:latin typeface="Cambria Math" panose="02040503050406030204" pitchFamily="18" charset="0"/>
                            </a:rPr>
                            <m:t>1</m:t>
                          </m:r>
                        </m:sub>
                      </m:sSub>
                      <m:r>
                        <a:rPr lang="en-US" i="1" dirty="0">
                          <a:latin typeface="Cambria Math" panose="02040503050406030204" pitchFamily="18" charset="0"/>
                        </a:rPr>
                        <m:t> </m:t>
                      </m:r>
                      <m:d>
                        <m:dPr>
                          <m:ctrlPr>
                            <a:rPr lang="en-US" i="1">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e>
                      </m:d>
                      <m:r>
                        <a:rPr lang="en-US" i="1">
                          <a:latin typeface="Cambria Math" panose="02040503050406030204" pitchFamily="18" charset="0"/>
                        </a:rPr>
                        <m:t>=</m:t>
                      </m:r>
                      <m:nary>
                        <m:naryPr>
                          <m:chr m:val="∑"/>
                          <m:ctrlPr>
                            <a:rPr lang="en-US" i="1" smtClean="0">
                              <a:latin typeface="Cambria Math" panose="02040503050406030204" pitchFamily="18" charset="0"/>
                            </a:rPr>
                          </m:ctrlPr>
                        </m:naryPr>
                        <m:sub>
                          <m:r>
                            <a:rPr lang="en-US" b="0" i="1" smtClean="0">
                              <a:latin typeface="Cambria Math" panose="02040503050406030204" pitchFamily="18" charset="0"/>
                            </a:rPr>
                            <m:t>𝑖</m:t>
                          </m:r>
                          <m:r>
                            <a:rPr lang="en-US" i="1">
                              <a:latin typeface="Cambria Math" panose="02040503050406030204" pitchFamily="18" charset="0"/>
                            </a:rPr>
                            <m:t>=1</m:t>
                          </m:r>
                        </m:sub>
                        <m:sup>
                          <m:r>
                            <a:rPr lang="en-US" i="1">
                              <a:latin typeface="Cambria Math" panose="02040503050406030204" pitchFamily="18" charset="0"/>
                            </a:rPr>
                            <m:t>𝑝</m:t>
                          </m:r>
                        </m:sup>
                        <m:e>
                          <m:d>
                            <m:dPr>
                              <m:begChr m:val="|"/>
                              <m:endChr m:val="|"/>
                              <m:ctrlPr>
                                <a:rPr lang="en-US" i="1" smtClean="0">
                                  <a:latin typeface="Cambria Math" panose="02040503050406030204" pitchFamily="18" charset="0"/>
                                </a:rPr>
                              </m:ctrlPr>
                            </m:dPr>
                            <m:e>
                              <m:sSub>
                                <m:sSubPr>
                                  <m:ctrlPr>
                                    <a:rPr lang="en-US"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𝑖</m:t>
                                      </m:r>
                                    </m:sub>
                                  </m:sSub>
                                  <m:r>
                                    <a:rPr lang="en-US" b="0" i="1" smtClean="0">
                                      <a:latin typeface="Cambria Math" panose="02040503050406030204" pitchFamily="18" charset="0"/>
                                    </a:rPr>
                                    <m:t>′</m:t>
                                  </m:r>
                                </m:e>
                                <m:sub>
                                  <m:r>
                                    <a:rPr lang="en-US" b="0" i="1" smtClean="0">
                                      <a:latin typeface="Cambria Math" panose="02040503050406030204" pitchFamily="18" charset="0"/>
                                    </a:rPr>
                                    <m:t> </m:t>
                                  </m:r>
                                </m:sub>
                              </m:sSub>
                            </m:e>
                          </m:d>
                        </m:e>
                      </m:nary>
                    </m:oMath>
                  </m:oMathPara>
                </a14:m>
                <a:endParaRPr lang="en-US" dirty="0">
                  <a:latin typeface="+mn-lt"/>
                </a:endParaRPr>
              </a:p>
              <a:p>
                <a:r>
                  <a:rPr lang="en-US" b="1" dirty="0">
                    <a:latin typeface="+mn-lt"/>
                  </a:rPr>
                  <a:t>Max</a:t>
                </a:r>
                <a:r>
                  <a:rPr lang="en-US" dirty="0">
                    <a:latin typeface="+mn-lt"/>
                  </a:rPr>
                  <a:t>; or </a:t>
                </a:r>
                <a14:m>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𝑳</m:t>
                        </m:r>
                      </m:e>
                      <m:sub>
                        <m:r>
                          <a:rPr lang="en-US" b="1" i="1" smtClean="0">
                            <a:latin typeface="Cambria Math" panose="02040503050406030204" pitchFamily="18" charset="0"/>
                            <a:ea typeface="Cambria Math" panose="02040503050406030204" pitchFamily="18" charset="0"/>
                          </a:rPr>
                          <m:t>∞</m:t>
                        </m:r>
                      </m:sub>
                    </m:sSub>
                  </m:oMath>
                </a14:m>
                <a:r>
                  <a:rPr lang="en-US" dirty="0">
                    <a:latin typeface="+mn-lt"/>
                  </a:rPr>
                  <a:t> norm</a:t>
                </a:r>
                <a:endParaRPr lang="en-US" b="1" dirty="0"/>
              </a:p>
              <a:p>
                <a:pPr marL="0" indent="0">
                  <a:buNone/>
                </a:pPr>
                <a14:m>
                  <m:oMathPara xmlns:m="http://schemas.openxmlformats.org/officeDocument/2006/math">
                    <m:oMathParaPr>
                      <m:jc m:val="centerGroup"/>
                    </m:oMathParaPr>
                    <m:oMath xmlns:m="http://schemas.openxmlformats.org/officeDocument/2006/math">
                      <m:sSub>
                        <m:sSubPr>
                          <m:ctrlPr>
                            <a:rPr lang="en-US" i="1" dirty="0" smtClean="0">
                              <a:latin typeface="Cambria Math" panose="02040503050406030204" pitchFamily="18" charset="0"/>
                            </a:rPr>
                          </m:ctrlPr>
                        </m:sSubPr>
                        <m:e>
                          <m:r>
                            <a:rPr lang="en-US" i="1" dirty="0">
                              <a:latin typeface="Cambria Math" panose="02040503050406030204" pitchFamily="18" charset="0"/>
                            </a:rPr>
                            <m:t>𝑑</m:t>
                          </m:r>
                        </m:e>
                        <m:sub>
                          <m:r>
                            <a:rPr lang="en-US" b="0" i="1" dirty="0" smtClean="0">
                              <a:latin typeface="Cambria Math" panose="02040503050406030204" pitchFamily="18" charset="0"/>
                            </a:rPr>
                            <m:t>𝐿</m:t>
                          </m:r>
                          <m:r>
                            <a:rPr lang="en-US" b="0" i="1" dirty="0" smtClean="0">
                              <a:latin typeface="Cambria Math" panose="02040503050406030204" pitchFamily="18" charset="0"/>
                              <a:ea typeface="Cambria Math" panose="02040503050406030204" pitchFamily="18" charset="0"/>
                            </a:rPr>
                            <m:t>∞</m:t>
                          </m:r>
                        </m:sub>
                      </m:sSub>
                      <m:d>
                        <m:dPr>
                          <m:ctrlPr>
                            <a:rPr lang="en-US" i="1">
                              <a:latin typeface="Cambria Math" panose="02040503050406030204" pitchFamily="18" charset="0"/>
                            </a:rPr>
                          </m:ctrlPr>
                        </m:dPr>
                        <m:e>
                          <m:r>
                            <a:rPr lang="en-US" i="1">
                              <a:latin typeface="Cambria Math" panose="02040503050406030204" pitchFamily="18" charset="0"/>
                            </a:rPr>
                            <m:t>𝑥</m:t>
                          </m:r>
                          <m:r>
                            <a:rPr lang="en-US" i="1">
                              <a:latin typeface="Cambria Math" panose="02040503050406030204" pitchFamily="18" charset="0"/>
                            </a:rPr>
                            <m:t>,</m:t>
                          </m:r>
                          <m:r>
                            <a:rPr lang="en-US" i="1">
                              <a:latin typeface="Cambria Math" panose="02040503050406030204" pitchFamily="18" charset="0"/>
                            </a:rPr>
                            <m:t>𝑥</m:t>
                          </m:r>
                          <m:r>
                            <a:rPr lang="en-US" i="1">
                              <a:latin typeface="Cambria Math" panose="02040503050406030204" pitchFamily="18" charset="0"/>
                            </a:rPr>
                            <m:t>′</m:t>
                          </m:r>
                        </m:e>
                      </m:d>
                      <m:r>
                        <a:rPr lang="en-US" i="1">
                          <a:latin typeface="Cambria Math" panose="02040503050406030204" pitchFamily="18" charset="0"/>
                        </a:rPr>
                        <m:t>=</m:t>
                      </m:r>
                      <m:func>
                        <m:funcPr>
                          <m:ctrlPr>
                            <a:rPr lang="en-US" i="1" smtClean="0">
                              <a:latin typeface="Cambria Math" panose="02040503050406030204" pitchFamily="18" charset="0"/>
                            </a:rPr>
                          </m:ctrlPr>
                        </m:funcPr>
                        <m:fName>
                          <m:limLow>
                            <m:limLowPr>
                              <m:ctrlPr>
                                <a:rPr lang="en-US" i="1" smtClean="0">
                                  <a:latin typeface="Cambria Math" panose="02040503050406030204" pitchFamily="18" charset="0"/>
                                </a:rPr>
                              </m:ctrlPr>
                            </m:limLowPr>
                            <m:e>
                              <m:r>
                                <m:rPr>
                                  <m:sty m:val="p"/>
                                </m:rPr>
                                <a:rPr lang="en-US" i="0" smtClean="0">
                                  <a:latin typeface="Cambria Math" panose="02040503050406030204" pitchFamily="18" charset="0"/>
                                </a:rPr>
                                <m:t>max</m:t>
                              </m:r>
                            </m:e>
                            <m:lim>
                              <m:r>
                                <a:rPr lang="en-US" b="0" i="1" smtClean="0">
                                  <a:latin typeface="Cambria Math" panose="02040503050406030204" pitchFamily="18" charset="0"/>
                                </a:rPr>
                                <m:t>𝑖</m:t>
                              </m:r>
                            </m:lim>
                          </m:limLow>
                          <m:r>
                            <a:rPr lang="en-US" b="0" i="1" smtClean="0">
                              <a:latin typeface="Cambria Math" panose="02040503050406030204" pitchFamily="18" charset="0"/>
                            </a:rPr>
                            <m:t> </m:t>
                          </m:r>
                        </m:fName>
                        <m:e>
                          <m:d>
                            <m:dPr>
                              <m:begChr m:val="|"/>
                              <m:endChr m:val="|"/>
                              <m:ctrlPr>
                                <a:rPr lang="en-US" i="1" smtClean="0">
                                  <a:latin typeface="Cambria Math" panose="02040503050406030204" pitchFamily="18" charset="0"/>
                                </a:rPr>
                              </m:ctrlPr>
                            </m:dPr>
                            <m:e>
                              <m:sSub>
                                <m:sSubPr>
                                  <m:ctrlPr>
                                    <a:rPr lang="en-US"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𝑖</m:t>
                                      </m:r>
                                    </m:sub>
                                  </m:sSub>
                                  <m:r>
                                    <a:rPr lang="en-US" b="0" i="1" smtClean="0">
                                      <a:latin typeface="Cambria Math" panose="02040503050406030204" pitchFamily="18" charset="0"/>
                                    </a:rPr>
                                    <m:t>′</m:t>
                                  </m:r>
                                </m:e>
                                <m:sub>
                                  <m:r>
                                    <a:rPr lang="en-US" b="0" i="1" smtClean="0">
                                      <a:latin typeface="Cambria Math" panose="02040503050406030204" pitchFamily="18" charset="0"/>
                                    </a:rPr>
                                    <m:t> </m:t>
                                  </m:r>
                                </m:sub>
                              </m:sSub>
                            </m:e>
                          </m:d>
                        </m:e>
                      </m:func>
                    </m:oMath>
                  </m:oMathPara>
                </a14:m>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5698998"/>
              </a:xfrm>
              <a:blipFill>
                <a:blip r:embed="rId3"/>
                <a:stretch>
                  <a:fillRect l="-1111" t="-1818" r="-317"/>
                </a:stretch>
              </a:blipFill>
            </p:spPr>
            <p:txBody>
              <a:bodyPr/>
              <a:lstStyle/>
              <a:p>
                <a:r>
                  <a:rPr lang="en-US">
                    <a:noFill/>
                  </a:rPr>
                  <a:t> </a:t>
                </a:r>
              </a:p>
            </p:txBody>
          </p:sp>
        </mc:Fallback>
      </mc:AlternateContent>
    </p:spTree>
    <p:extLst>
      <p:ext uri="{BB962C8B-B14F-4D97-AF65-F5344CB8AC3E}">
        <p14:creationId xmlns:p14="http://schemas.microsoft.com/office/powerpoint/2010/main" val="39662440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1639303"/>
              </a:xfrm>
            </p:spPr>
            <p:txBody>
              <a:bodyPr>
                <a:normAutofit fontScale="85000" lnSpcReduction="10000"/>
              </a:bodyPr>
              <a:lstStyle/>
              <a:p>
                <a:pPr marL="0" indent="0">
                  <a:buNone/>
                </a:pPr>
                <a:r>
                  <a:rPr lang="en-US" dirty="0">
                    <a:latin typeface="+mn-lt"/>
                  </a:rPr>
                  <a:t>Square root of the sum of squares is the Euclidian distance</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𝑑</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e>
                      </m:d>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d>
                            <m:dPr>
                              <m:begChr m:val="["/>
                              <m:endChr m:val="]"/>
                              <m:ctrlPr>
                                <a:rPr lang="en-US" b="0" i="1" smtClean="0">
                                  <a:latin typeface="Cambria Math" panose="02040503050406030204" pitchFamily="18" charset="0"/>
                                </a:rPr>
                              </m:ctrlPr>
                            </m:dPr>
                            <m:e>
                              <m:nary>
                                <m:naryPr>
                                  <m:chr m:val="∑"/>
                                  <m:ctrlPr>
                                    <a:rPr lang="en-US" i="1">
                                      <a:latin typeface="Cambria Math" panose="02040503050406030204" pitchFamily="18" charset="0"/>
                                    </a:rPr>
                                  </m:ctrlPr>
                                </m:naryPr>
                                <m:sub>
                                  <m:r>
                                    <m:rPr>
                                      <m:brk m:alnAt="23"/>
                                    </m:rPr>
                                    <a:rPr lang="en-US" i="1">
                                      <a:latin typeface="Cambria Math" panose="02040503050406030204" pitchFamily="18" charset="0"/>
                                    </a:rPr>
                                    <m:t>𝑖</m:t>
                                  </m:r>
                                  <m:r>
                                    <a:rPr lang="en-US" i="1">
                                      <a:latin typeface="Cambria Math" panose="02040503050406030204" pitchFamily="18" charset="0"/>
                                    </a:rPr>
                                    <m:t>=1</m:t>
                                  </m:r>
                                </m:sub>
                                <m:sup>
                                  <m:r>
                                    <a:rPr lang="en-US" i="1">
                                      <a:latin typeface="Cambria Math" panose="02040503050406030204" pitchFamily="18" charset="0"/>
                                    </a:rPr>
                                    <m:t>𝑝</m:t>
                                  </m:r>
                                </m:sup>
                                <m:e>
                                  <m:r>
                                    <a:rPr lang="en-US" i="1">
                                      <a:latin typeface="Cambria Math" panose="02040503050406030204" pitchFamily="18" charset="0"/>
                                    </a:rPr>
                                    <m:t> (</m:t>
                                  </m:r>
                                  <m:sSubSup>
                                    <m:sSubSupPr>
                                      <m:ctrlPr>
                                        <a:rPr lang="en-US" i="1">
                                          <a:latin typeface="Cambria Math" panose="02040503050406030204" pitchFamily="18" charset="0"/>
                                        </a:rPr>
                                      </m:ctrlPr>
                                    </m:sSubSupPr>
                                    <m:e>
                                      <m:r>
                                        <a:rPr lang="en-US" i="1">
                                          <a:latin typeface="Cambria Math" panose="02040503050406030204" pitchFamily="18" charset="0"/>
                                        </a:rPr>
                                        <m:t>𝑥</m:t>
                                      </m:r>
                                    </m:e>
                                    <m:sub>
                                      <m:r>
                                        <a:rPr lang="en-US" i="1">
                                          <a:latin typeface="Cambria Math" panose="02040503050406030204" pitchFamily="18" charset="0"/>
                                        </a:rPr>
                                        <m:t>𝑖</m:t>
                                      </m:r>
                                    </m:sub>
                                    <m:sup>
                                      <m:r>
                                        <a:rPr lang="en-US" i="1">
                                          <a:latin typeface="Cambria Math" panose="02040503050406030204" pitchFamily="18" charset="0"/>
                                        </a:rPr>
                                        <m:t> </m:t>
                                      </m:r>
                                    </m:sup>
                                  </m:sSubSup>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r>
                                        <a:rPr lang="en-US" i="1">
                                          <a:latin typeface="Cambria Math" panose="02040503050406030204" pitchFamily="18" charset="0"/>
                                        </a:rPr>
                                        <m:t>′</m:t>
                                      </m:r>
                                    </m:e>
                                    <m:sub>
                                      <m:r>
                                        <a:rPr lang="en-US" i="1">
                                          <a:latin typeface="Cambria Math" panose="02040503050406030204" pitchFamily="18" charset="0"/>
                                        </a:rPr>
                                        <m:t>𝑖</m:t>
                                      </m:r>
                                    </m:sub>
                                  </m:sSub>
                                  <m:sSup>
                                    <m:sSupPr>
                                      <m:ctrlPr>
                                        <a:rPr lang="en-US" i="1">
                                          <a:latin typeface="Cambria Math" panose="02040503050406030204" pitchFamily="18" charset="0"/>
                                        </a:rPr>
                                      </m:ctrlPr>
                                    </m:sSupPr>
                                    <m:e>
                                      <m:r>
                                        <a:rPr lang="en-US" i="1">
                                          <a:latin typeface="Cambria Math" panose="02040503050406030204" pitchFamily="18" charset="0"/>
                                        </a:rPr>
                                        <m:t>)</m:t>
                                      </m:r>
                                    </m:e>
                                    <m:sup>
                                      <m:r>
                                        <a:rPr lang="en-US" i="1">
                                          <a:latin typeface="Cambria Math" panose="02040503050406030204" pitchFamily="18" charset="0"/>
                                        </a:rPr>
                                        <m:t>2</m:t>
                                      </m:r>
                                    </m:sup>
                                  </m:sSup>
                                </m:e>
                              </m:nary>
                            </m:e>
                          </m:d>
                        </m:e>
                        <m:sup>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sup>
                      </m:sSup>
                    </m:oMath>
                  </m:oMathPara>
                </a14:m>
                <a:endParaRPr lang="en-US" dirty="0">
                  <a:latin typeface="+mn-lt"/>
                </a:endParaRPr>
              </a:p>
              <a:p>
                <a:endParaRPr lang="en-US"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1639303"/>
              </a:xfrm>
              <a:blipFill>
                <a:blip r:embed="rId3"/>
                <a:stretch>
                  <a:fillRect l="-847" t="-7063"/>
                </a:stretch>
              </a:blipFill>
            </p:spPr>
            <p:txBody>
              <a:bodyPr/>
              <a:lstStyle/>
              <a:p>
                <a:r>
                  <a:rPr lang="en-US">
                    <a:noFill/>
                  </a:rPr>
                  <a:t> </a:t>
                </a:r>
              </a:p>
            </p:txBody>
          </p:sp>
        </mc:Fallback>
      </mc:AlternateContent>
      <p:cxnSp>
        <p:nvCxnSpPr>
          <p:cNvPr id="6" name="Straight Arrow Connector 5">
            <a:extLst>
              <a:ext uri="{FF2B5EF4-FFF2-40B4-BE49-F238E27FC236}">
                <a16:creationId xmlns:a16="http://schemas.microsoft.com/office/drawing/2014/main" id="{DBC2410D-2843-43D4-8696-1D08665D8734}"/>
              </a:ext>
            </a:extLst>
          </p:cNvPr>
          <p:cNvCxnSpPr/>
          <p:nvPr/>
        </p:nvCxnSpPr>
        <p:spPr>
          <a:xfrm>
            <a:off x="1563920" y="5896166"/>
            <a:ext cx="4597830"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AF210B04-140B-48C3-AB42-D61C9037800A}"/>
              </a:ext>
            </a:extLst>
          </p:cNvPr>
          <p:cNvCxnSpPr>
            <a:cxnSpLocks/>
          </p:cNvCxnSpPr>
          <p:nvPr/>
        </p:nvCxnSpPr>
        <p:spPr>
          <a:xfrm flipV="1">
            <a:off x="1563920" y="2512370"/>
            <a:ext cx="0" cy="3383796"/>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62B40F0C-6CA8-4E2B-9506-257938DB4E99}"/>
              </a:ext>
            </a:extLst>
          </p:cNvPr>
          <p:cNvSpPr txBox="1"/>
          <p:nvPr/>
        </p:nvSpPr>
        <p:spPr>
          <a:xfrm>
            <a:off x="3713018" y="5896166"/>
            <a:ext cx="503664" cy="523220"/>
          </a:xfrm>
          <a:prstGeom prst="rect">
            <a:avLst/>
          </a:prstGeom>
          <a:noFill/>
        </p:spPr>
        <p:txBody>
          <a:bodyPr wrap="none" rtlCol="0">
            <a:spAutoFit/>
          </a:bodyPr>
          <a:lstStyle/>
          <a:p>
            <a:r>
              <a:rPr lang="en-US" sz="2800" b="1" dirty="0"/>
              <a:t>X</a:t>
            </a:r>
            <a:r>
              <a:rPr lang="en-US" sz="2800" b="1" baseline="-25000" dirty="0"/>
              <a:t>1</a:t>
            </a:r>
          </a:p>
        </p:txBody>
      </p:sp>
      <p:sp>
        <p:nvSpPr>
          <p:cNvPr id="11" name="TextBox 10">
            <a:extLst>
              <a:ext uri="{FF2B5EF4-FFF2-40B4-BE49-F238E27FC236}">
                <a16:creationId xmlns:a16="http://schemas.microsoft.com/office/drawing/2014/main" id="{9793A1DA-70A2-4EC3-9CAF-5C65A92AE62B}"/>
              </a:ext>
            </a:extLst>
          </p:cNvPr>
          <p:cNvSpPr txBox="1"/>
          <p:nvPr/>
        </p:nvSpPr>
        <p:spPr>
          <a:xfrm>
            <a:off x="1044374" y="3887257"/>
            <a:ext cx="503664" cy="523220"/>
          </a:xfrm>
          <a:prstGeom prst="rect">
            <a:avLst/>
          </a:prstGeom>
          <a:noFill/>
        </p:spPr>
        <p:txBody>
          <a:bodyPr wrap="none" rtlCol="0">
            <a:spAutoFit/>
          </a:bodyPr>
          <a:lstStyle/>
          <a:p>
            <a:r>
              <a:rPr lang="en-US" sz="2800" b="1" dirty="0"/>
              <a:t>X</a:t>
            </a:r>
            <a:r>
              <a:rPr lang="en-US" sz="2800" b="1" baseline="-25000" dirty="0"/>
              <a:t>2</a:t>
            </a:r>
          </a:p>
        </p:txBody>
      </p:sp>
      <p:sp>
        <p:nvSpPr>
          <p:cNvPr id="12" name="Cross 11">
            <a:extLst>
              <a:ext uri="{FF2B5EF4-FFF2-40B4-BE49-F238E27FC236}">
                <a16:creationId xmlns:a16="http://schemas.microsoft.com/office/drawing/2014/main" id="{B23426B5-5480-4DE4-9184-9876C2CB2517}"/>
              </a:ext>
            </a:extLst>
          </p:cNvPr>
          <p:cNvSpPr/>
          <p:nvPr/>
        </p:nvSpPr>
        <p:spPr>
          <a:xfrm>
            <a:off x="5122720" y="3324562"/>
            <a:ext cx="200890" cy="208875"/>
          </a:xfrm>
          <a:prstGeom prst="plus">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Cross 12">
            <a:extLst>
              <a:ext uri="{FF2B5EF4-FFF2-40B4-BE49-F238E27FC236}">
                <a16:creationId xmlns:a16="http://schemas.microsoft.com/office/drawing/2014/main" id="{CD8CD439-2CC4-4431-AB63-0F32315F3BC5}"/>
              </a:ext>
            </a:extLst>
          </p:cNvPr>
          <p:cNvSpPr/>
          <p:nvPr/>
        </p:nvSpPr>
        <p:spPr>
          <a:xfrm>
            <a:off x="3304868" y="5164072"/>
            <a:ext cx="200890" cy="208875"/>
          </a:xfrm>
          <a:prstGeom prst="plus">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20D27AE9-6F7D-46F4-B0C2-70E2F3CD488A}"/>
              </a:ext>
            </a:extLst>
          </p:cNvPr>
          <p:cNvSpPr txBox="1"/>
          <p:nvPr/>
        </p:nvSpPr>
        <p:spPr>
          <a:xfrm>
            <a:off x="3017709" y="5345466"/>
            <a:ext cx="845126" cy="461665"/>
          </a:xfrm>
          <a:prstGeom prst="rect">
            <a:avLst/>
          </a:prstGeom>
          <a:noFill/>
        </p:spPr>
        <p:txBody>
          <a:bodyPr wrap="square" rtlCol="0">
            <a:spAutoFit/>
          </a:bodyPr>
          <a:lstStyle/>
          <a:p>
            <a:r>
              <a:rPr lang="en-US" sz="2400" dirty="0"/>
              <a:t>(2,1)</a:t>
            </a:r>
          </a:p>
        </p:txBody>
      </p:sp>
      <p:sp>
        <p:nvSpPr>
          <p:cNvPr id="15" name="TextBox 14">
            <a:extLst>
              <a:ext uri="{FF2B5EF4-FFF2-40B4-BE49-F238E27FC236}">
                <a16:creationId xmlns:a16="http://schemas.microsoft.com/office/drawing/2014/main" id="{65800F31-6C70-4F71-B1DD-342BB67BF461}"/>
              </a:ext>
            </a:extLst>
          </p:cNvPr>
          <p:cNvSpPr txBox="1"/>
          <p:nvPr/>
        </p:nvSpPr>
        <p:spPr>
          <a:xfrm>
            <a:off x="5337699" y="3157229"/>
            <a:ext cx="845126" cy="461665"/>
          </a:xfrm>
          <a:prstGeom prst="rect">
            <a:avLst/>
          </a:prstGeom>
          <a:noFill/>
        </p:spPr>
        <p:txBody>
          <a:bodyPr wrap="square" rtlCol="0">
            <a:spAutoFit/>
          </a:bodyPr>
          <a:lstStyle/>
          <a:p>
            <a:r>
              <a:rPr lang="en-US" sz="2400" dirty="0"/>
              <a:t>(4,3)</a:t>
            </a:r>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65FEAA3B-26B3-4998-B64A-7CACD68892A0}"/>
                  </a:ext>
                </a:extLst>
              </p:cNvPr>
              <p:cNvSpPr txBox="1"/>
              <p:nvPr/>
            </p:nvSpPr>
            <p:spPr>
              <a:xfrm>
                <a:off x="6416298" y="2752880"/>
                <a:ext cx="5584552" cy="2397579"/>
              </a:xfrm>
              <a:prstGeom prst="rect">
                <a:avLst/>
              </a:prstGeom>
              <a:noFill/>
            </p:spPr>
            <p:txBody>
              <a:bodyPr wrap="square" rtlCol="0">
                <a:spAutoFit/>
              </a:bodyPr>
              <a:lstStyle/>
              <a:p>
                <a:pPr marL="285750" indent="-285750">
                  <a:buFont typeface="Arial" panose="020B0604020202020204" pitchFamily="34" charset="0"/>
                  <a:buChar char="•"/>
                </a:pPr>
                <a:r>
                  <a:rPr lang="en-US" sz="2400" dirty="0"/>
                  <a:t>Points at (2,1) and (4,3)</a:t>
                </a:r>
              </a:p>
              <a:p>
                <a:pPr marL="285750" indent="-285750">
                  <a:buFont typeface="Arial" panose="020B0604020202020204" pitchFamily="34" charset="0"/>
                  <a:buChar char="•"/>
                </a:pPr>
                <a:r>
                  <a:rPr lang="en-US" sz="2400" dirty="0"/>
                  <a:t>What is the distance between them? </a:t>
                </a:r>
              </a:p>
              <a:p>
                <a:pPr marL="285750" indent="-285750">
                  <a:buFont typeface="Arial" panose="020B0604020202020204" pitchFamily="34" charset="0"/>
                  <a:buChar char="•"/>
                </a:pPr>
                <a:r>
                  <a:rPr lang="en-US" sz="2400" dirty="0"/>
                  <a:t>Sum of squares</a:t>
                </a:r>
              </a:p>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𝑑</m:t>
                          </m:r>
                        </m:e>
                        <m:sub>
                          <m:r>
                            <a:rPr lang="en-US" sz="2400" b="0" i="1" smtClean="0">
                              <a:latin typeface="Cambria Math" panose="02040503050406030204" pitchFamily="18" charset="0"/>
                            </a:rPr>
                            <m:t>𝑆𝑆</m:t>
                          </m:r>
                        </m:sub>
                      </m:sSub>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𝑥</m:t>
                          </m:r>
                          <m:r>
                            <a:rPr lang="en-US" sz="2400" b="0" i="1" smtClean="0">
                              <a:latin typeface="Cambria Math" panose="02040503050406030204" pitchFamily="18" charset="0"/>
                            </a:rPr>
                            <m:t>,</m:t>
                          </m:r>
                          <m:r>
                            <a:rPr lang="en-US" sz="2400" b="0" i="1" smtClean="0">
                              <a:latin typeface="Cambria Math" panose="02040503050406030204" pitchFamily="18" charset="0"/>
                            </a:rPr>
                            <m:t>𝑥</m:t>
                          </m:r>
                          <m:r>
                            <a:rPr lang="en-US" sz="2400" b="0" i="1" smtClean="0">
                              <a:latin typeface="Cambria Math" panose="02040503050406030204" pitchFamily="18" charset="0"/>
                            </a:rPr>
                            <m:t>′</m:t>
                          </m:r>
                        </m:e>
                      </m:d>
                      <m:r>
                        <a:rPr lang="en-US" sz="2400" b="0" i="1" smtClean="0">
                          <a:latin typeface="Cambria Math" panose="02040503050406030204" pitchFamily="18" charset="0"/>
                        </a:rPr>
                        <m:t>= </m:t>
                      </m:r>
                      <m:d>
                        <m:dPr>
                          <m:begChr m:val="{"/>
                          <m:endChr m:val="}"/>
                          <m:ctrlPr>
                            <a:rPr lang="en-US" sz="2400" b="0" i="1" smtClean="0">
                              <a:latin typeface="Cambria Math" panose="02040503050406030204" pitchFamily="18" charset="0"/>
                            </a:rPr>
                          </m:ctrlPr>
                        </m:dPr>
                        <m:e>
                          <m:sSup>
                            <m:sSupPr>
                              <m:ctrlPr>
                                <a:rPr lang="en-US" sz="2400" b="0" i="1" smtClean="0">
                                  <a:latin typeface="Cambria Math" panose="02040503050406030204" pitchFamily="18" charset="0"/>
                                </a:rPr>
                              </m:ctrlPr>
                            </m:sSupPr>
                            <m:e>
                              <m:d>
                                <m:dPr>
                                  <m:ctrlPr>
                                    <a:rPr lang="en-US" sz="2400" b="0" i="1" smtClean="0">
                                      <a:latin typeface="Cambria Math" panose="02040503050406030204" pitchFamily="18" charset="0"/>
                                    </a:rPr>
                                  </m:ctrlPr>
                                </m:dPr>
                                <m:e>
                                  <m:r>
                                    <a:rPr lang="en-US" sz="2400" b="0" i="1" smtClean="0">
                                      <a:latin typeface="Cambria Math" panose="02040503050406030204" pitchFamily="18" charset="0"/>
                                    </a:rPr>
                                    <m:t>2−4</m:t>
                                  </m:r>
                                </m:e>
                              </m:d>
                            </m:e>
                            <m:sup>
                              <m:r>
                                <a:rPr lang="en-US" sz="2400" b="0" i="1" smtClean="0">
                                  <a:latin typeface="Cambria Math" panose="02040503050406030204" pitchFamily="18" charset="0"/>
                                </a:rPr>
                                <m:t>2</m:t>
                              </m:r>
                            </m:sup>
                          </m:sSup>
                          <m:r>
                            <a:rPr lang="en-US" sz="2400" b="0" i="1" smtClean="0">
                              <a:latin typeface="Cambria Math" panose="02040503050406030204" pitchFamily="18" charset="0"/>
                            </a:rPr>
                            <m:t>+</m:t>
                          </m:r>
                          <m:sSup>
                            <m:sSupPr>
                              <m:ctrlPr>
                                <a:rPr lang="en-US" sz="2400" b="0" i="1" smtClean="0">
                                  <a:latin typeface="Cambria Math" panose="02040503050406030204" pitchFamily="18" charset="0"/>
                                </a:rPr>
                              </m:ctrlPr>
                            </m:sSupPr>
                            <m:e>
                              <m:d>
                                <m:dPr>
                                  <m:ctrlPr>
                                    <a:rPr lang="en-US" sz="2400" b="0" i="1" smtClean="0">
                                      <a:latin typeface="Cambria Math" panose="02040503050406030204" pitchFamily="18" charset="0"/>
                                    </a:rPr>
                                  </m:ctrlPr>
                                </m:dPr>
                                <m:e>
                                  <m:r>
                                    <a:rPr lang="en-US" sz="2400" b="0" i="1" smtClean="0">
                                      <a:latin typeface="Cambria Math" panose="02040503050406030204" pitchFamily="18" charset="0"/>
                                    </a:rPr>
                                    <m:t>1−3</m:t>
                                  </m:r>
                                </m:e>
                              </m:d>
                            </m:e>
                            <m:sup>
                              <m:r>
                                <a:rPr lang="en-US" sz="2400" b="0" i="1" smtClean="0">
                                  <a:latin typeface="Cambria Math" panose="02040503050406030204" pitchFamily="18" charset="0"/>
                                </a:rPr>
                                <m:t>2</m:t>
                              </m:r>
                            </m:sup>
                          </m:sSup>
                        </m:e>
                      </m:d>
                      <m:r>
                        <a:rPr lang="en-US" sz="2400" b="0" i="1" smtClean="0">
                          <a:latin typeface="Cambria Math" panose="02040503050406030204" pitchFamily="18" charset="0"/>
                        </a:rPr>
                        <m:t>=8</m:t>
                      </m:r>
                    </m:oMath>
                  </m:oMathPara>
                </a14:m>
                <a:endParaRPr lang="en-US" sz="2400" dirty="0"/>
              </a:p>
              <a:p>
                <a:pPr marL="285750" indent="-285750">
                  <a:buFont typeface="Arial" panose="020B0604020202020204" pitchFamily="34" charset="0"/>
                  <a:buChar char="•"/>
                </a:pPr>
                <a:r>
                  <a:rPr lang="en-US" sz="2400" dirty="0"/>
                  <a:t>Euclidian Norm  </a:t>
                </a:r>
              </a:p>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en-US" sz="2400" b="0" i="1" smtClean="0">
                              <a:latin typeface="Cambria Math" panose="02040503050406030204" pitchFamily="18" charset="0"/>
                            </a:rPr>
                            <m:t>𝑑</m:t>
                          </m:r>
                        </m:e>
                        <m:sub>
                          <m:r>
                            <a:rPr lang="en-US" sz="2400" b="0" i="1" smtClean="0">
                              <a:latin typeface="Cambria Math" panose="02040503050406030204" pitchFamily="18" charset="0"/>
                            </a:rPr>
                            <m:t>𝐸</m:t>
                          </m:r>
                        </m:sub>
                      </m:sSub>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𝑥</m:t>
                          </m:r>
                          <m:r>
                            <a:rPr lang="en-US" sz="2400" b="0" i="1" smtClean="0">
                              <a:latin typeface="Cambria Math" panose="02040503050406030204" pitchFamily="18" charset="0"/>
                            </a:rPr>
                            <m:t>,</m:t>
                          </m:r>
                          <m:r>
                            <a:rPr lang="en-US" sz="2400" b="0" i="1" smtClean="0">
                              <a:latin typeface="Cambria Math" panose="02040503050406030204" pitchFamily="18" charset="0"/>
                            </a:rPr>
                            <m:t>𝑥</m:t>
                          </m:r>
                          <m:r>
                            <a:rPr lang="en-US" sz="2400" b="0" i="1" smtClean="0">
                              <a:latin typeface="Cambria Math" panose="02040503050406030204" pitchFamily="18" charset="0"/>
                            </a:rPr>
                            <m:t>′</m:t>
                          </m:r>
                        </m:e>
                      </m:d>
                      <m:r>
                        <a:rPr lang="en-US" sz="2400" b="0" i="1" smtClean="0">
                          <a:latin typeface="Cambria Math" panose="02040503050406030204" pitchFamily="18" charset="0"/>
                        </a:rPr>
                        <m:t>=</m:t>
                      </m:r>
                      <m:sSup>
                        <m:sSupPr>
                          <m:ctrlPr>
                            <a:rPr lang="en-US" sz="2400" b="0" i="1" smtClean="0">
                              <a:latin typeface="Cambria Math" panose="02040503050406030204" pitchFamily="18" charset="0"/>
                            </a:rPr>
                          </m:ctrlPr>
                        </m:sSupPr>
                        <m:e>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𝑑</m:t>
                              </m:r>
                            </m:e>
                            <m:sub>
                              <m:r>
                                <a:rPr lang="en-US" sz="2400" b="0" i="1" smtClean="0">
                                  <a:latin typeface="Cambria Math" panose="02040503050406030204" pitchFamily="18" charset="0"/>
                                </a:rPr>
                                <m:t>𝑆𝑆</m:t>
                              </m:r>
                            </m:sub>
                          </m:sSub>
                          <m:r>
                            <a:rPr lang="en-US" sz="2400" b="0" i="1" smtClean="0">
                              <a:latin typeface="Cambria Math" panose="02040503050406030204" pitchFamily="18" charset="0"/>
                            </a:rPr>
                            <m:t>(</m:t>
                          </m:r>
                          <m:r>
                            <a:rPr lang="en-US" sz="2400" b="0" i="1" smtClean="0">
                              <a:latin typeface="Cambria Math" panose="02040503050406030204" pitchFamily="18" charset="0"/>
                            </a:rPr>
                            <m:t>𝑥</m:t>
                          </m:r>
                          <m:r>
                            <a:rPr lang="en-US" sz="2400" b="0" i="1" smtClean="0">
                              <a:latin typeface="Cambria Math" panose="02040503050406030204" pitchFamily="18" charset="0"/>
                            </a:rPr>
                            <m:t>,</m:t>
                          </m:r>
                          <m:r>
                            <a:rPr lang="en-US" sz="2400" b="0" i="1" smtClean="0">
                              <a:latin typeface="Cambria Math" panose="02040503050406030204" pitchFamily="18" charset="0"/>
                            </a:rPr>
                            <m:t>𝑦</m:t>
                          </m:r>
                          <m:r>
                            <a:rPr lang="en-US" sz="2400" b="0" i="1" smtClean="0">
                              <a:latin typeface="Cambria Math" panose="02040503050406030204" pitchFamily="18" charset="0"/>
                            </a:rPr>
                            <m:t>)</m:t>
                          </m:r>
                        </m:e>
                        <m:sup>
                          <m:r>
                            <a:rPr lang="en-US" sz="2400" b="0" i="1" smtClean="0">
                              <a:latin typeface="Cambria Math" panose="02040503050406030204" pitchFamily="18" charset="0"/>
                            </a:rPr>
                            <m:t>1/2</m:t>
                          </m:r>
                        </m:sup>
                      </m:sSup>
                      <m:r>
                        <a:rPr lang="en-US" sz="2400" b="0" i="1" smtClean="0">
                          <a:latin typeface="Cambria Math" panose="02040503050406030204" pitchFamily="18" charset="0"/>
                        </a:rPr>
                        <m:t>=</m:t>
                      </m:r>
                      <m:rad>
                        <m:radPr>
                          <m:degHide m:val="on"/>
                          <m:ctrlPr>
                            <a:rPr lang="en-US" sz="2400" b="0" i="1" smtClean="0">
                              <a:latin typeface="Cambria Math" panose="02040503050406030204" pitchFamily="18" charset="0"/>
                            </a:rPr>
                          </m:ctrlPr>
                        </m:radPr>
                        <m:deg/>
                        <m:e>
                          <m:r>
                            <a:rPr lang="en-US" sz="2400" b="0" i="1" smtClean="0">
                              <a:latin typeface="Cambria Math" panose="02040503050406030204" pitchFamily="18" charset="0"/>
                            </a:rPr>
                            <m:t>8</m:t>
                          </m:r>
                        </m:e>
                      </m:rad>
                      <m:r>
                        <a:rPr lang="en-US" sz="2400" b="0" i="1" smtClean="0">
                          <a:latin typeface="Cambria Math" panose="02040503050406030204" pitchFamily="18" charset="0"/>
                        </a:rPr>
                        <m:t>=2.83</m:t>
                      </m:r>
                    </m:oMath>
                  </m:oMathPara>
                </a14:m>
                <a:endParaRPr lang="en-US" sz="2400" dirty="0"/>
              </a:p>
            </p:txBody>
          </p:sp>
        </mc:Choice>
        <mc:Fallback xmlns="">
          <p:sp>
            <p:nvSpPr>
              <p:cNvPr id="17" name="TextBox 16">
                <a:extLst>
                  <a:ext uri="{FF2B5EF4-FFF2-40B4-BE49-F238E27FC236}">
                    <a16:creationId xmlns:a16="http://schemas.microsoft.com/office/drawing/2014/main" id="{65FEAA3B-26B3-4998-B64A-7CACD68892A0}"/>
                  </a:ext>
                </a:extLst>
              </p:cNvPr>
              <p:cNvSpPr txBox="1">
                <a:spLocks noRot="1" noChangeAspect="1" noMove="1" noResize="1" noEditPoints="1" noAdjustHandles="1" noChangeArrowheads="1" noChangeShapeType="1" noTextEdit="1"/>
              </p:cNvSpPr>
              <p:nvPr/>
            </p:nvSpPr>
            <p:spPr>
              <a:xfrm>
                <a:off x="6416298" y="2752880"/>
                <a:ext cx="5584552" cy="2397579"/>
              </a:xfrm>
              <a:prstGeom prst="rect">
                <a:avLst/>
              </a:prstGeom>
              <a:blipFill>
                <a:blip r:embed="rId4"/>
                <a:stretch>
                  <a:fillRect l="-1528" t="-2036"/>
                </a:stretch>
              </a:blipFill>
            </p:spPr>
            <p:txBody>
              <a:bodyPr/>
              <a:lstStyle/>
              <a:p>
                <a:r>
                  <a:rPr lang="en-US">
                    <a:noFill/>
                  </a:rPr>
                  <a:t> </a:t>
                </a:r>
              </a:p>
            </p:txBody>
          </p:sp>
        </mc:Fallback>
      </mc:AlternateContent>
      <p:cxnSp>
        <p:nvCxnSpPr>
          <p:cNvPr id="18" name="Straight Arrow Connector 17">
            <a:extLst>
              <a:ext uri="{FF2B5EF4-FFF2-40B4-BE49-F238E27FC236}">
                <a16:creationId xmlns:a16="http://schemas.microsoft.com/office/drawing/2014/main" id="{22C19033-E180-48CB-8A3F-5E01D0B45E8B}"/>
              </a:ext>
            </a:extLst>
          </p:cNvPr>
          <p:cNvCxnSpPr>
            <a:cxnSpLocks/>
            <a:stCxn id="13" idx="0"/>
            <a:endCxn id="12" idx="2"/>
          </p:cNvCxnSpPr>
          <p:nvPr/>
        </p:nvCxnSpPr>
        <p:spPr>
          <a:xfrm flipV="1">
            <a:off x="3405313" y="3533437"/>
            <a:ext cx="1817852" cy="1630635"/>
          </a:xfrm>
          <a:prstGeom prst="straightConnector1">
            <a:avLst/>
          </a:prstGeom>
          <a:ln w="444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55066A27-03ED-4C91-9E71-890ECF17A18B}"/>
              </a:ext>
            </a:extLst>
          </p:cNvPr>
          <p:cNvSpPr txBox="1"/>
          <p:nvPr/>
        </p:nvSpPr>
        <p:spPr>
          <a:xfrm>
            <a:off x="6382015" y="5164072"/>
            <a:ext cx="5584552" cy="461665"/>
          </a:xfrm>
          <a:prstGeom prst="rect">
            <a:avLst/>
          </a:prstGeom>
          <a:noFill/>
        </p:spPr>
        <p:txBody>
          <a:bodyPr wrap="square" rtlCol="0">
            <a:spAutoFit/>
          </a:bodyPr>
          <a:lstStyle/>
          <a:p>
            <a:pPr marL="342900" indent="-342900">
              <a:buFont typeface="Arial" panose="020B0604020202020204" pitchFamily="34" charset="0"/>
              <a:buChar char="•"/>
            </a:pPr>
            <a:r>
              <a:rPr lang="en-US" sz="2400" dirty="0"/>
              <a:t>Euclidian Norm is ‘crow-flies’ distance </a:t>
            </a:r>
          </a:p>
        </p:txBody>
      </p:sp>
    </p:spTree>
    <p:extLst>
      <p:ext uri="{BB962C8B-B14F-4D97-AF65-F5344CB8AC3E}">
        <p14:creationId xmlns:p14="http://schemas.microsoft.com/office/powerpoint/2010/main" val="12885350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7">
                                            <p:txEl>
                                              <p:pRg st="0" end="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xEl>
                                              <p:pRg st="1" end="1"/>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8"/>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17">
                                            <p:txEl>
                                              <p:pRg st="2" end="2"/>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7">
                                            <p:txEl>
                                              <p:pRg st="3" end="3"/>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7">
                                            <p:txEl>
                                              <p:pRg st="4" end="4"/>
                                            </p:txEl>
                                          </p:spTgt>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7">
                                            <p:txEl>
                                              <p:pRg st="5" end="5"/>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12" grpId="0" animBg="1"/>
      <p:bldP spid="13" grpId="0" animBg="1"/>
      <p:bldP spid="14" grpId="0"/>
      <p:bldP spid="15" grpId="0"/>
      <p:bldP spid="16"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1639303"/>
              </a:xfrm>
            </p:spPr>
            <p:txBody>
              <a:bodyPr>
                <a:normAutofit/>
              </a:bodyPr>
              <a:lstStyle/>
              <a:p>
                <a:pPr marL="0" indent="0">
                  <a:buNone/>
                </a:pPr>
                <a:r>
                  <a:rPr lang="en-US" dirty="0">
                    <a:latin typeface="+mn-lt"/>
                  </a:rPr>
                  <a:t>Manhattan Norm</a:t>
                </a:r>
              </a:p>
              <a:p>
                <a:pPr marL="0"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𝑑</m:t>
                      </m:r>
                      <m:d>
                        <m:dPr>
                          <m:ctrlPr>
                            <a:rPr lang="en-US" i="1">
                              <a:latin typeface="Cambria Math" panose="02040503050406030204" pitchFamily="18" charset="0"/>
                            </a:rPr>
                          </m:ctrlPr>
                        </m:dPr>
                        <m:e>
                          <m:r>
                            <a:rPr lang="en-US" i="1">
                              <a:latin typeface="Cambria Math" panose="02040503050406030204" pitchFamily="18" charset="0"/>
                            </a:rPr>
                            <m:t>𝑥</m:t>
                          </m:r>
                          <m:r>
                            <a:rPr lang="en-US" i="1">
                              <a:latin typeface="Cambria Math" panose="02040503050406030204" pitchFamily="18" charset="0"/>
                            </a:rPr>
                            <m:t>,</m:t>
                          </m:r>
                          <m:r>
                            <a:rPr lang="en-US" i="1">
                              <a:latin typeface="Cambria Math" panose="02040503050406030204" pitchFamily="18" charset="0"/>
                            </a:rPr>
                            <m:t>𝑥</m:t>
                          </m:r>
                          <m:r>
                            <a:rPr lang="en-US" i="1">
                              <a:latin typeface="Cambria Math" panose="02040503050406030204" pitchFamily="18" charset="0"/>
                            </a:rPr>
                            <m:t>′</m:t>
                          </m:r>
                        </m:e>
                      </m:d>
                      <m:r>
                        <a:rPr lang="en-US" i="1">
                          <a:latin typeface="Cambria Math" panose="02040503050406030204" pitchFamily="18" charset="0"/>
                        </a:rPr>
                        <m:t>=</m:t>
                      </m:r>
                      <m:nary>
                        <m:naryPr>
                          <m:chr m:val="∑"/>
                          <m:ctrlPr>
                            <a:rPr lang="en-US" i="1">
                              <a:latin typeface="Cambria Math" panose="02040503050406030204" pitchFamily="18" charset="0"/>
                            </a:rPr>
                          </m:ctrlPr>
                        </m:naryPr>
                        <m:sub>
                          <m:r>
                            <a:rPr lang="en-US" i="1">
                              <a:latin typeface="Cambria Math" panose="02040503050406030204" pitchFamily="18" charset="0"/>
                            </a:rPr>
                            <m:t>𝑖</m:t>
                          </m:r>
                          <m:r>
                            <a:rPr lang="en-US" i="1">
                              <a:latin typeface="Cambria Math" panose="02040503050406030204" pitchFamily="18" charset="0"/>
                            </a:rPr>
                            <m:t>=1</m:t>
                          </m:r>
                        </m:sub>
                        <m:sup>
                          <m:r>
                            <a:rPr lang="en-US" i="1">
                              <a:latin typeface="Cambria Math" panose="02040503050406030204" pitchFamily="18" charset="0"/>
                            </a:rPr>
                            <m:t>𝑝</m:t>
                          </m:r>
                        </m:sup>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r>
                                    <a:rPr lang="en-US" i="1">
                                      <a:latin typeface="Cambria Math" panose="02040503050406030204" pitchFamily="18" charset="0"/>
                                    </a:rPr>
                                    <m:t>′</m:t>
                                  </m:r>
                                </m:e>
                                <m:sub>
                                  <m:r>
                                    <a:rPr lang="en-US" i="1">
                                      <a:latin typeface="Cambria Math" panose="02040503050406030204" pitchFamily="18" charset="0"/>
                                    </a:rPr>
                                    <m:t>𝑖</m:t>
                                  </m:r>
                                </m:sub>
                              </m:sSub>
                            </m:e>
                          </m:d>
                        </m:e>
                      </m:nary>
                    </m:oMath>
                  </m:oMathPara>
                </a14:m>
                <a:endParaRPr lang="en-US" dirty="0">
                  <a:latin typeface="+mn-lt"/>
                </a:endParaRPr>
              </a:p>
              <a:p>
                <a:endParaRPr lang="en-US"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1639303"/>
              </a:xfrm>
              <a:blipFill>
                <a:blip r:embed="rId3"/>
                <a:stretch>
                  <a:fillRect l="-1111" t="-6320"/>
                </a:stretch>
              </a:blipFill>
            </p:spPr>
            <p:txBody>
              <a:bodyPr/>
              <a:lstStyle/>
              <a:p>
                <a:r>
                  <a:rPr lang="en-US">
                    <a:noFill/>
                  </a:rPr>
                  <a:t> </a:t>
                </a:r>
              </a:p>
            </p:txBody>
          </p:sp>
        </mc:Fallback>
      </mc:AlternateContent>
      <p:cxnSp>
        <p:nvCxnSpPr>
          <p:cNvPr id="6" name="Straight Arrow Connector 5">
            <a:extLst>
              <a:ext uri="{FF2B5EF4-FFF2-40B4-BE49-F238E27FC236}">
                <a16:creationId xmlns:a16="http://schemas.microsoft.com/office/drawing/2014/main" id="{DBC2410D-2843-43D4-8696-1D08665D8734}"/>
              </a:ext>
            </a:extLst>
          </p:cNvPr>
          <p:cNvCxnSpPr/>
          <p:nvPr/>
        </p:nvCxnSpPr>
        <p:spPr>
          <a:xfrm>
            <a:off x="1563920" y="5896166"/>
            <a:ext cx="4597830"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AF210B04-140B-48C3-AB42-D61C9037800A}"/>
              </a:ext>
            </a:extLst>
          </p:cNvPr>
          <p:cNvCxnSpPr>
            <a:cxnSpLocks/>
          </p:cNvCxnSpPr>
          <p:nvPr/>
        </p:nvCxnSpPr>
        <p:spPr>
          <a:xfrm flipV="1">
            <a:off x="1563920" y="2512370"/>
            <a:ext cx="0" cy="3383796"/>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62B40F0C-6CA8-4E2B-9506-257938DB4E99}"/>
              </a:ext>
            </a:extLst>
          </p:cNvPr>
          <p:cNvSpPr txBox="1"/>
          <p:nvPr/>
        </p:nvSpPr>
        <p:spPr>
          <a:xfrm>
            <a:off x="3713018" y="5896166"/>
            <a:ext cx="503664" cy="523220"/>
          </a:xfrm>
          <a:prstGeom prst="rect">
            <a:avLst/>
          </a:prstGeom>
          <a:noFill/>
        </p:spPr>
        <p:txBody>
          <a:bodyPr wrap="none" rtlCol="0">
            <a:spAutoFit/>
          </a:bodyPr>
          <a:lstStyle/>
          <a:p>
            <a:r>
              <a:rPr lang="en-US" sz="2800" b="1" dirty="0"/>
              <a:t>X</a:t>
            </a:r>
            <a:r>
              <a:rPr lang="en-US" sz="2800" b="1" baseline="-25000" dirty="0"/>
              <a:t>1</a:t>
            </a:r>
          </a:p>
        </p:txBody>
      </p:sp>
      <p:sp>
        <p:nvSpPr>
          <p:cNvPr id="11" name="TextBox 10">
            <a:extLst>
              <a:ext uri="{FF2B5EF4-FFF2-40B4-BE49-F238E27FC236}">
                <a16:creationId xmlns:a16="http://schemas.microsoft.com/office/drawing/2014/main" id="{9793A1DA-70A2-4EC3-9CAF-5C65A92AE62B}"/>
              </a:ext>
            </a:extLst>
          </p:cNvPr>
          <p:cNvSpPr txBox="1"/>
          <p:nvPr/>
        </p:nvSpPr>
        <p:spPr>
          <a:xfrm>
            <a:off x="1044374" y="3887257"/>
            <a:ext cx="503664" cy="523220"/>
          </a:xfrm>
          <a:prstGeom prst="rect">
            <a:avLst/>
          </a:prstGeom>
          <a:noFill/>
        </p:spPr>
        <p:txBody>
          <a:bodyPr wrap="none" rtlCol="0">
            <a:spAutoFit/>
          </a:bodyPr>
          <a:lstStyle/>
          <a:p>
            <a:r>
              <a:rPr lang="en-US" sz="2800" b="1" dirty="0"/>
              <a:t>X</a:t>
            </a:r>
            <a:r>
              <a:rPr lang="en-US" sz="2800" b="1" baseline="-25000" dirty="0"/>
              <a:t>2</a:t>
            </a:r>
          </a:p>
        </p:txBody>
      </p:sp>
      <p:sp>
        <p:nvSpPr>
          <p:cNvPr id="12" name="Cross 11">
            <a:extLst>
              <a:ext uri="{FF2B5EF4-FFF2-40B4-BE49-F238E27FC236}">
                <a16:creationId xmlns:a16="http://schemas.microsoft.com/office/drawing/2014/main" id="{B23426B5-5480-4DE4-9184-9876C2CB2517}"/>
              </a:ext>
            </a:extLst>
          </p:cNvPr>
          <p:cNvSpPr/>
          <p:nvPr/>
        </p:nvSpPr>
        <p:spPr>
          <a:xfrm>
            <a:off x="5122720" y="3324562"/>
            <a:ext cx="200890" cy="208875"/>
          </a:xfrm>
          <a:prstGeom prst="plus">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Cross 12">
            <a:extLst>
              <a:ext uri="{FF2B5EF4-FFF2-40B4-BE49-F238E27FC236}">
                <a16:creationId xmlns:a16="http://schemas.microsoft.com/office/drawing/2014/main" id="{CD8CD439-2CC4-4431-AB63-0F32315F3BC5}"/>
              </a:ext>
            </a:extLst>
          </p:cNvPr>
          <p:cNvSpPr/>
          <p:nvPr/>
        </p:nvSpPr>
        <p:spPr>
          <a:xfrm>
            <a:off x="3304868" y="5164072"/>
            <a:ext cx="200890" cy="208875"/>
          </a:xfrm>
          <a:prstGeom prst="plus">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20D27AE9-6F7D-46F4-B0C2-70E2F3CD488A}"/>
              </a:ext>
            </a:extLst>
          </p:cNvPr>
          <p:cNvSpPr txBox="1"/>
          <p:nvPr/>
        </p:nvSpPr>
        <p:spPr>
          <a:xfrm>
            <a:off x="3017709" y="5345466"/>
            <a:ext cx="845126" cy="461665"/>
          </a:xfrm>
          <a:prstGeom prst="rect">
            <a:avLst/>
          </a:prstGeom>
          <a:noFill/>
        </p:spPr>
        <p:txBody>
          <a:bodyPr wrap="square" rtlCol="0">
            <a:spAutoFit/>
          </a:bodyPr>
          <a:lstStyle/>
          <a:p>
            <a:r>
              <a:rPr lang="en-US" sz="2400" dirty="0"/>
              <a:t>(2,1)</a:t>
            </a:r>
          </a:p>
        </p:txBody>
      </p:sp>
      <p:sp>
        <p:nvSpPr>
          <p:cNvPr id="15" name="TextBox 14">
            <a:extLst>
              <a:ext uri="{FF2B5EF4-FFF2-40B4-BE49-F238E27FC236}">
                <a16:creationId xmlns:a16="http://schemas.microsoft.com/office/drawing/2014/main" id="{65800F31-6C70-4F71-B1DD-342BB67BF461}"/>
              </a:ext>
            </a:extLst>
          </p:cNvPr>
          <p:cNvSpPr txBox="1"/>
          <p:nvPr/>
        </p:nvSpPr>
        <p:spPr>
          <a:xfrm>
            <a:off x="5337699" y="3157229"/>
            <a:ext cx="845126" cy="461665"/>
          </a:xfrm>
          <a:prstGeom prst="rect">
            <a:avLst/>
          </a:prstGeom>
          <a:noFill/>
        </p:spPr>
        <p:txBody>
          <a:bodyPr wrap="square" rtlCol="0">
            <a:spAutoFit/>
          </a:bodyPr>
          <a:lstStyle/>
          <a:p>
            <a:r>
              <a:rPr lang="en-US" sz="2400" dirty="0"/>
              <a:t>(4,3)</a:t>
            </a:r>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65FEAA3B-26B3-4998-B64A-7CACD68892A0}"/>
                  </a:ext>
                </a:extLst>
              </p:cNvPr>
              <p:cNvSpPr txBox="1"/>
              <p:nvPr/>
            </p:nvSpPr>
            <p:spPr>
              <a:xfrm>
                <a:off x="6416298" y="2752880"/>
                <a:ext cx="5584552" cy="2308324"/>
              </a:xfrm>
              <a:prstGeom prst="rect">
                <a:avLst/>
              </a:prstGeom>
              <a:noFill/>
            </p:spPr>
            <p:txBody>
              <a:bodyPr wrap="square" rtlCol="0">
                <a:spAutoFit/>
              </a:bodyPr>
              <a:lstStyle/>
              <a:p>
                <a:pPr marL="285750" indent="-285750">
                  <a:buFont typeface="Arial" panose="020B0604020202020204" pitchFamily="34" charset="0"/>
                  <a:buChar char="•"/>
                </a:pPr>
                <a:r>
                  <a:rPr lang="en-US" sz="2400" dirty="0"/>
                  <a:t>Points at (2,1) and (4,3)</a:t>
                </a:r>
              </a:p>
              <a:p>
                <a:pPr marL="285750" indent="-285750">
                  <a:buFont typeface="Arial" panose="020B0604020202020204" pitchFamily="34" charset="0"/>
                  <a:buChar char="•"/>
                </a:pPr>
                <a:r>
                  <a:rPr lang="en-US" sz="2400" dirty="0"/>
                  <a:t>What is the distance between them? </a:t>
                </a:r>
              </a:p>
              <a:p>
                <a:pPr marL="285750" indent="-285750">
                  <a:buFont typeface="Arial" panose="020B0604020202020204" pitchFamily="34" charset="0"/>
                  <a:buChar char="•"/>
                </a:pPr>
                <a:r>
                  <a:rPr lang="en-US" sz="2400" dirty="0"/>
                  <a:t>Manhattan Norm</a:t>
                </a:r>
              </a:p>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𝑑</m:t>
                          </m:r>
                        </m:e>
                        <m:sub>
                          <m:r>
                            <a:rPr lang="en-US" sz="2400" b="0" i="1" smtClean="0">
                              <a:latin typeface="Cambria Math" panose="02040503050406030204" pitchFamily="18" charset="0"/>
                            </a:rPr>
                            <m:t>𝑀</m:t>
                          </m:r>
                        </m:sub>
                      </m:sSub>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𝑥</m:t>
                          </m:r>
                          <m:r>
                            <a:rPr lang="en-US" sz="2400" b="0" i="1" smtClean="0">
                              <a:latin typeface="Cambria Math" panose="02040503050406030204" pitchFamily="18" charset="0"/>
                            </a:rPr>
                            <m:t>,</m:t>
                          </m:r>
                          <m:r>
                            <a:rPr lang="en-US" sz="2400" b="0" i="1" smtClean="0">
                              <a:latin typeface="Cambria Math" panose="02040503050406030204" pitchFamily="18" charset="0"/>
                            </a:rPr>
                            <m:t>𝑥</m:t>
                          </m:r>
                          <m:r>
                            <a:rPr lang="en-US" sz="2400" b="0" i="1" smtClean="0">
                              <a:latin typeface="Cambria Math" panose="02040503050406030204" pitchFamily="18" charset="0"/>
                            </a:rPr>
                            <m:t>′</m:t>
                          </m:r>
                        </m:e>
                      </m:d>
                      <m:r>
                        <a:rPr lang="en-US" sz="2400" b="0" i="1" smtClean="0">
                          <a:latin typeface="Cambria Math" panose="02040503050406030204" pitchFamily="18" charset="0"/>
                        </a:rPr>
                        <m:t>= </m:t>
                      </m:r>
                      <m:d>
                        <m:dPr>
                          <m:begChr m:val="{"/>
                          <m:endChr m:val="}"/>
                          <m:ctrlPr>
                            <a:rPr lang="en-US" sz="2400" b="0" i="1" smtClean="0">
                              <a:latin typeface="Cambria Math" panose="02040503050406030204" pitchFamily="18" charset="0"/>
                            </a:rPr>
                          </m:ctrlPr>
                        </m:dPr>
                        <m:e>
                          <m:d>
                            <m:dPr>
                              <m:begChr m:val="|"/>
                              <m:endChr m:val="|"/>
                              <m:ctrlPr>
                                <a:rPr lang="en-US" sz="2400" b="0" i="1" smtClean="0">
                                  <a:latin typeface="Cambria Math" panose="02040503050406030204" pitchFamily="18" charset="0"/>
                                </a:rPr>
                              </m:ctrlPr>
                            </m:dPr>
                            <m:e>
                              <m:r>
                                <a:rPr lang="en-US" sz="2400" b="0" i="1" smtClean="0">
                                  <a:latin typeface="Cambria Math" panose="02040503050406030204" pitchFamily="18" charset="0"/>
                                </a:rPr>
                                <m:t>2−4</m:t>
                              </m:r>
                            </m:e>
                          </m:d>
                          <m:r>
                            <a:rPr lang="en-US" sz="2400" b="0" i="1" smtClean="0">
                              <a:latin typeface="Cambria Math" panose="02040503050406030204" pitchFamily="18" charset="0"/>
                            </a:rPr>
                            <m:t>+</m:t>
                          </m:r>
                          <m:d>
                            <m:dPr>
                              <m:begChr m:val="|"/>
                              <m:endChr m:val="|"/>
                              <m:ctrlPr>
                                <a:rPr lang="en-US" sz="2400" b="0" i="1" smtClean="0">
                                  <a:latin typeface="Cambria Math" panose="02040503050406030204" pitchFamily="18" charset="0"/>
                                </a:rPr>
                              </m:ctrlPr>
                            </m:dPr>
                            <m:e>
                              <m:r>
                                <a:rPr lang="en-US" sz="2400" b="0" i="1" smtClean="0">
                                  <a:latin typeface="Cambria Math" panose="02040503050406030204" pitchFamily="18" charset="0"/>
                                </a:rPr>
                                <m:t>1−3</m:t>
                              </m:r>
                            </m:e>
                          </m:d>
                        </m:e>
                      </m:d>
                      <m:r>
                        <a:rPr lang="en-US" sz="2400" b="0" i="1" smtClean="0">
                          <a:latin typeface="Cambria Math" panose="02040503050406030204" pitchFamily="18" charset="0"/>
                        </a:rPr>
                        <m:t>=4</m:t>
                      </m:r>
                    </m:oMath>
                  </m:oMathPara>
                </a14:m>
                <a:endParaRPr lang="en-US" sz="2400" dirty="0"/>
              </a:p>
              <a:p>
                <a:pPr marL="342900" indent="-342900">
                  <a:buFont typeface="Arial" panose="020B0604020202020204" pitchFamily="34" charset="0"/>
                  <a:buChar char="•"/>
                </a:pPr>
                <a:r>
                  <a:rPr lang="en-US" sz="2400" dirty="0"/>
                  <a:t>Manhattan distance is distance traveled on a grid</a:t>
                </a:r>
              </a:p>
            </p:txBody>
          </p:sp>
        </mc:Choice>
        <mc:Fallback xmlns="">
          <p:sp>
            <p:nvSpPr>
              <p:cNvPr id="17" name="TextBox 16">
                <a:extLst>
                  <a:ext uri="{FF2B5EF4-FFF2-40B4-BE49-F238E27FC236}">
                    <a16:creationId xmlns:a16="http://schemas.microsoft.com/office/drawing/2014/main" id="{65FEAA3B-26B3-4998-B64A-7CACD68892A0}"/>
                  </a:ext>
                </a:extLst>
              </p:cNvPr>
              <p:cNvSpPr txBox="1">
                <a:spLocks noRot="1" noChangeAspect="1" noMove="1" noResize="1" noEditPoints="1" noAdjustHandles="1" noChangeArrowheads="1" noChangeShapeType="1" noTextEdit="1"/>
              </p:cNvSpPr>
              <p:nvPr/>
            </p:nvSpPr>
            <p:spPr>
              <a:xfrm>
                <a:off x="6416298" y="2752880"/>
                <a:ext cx="5584552" cy="2308324"/>
              </a:xfrm>
              <a:prstGeom prst="rect">
                <a:avLst/>
              </a:prstGeom>
              <a:blipFill>
                <a:blip r:embed="rId4"/>
                <a:stretch>
                  <a:fillRect l="-1528" t="-2116" r="-109" b="-5291"/>
                </a:stretch>
              </a:blipFill>
            </p:spPr>
            <p:txBody>
              <a:bodyPr/>
              <a:lstStyle/>
              <a:p>
                <a:r>
                  <a:rPr lang="en-US">
                    <a:noFill/>
                  </a:rPr>
                  <a:t> </a:t>
                </a:r>
              </a:p>
            </p:txBody>
          </p:sp>
        </mc:Fallback>
      </mc:AlternateContent>
      <p:cxnSp>
        <p:nvCxnSpPr>
          <p:cNvPr id="18" name="Straight Arrow Connector 17">
            <a:extLst>
              <a:ext uri="{FF2B5EF4-FFF2-40B4-BE49-F238E27FC236}">
                <a16:creationId xmlns:a16="http://schemas.microsoft.com/office/drawing/2014/main" id="{22C19033-E180-48CB-8A3F-5E01D0B45E8B}"/>
              </a:ext>
            </a:extLst>
          </p:cNvPr>
          <p:cNvCxnSpPr>
            <a:cxnSpLocks/>
            <a:stCxn id="13" idx="3"/>
          </p:cNvCxnSpPr>
          <p:nvPr/>
        </p:nvCxnSpPr>
        <p:spPr>
          <a:xfrm>
            <a:off x="3505758" y="5268510"/>
            <a:ext cx="1691340" cy="0"/>
          </a:xfrm>
          <a:prstGeom prst="straightConnector1">
            <a:avLst/>
          </a:prstGeom>
          <a:ln w="444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5C4470BD-1B84-4863-B51E-E05B61323441}"/>
              </a:ext>
            </a:extLst>
          </p:cNvPr>
          <p:cNvCxnSpPr>
            <a:cxnSpLocks/>
            <a:endCxn id="12" idx="2"/>
          </p:cNvCxnSpPr>
          <p:nvPr/>
        </p:nvCxnSpPr>
        <p:spPr>
          <a:xfrm flipV="1">
            <a:off x="5197098" y="3533437"/>
            <a:ext cx="26067" cy="1735073"/>
          </a:xfrm>
          <a:prstGeom prst="straightConnector1">
            <a:avLst/>
          </a:prstGeom>
          <a:ln w="444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860435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7">
                                            <p:txEl>
                                              <p:pRg st="0" end="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xEl>
                                              <p:pRg st="1" end="1"/>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8"/>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7">
                                            <p:txEl>
                                              <p:pRg st="2" end="2"/>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7">
                                            <p:txEl>
                                              <p:pRg st="3" end="3"/>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1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12" grpId="0" animBg="1"/>
      <p:bldP spid="13" grpId="0" animBg="1"/>
      <p:bldP spid="14" grpId="0"/>
      <p:bldP spid="15"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D1D9FF-E41C-E876-3C19-0764AE05109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5FDD4C-C176-D7CD-2E76-2AEA555C7620}"/>
              </a:ext>
            </a:extLst>
          </p:cNvPr>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D412EDD-2044-629B-DB79-22304786837F}"/>
                  </a:ext>
                </a:extLst>
              </p:cNvPr>
              <p:cNvSpPr>
                <a:spLocks noGrp="1"/>
              </p:cNvSpPr>
              <p:nvPr>
                <p:ph sz="quarter" idx="10"/>
              </p:nvPr>
            </p:nvSpPr>
            <p:spPr>
              <a:xfrm>
                <a:off x="333375" y="896079"/>
                <a:ext cx="11525250" cy="1639303"/>
              </a:xfrm>
            </p:spPr>
            <p:txBody>
              <a:bodyPr>
                <a:normAutofit/>
              </a:bodyPr>
              <a:lstStyle/>
              <a:p>
                <a:pPr marL="0" indent="0">
                  <a:buNone/>
                </a:pP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𝐿</m:t>
                        </m:r>
                      </m:e>
                      <m:sub>
                        <m:r>
                          <a:rPr lang="en-US" i="1">
                            <a:latin typeface="Cambria Math" panose="02040503050406030204" pitchFamily="18" charset="0"/>
                            <a:ea typeface="Cambria Math" panose="02040503050406030204" pitchFamily="18" charset="0"/>
                          </a:rPr>
                          <m:t>∞</m:t>
                        </m:r>
                      </m:sub>
                    </m:sSub>
                  </m:oMath>
                </a14:m>
                <a:r>
                  <a:rPr lang="en-US" dirty="0">
                    <a:latin typeface="+mn-lt"/>
                  </a:rPr>
                  <a:t> Norm</a:t>
                </a:r>
              </a:p>
              <a:p>
                <a:pPr marL="0"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𝑑</m:t>
                      </m:r>
                      <m:d>
                        <m:dPr>
                          <m:ctrlPr>
                            <a:rPr lang="en-US" i="1">
                              <a:latin typeface="Cambria Math" panose="02040503050406030204" pitchFamily="18" charset="0"/>
                            </a:rPr>
                          </m:ctrlPr>
                        </m:dPr>
                        <m:e>
                          <m:r>
                            <a:rPr lang="en-US" i="1">
                              <a:latin typeface="Cambria Math" panose="02040503050406030204" pitchFamily="18" charset="0"/>
                            </a:rPr>
                            <m:t>𝑥</m:t>
                          </m:r>
                          <m:r>
                            <a:rPr lang="en-US" i="1">
                              <a:latin typeface="Cambria Math" panose="02040503050406030204" pitchFamily="18" charset="0"/>
                            </a:rPr>
                            <m:t>,</m:t>
                          </m:r>
                          <m:r>
                            <a:rPr lang="en-US" i="1">
                              <a:latin typeface="Cambria Math" panose="02040503050406030204" pitchFamily="18" charset="0"/>
                            </a:rPr>
                            <m:t>𝑥</m:t>
                          </m:r>
                          <m:r>
                            <a:rPr lang="en-US" i="1">
                              <a:latin typeface="Cambria Math" panose="02040503050406030204" pitchFamily="18" charset="0"/>
                            </a:rPr>
                            <m:t>′</m:t>
                          </m:r>
                        </m:e>
                      </m:d>
                      <m:r>
                        <a:rPr lang="en-US" i="1">
                          <a:latin typeface="Cambria Math" panose="02040503050406030204" pitchFamily="18" charset="0"/>
                        </a:rPr>
                        <m:t>=</m:t>
                      </m:r>
                      <m:func>
                        <m:funcPr>
                          <m:ctrlPr>
                            <a:rPr lang="en-US" i="1" smtClean="0">
                              <a:latin typeface="Cambria Math" panose="02040503050406030204" pitchFamily="18" charset="0"/>
                            </a:rPr>
                          </m:ctrlPr>
                        </m:funcPr>
                        <m:fName>
                          <m:sSub>
                            <m:sSubPr>
                              <m:ctrlPr>
                                <a:rPr lang="en-US" i="1" smtClean="0">
                                  <a:latin typeface="Cambria Math" panose="02040503050406030204" pitchFamily="18" charset="0"/>
                                </a:rPr>
                              </m:ctrlPr>
                            </m:sSubPr>
                            <m:e>
                              <m:r>
                                <a:rPr lang="en-US" b="0" i="1" smtClean="0">
                                  <a:latin typeface="Cambria Math" panose="02040503050406030204" pitchFamily="18" charset="0"/>
                                </a:rPr>
                                <m:t>𝑚𝑎𝑥</m:t>
                              </m:r>
                            </m:e>
                            <m:sub>
                              <m:r>
                                <a:rPr lang="en-US" b="0" i="1" smtClean="0">
                                  <a:latin typeface="Cambria Math" panose="02040503050406030204" pitchFamily="18" charset="0"/>
                                </a:rPr>
                                <m:t>𝑖</m:t>
                              </m:r>
                            </m:sub>
                          </m:sSub>
                        </m:fName>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r>
                                    <a:rPr lang="en-US" i="1">
                                      <a:latin typeface="Cambria Math" panose="02040503050406030204" pitchFamily="18" charset="0"/>
                                    </a:rPr>
                                    <m:t>′</m:t>
                                  </m:r>
                                </m:e>
                                <m:sub>
                                  <m:r>
                                    <a:rPr lang="en-US" i="1">
                                      <a:latin typeface="Cambria Math" panose="02040503050406030204" pitchFamily="18" charset="0"/>
                                    </a:rPr>
                                    <m:t>𝑖</m:t>
                                  </m:r>
                                </m:sub>
                              </m:sSub>
                            </m:e>
                          </m:d>
                        </m:e>
                      </m:func>
                    </m:oMath>
                  </m:oMathPara>
                </a14:m>
                <a:endParaRPr lang="en-US" dirty="0">
                  <a:latin typeface="+mn-lt"/>
                </a:endParaRPr>
              </a:p>
              <a:p>
                <a:endParaRPr lang="en-US" dirty="0">
                  <a:latin typeface="+mn-lt"/>
                </a:endParaRPr>
              </a:p>
            </p:txBody>
          </p:sp>
        </mc:Choice>
        <mc:Fallback xmlns="">
          <p:sp>
            <p:nvSpPr>
              <p:cNvPr id="3" name="Content Placeholder 2">
                <a:extLst>
                  <a:ext uri="{FF2B5EF4-FFF2-40B4-BE49-F238E27FC236}">
                    <a16:creationId xmlns:a16="http://schemas.microsoft.com/office/drawing/2014/main" id="{5D412EDD-2044-629B-DB79-22304786837F}"/>
                  </a:ext>
                </a:extLst>
              </p:cNvPr>
              <p:cNvSpPr>
                <a:spLocks noGrp="1" noRot="1" noChangeAspect="1" noMove="1" noResize="1" noEditPoints="1" noAdjustHandles="1" noChangeArrowheads="1" noChangeShapeType="1" noTextEdit="1"/>
              </p:cNvSpPr>
              <p:nvPr>
                <p:ph sz="quarter" idx="10"/>
              </p:nvPr>
            </p:nvSpPr>
            <p:spPr>
              <a:xfrm>
                <a:off x="333375" y="896079"/>
                <a:ext cx="11525250" cy="1639303"/>
              </a:xfrm>
              <a:blipFill>
                <a:blip r:embed="rId3"/>
                <a:stretch>
                  <a:fillRect t="-6320"/>
                </a:stretch>
              </a:blipFill>
            </p:spPr>
            <p:txBody>
              <a:bodyPr/>
              <a:lstStyle/>
              <a:p>
                <a:r>
                  <a:rPr lang="en-US">
                    <a:noFill/>
                  </a:rPr>
                  <a:t> </a:t>
                </a:r>
              </a:p>
            </p:txBody>
          </p:sp>
        </mc:Fallback>
      </mc:AlternateContent>
      <p:cxnSp>
        <p:nvCxnSpPr>
          <p:cNvPr id="6" name="Straight Arrow Connector 5">
            <a:extLst>
              <a:ext uri="{FF2B5EF4-FFF2-40B4-BE49-F238E27FC236}">
                <a16:creationId xmlns:a16="http://schemas.microsoft.com/office/drawing/2014/main" id="{B8339C03-A116-9DB5-E137-9FFB4D245DA3}"/>
              </a:ext>
            </a:extLst>
          </p:cNvPr>
          <p:cNvCxnSpPr/>
          <p:nvPr/>
        </p:nvCxnSpPr>
        <p:spPr>
          <a:xfrm>
            <a:off x="1563920" y="5896166"/>
            <a:ext cx="4597830"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5E2F073A-5749-91B1-9B14-4D5AB7B7610A}"/>
              </a:ext>
            </a:extLst>
          </p:cNvPr>
          <p:cNvCxnSpPr>
            <a:cxnSpLocks/>
          </p:cNvCxnSpPr>
          <p:nvPr/>
        </p:nvCxnSpPr>
        <p:spPr>
          <a:xfrm flipV="1">
            <a:off x="1563920" y="2512370"/>
            <a:ext cx="0" cy="3383796"/>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E95F523-4F3A-9F8B-88E3-5B5DBB4FFEB3}"/>
              </a:ext>
            </a:extLst>
          </p:cNvPr>
          <p:cNvSpPr txBox="1"/>
          <p:nvPr/>
        </p:nvSpPr>
        <p:spPr>
          <a:xfrm>
            <a:off x="3713018" y="5896166"/>
            <a:ext cx="503664" cy="523220"/>
          </a:xfrm>
          <a:prstGeom prst="rect">
            <a:avLst/>
          </a:prstGeom>
          <a:noFill/>
        </p:spPr>
        <p:txBody>
          <a:bodyPr wrap="none" rtlCol="0">
            <a:spAutoFit/>
          </a:bodyPr>
          <a:lstStyle/>
          <a:p>
            <a:r>
              <a:rPr lang="en-US" sz="2800" b="1" dirty="0"/>
              <a:t>X</a:t>
            </a:r>
            <a:r>
              <a:rPr lang="en-US" sz="2800" b="1" baseline="-25000" dirty="0"/>
              <a:t>1</a:t>
            </a:r>
          </a:p>
        </p:txBody>
      </p:sp>
      <p:sp>
        <p:nvSpPr>
          <p:cNvPr id="11" name="TextBox 10">
            <a:extLst>
              <a:ext uri="{FF2B5EF4-FFF2-40B4-BE49-F238E27FC236}">
                <a16:creationId xmlns:a16="http://schemas.microsoft.com/office/drawing/2014/main" id="{2428E4AA-5DFE-DF14-8E4C-E84B9274BF2E}"/>
              </a:ext>
            </a:extLst>
          </p:cNvPr>
          <p:cNvSpPr txBox="1"/>
          <p:nvPr/>
        </p:nvSpPr>
        <p:spPr>
          <a:xfrm>
            <a:off x="1044374" y="3887257"/>
            <a:ext cx="503664" cy="523220"/>
          </a:xfrm>
          <a:prstGeom prst="rect">
            <a:avLst/>
          </a:prstGeom>
          <a:noFill/>
        </p:spPr>
        <p:txBody>
          <a:bodyPr wrap="none" rtlCol="0">
            <a:spAutoFit/>
          </a:bodyPr>
          <a:lstStyle/>
          <a:p>
            <a:r>
              <a:rPr lang="en-US" sz="2800" b="1" dirty="0"/>
              <a:t>X</a:t>
            </a:r>
            <a:r>
              <a:rPr lang="en-US" sz="2800" b="1" baseline="-25000" dirty="0"/>
              <a:t>2</a:t>
            </a:r>
          </a:p>
        </p:txBody>
      </p:sp>
      <p:sp>
        <p:nvSpPr>
          <p:cNvPr id="12" name="Cross 11">
            <a:extLst>
              <a:ext uri="{FF2B5EF4-FFF2-40B4-BE49-F238E27FC236}">
                <a16:creationId xmlns:a16="http://schemas.microsoft.com/office/drawing/2014/main" id="{727E22DA-4180-C382-0150-1D93647F5866}"/>
              </a:ext>
            </a:extLst>
          </p:cNvPr>
          <p:cNvSpPr/>
          <p:nvPr/>
        </p:nvSpPr>
        <p:spPr>
          <a:xfrm>
            <a:off x="5122720" y="3324562"/>
            <a:ext cx="200890" cy="208875"/>
          </a:xfrm>
          <a:prstGeom prst="plus">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Cross 12">
            <a:extLst>
              <a:ext uri="{FF2B5EF4-FFF2-40B4-BE49-F238E27FC236}">
                <a16:creationId xmlns:a16="http://schemas.microsoft.com/office/drawing/2014/main" id="{54B5728A-87F6-16C5-0D2F-95B70FC2BB9B}"/>
              </a:ext>
            </a:extLst>
          </p:cNvPr>
          <p:cNvSpPr/>
          <p:nvPr/>
        </p:nvSpPr>
        <p:spPr>
          <a:xfrm>
            <a:off x="3304868" y="5164072"/>
            <a:ext cx="200890" cy="208875"/>
          </a:xfrm>
          <a:prstGeom prst="plus">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4E0600A1-2D63-4A1F-746F-562EDE0C7B08}"/>
              </a:ext>
            </a:extLst>
          </p:cNvPr>
          <p:cNvSpPr txBox="1"/>
          <p:nvPr/>
        </p:nvSpPr>
        <p:spPr>
          <a:xfrm>
            <a:off x="3017709" y="5345466"/>
            <a:ext cx="845126" cy="461665"/>
          </a:xfrm>
          <a:prstGeom prst="rect">
            <a:avLst/>
          </a:prstGeom>
          <a:noFill/>
        </p:spPr>
        <p:txBody>
          <a:bodyPr wrap="square" rtlCol="0">
            <a:spAutoFit/>
          </a:bodyPr>
          <a:lstStyle/>
          <a:p>
            <a:r>
              <a:rPr lang="en-US" sz="2400" dirty="0"/>
              <a:t>(2,1)</a:t>
            </a:r>
          </a:p>
        </p:txBody>
      </p:sp>
      <p:sp>
        <p:nvSpPr>
          <p:cNvPr id="15" name="TextBox 14">
            <a:extLst>
              <a:ext uri="{FF2B5EF4-FFF2-40B4-BE49-F238E27FC236}">
                <a16:creationId xmlns:a16="http://schemas.microsoft.com/office/drawing/2014/main" id="{AE42490E-41D4-87A4-914C-A521FFF7EF03}"/>
              </a:ext>
            </a:extLst>
          </p:cNvPr>
          <p:cNvSpPr txBox="1"/>
          <p:nvPr/>
        </p:nvSpPr>
        <p:spPr>
          <a:xfrm>
            <a:off x="5337699" y="3157229"/>
            <a:ext cx="845126" cy="461665"/>
          </a:xfrm>
          <a:prstGeom prst="rect">
            <a:avLst/>
          </a:prstGeom>
          <a:noFill/>
        </p:spPr>
        <p:txBody>
          <a:bodyPr wrap="square" rtlCol="0">
            <a:spAutoFit/>
          </a:bodyPr>
          <a:lstStyle/>
          <a:p>
            <a:r>
              <a:rPr lang="en-US" sz="2400" dirty="0"/>
              <a:t>(4,3)</a:t>
            </a:r>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CD6FA2A4-CFCD-5C9F-F4CA-37EAF5892DF8}"/>
                  </a:ext>
                </a:extLst>
              </p:cNvPr>
              <p:cNvSpPr txBox="1"/>
              <p:nvPr/>
            </p:nvSpPr>
            <p:spPr>
              <a:xfrm>
                <a:off x="6416298" y="2752880"/>
                <a:ext cx="5584552" cy="1938992"/>
              </a:xfrm>
              <a:prstGeom prst="rect">
                <a:avLst/>
              </a:prstGeom>
              <a:noFill/>
            </p:spPr>
            <p:txBody>
              <a:bodyPr wrap="square" rtlCol="0">
                <a:spAutoFit/>
              </a:bodyPr>
              <a:lstStyle/>
              <a:p>
                <a:pPr marL="285750" indent="-285750">
                  <a:buFont typeface="Arial" panose="020B0604020202020204" pitchFamily="34" charset="0"/>
                  <a:buChar char="•"/>
                </a:pPr>
                <a:r>
                  <a:rPr lang="en-US" sz="2400" dirty="0"/>
                  <a:t>Points at (2,1) and (4,3)</a:t>
                </a:r>
              </a:p>
              <a:p>
                <a:pPr marL="285750" indent="-285750">
                  <a:buFont typeface="Arial" panose="020B0604020202020204" pitchFamily="34" charset="0"/>
                  <a:buChar char="•"/>
                </a:pPr>
                <a:r>
                  <a:rPr lang="en-US" sz="2400" dirty="0"/>
                  <a:t>What is the maximum distance along any axis? </a:t>
                </a:r>
              </a:p>
              <a:p>
                <a:pPr marL="285750" indent="-285750">
                  <a:buFont typeface="Arial" panose="020B0604020202020204" pitchFamily="34" charset="0"/>
                  <a:buChar char="•"/>
                </a:pPr>
                <a14:m>
                  <m:oMath xmlns:m="http://schemas.openxmlformats.org/officeDocument/2006/math">
                    <m:sSub>
                      <m:sSubPr>
                        <m:ctrlPr>
                          <a:rPr lang="en-US" sz="2400" i="1" smtClean="0">
                            <a:latin typeface="Cambria Math" panose="02040503050406030204" pitchFamily="18" charset="0"/>
                          </a:rPr>
                        </m:ctrlPr>
                      </m:sSubPr>
                      <m:e>
                        <m:r>
                          <a:rPr lang="en-US" sz="2400" b="0" i="1" smtClean="0">
                            <a:latin typeface="Cambria Math" panose="02040503050406030204" pitchFamily="18" charset="0"/>
                          </a:rPr>
                          <m:t>𝐿</m:t>
                        </m:r>
                      </m:e>
                      <m:sub>
                        <m:r>
                          <a:rPr lang="en-US" sz="2400" i="1" smtClean="0">
                            <a:latin typeface="Cambria Math" panose="02040503050406030204" pitchFamily="18" charset="0"/>
                            <a:ea typeface="Cambria Math" panose="02040503050406030204" pitchFamily="18" charset="0"/>
                          </a:rPr>
                          <m:t>∞</m:t>
                        </m:r>
                      </m:sub>
                    </m:sSub>
                  </m:oMath>
                </a14:m>
                <a:r>
                  <a:rPr lang="en-US" sz="2400" dirty="0"/>
                  <a:t> Norm</a:t>
                </a:r>
              </a:p>
              <a:p>
                <a:pPr/>
                <a14:m>
                  <m:oMathPara xmlns:m="http://schemas.openxmlformats.org/officeDocument/2006/math">
                    <m:oMathParaPr>
                      <m:jc m:val="centerGroup"/>
                    </m:oMathParaPr>
                    <m:oMath xmlns:m="http://schemas.openxmlformats.org/officeDocument/2006/math">
                      <m:sSub>
                        <m:sSubPr>
                          <m:ctrlPr>
                            <a:rPr lang="en-US" sz="2400" i="1">
                              <a:latin typeface="Cambria Math" panose="02040503050406030204" pitchFamily="18" charset="0"/>
                            </a:rPr>
                          </m:ctrlPr>
                        </m:sSubPr>
                        <m:e>
                          <m:r>
                            <a:rPr lang="en-US" sz="2400" i="1">
                              <a:latin typeface="Cambria Math" panose="02040503050406030204" pitchFamily="18" charset="0"/>
                            </a:rPr>
                            <m:t>𝑚𝑎𝑥</m:t>
                          </m:r>
                        </m:e>
                        <m:sub>
                          <m:r>
                            <a:rPr lang="en-US" sz="2400" i="1">
                              <a:latin typeface="Cambria Math" panose="02040503050406030204" pitchFamily="18" charset="0"/>
                            </a:rPr>
                            <m:t>𝑖</m:t>
                          </m:r>
                        </m:sub>
                      </m:sSub>
                      <m:d>
                        <m:dPr>
                          <m:begChr m:val="{"/>
                          <m:endChr m:val="}"/>
                          <m:ctrlPr>
                            <a:rPr lang="en-US" sz="2400" b="0" i="1" smtClean="0">
                              <a:latin typeface="Cambria Math" panose="02040503050406030204" pitchFamily="18" charset="0"/>
                            </a:rPr>
                          </m:ctrlPr>
                        </m:dPr>
                        <m:e>
                          <m:d>
                            <m:dPr>
                              <m:begChr m:val="|"/>
                              <m:endChr m:val="|"/>
                              <m:ctrlPr>
                                <a:rPr lang="en-US" sz="2400" b="0" i="1" smtClean="0">
                                  <a:latin typeface="Cambria Math" panose="02040503050406030204" pitchFamily="18" charset="0"/>
                                </a:rPr>
                              </m:ctrlPr>
                            </m:dPr>
                            <m:e>
                              <m:r>
                                <a:rPr lang="en-US" sz="2400" b="0" i="1" smtClean="0">
                                  <a:latin typeface="Cambria Math" panose="02040503050406030204" pitchFamily="18" charset="0"/>
                                </a:rPr>
                                <m:t>2−4</m:t>
                              </m:r>
                            </m:e>
                          </m:d>
                          <m:r>
                            <a:rPr lang="en-US" sz="2400" b="0" i="1" smtClean="0">
                              <a:latin typeface="Cambria Math" panose="02040503050406030204" pitchFamily="18" charset="0"/>
                            </a:rPr>
                            <m:t>,</m:t>
                          </m:r>
                          <m:d>
                            <m:dPr>
                              <m:begChr m:val="|"/>
                              <m:endChr m:val="|"/>
                              <m:ctrlPr>
                                <a:rPr lang="en-US" sz="2400" b="0" i="1" smtClean="0">
                                  <a:latin typeface="Cambria Math" panose="02040503050406030204" pitchFamily="18" charset="0"/>
                                </a:rPr>
                              </m:ctrlPr>
                            </m:dPr>
                            <m:e>
                              <m:r>
                                <a:rPr lang="en-US" sz="2400" b="0" i="1" smtClean="0">
                                  <a:latin typeface="Cambria Math" panose="02040503050406030204" pitchFamily="18" charset="0"/>
                                </a:rPr>
                                <m:t>1−3</m:t>
                              </m:r>
                            </m:e>
                          </m:d>
                        </m:e>
                      </m:d>
                      <m:r>
                        <a:rPr lang="en-US" sz="2400" b="0" i="1" smtClean="0">
                          <a:latin typeface="Cambria Math" panose="02040503050406030204" pitchFamily="18" charset="0"/>
                        </a:rPr>
                        <m:t>=2</m:t>
                      </m:r>
                    </m:oMath>
                  </m:oMathPara>
                </a14:m>
                <a:endParaRPr lang="en-US" sz="2400" dirty="0"/>
              </a:p>
            </p:txBody>
          </p:sp>
        </mc:Choice>
        <mc:Fallback xmlns="">
          <p:sp>
            <p:nvSpPr>
              <p:cNvPr id="17" name="TextBox 16">
                <a:extLst>
                  <a:ext uri="{FF2B5EF4-FFF2-40B4-BE49-F238E27FC236}">
                    <a16:creationId xmlns:a16="http://schemas.microsoft.com/office/drawing/2014/main" id="{CD6FA2A4-CFCD-5C9F-F4CA-37EAF5892DF8}"/>
                  </a:ext>
                </a:extLst>
              </p:cNvPr>
              <p:cNvSpPr txBox="1">
                <a:spLocks noRot="1" noChangeAspect="1" noMove="1" noResize="1" noEditPoints="1" noAdjustHandles="1" noChangeArrowheads="1" noChangeShapeType="1" noTextEdit="1"/>
              </p:cNvSpPr>
              <p:nvPr/>
            </p:nvSpPr>
            <p:spPr>
              <a:xfrm>
                <a:off x="6416298" y="2752880"/>
                <a:ext cx="5584552" cy="1938992"/>
              </a:xfrm>
              <a:prstGeom prst="rect">
                <a:avLst/>
              </a:prstGeom>
              <a:blipFill>
                <a:blip r:embed="rId4"/>
                <a:stretch>
                  <a:fillRect l="-1528" t="-2516" r="-2074"/>
                </a:stretch>
              </a:blipFill>
            </p:spPr>
            <p:txBody>
              <a:bodyPr/>
              <a:lstStyle/>
              <a:p>
                <a:r>
                  <a:rPr lang="en-US">
                    <a:noFill/>
                  </a:rPr>
                  <a:t> </a:t>
                </a:r>
              </a:p>
            </p:txBody>
          </p:sp>
        </mc:Fallback>
      </mc:AlternateContent>
      <p:cxnSp>
        <p:nvCxnSpPr>
          <p:cNvPr id="18" name="Straight Arrow Connector 17">
            <a:extLst>
              <a:ext uri="{FF2B5EF4-FFF2-40B4-BE49-F238E27FC236}">
                <a16:creationId xmlns:a16="http://schemas.microsoft.com/office/drawing/2014/main" id="{8E46B6FC-3E25-9C31-0671-D6F0F28ABAD7}"/>
              </a:ext>
            </a:extLst>
          </p:cNvPr>
          <p:cNvCxnSpPr>
            <a:cxnSpLocks/>
            <a:stCxn id="13" idx="3"/>
          </p:cNvCxnSpPr>
          <p:nvPr/>
        </p:nvCxnSpPr>
        <p:spPr>
          <a:xfrm>
            <a:off x="3505758" y="5268510"/>
            <a:ext cx="1691340" cy="0"/>
          </a:xfrm>
          <a:prstGeom prst="straightConnector1">
            <a:avLst/>
          </a:prstGeom>
          <a:ln w="444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9F26D40A-41A5-6AED-303D-BEBC0FAD5744}"/>
              </a:ext>
            </a:extLst>
          </p:cNvPr>
          <p:cNvCxnSpPr>
            <a:cxnSpLocks/>
            <a:endCxn id="12" idx="2"/>
          </p:cNvCxnSpPr>
          <p:nvPr/>
        </p:nvCxnSpPr>
        <p:spPr>
          <a:xfrm flipV="1">
            <a:off x="5197098" y="3533437"/>
            <a:ext cx="26067" cy="1735073"/>
          </a:xfrm>
          <a:prstGeom prst="straightConnector1">
            <a:avLst/>
          </a:prstGeom>
          <a:ln w="444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078636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7">
                                            <p:txEl>
                                              <p:pRg st="0" end="0"/>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7">
                                            <p:txEl>
                                              <p:pRg st="1" end="1"/>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7">
                                            <p:txEl>
                                              <p:pRg st="2" end="2"/>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7">
                                            <p:txEl>
                                              <p:pRg st="3" end="3"/>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8"/>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12" grpId="0" animBg="1"/>
      <p:bldP spid="13" grpId="0" animBg="1"/>
      <p:bldP spid="14" grpId="0"/>
      <p:bldP spid="15"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5698998"/>
              </a:xfrm>
            </p:spPr>
            <p:txBody>
              <a:bodyPr>
                <a:normAutofit lnSpcReduction="10000"/>
              </a:bodyPr>
              <a:lstStyle/>
              <a:p>
                <a:pPr marL="0" indent="0">
                  <a:buNone/>
                </a:pPr>
                <a:r>
                  <a:rPr lang="en-US" dirty="0">
                    <a:latin typeface="+mn-lt"/>
                  </a:rPr>
                  <a:t>Different metrics for numeric dissimilarity can be computed for numeric variables in p dimensions</a:t>
                </a:r>
              </a:p>
              <a:p>
                <a:r>
                  <a:rPr lang="en-US" b="1" dirty="0" err="1">
                    <a:latin typeface="+mn-lt"/>
                    <a:hlinkClick r:id="rId3"/>
                  </a:rPr>
                  <a:t>Mahalanobis</a:t>
                </a:r>
                <a:r>
                  <a:rPr lang="en-US" b="1" dirty="0">
                    <a:latin typeface="+mn-lt"/>
                    <a:hlinkClick r:id="rId3"/>
                  </a:rPr>
                  <a:t> Distance </a:t>
                </a:r>
                <a:r>
                  <a:rPr lang="en-US" dirty="0">
                    <a:latin typeface="+mn-lt"/>
                  </a:rPr>
                  <a:t>(standardized Euclidean distance) is useful in cases with dependency (correlation) between variables  </a:t>
                </a:r>
              </a:p>
              <a:p>
                <a:r>
                  <a:rPr lang="en-US" dirty="0">
                    <a:latin typeface="+mn-lt"/>
                  </a:rPr>
                  <a:t>Technically is a ‘pseudo-distance’ metric since works in transformed space  </a:t>
                </a:r>
              </a:p>
              <a:p>
                <a:r>
                  <a:rPr lang="en-US" b="1" dirty="0" err="1">
                    <a:latin typeface="+mn-lt"/>
                  </a:rPr>
                  <a:t>Mahalanobis</a:t>
                </a:r>
                <a:r>
                  <a:rPr lang="en-US" b="1" dirty="0">
                    <a:latin typeface="+mn-lt"/>
                  </a:rPr>
                  <a:t> Distance </a:t>
                </a:r>
                <a:r>
                  <a:rPr lang="en-US" dirty="0">
                    <a:latin typeface="+mn-lt"/>
                  </a:rPr>
                  <a:t>between two points (vectors) </a:t>
                </a:r>
                <a:endParaRPr lang="en-US" dirty="0"/>
              </a:p>
              <a:p>
                <a:pPr marL="0" indent="0">
                  <a:buNone/>
                </a:pPr>
                <a:r>
                  <a:rPr lang="en-US" dirty="0"/>
                  <a:t>				</a:t>
                </a:r>
                <a14:m>
                  <m:oMath xmlns:m="http://schemas.openxmlformats.org/officeDocument/2006/math">
                    <m:r>
                      <a:rPr lang="en-US">
                        <a:latin typeface="Cambria Math" panose="02040503050406030204" pitchFamily="18" charset="0"/>
                      </a:rPr>
                      <m:t> </m:t>
                    </m:r>
                    <m:r>
                      <a:rPr lang="en-US" i="1">
                        <a:latin typeface="Cambria Math" panose="02040503050406030204" pitchFamily="18" charset="0"/>
                      </a:rPr>
                      <m:t>𝑑</m:t>
                    </m:r>
                    <m:r>
                      <a:rPr lang="en-US" i="1">
                        <a:latin typeface="Cambria Math" panose="02040503050406030204" pitchFamily="18" charset="0"/>
                      </a:rPr>
                      <m:t>(</m:t>
                    </m:r>
                    <m:r>
                      <a:rPr lang="en-US" i="1">
                        <a:latin typeface="Cambria Math" panose="02040503050406030204" pitchFamily="18" charset="0"/>
                      </a:rPr>
                      <m:t>𝑥</m:t>
                    </m:r>
                    <m:r>
                      <a:rPr lang="en-US" i="1">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 </m:t>
                    </m:r>
                    <m:rad>
                      <m:radPr>
                        <m:degHide m:val="on"/>
                        <m:ctrlPr>
                          <a:rPr lang="en-US" i="1">
                            <a:latin typeface="Cambria Math" panose="02040503050406030204" pitchFamily="18" charset="0"/>
                          </a:rPr>
                        </m:ctrlPr>
                      </m:radPr>
                      <m:deg/>
                      <m:e>
                        <m:sSup>
                          <m:sSupPr>
                            <m:ctrlPr>
                              <a:rPr lang="en-US" i="1">
                                <a:latin typeface="Cambria Math" panose="02040503050406030204" pitchFamily="18" charset="0"/>
                              </a:rPr>
                            </m:ctrlPr>
                          </m:sSupPr>
                          <m:e>
                            <m:d>
                              <m:dPr>
                                <m:ctrlPr>
                                  <a:rPr lang="en-US" i="1" smtClean="0">
                                    <a:latin typeface="Cambria Math" panose="02040503050406030204" pitchFamily="18" charset="0"/>
                                  </a:rPr>
                                </m:ctrlPr>
                              </m:dPr>
                              <m:e>
                                <m:r>
                                  <a:rPr lang="en-US" i="1">
                                    <a:latin typeface="Cambria Math" panose="02040503050406030204" pitchFamily="18" charset="0"/>
                                  </a:rPr>
                                  <m:t>𝑥</m:t>
                                </m:r>
                                <m:r>
                                  <a:rPr lang="en-US" i="1">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e>
                            </m:d>
                          </m:e>
                          <m:sup>
                            <m:r>
                              <a:rPr lang="en-US" i="1">
                                <a:latin typeface="Cambria Math" panose="02040503050406030204" pitchFamily="18" charset="0"/>
                              </a:rPr>
                              <m:t>𝑇</m:t>
                            </m:r>
                          </m:sup>
                        </m:sSup>
                        <m:sSup>
                          <m:sSupPr>
                            <m:ctrlPr>
                              <a:rPr lang="en-US" i="1">
                                <a:latin typeface="Cambria Math" panose="02040503050406030204" pitchFamily="18" charset="0"/>
                              </a:rPr>
                            </m:ctrlPr>
                          </m:sSupPr>
                          <m:e>
                            <m:r>
                              <a:rPr lang="en-US" i="1">
                                <a:latin typeface="Cambria Math" panose="02040503050406030204" pitchFamily="18" charset="0"/>
                              </a:rPr>
                              <m:t>𝑆</m:t>
                            </m:r>
                          </m:e>
                          <m:sup>
                            <m:r>
                              <a:rPr lang="en-US" i="1">
                                <a:latin typeface="Cambria Math" panose="02040503050406030204" pitchFamily="18" charset="0"/>
                              </a:rPr>
                              <m:t>−1</m:t>
                            </m:r>
                          </m:sup>
                        </m:sSup>
                        <m:d>
                          <m:dPr>
                            <m:ctrlPr>
                              <a:rPr lang="en-US" i="1">
                                <a:latin typeface="Cambria Math" panose="02040503050406030204" pitchFamily="18" charset="0"/>
                              </a:rPr>
                            </m:ctrlPr>
                          </m:dPr>
                          <m:e>
                            <m:r>
                              <a:rPr lang="en-US" i="1">
                                <a:latin typeface="Cambria Math" panose="02040503050406030204" pitchFamily="18" charset="0"/>
                              </a:rPr>
                              <m:t>𝑥</m:t>
                            </m:r>
                            <m:r>
                              <a:rPr lang="en-US" i="1">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e>
                        </m:d>
                      </m:e>
                    </m:rad>
                  </m:oMath>
                </a14:m>
                <a:endParaRPr lang="en-US" dirty="0"/>
              </a:p>
              <a:p>
                <a:pPr marL="0" indent="0">
                  <a:buNone/>
                </a:pPr>
                <a:r>
                  <a:rPr lang="en-US" sz="2400" dirty="0">
                    <a:latin typeface="+mn-lt"/>
                  </a:rPr>
                  <a:t>Where, </a:t>
                </a:r>
                <a14:m>
                  <m:oMath xmlns:m="http://schemas.openxmlformats.org/officeDocument/2006/math">
                    <m:sSup>
                      <m:sSupPr>
                        <m:ctrlPr>
                          <a:rPr lang="en-US" sz="2400" i="1">
                            <a:latin typeface="Cambria Math" panose="02040503050406030204" pitchFamily="18" charset="0"/>
                          </a:rPr>
                        </m:ctrlPr>
                      </m:sSupPr>
                      <m:e>
                        <m:r>
                          <a:rPr lang="en-US" sz="2400" i="1">
                            <a:latin typeface="Cambria Math" panose="02040503050406030204" pitchFamily="18" charset="0"/>
                          </a:rPr>
                          <m:t>𝑆</m:t>
                        </m:r>
                      </m:e>
                      <m:sup>
                        <m:r>
                          <a:rPr lang="en-US" sz="2400" b="0" i="1" smtClean="0">
                            <a:latin typeface="Cambria Math" panose="02040503050406030204" pitchFamily="18" charset="0"/>
                          </a:rPr>
                          <m:t> </m:t>
                        </m:r>
                      </m:sup>
                    </m:sSup>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1</m:t>
                        </m:r>
                      </m:num>
                      <m:den>
                        <m:r>
                          <a:rPr lang="en-US" sz="2400" b="0" i="1" smtClean="0">
                            <a:latin typeface="Cambria Math" panose="02040503050406030204" pitchFamily="18" charset="0"/>
                          </a:rPr>
                          <m:t>𝑛</m:t>
                        </m:r>
                      </m:den>
                    </m:f>
                    <m:r>
                      <a:rPr lang="en-US" sz="2400" b="0" i="1" smtClean="0">
                        <a:latin typeface="Cambria Math" panose="02040503050406030204" pitchFamily="18" charset="0"/>
                      </a:rPr>
                      <m:t>𝑥</m:t>
                    </m:r>
                    <m:r>
                      <a:rPr lang="en-US" sz="2400" b="0" i="1" smtClean="0">
                        <a:latin typeface="Cambria Math" panose="02040503050406030204" pitchFamily="18" charset="0"/>
                        <a:ea typeface="Cambria Math" panose="02040503050406030204" pitchFamily="18" charset="0"/>
                      </a:rPr>
                      <m:t>∙</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𝑥</m:t>
                        </m:r>
                        <m:r>
                          <a:rPr lang="en-US" sz="2400" b="0" i="1" smtClean="0">
                            <a:latin typeface="Cambria Math" panose="02040503050406030204" pitchFamily="18" charset="0"/>
                          </a:rPr>
                          <m:t>′</m:t>
                        </m:r>
                      </m:e>
                      <m:sup>
                        <m:r>
                          <a:rPr lang="en-US" sz="2400" b="0" i="1" smtClean="0">
                            <a:latin typeface="Cambria Math" panose="02040503050406030204" pitchFamily="18" charset="0"/>
                          </a:rPr>
                          <m:t>𝑇</m:t>
                        </m:r>
                      </m:sup>
                    </m:sSup>
                  </m:oMath>
                </a14:m>
                <a:r>
                  <a:rPr lang="en-US" sz="2400" dirty="0">
                    <a:latin typeface="+mn-lt"/>
                  </a:rPr>
                  <a:t> is the empirical covariance estimate </a:t>
                </a:r>
              </a:p>
              <a:p>
                <a:r>
                  <a:rPr lang="en-US" dirty="0">
                    <a:latin typeface="+mn-lt"/>
                  </a:rPr>
                  <a:t>How can we interpret the </a:t>
                </a:r>
                <a:r>
                  <a:rPr lang="en-US" dirty="0" err="1">
                    <a:latin typeface="+mn-lt"/>
                  </a:rPr>
                  <a:t>Mahalanobis</a:t>
                </a:r>
                <a:r>
                  <a:rPr lang="en-US" dirty="0">
                    <a:latin typeface="+mn-lt"/>
                  </a:rPr>
                  <a:t> distance?   </a:t>
                </a:r>
              </a:p>
              <a:p>
                <a:pPr marL="0" indent="0">
                  <a:buNone/>
                </a:pPr>
                <a:endParaRPr lang="en-US" sz="2400">
                  <a:latin typeface="+mn-lt"/>
                </a:endParaRPr>
              </a:p>
              <a:p>
                <a:pPr marL="0" indent="0">
                  <a:buNone/>
                </a:pPr>
                <a:r>
                  <a:rPr lang="en-US" sz="2400">
                    <a:latin typeface="+mn-lt"/>
                  </a:rPr>
                  <a:t>You </a:t>
                </a:r>
                <a:r>
                  <a:rPr lang="en-US" sz="2400" dirty="0">
                    <a:latin typeface="+mn-lt"/>
                  </a:rPr>
                  <a:t>can find an alternative explanation in </a:t>
                </a:r>
                <a:r>
                  <a:rPr lang="en-US" sz="2400" dirty="0">
                    <a:latin typeface="+mn-lt"/>
                    <a:hlinkClick r:id="rId4"/>
                  </a:rPr>
                  <a:t>Statistics How To</a:t>
                </a:r>
                <a:endParaRPr lang="en-US" sz="2400"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5698998"/>
              </a:xfrm>
              <a:blipFill>
                <a:blip r:embed="rId5"/>
                <a:stretch>
                  <a:fillRect l="-1111" t="-2460"/>
                </a:stretch>
              </a:blipFill>
            </p:spPr>
            <p:txBody>
              <a:bodyPr/>
              <a:lstStyle/>
              <a:p>
                <a:r>
                  <a:rPr lang="en-US">
                    <a:noFill/>
                  </a:rPr>
                  <a:t> </a:t>
                </a:r>
              </a:p>
            </p:txBody>
          </p:sp>
        </mc:Fallback>
      </mc:AlternateContent>
    </p:spTree>
    <p:extLst>
      <p:ext uri="{BB962C8B-B14F-4D97-AF65-F5344CB8AC3E}">
        <p14:creationId xmlns:p14="http://schemas.microsoft.com/office/powerpoint/2010/main" val="42200973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5698998"/>
              </a:xfrm>
            </p:spPr>
            <p:txBody>
              <a:bodyPr>
                <a:normAutofit/>
              </a:bodyPr>
              <a:lstStyle/>
              <a:p>
                <a:pPr marL="0" indent="0">
                  <a:buNone/>
                </a:pPr>
                <a:r>
                  <a:rPr lang="en-US" dirty="0">
                    <a:latin typeface="+mn-lt"/>
                  </a:rPr>
                  <a:t>Different metrics for numeric dissimilarity can be computed for numeric variables in p dimensions</a:t>
                </a:r>
              </a:p>
              <a:p>
                <a:r>
                  <a:rPr lang="en-US" b="1" dirty="0" err="1">
                    <a:latin typeface="+mn-lt"/>
                  </a:rPr>
                  <a:t>Mahalanobis</a:t>
                </a:r>
                <a:r>
                  <a:rPr lang="en-US" b="1" dirty="0">
                    <a:latin typeface="+mn-lt"/>
                  </a:rPr>
                  <a:t> Distance </a:t>
                </a:r>
                <a:r>
                  <a:rPr lang="en-US" dirty="0">
                    <a:latin typeface="+mn-lt"/>
                  </a:rPr>
                  <a:t>between two points (vectors) </a:t>
                </a:r>
                <a:endParaRPr lang="en-US" dirty="0"/>
              </a:p>
              <a:p>
                <a:pPr marL="0" indent="0">
                  <a:buNone/>
                </a:pPr>
                <a:r>
                  <a:rPr lang="en-US" dirty="0"/>
                  <a:t>				</a:t>
                </a:r>
                <a14:m>
                  <m:oMath xmlns:m="http://schemas.openxmlformats.org/officeDocument/2006/math">
                    <m:r>
                      <a:rPr lang="en-US">
                        <a:latin typeface="Cambria Math" panose="02040503050406030204" pitchFamily="18" charset="0"/>
                      </a:rPr>
                      <m:t> </m:t>
                    </m:r>
                    <m:r>
                      <a:rPr lang="en-US" i="1">
                        <a:latin typeface="Cambria Math" panose="02040503050406030204" pitchFamily="18" charset="0"/>
                      </a:rPr>
                      <m:t>𝑑</m:t>
                    </m:r>
                    <m:r>
                      <a:rPr lang="en-US" i="1">
                        <a:latin typeface="Cambria Math" panose="02040503050406030204" pitchFamily="18" charset="0"/>
                      </a:rPr>
                      <m:t>(</m:t>
                    </m:r>
                    <m:r>
                      <a:rPr lang="en-US" i="1">
                        <a:latin typeface="Cambria Math" panose="02040503050406030204" pitchFamily="18" charset="0"/>
                      </a:rPr>
                      <m:t>𝑥</m:t>
                    </m:r>
                    <m:r>
                      <a:rPr lang="en-US" i="1">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 </m:t>
                    </m:r>
                    <m:rad>
                      <m:radPr>
                        <m:degHide m:val="on"/>
                        <m:ctrlPr>
                          <a:rPr lang="en-US" i="1">
                            <a:latin typeface="Cambria Math" panose="02040503050406030204" pitchFamily="18" charset="0"/>
                          </a:rPr>
                        </m:ctrlPr>
                      </m:radPr>
                      <m:deg/>
                      <m:e>
                        <m:sSup>
                          <m:sSupPr>
                            <m:ctrlPr>
                              <a:rPr lang="en-US" i="1">
                                <a:latin typeface="Cambria Math" panose="02040503050406030204" pitchFamily="18" charset="0"/>
                              </a:rPr>
                            </m:ctrlPr>
                          </m:sSupPr>
                          <m:e>
                            <m:d>
                              <m:dPr>
                                <m:ctrlPr>
                                  <a:rPr lang="en-US" i="1" smtClean="0">
                                    <a:latin typeface="Cambria Math" panose="02040503050406030204" pitchFamily="18" charset="0"/>
                                  </a:rPr>
                                </m:ctrlPr>
                              </m:dPr>
                              <m:e>
                                <m:r>
                                  <a:rPr lang="en-US" i="1">
                                    <a:latin typeface="Cambria Math" panose="02040503050406030204" pitchFamily="18" charset="0"/>
                                  </a:rPr>
                                  <m:t>𝑥</m:t>
                                </m:r>
                                <m:r>
                                  <a:rPr lang="en-US" i="1">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e>
                            </m:d>
                          </m:e>
                          <m:sup>
                            <m:r>
                              <a:rPr lang="en-US" i="1">
                                <a:latin typeface="Cambria Math" panose="02040503050406030204" pitchFamily="18" charset="0"/>
                              </a:rPr>
                              <m:t>𝑇</m:t>
                            </m:r>
                          </m:sup>
                        </m:sSup>
                        <m:sSup>
                          <m:sSupPr>
                            <m:ctrlPr>
                              <a:rPr lang="en-US" i="1">
                                <a:latin typeface="Cambria Math" panose="02040503050406030204" pitchFamily="18" charset="0"/>
                              </a:rPr>
                            </m:ctrlPr>
                          </m:sSupPr>
                          <m:e>
                            <m:r>
                              <a:rPr lang="en-US" i="1">
                                <a:latin typeface="Cambria Math" panose="02040503050406030204" pitchFamily="18" charset="0"/>
                              </a:rPr>
                              <m:t>𝑆</m:t>
                            </m:r>
                          </m:e>
                          <m:sup>
                            <m:r>
                              <a:rPr lang="en-US" i="1">
                                <a:latin typeface="Cambria Math" panose="02040503050406030204" pitchFamily="18" charset="0"/>
                              </a:rPr>
                              <m:t>−1</m:t>
                            </m:r>
                          </m:sup>
                        </m:sSup>
                        <m:d>
                          <m:dPr>
                            <m:ctrlPr>
                              <a:rPr lang="en-US" i="1">
                                <a:latin typeface="Cambria Math" panose="02040503050406030204" pitchFamily="18" charset="0"/>
                              </a:rPr>
                            </m:ctrlPr>
                          </m:dPr>
                          <m:e>
                            <m:r>
                              <a:rPr lang="en-US" i="1">
                                <a:latin typeface="Cambria Math" panose="02040503050406030204" pitchFamily="18" charset="0"/>
                              </a:rPr>
                              <m:t>𝑥</m:t>
                            </m:r>
                            <m:r>
                              <a:rPr lang="en-US" i="1">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e>
                        </m:d>
                      </m:e>
                    </m:rad>
                  </m:oMath>
                </a14:m>
                <a:endParaRPr lang="en-US" dirty="0"/>
              </a:p>
              <a:p>
                <a:pPr marL="0" indent="0">
                  <a:buNone/>
                </a:pPr>
                <a:r>
                  <a:rPr lang="en-US" sz="2400" dirty="0">
                    <a:latin typeface="+mn-lt"/>
                  </a:rPr>
                  <a:t>Where, </a:t>
                </a:r>
                <a14:m>
                  <m:oMath xmlns:m="http://schemas.openxmlformats.org/officeDocument/2006/math">
                    <m:sSup>
                      <m:sSupPr>
                        <m:ctrlPr>
                          <a:rPr lang="en-US" sz="2400" i="1">
                            <a:latin typeface="Cambria Math" panose="02040503050406030204" pitchFamily="18" charset="0"/>
                          </a:rPr>
                        </m:ctrlPr>
                      </m:sSupPr>
                      <m:e>
                        <m:r>
                          <a:rPr lang="en-US" sz="2400" i="1">
                            <a:latin typeface="Cambria Math" panose="02040503050406030204" pitchFamily="18" charset="0"/>
                          </a:rPr>
                          <m:t>𝑆</m:t>
                        </m:r>
                      </m:e>
                      <m:sup>
                        <m:r>
                          <a:rPr lang="en-US" sz="2400" b="0" i="1" smtClean="0">
                            <a:latin typeface="Cambria Math" panose="02040503050406030204" pitchFamily="18" charset="0"/>
                          </a:rPr>
                          <m:t> </m:t>
                        </m:r>
                      </m:sup>
                    </m:sSup>
                    <m:r>
                      <a:rPr lang="en-US" sz="2400" b="0" i="1" smtClean="0">
                        <a:latin typeface="Cambria Math" panose="02040503050406030204" pitchFamily="18" charset="0"/>
                      </a:rPr>
                      <m:t>=</m:t>
                    </m:r>
                    <m:f>
                      <m:fPr>
                        <m:ctrlPr>
                          <a:rPr lang="en-US" sz="2400" i="1">
                            <a:latin typeface="Cambria Math" panose="02040503050406030204" pitchFamily="18" charset="0"/>
                          </a:rPr>
                        </m:ctrlPr>
                      </m:fPr>
                      <m:num>
                        <m:r>
                          <a:rPr lang="en-US" sz="2400" i="1">
                            <a:latin typeface="Cambria Math" panose="02040503050406030204" pitchFamily="18" charset="0"/>
                          </a:rPr>
                          <m:t>1</m:t>
                        </m:r>
                      </m:num>
                      <m:den>
                        <m:r>
                          <a:rPr lang="en-US" sz="2400" i="1">
                            <a:latin typeface="Cambria Math" panose="02040503050406030204" pitchFamily="18" charset="0"/>
                          </a:rPr>
                          <m:t>𝑛</m:t>
                        </m:r>
                      </m:den>
                    </m:f>
                    <m:r>
                      <a:rPr lang="en-US" sz="2400" b="0" i="1" smtClean="0">
                        <a:latin typeface="Cambria Math" panose="02040503050406030204" pitchFamily="18" charset="0"/>
                      </a:rPr>
                      <m:t>𝑥</m:t>
                    </m:r>
                    <m:r>
                      <a:rPr lang="en-US" sz="2400" b="0" i="1" smtClean="0">
                        <a:latin typeface="Cambria Math" panose="02040503050406030204" pitchFamily="18" charset="0"/>
                        <a:ea typeface="Cambria Math" panose="02040503050406030204" pitchFamily="18" charset="0"/>
                      </a:rPr>
                      <m:t>∙</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𝑥</m:t>
                        </m:r>
                        <m:r>
                          <a:rPr lang="en-US" sz="2400" b="0" i="1" smtClean="0">
                            <a:latin typeface="Cambria Math" panose="02040503050406030204" pitchFamily="18" charset="0"/>
                          </a:rPr>
                          <m:t>′</m:t>
                        </m:r>
                      </m:e>
                      <m:sup>
                        <m:r>
                          <a:rPr lang="en-US" sz="2400" b="0" i="1" smtClean="0">
                            <a:latin typeface="Cambria Math" panose="02040503050406030204" pitchFamily="18" charset="0"/>
                          </a:rPr>
                          <m:t>𝑇</m:t>
                        </m:r>
                      </m:sup>
                    </m:sSup>
                  </m:oMath>
                </a14:m>
                <a:r>
                  <a:rPr lang="en-US" sz="2400" dirty="0">
                    <a:latin typeface="+mn-lt"/>
                  </a:rPr>
                  <a:t> is the empirical covariance estimate </a:t>
                </a:r>
              </a:p>
              <a:p>
                <a:r>
                  <a:rPr lang="en-US" dirty="0">
                    <a:latin typeface="+mn-lt"/>
                  </a:rPr>
                  <a:t>Inverse covariance, </a:t>
                </a:r>
                <a14:m>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𝑆</m:t>
                        </m:r>
                      </m:e>
                      <m:sup>
                        <m:r>
                          <a:rPr lang="en-US" i="1">
                            <a:latin typeface="Cambria Math" panose="02040503050406030204" pitchFamily="18" charset="0"/>
                          </a:rPr>
                          <m:t>−1</m:t>
                        </m:r>
                      </m:sup>
                    </m:sSup>
                  </m:oMath>
                </a14:m>
                <a:r>
                  <a:rPr lang="en-US" dirty="0">
                    <a:latin typeface="+mn-lt"/>
                  </a:rPr>
                  <a:t>, transforms elliptical Normal distribution to spherical distribution</a:t>
                </a:r>
              </a:p>
              <a:p>
                <a:r>
                  <a:rPr lang="en-US" dirty="0">
                    <a:latin typeface="+mn-lt"/>
                  </a:rPr>
                  <a:t>Transformed space is </a:t>
                </a:r>
                <a:r>
                  <a:rPr lang="en-US" b="1" dirty="0">
                    <a:latin typeface="+mn-lt"/>
                  </a:rPr>
                  <a:t>orthogonal</a:t>
                </a:r>
                <a:r>
                  <a:rPr lang="en-US" dirty="0">
                    <a:latin typeface="+mn-lt"/>
                  </a:rPr>
                  <a:t>  </a:t>
                </a:r>
              </a:p>
              <a:p>
                <a:r>
                  <a:rPr lang="en-US" dirty="0" err="1">
                    <a:latin typeface="+mn-lt"/>
                  </a:rPr>
                  <a:t>Mahalanobis</a:t>
                </a:r>
                <a:r>
                  <a:rPr lang="en-US" dirty="0">
                    <a:latin typeface="+mn-lt"/>
                  </a:rPr>
                  <a:t> distance is measured in the transformed space </a:t>
                </a:r>
              </a:p>
              <a:p>
                <a:r>
                  <a:rPr lang="en-US" dirty="0" err="1">
                    <a:latin typeface="+mn-lt"/>
                  </a:rPr>
                  <a:t>Mahalanobis</a:t>
                </a:r>
                <a:r>
                  <a:rPr lang="en-US" dirty="0">
                    <a:latin typeface="+mn-lt"/>
                  </a:rPr>
                  <a:t> distance is </a:t>
                </a:r>
                <a:r>
                  <a:rPr lang="en-US" b="1" dirty="0">
                    <a:latin typeface="+mn-lt"/>
                  </a:rPr>
                  <a:t>scale invariant </a:t>
                </a:r>
                <a:r>
                  <a:rPr lang="en-US" dirty="0">
                    <a:latin typeface="+mn-lt"/>
                  </a:rPr>
                  <a:t>and </a:t>
                </a:r>
                <a:r>
                  <a:rPr lang="en-US" b="1" dirty="0">
                    <a:latin typeface="+mn-lt"/>
                  </a:rPr>
                  <a:t>unitless</a:t>
                </a:r>
              </a:p>
              <a:p>
                <a:endParaRPr lang="en-US" dirty="0">
                  <a:latin typeface="+mn-lt"/>
                </a:endParaRPr>
              </a:p>
              <a:p>
                <a:endParaRPr lang="en-US" dirty="0">
                  <a:latin typeface="+mn-lt"/>
                </a:endParaRPr>
              </a:p>
              <a:p>
                <a:pPr marL="0" indent="0">
                  <a:buNone/>
                </a:pPr>
                <a:endParaRPr lang="en-US"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5698998"/>
              </a:xfrm>
              <a:blipFill>
                <a:blip r:embed="rId3"/>
                <a:stretch>
                  <a:fillRect l="-1111" t="-1818" r="-1587"/>
                </a:stretch>
              </a:blipFill>
            </p:spPr>
            <p:txBody>
              <a:bodyPr/>
              <a:lstStyle/>
              <a:p>
                <a:r>
                  <a:rPr lang="en-US">
                    <a:noFill/>
                  </a:rPr>
                  <a:t> </a:t>
                </a:r>
              </a:p>
            </p:txBody>
          </p:sp>
        </mc:Fallback>
      </mc:AlternateContent>
    </p:spTree>
    <p:extLst>
      <p:ext uri="{BB962C8B-B14F-4D97-AF65-F5344CB8AC3E}">
        <p14:creationId xmlns:p14="http://schemas.microsoft.com/office/powerpoint/2010/main" val="28875820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p:sp>
        <p:nvSpPr>
          <p:cNvPr id="3" name="Content Placeholder 2"/>
          <p:cNvSpPr>
            <a:spLocks noGrp="1"/>
          </p:cNvSpPr>
          <p:nvPr>
            <p:ph sz="quarter" idx="10"/>
          </p:nvPr>
        </p:nvSpPr>
        <p:spPr>
          <a:xfrm>
            <a:off x="333375" y="896079"/>
            <a:ext cx="11525250" cy="2030969"/>
          </a:xfrm>
        </p:spPr>
        <p:txBody>
          <a:bodyPr>
            <a:normAutofit/>
          </a:bodyPr>
          <a:lstStyle/>
          <a:p>
            <a:pPr marL="0" indent="0">
              <a:buNone/>
            </a:pPr>
            <a:r>
              <a:rPr lang="en-US" dirty="0">
                <a:latin typeface="+mn-lt"/>
              </a:rPr>
              <a:t>Different metrics for numeric dissimilarity can be computed for numeric variables in p dimensions</a:t>
            </a:r>
          </a:p>
          <a:p>
            <a:r>
              <a:rPr lang="en-US" dirty="0">
                <a:latin typeface="+mn-lt"/>
              </a:rPr>
              <a:t>Example: start with some 2-dimensional observations  </a:t>
            </a:r>
          </a:p>
          <a:p>
            <a:r>
              <a:rPr lang="en-US" dirty="0">
                <a:latin typeface="+mn-lt"/>
              </a:rPr>
              <a:t>Variables are correlated</a:t>
            </a:r>
          </a:p>
          <a:p>
            <a:pPr marL="0" indent="0">
              <a:buNone/>
            </a:pPr>
            <a:endParaRPr lang="en-US" dirty="0">
              <a:latin typeface="+mn-lt"/>
            </a:endParaRPr>
          </a:p>
        </p:txBody>
      </p:sp>
      <p:pic>
        <p:nvPicPr>
          <p:cNvPr id="5" name="Picture 4">
            <a:extLst>
              <a:ext uri="{FF2B5EF4-FFF2-40B4-BE49-F238E27FC236}">
                <a16:creationId xmlns:a16="http://schemas.microsoft.com/office/drawing/2014/main" id="{BE4F6007-5EB8-0DD6-9E7A-06BEDDDD5E67}"/>
              </a:ext>
            </a:extLst>
          </p:cNvPr>
          <p:cNvPicPr>
            <a:picLocks noChangeAspect="1"/>
          </p:cNvPicPr>
          <p:nvPr/>
        </p:nvPicPr>
        <p:blipFill>
          <a:blip r:embed="rId3"/>
          <a:stretch>
            <a:fillRect/>
          </a:stretch>
        </p:blipFill>
        <p:spPr>
          <a:xfrm>
            <a:off x="2346476" y="2883745"/>
            <a:ext cx="5330661" cy="3415454"/>
          </a:xfrm>
          <a:prstGeom prst="rect">
            <a:avLst/>
          </a:prstGeom>
        </p:spPr>
      </p:pic>
      <p:sp>
        <p:nvSpPr>
          <p:cNvPr id="6" name="TextBox 5">
            <a:extLst>
              <a:ext uri="{FF2B5EF4-FFF2-40B4-BE49-F238E27FC236}">
                <a16:creationId xmlns:a16="http://schemas.microsoft.com/office/drawing/2014/main" id="{FE173562-5ECA-4FF9-B3FD-3958B8698064}"/>
              </a:ext>
            </a:extLst>
          </p:cNvPr>
          <p:cNvSpPr txBox="1"/>
          <p:nvPr/>
        </p:nvSpPr>
        <p:spPr>
          <a:xfrm>
            <a:off x="2762553" y="6328231"/>
            <a:ext cx="5597676" cy="307777"/>
          </a:xfrm>
          <a:prstGeom prst="rect">
            <a:avLst/>
          </a:prstGeom>
          <a:noFill/>
        </p:spPr>
        <p:txBody>
          <a:bodyPr wrap="square" rtlCol="0">
            <a:spAutoFit/>
          </a:bodyPr>
          <a:lstStyle/>
          <a:p>
            <a:r>
              <a:rPr lang="en-US" sz="1400" dirty="0"/>
              <a:t>Source, </a:t>
            </a:r>
            <a:r>
              <a:rPr lang="en-US" sz="1400" dirty="0">
                <a:hlinkClick r:id="rId4"/>
              </a:rPr>
              <a:t>lecture notes by Dr. Sunnie S. Chung </a:t>
            </a:r>
            <a:endParaRPr lang="en-US" sz="1400" dirty="0"/>
          </a:p>
        </p:txBody>
      </p:sp>
    </p:spTree>
    <p:extLst>
      <p:ext uri="{BB962C8B-B14F-4D97-AF65-F5344CB8AC3E}">
        <p14:creationId xmlns:p14="http://schemas.microsoft.com/office/powerpoint/2010/main" val="290589566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2799471"/>
              </a:xfrm>
            </p:spPr>
            <p:txBody>
              <a:bodyPr>
                <a:normAutofit/>
              </a:bodyPr>
              <a:lstStyle/>
              <a:p>
                <a:pPr marL="0" indent="0">
                  <a:buNone/>
                </a:pPr>
                <a:r>
                  <a:rPr lang="en-US" dirty="0">
                    <a:latin typeface="+mn-lt"/>
                  </a:rPr>
                  <a:t>Different metrics for numeric dissimilarity can be computed for numeric variables in p dimensions</a:t>
                </a:r>
              </a:p>
              <a:p>
                <a:r>
                  <a:rPr lang="en-US" dirty="0">
                    <a:latin typeface="+mn-lt"/>
                  </a:rPr>
                  <a:t>Example: start with some 2-dimensional observations  </a:t>
                </a:r>
              </a:p>
              <a:p>
                <a:r>
                  <a:rPr lang="en-US" dirty="0">
                    <a:latin typeface="+mn-lt"/>
                  </a:rPr>
                  <a:t>Principle axis of data ellipse does not align with variable axes </a:t>
                </a:r>
              </a:p>
              <a:p>
                <a:r>
                  <a:rPr lang="en-US" dirty="0">
                    <a:latin typeface="+mn-lt"/>
                  </a:rPr>
                  <a:t>Principle axis is defined by the eigenvectors of the covariance, </a:t>
                </a:r>
                <a14:m>
                  <m:oMath xmlns:m="http://schemas.openxmlformats.org/officeDocument/2006/math">
                    <m:r>
                      <a:rPr lang="en-US" sz="2800" i="1" smtClean="0">
                        <a:latin typeface="Cambria Math" panose="02040503050406030204" pitchFamily="18" charset="0"/>
                      </a:rPr>
                      <m:t>𝑆</m:t>
                    </m:r>
                  </m:oMath>
                </a14:m>
                <a:r>
                  <a:rPr lang="en-US" dirty="0">
                    <a:latin typeface="+mn-lt"/>
                  </a:rPr>
                  <a:t> </a:t>
                </a:r>
              </a:p>
              <a:p>
                <a:pPr marL="0" indent="0">
                  <a:buNone/>
                </a:pPr>
                <a:endParaRPr lang="en-US"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2799471"/>
              </a:xfrm>
              <a:blipFill>
                <a:blip r:embed="rId3"/>
                <a:stretch>
                  <a:fillRect l="-1111" t="-3704"/>
                </a:stretch>
              </a:blipFill>
            </p:spPr>
            <p:txBody>
              <a:bodyPr/>
              <a:lstStyle/>
              <a:p>
                <a:r>
                  <a:rPr lang="en-US">
                    <a:noFill/>
                  </a:rPr>
                  <a:t> </a:t>
                </a:r>
              </a:p>
            </p:txBody>
          </p:sp>
        </mc:Fallback>
      </mc:AlternateContent>
      <p:sp>
        <p:nvSpPr>
          <p:cNvPr id="6" name="TextBox 5">
            <a:extLst>
              <a:ext uri="{FF2B5EF4-FFF2-40B4-BE49-F238E27FC236}">
                <a16:creationId xmlns:a16="http://schemas.microsoft.com/office/drawing/2014/main" id="{FE173562-5ECA-4FF9-B3FD-3958B8698064}"/>
              </a:ext>
            </a:extLst>
          </p:cNvPr>
          <p:cNvSpPr txBox="1"/>
          <p:nvPr/>
        </p:nvSpPr>
        <p:spPr>
          <a:xfrm>
            <a:off x="2786743" y="6482119"/>
            <a:ext cx="5597676" cy="307777"/>
          </a:xfrm>
          <a:prstGeom prst="rect">
            <a:avLst/>
          </a:prstGeom>
          <a:noFill/>
        </p:spPr>
        <p:txBody>
          <a:bodyPr wrap="square" rtlCol="0">
            <a:spAutoFit/>
          </a:bodyPr>
          <a:lstStyle/>
          <a:p>
            <a:r>
              <a:rPr lang="en-US" sz="1400" dirty="0"/>
              <a:t>Source, </a:t>
            </a:r>
            <a:r>
              <a:rPr lang="en-US" sz="1400" dirty="0">
                <a:hlinkClick r:id="rId4"/>
              </a:rPr>
              <a:t>lecture notes by Dr. Sunnie S. Chung </a:t>
            </a:r>
            <a:endParaRPr lang="en-US" sz="1400" dirty="0"/>
          </a:p>
        </p:txBody>
      </p:sp>
      <p:pic>
        <p:nvPicPr>
          <p:cNvPr id="7" name="Picture 6">
            <a:extLst>
              <a:ext uri="{FF2B5EF4-FFF2-40B4-BE49-F238E27FC236}">
                <a16:creationId xmlns:a16="http://schemas.microsoft.com/office/drawing/2014/main" id="{74C8EBC8-C970-710A-8E32-0E1BC9839188}"/>
              </a:ext>
            </a:extLst>
          </p:cNvPr>
          <p:cNvPicPr>
            <a:picLocks noChangeAspect="1"/>
          </p:cNvPicPr>
          <p:nvPr/>
        </p:nvPicPr>
        <p:blipFill>
          <a:blip r:embed="rId5"/>
          <a:stretch>
            <a:fillRect/>
          </a:stretch>
        </p:blipFill>
        <p:spPr>
          <a:xfrm>
            <a:off x="1819123" y="3539515"/>
            <a:ext cx="5796039" cy="2942604"/>
          </a:xfrm>
          <a:prstGeom prst="rect">
            <a:avLst/>
          </a:prstGeom>
        </p:spPr>
      </p:pic>
    </p:spTree>
    <p:extLst>
      <p:ext uri="{BB962C8B-B14F-4D97-AF65-F5344CB8AC3E}">
        <p14:creationId xmlns:p14="http://schemas.microsoft.com/office/powerpoint/2010/main" val="133843026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p:sp>
        <p:nvSpPr>
          <p:cNvPr id="3" name="Content Placeholder 2"/>
          <p:cNvSpPr>
            <a:spLocks noGrp="1"/>
          </p:cNvSpPr>
          <p:nvPr>
            <p:ph sz="quarter" idx="10"/>
          </p:nvPr>
        </p:nvSpPr>
        <p:spPr>
          <a:xfrm>
            <a:off x="333375" y="896079"/>
            <a:ext cx="11525250" cy="898854"/>
          </a:xfrm>
        </p:spPr>
        <p:txBody>
          <a:bodyPr>
            <a:normAutofit/>
          </a:bodyPr>
          <a:lstStyle/>
          <a:p>
            <a:pPr marL="0" indent="0">
              <a:buNone/>
            </a:pPr>
            <a:r>
              <a:rPr lang="en-US" dirty="0">
                <a:latin typeface="+mn-lt"/>
              </a:rPr>
              <a:t>Different metrics for numeric dissimilarity can be computed for numeric variables in p dimensions</a:t>
            </a:r>
            <a:endParaRPr lang="en-US" dirty="0"/>
          </a:p>
          <a:p>
            <a:endParaRPr lang="en-US" dirty="0">
              <a:latin typeface="+mn-lt"/>
            </a:endParaRPr>
          </a:p>
          <a:p>
            <a:endParaRPr lang="en-US" dirty="0">
              <a:latin typeface="+mn-lt"/>
            </a:endParaRPr>
          </a:p>
          <a:p>
            <a:pPr marL="0" indent="0">
              <a:buNone/>
            </a:pPr>
            <a:endParaRPr lang="en-US" dirty="0">
              <a:latin typeface="+mn-lt"/>
            </a:endParaRPr>
          </a:p>
        </p:txBody>
      </p:sp>
      <p:sp>
        <p:nvSpPr>
          <p:cNvPr id="4" name="TextBox 3">
            <a:extLst>
              <a:ext uri="{FF2B5EF4-FFF2-40B4-BE49-F238E27FC236}">
                <a16:creationId xmlns:a16="http://schemas.microsoft.com/office/drawing/2014/main" id="{00AFC55A-5F3E-3E43-C555-5C84A59D99AF}"/>
              </a:ext>
            </a:extLst>
          </p:cNvPr>
          <p:cNvSpPr txBox="1"/>
          <p:nvPr/>
        </p:nvSpPr>
        <p:spPr>
          <a:xfrm>
            <a:off x="7571620" y="6377214"/>
            <a:ext cx="4287005" cy="307777"/>
          </a:xfrm>
          <a:prstGeom prst="rect">
            <a:avLst/>
          </a:prstGeom>
          <a:noFill/>
        </p:spPr>
        <p:txBody>
          <a:bodyPr wrap="square" rtlCol="0">
            <a:spAutoFit/>
          </a:bodyPr>
          <a:lstStyle/>
          <a:p>
            <a:r>
              <a:rPr lang="en-US" sz="1400" dirty="0"/>
              <a:t>Source, </a:t>
            </a:r>
            <a:r>
              <a:rPr lang="en-US" sz="1400" dirty="0">
                <a:hlinkClick r:id="rId3"/>
              </a:rPr>
              <a:t>lecture notes by Dr. Sunnie S. Chung </a:t>
            </a:r>
            <a:endParaRPr lang="en-US" sz="1400" dirty="0"/>
          </a:p>
        </p:txBody>
      </p:sp>
      <p:pic>
        <p:nvPicPr>
          <p:cNvPr id="6" name="Picture 5">
            <a:extLst>
              <a:ext uri="{FF2B5EF4-FFF2-40B4-BE49-F238E27FC236}">
                <a16:creationId xmlns:a16="http://schemas.microsoft.com/office/drawing/2014/main" id="{89F09EC5-A545-502D-DC3F-2C6486EC7DD0}"/>
              </a:ext>
            </a:extLst>
          </p:cNvPr>
          <p:cNvPicPr>
            <a:picLocks noChangeAspect="1"/>
          </p:cNvPicPr>
          <p:nvPr/>
        </p:nvPicPr>
        <p:blipFill>
          <a:blip r:embed="rId4"/>
          <a:stretch>
            <a:fillRect/>
          </a:stretch>
        </p:blipFill>
        <p:spPr>
          <a:xfrm>
            <a:off x="6728579" y="1601997"/>
            <a:ext cx="4708677" cy="4598145"/>
          </a:xfrm>
          <a:prstGeom prst="rect">
            <a:avLst/>
          </a:prstGeom>
        </p:spPr>
      </p:pic>
      <mc:AlternateContent xmlns:mc="http://schemas.openxmlformats.org/markup-compatibility/2006" xmlns:a14="http://schemas.microsoft.com/office/drawing/2010/main">
        <mc:Choice Requires="a14">
          <p:sp>
            <p:nvSpPr>
              <p:cNvPr id="7" name="Content Placeholder 2">
                <a:extLst>
                  <a:ext uri="{FF2B5EF4-FFF2-40B4-BE49-F238E27FC236}">
                    <a16:creationId xmlns:a16="http://schemas.microsoft.com/office/drawing/2014/main" id="{73410E4D-0493-DFF6-FCAA-9DEA90442FA3}"/>
                  </a:ext>
                </a:extLst>
              </p:cNvPr>
              <p:cNvSpPr txBox="1">
                <a:spLocks/>
              </p:cNvSpPr>
              <p:nvPr/>
            </p:nvSpPr>
            <p:spPr>
              <a:xfrm>
                <a:off x="476098" y="1907828"/>
                <a:ext cx="5653769" cy="281474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400"/>
                  </a:spcBef>
                  <a:buFont typeface="Arial" panose="020B0604020202020204" pitchFamily="34" charset="0"/>
                  <a:buChar char="•"/>
                  <a:defRPr sz="2800" b="0" kern="120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latin typeface="+mn-lt"/>
                  </a:rPr>
                  <a:t>Apply inverse covariance, </a:t>
                </a:r>
                <a14:m>
                  <m:oMath xmlns:m="http://schemas.openxmlformats.org/officeDocument/2006/math">
                    <m:sSup>
                      <m:sSupPr>
                        <m:ctrlPr>
                          <a:rPr lang="en-US" i="1" smtClean="0">
                            <a:latin typeface="Cambria Math" panose="02040503050406030204" pitchFamily="18" charset="0"/>
                          </a:rPr>
                        </m:ctrlPr>
                      </m:sSupPr>
                      <m:e>
                        <m:r>
                          <a:rPr lang="en-US" i="1" smtClean="0">
                            <a:latin typeface="Cambria Math" panose="02040503050406030204" pitchFamily="18" charset="0"/>
                          </a:rPr>
                          <m:t>𝑆</m:t>
                        </m:r>
                      </m:e>
                      <m:sup>
                        <m:r>
                          <a:rPr lang="en-US" i="1" smtClean="0">
                            <a:latin typeface="Cambria Math" panose="02040503050406030204" pitchFamily="18" charset="0"/>
                          </a:rPr>
                          <m:t>−1</m:t>
                        </m:r>
                      </m:sup>
                    </m:sSup>
                    <m:r>
                      <a:rPr lang="en-US" i="1" smtClean="0">
                        <a:latin typeface="Cambria Math" panose="02040503050406030204" pitchFamily="18" charset="0"/>
                      </a:rPr>
                      <m:t>,</m:t>
                    </m:r>
                  </m:oMath>
                </a14:m>
                <a:r>
                  <a:rPr lang="en-US" dirty="0">
                    <a:latin typeface="+mn-lt"/>
                  </a:rPr>
                  <a:t>  transformation </a:t>
                </a:r>
              </a:p>
              <a:p>
                <a:r>
                  <a:rPr lang="en-US" dirty="0">
                    <a:latin typeface="+mn-lt"/>
                  </a:rPr>
                  <a:t>Distances between two points are now </a:t>
                </a:r>
                <a:r>
                  <a:rPr lang="en-US" dirty="0" err="1">
                    <a:latin typeface="+mn-lt"/>
                  </a:rPr>
                  <a:t>Mahalanobis</a:t>
                </a:r>
                <a:r>
                  <a:rPr lang="en-US" dirty="0">
                    <a:latin typeface="+mn-lt"/>
                  </a:rPr>
                  <a:t> distances</a:t>
                </a:r>
                <a:endParaRPr lang="en-US" dirty="0"/>
              </a:p>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rPr>
                        <m:t>𝑑</m:t>
                      </m:r>
                      <m:d>
                        <m:dPr>
                          <m:ctrlPr>
                            <a:rPr lang="en-US" sz="2400" i="1">
                              <a:latin typeface="Cambria Math" panose="02040503050406030204" pitchFamily="18" charset="0"/>
                            </a:rPr>
                          </m:ctrlPr>
                        </m:dPr>
                        <m:e>
                          <m:r>
                            <a:rPr lang="en-US" sz="2400" i="1">
                              <a:latin typeface="Cambria Math" panose="02040503050406030204" pitchFamily="18" charset="0"/>
                            </a:rPr>
                            <m:t>𝑥</m:t>
                          </m:r>
                          <m:r>
                            <a:rPr lang="en-US" sz="2400" i="1">
                              <a:latin typeface="Cambria Math" panose="02040503050406030204" pitchFamily="18" charset="0"/>
                            </a:rPr>
                            <m:t>,</m:t>
                          </m:r>
                          <m:sSup>
                            <m:sSupPr>
                              <m:ctrlPr>
                                <a:rPr lang="en-US" sz="2400" i="1" smtClean="0">
                                  <a:latin typeface="Cambria Math" panose="02040503050406030204" pitchFamily="18" charset="0"/>
                                </a:rPr>
                              </m:ctrlPr>
                            </m:sSupPr>
                            <m:e>
                              <m:r>
                                <a:rPr lang="en-US" sz="2400" i="1" smtClean="0">
                                  <a:latin typeface="Cambria Math" panose="02040503050406030204" pitchFamily="18" charset="0"/>
                                </a:rPr>
                                <m:t>𝑥</m:t>
                              </m:r>
                            </m:e>
                            <m:sup>
                              <m:r>
                                <a:rPr lang="en-US" sz="2400" i="1" smtClean="0">
                                  <a:latin typeface="Cambria Math" panose="02040503050406030204" pitchFamily="18" charset="0"/>
                                </a:rPr>
                                <m:t>′</m:t>
                              </m:r>
                            </m:sup>
                          </m:sSup>
                        </m:e>
                      </m:d>
                      <m:r>
                        <a:rPr lang="en-US" sz="2400" b="0" i="1" smtClean="0">
                          <a:latin typeface="Cambria Math" panose="02040503050406030204" pitchFamily="18" charset="0"/>
                        </a:rPr>
                        <m:t>=</m:t>
                      </m:r>
                      <m:rad>
                        <m:radPr>
                          <m:degHide m:val="on"/>
                          <m:ctrlPr>
                            <a:rPr lang="en-US" sz="2400" i="1">
                              <a:latin typeface="Cambria Math" panose="02040503050406030204" pitchFamily="18" charset="0"/>
                            </a:rPr>
                          </m:ctrlPr>
                        </m:radPr>
                        <m:deg/>
                        <m:e>
                          <m:sSup>
                            <m:sSupPr>
                              <m:ctrlPr>
                                <a:rPr lang="en-US" sz="2400" i="1">
                                  <a:latin typeface="Cambria Math" panose="02040503050406030204" pitchFamily="18" charset="0"/>
                                </a:rPr>
                              </m:ctrlPr>
                            </m:sSupPr>
                            <m:e>
                              <m:d>
                                <m:dPr>
                                  <m:ctrlPr>
                                    <a:rPr lang="en-US" sz="2400" i="1" smtClean="0">
                                      <a:latin typeface="Cambria Math" panose="02040503050406030204" pitchFamily="18" charset="0"/>
                                    </a:rPr>
                                  </m:ctrlPr>
                                </m:dPr>
                                <m:e>
                                  <m:r>
                                    <a:rPr lang="en-US" sz="2400" i="1">
                                      <a:latin typeface="Cambria Math" panose="02040503050406030204" pitchFamily="18" charset="0"/>
                                    </a:rPr>
                                    <m:t>𝑥</m:t>
                                  </m:r>
                                  <m:r>
                                    <a:rPr lang="en-US" sz="2400" i="1">
                                      <a:latin typeface="Cambria Math" panose="02040503050406030204" pitchFamily="18" charset="0"/>
                                    </a:rPr>
                                    <m:t>−</m:t>
                                  </m:r>
                                  <m:r>
                                    <a:rPr lang="en-US" sz="2400" i="1" smtClean="0">
                                      <a:latin typeface="Cambria Math" panose="02040503050406030204" pitchFamily="18" charset="0"/>
                                    </a:rPr>
                                    <m:t>𝑥</m:t>
                                  </m:r>
                                  <m:r>
                                    <a:rPr lang="en-US" sz="2400" i="1" smtClean="0">
                                      <a:latin typeface="Cambria Math" panose="02040503050406030204" pitchFamily="18" charset="0"/>
                                    </a:rPr>
                                    <m:t>′</m:t>
                                  </m:r>
                                </m:e>
                              </m:d>
                            </m:e>
                            <m:sup>
                              <m:r>
                                <a:rPr lang="en-US" sz="2400" i="1">
                                  <a:latin typeface="Cambria Math" panose="02040503050406030204" pitchFamily="18" charset="0"/>
                                </a:rPr>
                                <m:t>𝑇</m:t>
                              </m:r>
                            </m:sup>
                          </m:sSup>
                          <m:sSup>
                            <m:sSupPr>
                              <m:ctrlPr>
                                <a:rPr lang="en-US" sz="2400" i="1">
                                  <a:latin typeface="Cambria Math" panose="02040503050406030204" pitchFamily="18" charset="0"/>
                                </a:rPr>
                              </m:ctrlPr>
                            </m:sSupPr>
                            <m:e>
                              <m:r>
                                <a:rPr lang="en-US" sz="2400" i="1">
                                  <a:latin typeface="Cambria Math" panose="02040503050406030204" pitchFamily="18" charset="0"/>
                                </a:rPr>
                                <m:t>𝑆</m:t>
                              </m:r>
                            </m:e>
                            <m:sup>
                              <m:r>
                                <a:rPr lang="en-US" sz="2400" i="1">
                                  <a:latin typeface="Cambria Math" panose="02040503050406030204" pitchFamily="18" charset="0"/>
                                </a:rPr>
                                <m:t>−1</m:t>
                              </m:r>
                            </m:sup>
                          </m:sSup>
                          <m:d>
                            <m:dPr>
                              <m:ctrlPr>
                                <a:rPr lang="en-US" sz="2400" i="1">
                                  <a:latin typeface="Cambria Math" panose="02040503050406030204" pitchFamily="18" charset="0"/>
                                </a:rPr>
                              </m:ctrlPr>
                            </m:dPr>
                            <m:e>
                              <m:r>
                                <a:rPr lang="en-US" sz="2400" i="1">
                                  <a:latin typeface="Cambria Math" panose="02040503050406030204" pitchFamily="18" charset="0"/>
                                </a:rPr>
                                <m:t>𝑥</m:t>
                              </m:r>
                              <m:r>
                                <a:rPr lang="en-US" sz="2400" i="1">
                                  <a:latin typeface="Cambria Math" panose="02040503050406030204" pitchFamily="18" charset="0"/>
                                </a:rPr>
                                <m:t>−</m:t>
                              </m:r>
                              <m:r>
                                <a:rPr lang="en-US" sz="2400" i="1" smtClean="0">
                                  <a:latin typeface="Cambria Math" panose="02040503050406030204" pitchFamily="18" charset="0"/>
                                </a:rPr>
                                <m:t>𝑥</m:t>
                              </m:r>
                              <m:r>
                                <a:rPr lang="en-US" sz="2400" i="1" smtClean="0">
                                  <a:latin typeface="Cambria Math" panose="02040503050406030204" pitchFamily="18" charset="0"/>
                                </a:rPr>
                                <m:t>′</m:t>
                              </m:r>
                            </m:e>
                          </m:d>
                        </m:e>
                      </m:rad>
                    </m:oMath>
                  </m:oMathPara>
                </a14:m>
                <a:endParaRPr lang="en-US" sz="2400" dirty="0"/>
              </a:p>
              <a:p>
                <a:endParaRPr lang="en-US" dirty="0">
                  <a:latin typeface="+mn-lt"/>
                </a:endParaRPr>
              </a:p>
              <a:p>
                <a:endParaRPr lang="en-US" dirty="0">
                  <a:latin typeface="+mn-lt"/>
                </a:endParaRPr>
              </a:p>
              <a:p>
                <a:pPr marL="0" indent="0">
                  <a:buFont typeface="Arial" panose="020B0604020202020204" pitchFamily="34" charset="0"/>
                  <a:buNone/>
                </a:pPr>
                <a:endParaRPr lang="en-US" dirty="0">
                  <a:latin typeface="+mn-lt"/>
                </a:endParaRPr>
              </a:p>
            </p:txBody>
          </p:sp>
        </mc:Choice>
        <mc:Fallback xmlns="">
          <p:sp>
            <p:nvSpPr>
              <p:cNvPr id="7" name="Content Placeholder 2">
                <a:extLst>
                  <a:ext uri="{FF2B5EF4-FFF2-40B4-BE49-F238E27FC236}">
                    <a16:creationId xmlns:a16="http://schemas.microsoft.com/office/drawing/2014/main" id="{73410E4D-0493-DFF6-FCAA-9DEA90442FA3}"/>
                  </a:ext>
                </a:extLst>
              </p:cNvPr>
              <p:cNvSpPr txBox="1">
                <a:spLocks noRot="1" noChangeAspect="1" noMove="1" noResize="1" noEditPoints="1" noAdjustHandles="1" noChangeArrowheads="1" noChangeShapeType="1" noTextEdit="1"/>
              </p:cNvSpPr>
              <p:nvPr/>
            </p:nvSpPr>
            <p:spPr>
              <a:xfrm>
                <a:off x="476098" y="1907828"/>
                <a:ext cx="5653769" cy="2814740"/>
              </a:xfrm>
              <a:prstGeom prst="rect">
                <a:avLst/>
              </a:prstGeom>
              <a:blipFill>
                <a:blip r:embed="rId5"/>
                <a:stretch>
                  <a:fillRect l="-1940" t="-3680"/>
                </a:stretch>
              </a:blipFill>
            </p:spPr>
            <p:txBody>
              <a:bodyPr/>
              <a:lstStyle/>
              <a:p>
                <a:r>
                  <a:rPr lang="en-US">
                    <a:noFill/>
                  </a:rPr>
                  <a:t> </a:t>
                </a:r>
              </a:p>
            </p:txBody>
          </p:sp>
        </mc:Fallback>
      </mc:AlternateContent>
    </p:spTree>
    <p:extLst>
      <p:ext uri="{BB962C8B-B14F-4D97-AF65-F5344CB8AC3E}">
        <p14:creationId xmlns:p14="http://schemas.microsoft.com/office/powerpoint/2010/main" val="268647233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5698998"/>
              </a:xfrm>
            </p:spPr>
            <p:txBody>
              <a:bodyPr>
                <a:normAutofit/>
              </a:bodyPr>
              <a:lstStyle/>
              <a:p>
                <a:pPr marL="0" indent="0">
                  <a:buNone/>
                </a:pPr>
                <a:r>
                  <a:rPr lang="en-US" b="1" dirty="0">
                    <a:latin typeface="+mn-lt"/>
                  </a:rPr>
                  <a:t>Edit Distance</a:t>
                </a:r>
                <a:r>
                  <a:rPr lang="en-US" dirty="0">
                    <a:latin typeface="+mn-lt"/>
                  </a:rPr>
                  <a:t>: the number of edit operations required to </a:t>
                </a:r>
              </a:p>
              <a:p>
                <a:r>
                  <a:rPr lang="en-US" dirty="0">
                    <a:latin typeface="+mn-lt"/>
                  </a:rPr>
                  <a:t>Example: Consider two character vectors, strings:   </a:t>
                </a:r>
                <a:r>
                  <a:rPr lang="en-US" sz="2400" dirty="0">
                    <a:latin typeface="+mn-lt"/>
                  </a:rPr>
                  <a:t> </a:t>
                </a:r>
              </a:p>
              <a:p>
                <a:pPr marL="457200" lvl="1" indent="0">
                  <a:buNone/>
                </a:pPr>
                <a:r>
                  <a:rPr lang="en-US" dirty="0">
                    <a:latin typeface="+mn-lt"/>
                  </a:rPr>
                  <a:t>				x = </a:t>
                </a:r>
                <a:r>
                  <a:rPr lang="en-US" dirty="0" err="1">
                    <a:latin typeface="+mn-lt"/>
                  </a:rPr>
                  <a:t>thisismy</a:t>
                </a:r>
                <a:r>
                  <a:rPr lang="en-US" dirty="0" err="1">
                    <a:solidFill>
                      <a:srgbClr val="C00000"/>
                    </a:solidFill>
                    <a:latin typeface="+mn-lt"/>
                  </a:rPr>
                  <a:t>olddog</a:t>
                </a:r>
                <a:endParaRPr lang="en-US" dirty="0">
                  <a:solidFill>
                    <a:srgbClr val="C00000"/>
                  </a:solidFill>
                  <a:latin typeface="+mn-lt"/>
                </a:endParaRPr>
              </a:p>
              <a:p>
                <a:pPr marL="457200" lvl="1" indent="0">
                  <a:buNone/>
                </a:pPr>
                <a:r>
                  <a:rPr lang="en-US" dirty="0">
                    <a:latin typeface="+mn-lt"/>
                  </a:rPr>
                  <a:t>				x’ = </a:t>
                </a:r>
                <a:r>
                  <a:rPr lang="en-US" dirty="0" err="1">
                    <a:latin typeface="+mn-lt"/>
                  </a:rPr>
                  <a:t>thisismy</a:t>
                </a:r>
                <a:r>
                  <a:rPr lang="en-US" dirty="0" err="1">
                    <a:solidFill>
                      <a:srgbClr val="C00000"/>
                    </a:solidFill>
                    <a:latin typeface="+mn-lt"/>
                  </a:rPr>
                  <a:t>cat</a:t>
                </a:r>
                <a:endParaRPr lang="en-US" dirty="0">
                  <a:solidFill>
                    <a:srgbClr val="C00000"/>
                  </a:solidFill>
                  <a:latin typeface="+mn-lt"/>
                </a:endParaRPr>
              </a:p>
              <a:p>
                <a:pPr marL="457200" lvl="1" indent="0">
                  <a:buNone/>
                </a:pPr>
                <a:r>
                  <a:rPr lang="en-US" dirty="0">
                    <a:latin typeface="+mn-lt"/>
                  </a:rPr>
                  <a:t>Changes required to have same characters in both strings:   </a:t>
                </a:r>
              </a:p>
              <a:p>
                <a:pPr marL="457200" lvl="1" indent="0">
                  <a:buNone/>
                </a:pPr>
                <a:r>
                  <a:rPr lang="en-US" dirty="0">
                    <a:latin typeface="+mn-lt"/>
                  </a:rPr>
                  <a:t>				3 – deletes, o, l, d</a:t>
                </a:r>
              </a:p>
              <a:p>
                <a:pPr marL="457200" lvl="1" indent="0">
                  <a:buNone/>
                </a:pPr>
                <a:r>
                  <a:rPr lang="en-US" dirty="0">
                    <a:latin typeface="+mn-lt"/>
                  </a:rPr>
                  <a:t>                                               3 – changes, c, a, t </a:t>
                </a:r>
                <a14:m>
                  <m:oMath xmlns:m="http://schemas.openxmlformats.org/officeDocument/2006/math">
                    <m:r>
                      <a:rPr lang="en-US" i="1" smtClean="0">
                        <a:latin typeface="Cambria Math" panose="02040503050406030204" pitchFamily="18" charset="0"/>
                        <a:ea typeface="Cambria Math" panose="02040503050406030204" pitchFamily="18" charset="0"/>
                      </a:rPr>
                      <m:t>→</m:t>
                    </m:r>
                  </m:oMath>
                </a14:m>
                <a:r>
                  <a:rPr lang="en-US" dirty="0">
                    <a:latin typeface="+mn-lt"/>
                  </a:rPr>
                  <a:t> d, o, g</a:t>
                </a:r>
              </a:p>
              <a:p>
                <a:pPr marL="457200" lvl="1" indent="0">
                  <a:buNone/>
                </a:pPr>
                <a:r>
                  <a:rPr lang="en-US" dirty="0">
                    <a:latin typeface="+mn-lt"/>
                  </a:rPr>
                  <a:t>				edit distance </a:t>
                </a:r>
                <a14:m>
                  <m:oMath xmlns:m="http://schemas.openxmlformats.org/officeDocument/2006/math">
                    <m:r>
                      <a:rPr lang="en-US" b="0" i="1" smtClean="0">
                        <a:latin typeface="Cambria Math" panose="02040503050406030204" pitchFamily="18" charset="0"/>
                      </a:rPr>
                      <m:t>=3+3=6</m:t>
                    </m:r>
                  </m:oMath>
                </a14:m>
                <a:endParaRPr lang="en-US" dirty="0">
                  <a:latin typeface="+mn-lt"/>
                </a:endParaRPr>
              </a:p>
              <a:p>
                <a:r>
                  <a:rPr lang="en-US" dirty="0">
                    <a:latin typeface="+mn-lt"/>
                  </a:rPr>
                  <a:t>Many edit distance metrics can be applied:  </a:t>
                </a:r>
              </a:p>
              <a:p>
                <a:pPr lvl="1"/>
                <a:r>
                  <a:rPr lang="en-US" dirty="0">
                    <a:latin typeface="+mn-lt"/>
                  </a:rPr>
                  <a:t>Hamming distance </a:t>
                </a:r>
              </a:p>
              <a:p>
                <a:pPr lvl="1"/>
                <a:r>
                  <a:rPr lang="en-US" dirty="0" err="1">
                    <a:latin typeface="+mn-lt"/>
                    <a:hlinkClick r:id="rId3"/>
                  </a:rPr>
                  <a:t>Levenshtein</a:t>
                </a:r>
                <a:r>
                  <a:rPr lang="en-US" dirty="0">
                    <a:latin typeface="+mn-lt"/>
                    <a:hlinkClick r:id="rId3"/>
                  </a:rPr>
                  <a:t> distance</a:t>
                </a:r>
                <a:r>
                  <a:rPr lang="en-US" dirty="0">
                    <a:latin typeface="+mn-lt"/>
                  </a:rPr>
                  <a:t>   </a:t>
                </a:r>
              </a:p>
              <a:p>
                <a:pPr lvl="1"/>
                <a:r>
                  <a:rPr lang="en-US" dirty="0">
                    <a:latin typeface="+mn-lt"/>
                  </a:rPr>
                  <a:t>Longest common sequence</a:t>
                </a:r>
              </a:p>
              <a:p>
                <a:pPr lvl="1"/>
                <a:r>
                  <a:rPr lang="en-US" dirty="0">
                    <a:latin typeface="+mn-lt"/>
                  </a:rPr>
                  <a:t>…</a:t>
                </a: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5698998"/>
              </a:xfrm>
              <a:blipFill>
                <a:blip r:embed="rId4"/>
                <a:stretch>
                  <a:fillRect l="-1111" t="-1818"/>
                </a:stretch>
              </a:blipFill>
            </p:spPr>
            <p:txBody>
              <a:bodyPr/>
              <a:lstStyle/>
              <a:p>
                <a:r>
                  <a:rPr lang="en-US">
                    <a:noFill/>
                  </a:rPr>
                  <a:t> </a:t>
                </a:r>
              </a:p>
            </p:txBody>
          </p:sp>
        </mc:Fallback>
      </mc:AlternateContent>
    </p:spTree>
    <p:extLst>
      <p:ext uri="{BB962C8B-B14F-4D97-AF65-F5344CB8AC3E}">
        <p14:creationId xmlns:p14="http://schemas.microsoft.com/office/powerpoint/2010/main" val="352693666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5CAA5A-3FE0-F3FB-06AC-A7661F94860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171D76-016C-3FB5-A8FE-9FC3410DCC0B}"/>
              </a:ext>
            </a:extLst>
          </p:cNvPr>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327BFAB-84EF-2B31-8402-AFD79DB40099}"/>
                  </a:ext>
                </a:extLst>
              </p:cNvPr>
              <p:cNvSpPr>
                <a:spLocks noGrp="1"/>
              </p:cNvSpPr>
              <p:nvPr>
                <p:ph sz="quarter" idx="10"/>
              </p:nvPr>
            </p:nvSpPr>
            <p:spPr>
              <a:xfrm>
                <a:off x="333375" y="896079"/>
                <a:ext cx="11525250" cy="5698998"/>
              </a:xfrm>
            </p:spPr>
            <p:txBody>
              <a:bodyPr>
                <a:normAutofit/>
              </a:bodyPr>
              <a:lstStyle/>
              <a:p>
                <a:pPr marL="0" indent="0">
                  <a:buNone/>
                </a:pPr>
                <a:r>
                  <a:rPr lang="en-US" b="1" dirty="0">
                    <a:latin typeface="+mn-lt"/>
                    <a:hlinkClick r:id="rId3"/>
                  </a:rPr>
                  <a:t>Hamming Distance</a:t>
                </a:r>
                <a:r>
                  <a:rPr lang="en-US" dirty="0">
                    <a:latin typeface="+mn-lt"/>
                  </a:rPr>
                  <a:t>: the number of components in which two vectors differ   </a:t>
                </a:r>
              </a:p>
              <a:p>
                <a:r>
                  <a:rPr lang="en-US" dirty="0">
                    <a:latin typeface="+mn-lt"/>
                  </a:rPr>
                  <a:t>Example: Consider two binary vectors:   </a:t>
                </a:r>
              </a:p>
              <a:p>
                <a:pPr marL="457200" lvl="1" indent="0">
                  <a:buNone/>
                </a:pPr>
                <a:r>
                  <a:rPr lang="en-US" dirty="0">
                    <a:latin typeface="+mn-lt"/>
                  </a:rPr>
                  <a:t> x =  0 1 1 </a:t>
                </a:r>
                <a:r>
                  <a:rPr lang="en-US" dirty="0">
                    <a:solidFill>
                      <a:srgbClr val="C00000"/>
                    </a:solidFill>
                    <a:latin typeface="+mn-lt"/>
                  </a:rPr>
                  <a:t>0</a:t>
                </a:r>
                <a:r>
                  <a:rPr lang="en-US" dirty="0">
                    <a:latin typeface="+mn-lt"/>
                  </a:rPr>
                  <a:t> 0 0 </a:t>
                </a:r>
                <a:r>
                  <a:rPr lang="en-US" dirty="0">
                    <a:solidFill>
                      <a:srgbClr val="C00000"/>
                    </a:solidFill>
                    <a:latin typeface="+mn-lt"/>
                  </a:rPr>
                  <a:t>1</a:t>
                </a:r>
                <a:r>
                  <a:rPr lang="en-US" dirty="0">
                    <a:latin typeface="+mn-lt"/>
                  </a:rPr>
                  <a:t> 0 1 0 1</a:t>
                </a:r>
              </a:p>
              <a:p>
                <a:pPr marL="457200" lvl="1" indent="0">
                  <a:buNone/>
                </a:pPr>
                <a:r>
                  <a:rPr lang="en-US" dirty="0">
                    <a:latin typeface="+mn-lt"/>
                  </a:rPr>
                  <a:t> x’ = 0 1 1 </a:t>
                </a:r>
                <a:r>
                  <a:rPr lang="en-US" dirty="0">
                    <a:solidFill>
                      <a:srgbClr val="C00000"/>
                    </a:solidFill>
                    <a:latin typeface="+mn-lt"/>
                  </a:rPr>
                  <a:t>1</a:t>
                </a:r>
                <a:r>
                  <a:rPr lang="en-US" dirty="0">
                    <a:latin typeface="+mn-lt"/>
                  </a:rPr>
                  <a:t> 0 0 </a:t>
                </a:r>
                <a:r>
                  <a:rPr lang="en-US" dirty="0">
                    <a:solidFill>
                      <a:srgbClr val="C00000"/>
                    </a:solidFill>
                    <a:latin typeface="+mn-lt"/>
                  </a:rPr>
                  <a:t>0</a:t>
                </a:r>
                <a:r>
                  <a:rPr lang="en-US" dirty="0">
                    <a:latin typeface="+mn-lt"/>
                  </a:rPr>
                  <a:t> 0 1 0 1</a:t>
                </a:r>
              </a:p>
              <a:p>
                <a:pPr marL="457200" lvl="1" indent="0">
                  <a:buNone/>
                </a:pPr>
                <a:r>
                  <a:rPr lang="en-US" dirty="0">
                    <a:latin typeface="+mn-lt"/>
                  </a:rPr>
                  <a:t>Hamming distance,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𝑑</m:t>
                        </m:r>
                      </m:e>
                      <m:sub>
                        <m:r>
                          <a:rPr lang="en-US" b="0" i="1" smtClean="0">
                            <a:latin typeface="Cambria Math" panose="02040503050406030204" pitchFamily="18" charset="0"/>
                          </a:rPr>
                          <m:t>𝐻</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e>
                    </m:d>
                    <m:r>
                      <a:rPr lang="en-US" b="0" i="1" smtClean="0">
                        <a:latin typeface="Cambria Math" panose="02040503050406030204" pitchFamily="18" charset="0"/>
                      </a:rPr>
                      <m:t>=2</m:t>
                    </m:r>
                  </m:oMath>
                </a14:m>
                <a:endParaRPr lang="en-US" dirty="0">
                  <a:latin typeface="+mn-lt"/>
                </a:endParaRPr>
              </a:p>
              <a:p>
                <a:r>
                  <a:rPr lang="en-US" dirty="0">
                    <a:latin typeface="+mn-lt"/>
                  </a:rPr>
                  <a:t>Example: Consider two strings:  </a:t>
                </a:r>
              </a:p>
              <a:p>
                <a:pPr marL="457200" lvl="1" indent="0">
                  <a:buNone/>
                </a:pPr>
                <a:r>
                  <a:rPr lang="en-US" dirty="0">
                    <a:latin typeface="+mn-lt"/>
                  </a:rPr>
                  <a:t>x = </a:t>
                </a:r>
                <a:r>
                  <a:rPr lang="en-US" dirty="0" err="1">
                    <a:latin typeface="+mn-lt"/>
                  </a:rPr>
                  <a:t>thisismy</a:t>
                </a:r>
                <a:r>
                  <a:rPr lang="en-US" dirty="0" err="1">
                    <a:solidFill>
                      <a:srgbClr val="C00000"/>
                    </a:solidFill>
                    <a:latin typeface="+mn-lt"/>
                  </a:rPr>
                  <a:t>dog</a:t>
                </a:r>
                <a:endParaRPr lang="en-US" dirty="0">
                  <a:solidFill>
                    <a:srgbClr val="C00000"/>
                  </a:solidFill>
                  <a:latin typeface="+mn-lt"/>
                </a:endParaRPr>
              </a:p>
              <a:p>
                <a:pPr marL="457200" lvl="1" indent="0">
                  <a:buNone/>
                </a:pPr>
                <a:r>
                  <a:rPr lang="en-US" dirty="0">
                    <a:latin typeface="+mn-lt"/>
                  </a:rPr>
                  <a:t>x’ = </a:t>
                </a:r>
                <a:r>
                  <a:rPr lang="en-US" dirty="0" err="1">
                    <a:latin typeface="+mn-lt"/>
                  </a:rPr>
                  <a:t>thisismy</a:t>
                </a:r>
                <a:r>
                  <a:rPr lang="en-US" dirty="0" err="1">
                    <a:solidFill>
                      <a:srgbClr val="C00000"/>
                    </a:solidFill>
                    <a:latin typeface="+mn-lt"/>
                  </a:rPr>
                  <a:t>cat</a:t>
                </a:r>
                <a:endParaRPr lang="en-US" dirty="0">
                  <a:latin typeface="+mn-lt"/>
                </a:endParaRPr>
              </a:p>
              <a:p>
                <a:pPr marL="457200" lvl="1" indent="0">
                  <a:buNone/>
                </a:pPr>
                <a:r>
                  <a:rPr lang="en-US" dirty="0">
                    <a:latin typeface="+mn-lt"/>
                  </a:rPr>
                  <a:t>Hamming distance</a:t>
                </a:r>
                <a:r>
                  <a:rPr lang="en-US" sz="2000" dirty="0"/>
                  <a: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𝑑</m:t>
                        </m:r>
                      </m:e>
                      <m:sub>
                        <m:r>
                          <a:rPr lang="en-US" i="1">
                            <a:latin typeface="Cambria Math" panose="02040503050406030204" pitchFamily="18" charset="0"/>
                          </a:rPr>
                          <m:t>𝐻</m:t>
                        </m:r>
                      </m:sub>
                    </m:sSub>
                    <m:d>
                      <m:dPr>
                        <m:ctrlPr>
                          <a:rPr lang="en-US" i="1">
                            <a:latin typeface="Cambria Math" panose="02040503050406030204" pitchFamily="18" charset="0"/>
                          </a:rPr>
                        </m:ctrlPr>
                      </m:dPr>
                      <m:e>
                        <m:r>
                          <a:rPr lang="en-US" i="1">
                            <a:latin typeface="Cambria Math" panose="02040503050406030204" pitchFamily="18" charset="0"/>
                          </a:rPr>
                          <m:t>𝑥</m:t>
                        </m:r>
                        <m:r>
                          <a:rPr lang="en-US" i="1">
                            <a:latin typeface="Cambria Math" panose="02040503050406030204" pitchFamily="18" charset="0"/>
                          </a:rPr>
                          <m:t>,</m:t>
                        </m:r>
                        <m:r>
                          <a:rPr lang="en-US" i="1">
                            <a:latin typeface="Cambria Math" panose="02040503050406030204" pitchFamily="18" charset="0"/>
                          </a:rPr>
                          <m:t>𝑥</m:t>
                        </m:r>
                        <m:r>
                          <a:rPr lang="en-US" i="1">
                            <a:latin typeface="Cambria Math" panose="02040503050406030204" pitchFamily="18" charset="0"/>
                          </a:rPr>
                          <m:t>′</m:t>
                        </m:r>
                      </m:e>
                    </m:d>
                    <m:r>
                      <a:rPr lang="en-US" i="1">
                        <a:latin typeface="Cambria Math" panose="02040503050406030204" pitchFamily="18" charset="0"/>
                      </a:rPr>
                      <m:t>=3</m:t>
                    </m:r>
                  </m:oMath>
                </a14:m>
                <a:r>
                  <a:rPr lang="en-US" dirty="0">
                    <a:latin typeface="+mn-lt"/>
                  </a:rPr>
                  <a:t> </a:t>
                </a:r>
              </a:p>
              <a:p>
                <a:r>
                  <a:rPr lang="en-US" dirty="0">
                    <a:latin typeface="+mn-lt"/>
                  </a:rPr>
                  <a:t>Hamming distance only defined for vectors of equal length</a:t>
                </a:r>
              </a:p>
            </p:txBody>
          </p:sp>
        </mc:Choice>
        <mc:Fallback xmlns="">
          <p:sp>
            <p:nvSpPr>
              <p:cNvPr id="3" name="Content Placeholder 2">
                <a:extLst>
                  <a:ext uri="{FF2B5EF4-FFF2-40B4-BE49-F238E27FC236}">
                    <a16:creationId xmlns:a16="http://schemas.microsoft.com/office/drawing/2014/main" id="{C327BFAB-84EF-2B31-8402-AFD79DB40099}"/>
                  </a:ext>
                </a:extLst>
              </p:cNvPr>
              <p:cNvSpPr>
                <a:spLocks noGrp="1" noRot="1" noChangeAspect="1" noMove="1" noResize="1" noEditPoints="1" noAdjustHandles="1" noChangeArrowheads="1" noChangeShapeType="1" noTextEdit="1"/>
              </p:cNvSpPr>
              <p:nvPr>
                <p:ph sz="quarter" idx="10"/>
              </p:nvPr>
            </p:nvSpPr>
            <p:spPr>
              <a:xfrm>
                <a:off x="333375" y="896079"/>
                <a:ext cx="11525250" cy="5698998"/>
              </a:xfrm>
              <a:blipFill>
                <a:blip r:embed="rId4"/>
                <a:stretch>
                  <a:fillRect l="-1111" t="-1818"/>
                </a:stretch>
              </a:blipFill>
            </p:spPr>
            <p:txBody>
              <a:bodyPr/>
              <a:lstStyle/>
              <a:p>
                <a:r>
                  <a:rPr lang="en-US">
                    <a:noFill/>
                  </a:rPr>
                  <a:t> </a:t>
                </a:r>
              </a:p>
            </p:txBody>
          </p:sp>
        </mc:Fallback>
      </mc:AlternateContent>
    </p:spTree>
    <p:extLst>
      <p:ext uri="{BB962C8B-B14F-4D97-AF65-F5344CB8AC3E}">
        <p14:creationId xmlns:p14="http://schemas.microsoft.com/office/powerpoint/2010/main" val="6141470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5698998"/>
              </a:xfrm>
            </p:spPr>
            <p:txBody>
              <a:bodyPr>
                <a:normAutofit/>
              </a:bodyPr>
              <a:lstStyle/>
              <a:p>
                <a:pPr marL="0" indent="0">
                  <a:buNone/>
                </a:pPr>
                <a:r>
                  <a:rPr lang="en-US" dirty="0">
                    <a:latin typeface="+mn-lt"/>
                  </a:rPr>
                  <a:t>Different metrics for numeric distance can be computed for numeric variables in p dimensions</a:t>
                </a:r>
              </a:p>
              <a:p>
                <a:r>
                  <a:rPr lang="en-US" dirty="0">
                    <a:latin typeface="+mn-lt"/>
                  </a:rPr>
                  <a:t>Do all p dimensions matter equally in determining dissimilarity? </a:t>
                </a:r>
              </a:p>
              <a:p>
                <a:r>
                  <a:rPr lang="en-US" dirty="0">
                    <a:latin typeface="+mn-lt"/>
                  </a:rPr>
                  <a:t>No!</a:t>
                </a:r>
              </a:p>
              <a:p>
                <a:r>
                  <a:rPr lang="en-US" dirty="0">
                    <a:latin typeface="+mn-lt"/>
                  </a:rPr>
                  <a:t>The weights, </a:t>
                </a:r>
                <a:r>
                  <a:rPr lang="en-US" i="1" dirty="0" err="1">
                    <a:latin typeface="+mn-lt"/>
                  </a:rPr>
                  <a:t>w</a:t>
                </a:r>
                <a:r>
                  <a:rPr lang="en-US" i="1" baseline="-25000" dirty="0" err="1">
                    <a:latin typeface="+mn-lt"/>
                  </a:rPr>
                  <a:t>i</a:t>
                </a:r>
                <a:r>
                  <a:rPr lang="en-US" dirty="0">
                    <a:latin typeface="+mn-lt"/>
                  </a:rPr>
                  <a:t>, can be set for the dimensions of the attributes</a:t>
                </a:r>
              </a:p>
              <a:p>
                <a:pPr lvl="1"/>
                <a:r>
                  <a:rPr lang="en-US" dirty="0">
                    <a:latin typeface="+mn-lt"/>
                  </a:rPr>
                  <a:t>Weights must add to 1.0:  </a:t>
                </a:r>
                <a14:m>
                  <m:oMath xmlns:m="http://schemas.openxmlformats.org/officeDocument/2006/math">
                    <m:nary>
                      <m:naryPr>
                        <m:chr m:val="∑"/>
                        <m:ctrlPr>
                          <a:rPr lang="en-US" i="1" smtClean="0">
                            <a:latin typeface="Cambria Math" panose="02040503050406030204" pitchFamily="18" charset="0"/>
                          </a:rPr>
                        </m:ctrlPr>
                      </m:naryPr>
                      <m:sub>
                        <m:r>
                          <m:rPr>
                            <m:brk m:alnAt="23"/>
                          </m:rP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𝑝</m:t>
                        </m:r>
                      </m:sup>
                      <m:e>
                        <m:sSub>
                          <m:sSubPr>
                            <m:ctrlPr>
                              <a:rPr lang="en-US" i="1" smtClean="0">
                                <a:latin typeface="Cambria Math" panose="02040503050406030204" pitchFamily="18" charset="0"/>
                              </a:rPr>
                            </m:ctrlPr>
                          </m:sSubPr>
                          <m:e>
                            <m:r>
                              <a:rPr lang="en-US" b="0" i="1" smtClean="0">
                                <a:latin typeface="Cambria Math" panose="02040503050406030204" pitchFamily="18" charset="0"/>
                              </a:rPr>
                              <m:t>𝑤</m:t>
                            </m:r>
                          </m:e>
                          <m:sub>
                            <m:r>
                              <a:rPr lang="en-US" b="0" i="1" smtClean="0">
                                <a:latin typeface="Cambria Math" panose="02040503050406030204" pitchFamily="18" charset="0"/>
                              </a:rPr>
                              <m:t>𝑖</m:t>
                            </m:r>
                          </m:sub>
                        </m:sSub>
                        <m:r>
                          <a:rPr lang="en-US" b="0" i="1" smtClean="0">
                            <a:latin typeface="Cambria Math" panose="02040503050406030204" pitchFamily="18" charset="0"/>
                          </a:rPr>
                          <m:t>=1.0</m:t>
                        </m:r>
                      </m:e>
                    </m:nary>
                  </m:oMath>
                </a14:m>
                <a:r>
                  <a:rPr lang="en-US" dirty="0">
                    <a:latin typeface="+mn-lt"/>
                  </a:rPr>
                  <a:t> </a:t>
                </a:r>
              </a:p>
              <a:p>
                <a:r>
                  <a:rPr lang="en-US" dirty="0">
                    <a:latin typeface="+mn-lt"/>
                  </a:rPr>
                  <a:t>Why use weights?</a:t>
                </a:r>
              </a:p>
              <a:p>
                <a:pPr lvl="1"/>
                <a:r>
                  <a:rPr lang="en-US" dirty="0">
                    <a:latin typeface="+mn-lt"/>
                  </a:rPr>
                  <a:t>Attributes (dimensions) may not have equal importance</a:t>
                </a:r>
              </a:p>
              <a:p>
                <a:pPr lvl="1"/>
                <a:r>
                  <a:rPr lang="en-US" dirty="0">
                    <a:latin typeface="+mn-lt"/>
                  </a:rPr>
                  <a:t>Example; do the distance I have to walk and the calories of my take-out order have the same importance in selecting where I get my food? </a:t>
                </a:r>
              </a:p>
              <a:p>
                <a:pPr lvl="1"/>
                <a:r>
                  <a:rPr lang="en-US" dirty="0">
                    <a:latin typeface="+mn-lt"/>
                  </a:rPr>
                  <a:t>Perhaps, the calories matter more to me in determining dissimilarity between restaurants?</a:t>
                </a: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5698998"/>
              </a:xfrm>
              <a:blipFill>
                <a:blip r:embed="rId3"/>
                <a:stretch>
                  <a:fillRect l="-1111" t="-1818" r="-476"/>
                </a:stretch>
              </a:blipFill>
            </p:spPr>
            <p:txBody>
              <a:bodyPr/>
              <a:lstStyle/>
              <a:p>
                <a:r>
                  <a:rPr lang="en-US">
                    <a:noFill/>
                  </a:rPr>
                  <a:t> </a:t>
                </a:r>
              </a:p>
            </p:txBody>
          </p:sp>
        </mc:Fallback>
      </mc:AlternateContent>
    </p:spTree>
    <p:extLst>
      <p:ext uri="{BB962C8B-B14F-4D97-AF65-F5344CB8AC3E}">
        <p14:creationId xmlns:p14="http://schemas.microsoft.com/office/powerpoint/2010/main" val="27193541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5698998"/>
              </a:xfrm>
            </p:spPr>
            <p:txBody>
              <a:bodyPr>
                <a:normAutofit lnSpcReduction="10000"/>
              </a:bodyPr>
              <a:lstStyle/>
              <a:p>
                <a:pPr marL="0" indent="0">
                  <a:buNone/>
                </a:pPr>
                <a:r>
                  <a:rPr lang="en-US" dirty="0">
                    <a:latin typeface="+mn-lt"/>
                  </a:rPr>
                  <a:t>Different metrics for numeric distance can be computed for numeric variables in p dimensions</a:t>
                </a:r>
              </a:p>
              <a:p>
                <a:r>
                  <a:rPr lang="en-US" dirty="0">
                    <a:latin typeface="+mn-lt"/>
                  </a:rPr>
                  <a:t>Numeric variable generally standardized before performing unsupervised learning</a:t>
                </a:r>
              </a:p>
              <a:p>
                <a:r>
                  <a:rPr lang="en-US" dirty="0">
                    <a:latin typeface="+mn-lt"/>
                  </a:rPr>
                  <a:t>Like most ML algorithms, the importance of a variable should not be determined by the numeric range</a:t>
                </a:r>
              </a:p>
              <a:p>
                <a:r>
                  <a:rPr lang="en-US" dirty="0">
                    <a:latin typeface="+mn-lt"/>
                  </a:rPr>
                  <a:t>A useful default is to set the weights, </a:t>
                </a:r>
                <a:r>
                  <a:rPr lang="en-US" i="1" dirty="0" err="1">
                    <a:latin typeface="+mn-lt"/>
                  </a:rPr>
                  <a:t>w</a:t>
                </a:r>
                <a:r>
                  <a:rPr lang="en-US" i="1" baseline="-25000" dirty="0" err="1">
                    <a:latin typeface="+mn-lt"/>
                  </a:rPr>
                  <a:t>i</a:t>
                </a:r>
                <a:r>
                  <a:rPr lang="en-US" dirty="0">
                    <a:latin typeface="+mn-lt"/>
                  </a:rPr>
                  <a:t>, to standardize the variance of </a:t>
                </a:r>
                <a:r>
                  <a:rPr lang="en-US" i="1" dirty="0">
                    <a:latin typeface="+mn-lt"/>
                  </a:rPr>
                  <a:t>p </a:t>
                </a:r>
                <a:r>
                  <a:rPr lang="en-US" dirty="0">
                    <a:latin typeface="+mn-lt"/>
                  </a:rPr>
                  <a:t>variables with </a:t>
                </a:r>
                <a14:m>
                  <m:oMath xmlns:m="http://schemas.openxmlformats.org/officeDocument/2006/math">
                    <m:r>
                      <a:rPr lang="en-US" b="0" i="1" smtClean="0">
                        <a:latin typeface="Cambria Math" panose="02040503050406030204" pitchFamily="18" charset="0"/>
                      </a:rPr>
                      <m:t>𝑛</m:t>
                    </m:r>
                  </m:oMath>
                </a14:m>
                <a:r>
                  <a:rPr lang="en-US" dirty="0">
                    <a:latin typeface="+mn-lt"/>
                  </a:rPr>
                  <a:t> samples </a:t>
                </a:r>
              </a:p>
              <a:p>
                <a:pPr marL="0" indent="0">
                  <a:buNone/>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𝑤</m:t>
                          </m:r>
                        </m:e>
                        <m:sub>
                          <m:r>
                            <a:rPr lang="en-US" b="0" i="1" smtClean="0">
                              <a:latin typeface="Cambria Math" panose="02040503050406030204" pitchFamily="18" charset="0"/>
                            </a:rPr>
                            <m:t>𝑖</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𝑟</m:t>
                              </m:r>
                              <m:r>
                                <a:rPr lang="en-US" b="0" i="1" smtClean="0">
                                  <a:latin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𝜎</m:t>
                              </m:r>
                            </m:e>
                            <m:sub>
                              <m:r>
                                <a:rPr lang="en-US" b="0" i="1" smtClean="0">
                                  <a:latin typeface="Cambria Math" panose="02040503050406030204" pitchFamily="18" charset="0"/>
                                </a:rPr>
                                <m:t>𝑖</m:t>
                              </m:r>
                            </m:sub>
                            <m:sup>
                              <m:r>
                                <a:rPr lang="en-US" b="0" i="1" smtClean="0">
                                  <a:latin typeface="Cambria Math" panose="02040503050406030204" pitchFamily="18" charset="0"/>
                                </a:rPr>
                                <m:t>2</m:t>
                              </m:r>
                            </m:sup>
                          </m:sSubSup>
                        </m:den>
                      </m:f>
                      <m:r>
                        <a:rPr lang="en-US" b="0" i="1" smtClean="0">
                          <a:latin typeface="Cambria Math" panose="02040503050406030204" pitchFamily="18" charset="0"/>
                        </a:rPr>
                        <m:t>,  </m:t>
                      </m:r>
                      <m:sSubSup>
                        <m:sSubSupPr>
                          <m:ctrlPr>
                            <a:rPr lang="en-US" i="1">
                              <a:latin typeface="Cambria Math" panose="02040503050406030204" pitchFamily="18" charset="0"/>
                            </a:rPr>
                          </m:ctrlPr>
                        </m:sSubSupPr>
                        <m:e>
                          <m:r>
                            <a:rPr lang="en-US" i="1">
                              <a:latin typeface="Cambria Math" panose="02040503050406030204" pitchFamily="18" charset="0"/>
                              <a:ea typeface="Cambria Math" panose="02040503050406030204" pitchFamily="18" charset="0"/>
                            </a:rPr>
                            <m:t>𝜎</m:t>
                          </m:r>
                        </m:e>
                        <m:sub>
                          <m:r>
                            <a:rPr lang="en-US" i="1">
                              <a:latin typeface="Cambria Math" panose="02040503050406030204" pitchFamily="18" charset="0"/>
                            </a:rPr>
                            <m:t>𝑖</m:t>
                          </m:r>
                        </m:sub>
                        <m:sup>
                          <m:r>
                            <a:rPr lang="en-US" i="1">
                              <a:latin typeface="Cambria Math" panose="02040503050406030204" pitchFamily="18" charset="0"/>
                            </a:rPr>
                            <m:t>2</m:t>
                          </m:r>
                        </m:sup>
                      </m:sSubSup>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m:rPr>
                              <m:brk m:alnAt="23"/>
                            </m:rPr>
                            <a:rPr lang="en-US" b="0" i="1" smtClean="0">
                              <a:latin typeface="Cambria Math" panose="02040503050406030204" pitchFamily="18" charset="0"/>
                            </a:rPr>
                            <m:t>𝑗</m:t>
                          </m:r>
                          <m:r>
                            <a:rPr lang="en-US" b="0" i="1" smtClean="0">
                              <a:latin typeface="Cambria Math" panose="02040503050406030204" pitchFamily="18" charset="0"/>
                            </a:rPr>
                            <m:t>=1</m:t>
                          </m:r>
                        </m:sub>
                        <m:sup>
                          <m:r>
                            <a:rPr lang="en-US" b="0" i="1" smtClean="0">
                              <a:latin typeface="Cambria Math" panose="02040503050406030204" pitchFamily="18" charset="0"/>
                            </a:rPr>
                            <m:t>𝑛</m:t>
                          </m:r>
                        </m:sup>
                        <m:e>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𝑥</m:t>
                              </m:r>
                            </m:e>
                            <m:sub>
                              <m:r>
                                <a:rPr lang="en-US" b="0" i="1" smtClean="0">
                                  <a:latin typeface="Cambria Math" panose="02040503050406030204" pitchFamily="18" charset="0"/>
                                </a:rPr>
                                <m:t>𝑗</m:t>
                              </m:r>
                            </m:sub>
                            <m:sup>
                              <m:r>
                                <a:rPr lang="en-US" b="0" i="1" smtClean="0">
                                  <a:latin typeface="Cambria Math" panose="02040503050406030204" pitchFamily="18" charset="0"/>
                                </a:rPr>
                                <m:t>(</m:t>
                              </m:r>
                              <m:r>
                                <a:rPr lang="en-US" b="0" i="1" smtClean="0">
                                  <a:latin typeface="Cambria Math" panose="02040503050406030204" pitchFamily="18" charset="0"/>
                                </a:rPr>
                                <m:t>𝑖</m:t>
                              </m:r>
                              <m:r>
                                <a:rPr lang="en-US" b="0" i="1" smtClean="0">
                                  <a:latin typeface="Cambria Math" panose="02040503050406030204" pitchFamily="18" charset="0"/>
                                </a:rPr>
                                <m:t>)</m:t>
                              </m:r>
                            </m:sup>
                          </m:sSubSup>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sSup>
                                <m:sSupPr>
                                  <m:ctrlPr>
                                    <a:rPr lang="en-US" b="0" i="1" smtClean="0">
                                      <a:latin typeface="Cambria Math" panose="02040503050406030204" pitchFamily="18" charset="0"/>
                                    </a:rPr>
                                  </m:ctrlPr>
                                </m:sSupPr>
                                <m:e>
                                  <m:acc>
                                    <m:accPr>
                                      <m:chr m:val="̅"/>
                                      <m:ctrlPr>
                                        <a:rPr lang="en-US" i="1">
                                          <a:latin typeface="Cambria Math" panose="02040503050406030204" pitchFamily="18" charset="0"/>
                                        </a:rPr>
                                      </m:ctrlPr>
                                    </m:accPr>
                                    <m:e>
                                      <m:r>
                                        <a:rPr lang="en-US" i="1">
                                          <a:latin typeface="Cambria Math" panose="02040503050406030204" pitchFamily="18" charset="0"/>
                                        </a:rPr>
                                        <m:t>𝑥</m:t>
                                      </m:r>
                                    </m:e>
                                  </m:acc>
                                </m:e>
                                <m:sup>
                                  <m:d>
                                    <m:dPr>
                                      <m:ctrlPr>
                                        <a:rPr lang="en-US" b="0" i="1" smtClean="0">
                                          <a:latin typeface="Cambria Math" panose="02040503050406030204" pitchFamily="18" charset="0"/>
                                        </a:rPr>
                                      </m:ctrlPr>
                                    </m:dPr>
                                    <m:e>
                                      <m:r>
                                        <a:rPr lang="en-US" b="0" i="1" smtClean="0">
                                          <a:latin typeface="Cambria Math" panose="02040503050406030204" pitchFamily="18" charset="0"/>
                                        </a:rPr>
                                        <m:t>𝑖</m:t>
                                      </m:r>
                                    </m:e>
                                  </m:d>
                                </m:sup>
                              </m:sSup>
                            </m:e>
                            <m:sub>
                              <m:r>
                                <a:rPr lang="en-US" b="0" i="1" smtClean="0">
                                  <a:latin typeface="Cambria Math" panose="02040503050406030204" pitchFamily="18" charset="0"/>
                                </a:rPr>
                                <m:t> </m:t>
                              </m:r>
                            </m:sub>
                          </m:sSub>
                          <m:r>
                            <a:rPr lang="en-US" b="0" i="1" smtClean="0">
                              <a:latin typeface="Cambria Math" panose="02040503050406030204" pitchFamily="18" charset="0"/>
                            </a:rPr>
                            <m:t>,  </m:t>
                          </m:r>
                          <m:r>
                            <a:rPr lang="en-US" b="0" i="1" smtClean="0">
                              <a:latin typeface="Cambria Math" panose="02040503050406030204" pitchFamily="18" charset="0"/>
                            </a:rPr>
                            <m:t>𝑟</m:t>
                          </m:r>
                          <m:r>
                            <a:rPr lang="en-US" b="0" i="1" smtClean="0">
                              <a:latin typeface="Cambria Math" panose="02040503050406030204" pitchFamily="18" charset="0"/>
                            </a:rPr>
                            <m:t>=</m:t>
                          </m:r>
                        </m:e>
                      </m:nary>
                      <m:nary>
                        <m:naryPr>
                          <m:chr m:val="∑"/>
                          <m:ctrlPr>
                            <a:rPr lang="en-US" b="0" i="1" smtClean="0">
                              <a:latin typeface="Cambria Math" panose="02040503050406030204" pitchFamily="18" charset="0"/>
                            </a:rPr>
                          </m:ctrlPr>
                        </m:naryPr>
                        <m:sub>
                          <m:r>
                            <m:rPr>
                              <m:brk m:alnAt="23"/>
                            </m:rP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𝑝</m:t>
                          </m:r>
                        </m:sup>
                        <m:e>
                          <m:sSubSup>
                            <m:sSubSupPr>
                              <m:ctrlPr>
                                <a:rPr lang="en-US" i="1">
                                  <a:latin typeface="Cambria Math" panose="02040503050406030204" pitchFamily="18" charset="0"/>
                                </a:rPr>
                              </m:ctrlPr>
                            </m:sSubSupPr>
                            <m:e>
                              <m:r>
                                <a:rPr lang="en-US" i="1">
                                  <a:latin typeface="Cambria Math" panose="02040503050406030204" pitchFamily="18" charset="0"/>
                                  <a:ea typeface="Cambria Math" panose="02040503050406030204" pitchFamily="18" charset="0"/>
                                </a:rPr>
                                <m:t>𝜎</m:t>
                              </m:r>
                            </m:e>
                            <m:sub>
                              <m:r>
                                <a:rPr lang="en-US" i="1">
                                  <a:latin typeface="Cambria Math" panose="02040503050406030204" pitchFamily="18" charset="0"/>
                                </a:rPr>
                                <m:t>𝑖</m:t>
                              </m:r>
                            </m:sub>
                            <m:sup>
                              <m:r>
                                <a:rPr lang="en-US" i="1">
                                  <a:latin typeface="Cambria Math" panose="02040503050406030204" pitchFamily="18" charset="0"/>
                                </a:rPr>
                                <m:t>2</m:t>
                              </m:r>
                            </m:sup>
                          </m:sSubSup>
                        </m:e>
                      </m:nary>
                    </m:oMath>
                  </m:oMathPara>
                </a14:m>
                <a:endParaRPr lang="en-US" dirty="0">
                  <a:latin typeface="+mn-lt"/>
                </a:endParaRPr>
              </a:p>
              <a:p>
                <a:pPr marL="914400" lvl="2" indent="0">
                  <a:buNone/>
                </a:pPr>
                <a14:m>
                  <m:oMath xmlns:m="http://schemas.openxmlformats.org/officeDocument/2006/math">
                    <m:r>
                      <a:rPr lang="en-US" sz="2400" i="1">
                        <a:latin typeface="Cambria Math" panose="02040503050406030204" pitchFamily="18" charset="0"/>
                      </a:rPr>
                      <m:t>𝑟</m:t>
                    </m:r>
                  </m:oMath>
                </a14:m>
                <a:r>
                  <a:rPr lang="en-US" sz="2400" dirty="0">
                    <a:latin typeface="+mn-lt"/>
                  </a:rPr>
                  <a:t> is an optional normalization to ensure the weights sum to 1.0 </a:t>
                </a:r>
              </a:p>
              <a:p>
                <a:r>
                  <a:rPr lang="en-US" dirty="0">
                    <a:latin typeface="+mn-lt"/>
                  </a:rPr>
                  <a:t>Or, set weights to have meaning from the problem</a:t>
                </a:r>
              </a:p>
              <a:p>
                <a:pPr lvl="1"/>
                <a:r>
                  <a:rPr lang="en-US" dirty="0">
                    <a:latin typeface="+mn-lt"/>
                  </a:rPr>
                  <a:t>Requires domain knowledge</a:t>
                </a:r>
              </a:p>
              <a:p>
                <a:pPr marL="0" indent="0">
                  <a:buNone/>
                </a:pPr>
                <a:endParaRPr lang="en-US" dirty="0">
                  <a:latin typeface="+mn-lt"/>
                </a:endParaRPr>
              </a:p>
              <a:p>
                <a:pPr lvl="1"/>
                <a:endParaRPr lang="en-US"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5698998"/>
              </a:xfrm>
              <a:blipFill>
                <a:blip r:embed="rId3"/>
                <a:stretch>
                  <a:fillRect l="-1111" t="-2460" r="-476" b="-2246"/>
                </a:stretch>
              </a:blipFill>
            </p:spPr>
            <p:txBody>
              <a:bodyPr/>
              <a:lstStyle/>
              <a:p>
                <a:r>
                  <a:rPr lang="en-US">
                    <a:noFill/>
                  </a:rPr>
                  <a:t> </a:t>
                </a:r>
              </a:p>
            </p:txBody>
          </p:sp>
        </mc:Fallback>
      </mc:AlternateContent>
    </p:spTree>
    <p:extLst>
      <p:ext uri="{BB962C8B-B14F-4D97-AF65-F5344CB8AC3E}">
        <p14:creationId xmlns:p14="http://schemas.microsoft.com/office/powerpoint/2010/main" val="520613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EDC5BD-B3A3-C99F-0887-002DA20A2A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8A6821-C427-2AF4-FA24-400A92C0ADF2}"/>
              </a:ext>
            </a:extLst>
          </p:cNvPr>
          <p:cNvSpPr>
            <a:spLocks noGrp="1"/>
          </p:cNvSpPr>
          <p:nvPr>
            <p:ph type="title"/>
          </p:nvPr>
        </p:nvSpPr>
        <p:spPr>
          <a:xfrm>
            <a:off x="831850" y="1709738"/>
            <a:ext cx="10515600" cy="2104337"/>
          </a:xfrm>
        </p:spPr>
        <p:txBody>
          <a:bodyPr/>
          <a:lstStyle/>
          <a:p>
            <a:pPr algn="ctr"/>
            <a:r>
              <a:rPr lang="en-US" b="1" dirty="0"/>
              <a:t>Distance Metrics with Mixed Variable Types</a:t>
            </a:r>
          </a:p>
        </p:txBody>
      </p:sp>
    </p:spTree>
    <p:extLst>
      <p:ext uri="{BB962C8B-B14F-4D97-AF65-F5344CB8AC3E}">
        <p14:creationId xmlns:p14="http://schemas.microsoft.com/office/powerpoint/2010/main" val="283783494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5698998"/>
              </a:xfrm>
            </p:spPr>
            <p:txBody>
              <a:bodyPr>
                <a:normAutofit/>
              </a:bodyPr>
              <a:lstStyle/>
              <a:p>
                <a:pPr marL="0" indent="0">
                  <a:buNone/>
                </a:pPr>
                <a:r>
                  <a:rPr lang="en-US" dirty="0">
                    <a:latin typeface="+mn-lt"/>
                  </a:rPr>
                  <a:t>How can we express dissimilarity metrics for </a:t>
                </a:r>
                <a:r>
                  <a:rPr lang="en-US" b="1" dirty="0">
                    <a:latin typeface="+mn-lt"/>
                  </a:rPr>
                  <a:t>ordinal variables</a:t>
                </a:r>
                <a:r>
                  <a:rPr lang="en-US" dirty="0">
                    <a:latin typeface="+mn-lt"/>
                  </a:rPr>
                  <a:t>? </a:t>
                </a:r>
              </a:p>
              <a:p>
                <a:pPr lvl="1"/>
                <a:r>
                  <a:rPr lang="en-US" dirty="0">
                    <a:latin typeface="+mn-lt"/>
                  </a:rPr>
                  <a:t>Star ratings, e.g. 1 to 5 stars</a:t>
                </a:r>
              </a:p>
              <a:p>
                <a:pPr lvl="1"/>
                <a:r>
                  <a:rPr lang="en-US" dirty="0">
                    <a:latin typeface="+mn-lt"/>
                  </a:rPr>
                  <a:t>Dollar range, $, $$, $$$, $$$$</a:t>
                </a:r>
              </a:p>
              <a:p>
                <a:r>
                  <a:rPr lang="en-US" dirty="0">
                    <a:latin typeface="+mn-lt"/>
                  </a:rPr>
                  <a:t>Base </a:t>
                </a:r>
                <a:r>
                  <a:rPr lang="en-US" b="1" dirty="0">
                    <a:latin typeface="+mn-lt"/>
                  </a:rPr>
                  <a:t>ordinal dissimilarity </a:t>
                </a:r>
                <a:r>
                  <a:rPr lang="en-US" dirty="0">
                    <a:latin typeface="+mn-lt"/>
                  </a:rPr>
                  <a:t>on </a:t>
                </a:r>
                <a:r>
                  <a:rPr lang="en-US" b="1" dirty="0">
                    <a:latin typeface="+mn-lt"/>
                  </a:rPr>
                  <a:t>rank</a:t>
                </a:r>
                <a:r>
                  <a:rPr lang="en-US" dirty="0">
                    <a:latin typeface="+mn-lt"/>
                  </a:rPr>
                  <a:t> </a:t>
                </a:r>
                <a:r>
                  <a:rPr lang="en-US" b="1" dirty="0">
                    <a:latin typeface="+mn-lt"/>
                  </a:rPr>
                  <a:t>differences</a:t>
                </a:r>
              </a:p>
              <a:p>
                <a:pPr lvl="1"/>
                <a:r>
                  <a:rPr lang="en-US" dirty="0">
                    <a:latin typeface="+mn-lt"/>
                  </a:rPr>
                  <a:t>Let 1 star = 1, 2 star = 2, 3 star = 3, 4 star = 4, and 5 star = 5</a:t>
                </a:r>
              </a:p>
              <a:p>
                <a:pPr lvl="1"/>
                <a:r>
                  <a:rPr lang="en-US" dirty="0">
                    <a:latin typeface="+mn-lt"/>
                  </a:rPr>
                  <a:t>The distance between a 2 star and 4 star restaurant is 2</a:t>
                </a:r>
              </a:p>
              <a:p>
                <a:r>
                  <a:rPr lang="en-US" dirty="0">
                    <a:latin typeface="+mn-lt"/>
                  </a:rPr>
                  <a:t>Or in normalized form with </a:t>
                </a:r>
                <a:r>
                  <a:rPr lang="en-US" i="1" dirty="0">
                    <a:latin typeface="+mn-lt"/>
                  </a:rPr>
                  <a:t>M  </a:t>
                </a:r>
                <a:r>
                  <a:rPr lang="en-US" dirty="0">
                    <a:latin typeface="+mn-lt"/>
                  </a:rPr>
                  <a:t>possible levels, and ranks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r>
                          <a:rPr lang="en-US" i="1">
                            <a:latin typeface="Cambria Math" panose="02040503050406030204" pitchFamily="18" charset="0"/>
                          </a:rPr>
                          <m:t>′</m:t>
                        </m:r>
                      </m:e>
                      <m:sub>
                        <m:r>
                          <a:rPr lang="en-US" i="1">
                            <a:latin typeface="Cambria Math" panose="02040503050406030204" pitchFamily="18" charset="0"/>
                          </a:rPr>
                          <m:t>𝑖</m:t>
                        </m:r>
                      </m:sub>
                    </m:sSub>
                  </m:oMath>
                </a14:m>
                <a:r>
                  <a:rPr lang="en-US" dirty="0">
                    <a:latin typeface="+mn-lt"/>
                  </a:rPr>
                  <a:t> </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𝑑</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r>
                                <a:rPr lang="en-US" b="0" i="1" smtClean="0">
                                  <a:latin typeface="Cambria Math" panose="02040503050406030204" pitchFamily="18" charset="0"/>
                                </a:rPr>
                                <m:t>′</m:t>
                              </m:r>
                            </m:e>
                            <m:sub>
                              <m:r>
                                <a:rPr lang="en-US" i="1">
                                  <a:latin typeface="Cambria Math" panose="02040503050406030204" pitchFamily="18" charset="0"/>
                                </a:rPr>
                                <m:t>𝑖</m:t>
                              </m:r>
                            </m:sub>
                          </m:sSub>
                        </m:e>
                      </m:d>
                      <m:r>
                        <a:rPr lang="en-US" b="0" i="0" smtClean="0">
                          <a:latin typeface="Cambria Math" panose="02040503050406030204" pitchFamily="18" charset="0"/>
                        </a:rPr>
                        <m:t>=</m:t>
                      </m:r>
                      <m:f>
                        <m:fPr>
                          <m:ctrlPr>
                            <a:rPr lang="en-US" b="0" i="1" smtClean="0">
                              <a:latin typeface="Cambria Math" panose="02040503050406030204" pitchFamily="18" charset="0"/>
                            </a:rPr>
                          </m:ctrlPr>
                        </m:fPr>
                        <m:num>
                          <m:d>
                            <m:dPr>
                              <m:begChr m:val="|"/>
                              <m:endChr m:val="|"/>
                              <m:ctrlPr>
                                <a:rPr lang="en-US" b="0" i="1" smtClean="0">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𝑖</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r>
                                    <a:rPr lang="en-US" i="1">
                                      <a:latin typeface="Cambria Math" panose="02040503050406030204" pitchFamily="18" charset="0"/>
                                    </a:rPr>
                                    <m:t>′</m:t>
                                  </m:r>
                                </m:e>
                                <m:sub>
                                  <m:r>
                                    <a:rPr lang="en-US" i="1">
                                      <a:latin typeface="Cambria Math" panose="02040503050406030204" pitchFamily="18" charset="0"/>
                                    </a:rPr>
                                    <m:t>𝑖</m:t>
                                  </m:r>
                                </m:sub>
                              </m:sSub>
                            </m:e>
                          </m:d>
                        </m:num>
                        <m:den>
                          <m:r>
                            <a:rPr lang="en-US" b="0" i="1" smtClean="0">
                              <a:latin typeface="Cambria Math" panose="02040503050406030204" pitchFamily="18" charset="0"/>
                            </a:rPr>
                            <m:t>𝑀</m:t>
                          </m:r>
                          <m:r>
                            <a:rPr lang="en-US" b="0" i="1" smtClean="0">
                              <a:latin typeface="Cambria Math" panose="02040503050406030204" pitchFamily="18" charset="0"/>
                            </a:rPr>
                            <m:t>−1</m:t>
                          </m:r>
                        </m:den>
                      </m:f>
                    </m:oMath>
                  </m:oMathPara>
                </a14:m>
                <a:endParaRPr lang="en-US" b="0" dirty="0">
                  <a:latin typeface="+mn-lt"/>
                </a:endParaRPr>
              </a:p>
              <a:p>
                <a:r>
                  <a:rPr lang="en-US" dirty="0">
                    <a:latin typeface="+mn-lt"/>
                  </a:rPr>
                  <a:t>On a 5-star scale, the dissimilarity between a 3 star and 5 star restaurant:</a:t>
                </a:r>
              </a:p>
              <a:p>
                <a:pPr marL="0" indent="0">
                  <a:buNone/>
                </a:pPr>
                <a14:m>
                  <m:oMathPara xmlns:m="http://schemas.openxmlformats.org/officeDocument/2006/math">
                    <m:oMathParaPr>
                      <m:jc m:val="centerGroup"/>
                    </m:oMathParaPr>
                    <m:oMath xmlns:m="http://schemas.openxmlformats.org/officeDocument/2006/math">
                      <m:f>
                        <m:fPr>
                          <m:ctrlPr>
                            <a:rPr lang="en-US" i="1" smtClean="0">
                              <a:latin typeface="Cambria Math" panose="02040503050406030204" pitchFamily="18" charset="0"/>
                            </a:rPr>
                          </m:ctrlPr>
                        </m:fPr>
                        <m:num>
                          <m:d>
                            <m:dPr>
                              <m:begChr m:val="|"/>
                              <m:endChr m:val="|"/>
                              <m:ctrlPr>
                                <a:rPr lang="en-US" i="1" smtClean="0">
                                  <a:latin typeface="Cambria Math" panose="02040503050406030204" pitchFamily="18" charset="0"/>
                                </a:rPr>
                              </m:ctrlPr>
                            </m:dPr>
                            <m:e>
                              <m:r>
                                <a:rPr lang="en-US" b="0" i="1" smtClean="0">
                                  <a:latin typeface="Cambria Math" panose="02040503050406030204" pitchFamily="18" charset="0"/>
                                </a:rPr>
                                <m:t>3−5</m:t>
                              </m:r>
                            </m:e>
                          </m:d>
                        </m:num>
                        <m:den>
                          <m:r>
                            <a:rPr lang="en-US" b="0" i="1" smtClean="0">
                              <a:latin typeface="Cambria Math" panose="02040503050406030204" pitchFamily="18" charset="0"/>
                            </a:rPr>
                            <m:t>4</m:t>
                          </m:r>
                        </m:den>
                      </m:f>
                      <m:r>
                        <a:rPr lang="en-US" b="0" i="0" smtClean="0">
                          <a:latin typeface="Cambria Math" panose="02040503050406030204" pitchFamily="18" charset="0"/>
                        </a:rPr>
                        <m:t>=0.5</m:t>
                      </m:r>
                    </m:oMath>
                  </m:oMathPara>
                </a14:m>
                <a:endParaRPr lang="en-US"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5698998"/>
              </a:xfrm>
              <a:blipFill>
                <a:blip r:embed="rId3"/>
                <a:stretch>
                  <a:fillRect l="-1111" t="-1818"/>
                </a:stretch>
              </a:blipFill>
            </p:spPr>
            <p:txBody>
              <a:bodyPr/>
              <a:lstStyle/>
              <a:p>
                <a:r>
                  <a:rPr lang="en-US">
                    <a:noFill/>
                  </a:rPr>
                  <a:t> </a:t>
                </a:r>
              </a:p>
            </p:txBody>
          </p:sp>
        </mc:Fallback>
      </mc:AlternateContent>
    </p:spTree>
    <p:extLst>
      <p:ext uri="{BB962C8B-B14F-4D97-AF65-F5344CB8AC3E}">
        <p14:creationId xmlns:p14="http://schemas.microsoft.com/office/powerpoint/2010/main" val="34995092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p:sp>
        <p:nvSpPr>
          <p:cNvPr id="3" name="Content Placeholder 2"/>
          <p:cNvSpPr>
            <a:spLocks noGrp="1"/>
          </p:cNvSpPr>
          <p:nvPr>
            <p:ph sz="quarter" idx="10"/>
          </p:nvPr>
        </p:nvSpPr>
        <p:spPr>
          <a:xfrm>
            <a:off x="333375" y="896079"/>
            <a:ext cx="11525250" cy="5698998"/>
          </a:xfrm>
        </p:spPr>
        <p:txBody>
          <a:bodyPr>
            <a:normAutofit/>
          </a:bodyPr>
          <a:lstStyle/>
          <a:p>
            <a:pPr marL="0" indent="0">
              <a:buNone/>
            </a:pPr>
            <a:r>
              <a:rPr lang="en-US" dirty="0">
                <a:latin typeface="+mn-lt"/>
              </a:rPr>
              <a:t>How can we express dissimilarity metrics for </a:t>
            </a:r>
            <a:r>
              <a:rPr lang="en-US" b="1" dirty="0">
                <a:latin typeface="+mn-lt"/>
              </a:rPr>
              <a:t>unordered categorical variables</a:t>
            </a:r>
            <a:r>
              <a:rPr lang="en-US" dirty="0">
                <a:latin typeface="+mn-lt"/>
              </a:rPr>
              <a:t>? </a:t>
            </a:r>
          </a:p>
          <a:p>
            <a:r>
              <a:rPr lang="en-US" dirty="0">
                <a:latin typeface="+mn-lt"/>
              </a:rPr>
              <a:t>Use a coding scheme</a:t>
            </a:r>
          </a:p>
          <a:p>
            <a:pPr lvl="1"/>
            <a:r>
              <a:rPr lang="en-US" sz="2800" dirty="0">
                <a:latin typeface="+mn-lt"/>
              </a:rPr>
              <a:t>e.g. a binary scheme, 1 if different categories, 0 if the same</a:t>
            </a:r>
          </a:p>
          <a:p>
            <a:pPr lvl="1"/>
            <a:r>
              <a:rPr lang="en-US" sz="2800" dirty="0">
                <a:latin typeface="+mn-lt"/>
              </a:rPr>
              <a:t>Optionally, normalize</a:t>
            </a:r>
          </a:p>
          <a:p>
            <a:pPr lvl="1"/>
            <a:r>
              <a:rPr lang="en-US" sz="2800" dirty="0">
                <a:latin typeface="+mn-lt"/>
              </a:rPr>
              <a:t>e.g., normalize by dividing by number of categories</a:t>
            </a:r>
          </a:p>
          <a:p>
            <a:r>
              <a:rPr lang="en-US" dirty="0">
                <a:latin typeface="+mn-lt"/>
              </a:rPr>
              <a:t>Example; restaurant type with 5 choices:</a:t>
            </a:r>
          </a:p>
          <a:p>
            <a:pPr lvl="1"/>
            <a:r>
              <a:rPr lang="en-US" sz="2800" dirty="0">
                <a:latin typeface="+mn-lt"/>
              </a:rPr>
              <a:t>Vegetarian, Thai, Mexican, Pizza, Burgers</a:t>
            </a:r>
          </a:p>
          <a:p>
            <a:pPr lvl="1"/>
            <a:r>
              <a:rPr lang="en-US" sz="2800" dirty="0">
                <a:latin typeface="+mn-lt"/>
              </a:rPr>
              <a:t>Distance Vegetarian to Burgers = 1/5 = 0.2</a:t>
            </a:r>
          </a:p>
          <a:p>
            <a:pPr lvl="1"/>
            <a:r>
              <a:rPr lang="en-US" sz="2800" dirty="0">
                <a:latin typeface="+mn-lt"/>
              </a:rPr>
              <a:t>Distance Burgers to Burgers = 0</a:t>
            </a:r>
          </a:p>
          <a:p>
            <a:r>
              <a:rPr lang="en-US" dirty="0">
                <a:latin typeface="+mn-lt"/>
              </a:rPr>
              <a:t>Can have more complex scheme if required</a:t>
            </a:r>
          </a:p>
        </p:txBody>
      </p:sp>
    </p:spTree>
    <p:extLst>
      <p:ext uri="{BB962C8B-B14F-4D97-AF65-F5344CB8AC3E}">
        <p14:creationId xmlns:p14="http://schemas.microsoft.com/office/powerpoint/2010/main" val="13255994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p:sp>
        <p:nvSpPr>
          <p:cNvPr id="3" name="Content Placeholder 2"/>
          <p:cNvSpPr>
            <a:spLocks noGrp="1"/>
          </p:cNvSpPr>
          <p:nvPr>
            <p:ph sz="quarter" idx="10"/>
          </p:nvPr>
        </p:nvSpPr>
        <p:spPr>
          <a:xfrm>
            <a:off x="333375" y="896079"/>
            <a:ext cx="11525250" cy="5698998"/>
          </a:xfrm>
        </p:spPr>
        <p:txBody>
          <a:bodyPr>
            <a:normAutofit/>
          </a:bodyPr>
          <a:lstStyle/>
          <a:p>
            <a:pPr marL="0" indent="0">
              <a:buNone/>
            </a:pPr>
            <a:r>
              <a:rPr lang="en-US" dirty="0">
                <a:latin typeface="+mn-lt"/>
              </a:rPr>
              <a:t>Can we combine dissimilarities of different types of variables</a:t>
            </a:r>
          </a:p>
          <a:p>
            <a:r>
              <a:rPr lang="en-US" dirty="0">
                <a:latin typeface="+mn-lt"/>
              </a:rPr>
              <a:t>Yes, but with carefully!</a:t>
            </a:r>
          </a:p>
          <a:p>
            <a:r>
              <a:rPr lang="en-US" dirty="0">
                <a:latin typeface="+mn-lt"/>
              </a:rPr>
              <a:t>Scaling important, or some variable types dominate as a result of coding</a:t>
            </a:r>
          </a:p>
          <a:p>
            <a:pPr lvl="1"/>
            <a:r>
              <a:rPr lang="en-US" dirty="0">
                <a:latin typeface="+mn-lt"/>
              </a:rPr>
              <a:t>The numeric range of values must be similar</a:t>
            </a:r>
          </a:p>
          <a:p>
            <a:pPr lvl="1"/>
            <a:r>
              <a:rPr lang="en-US" dirty="0">
                <a:latin typeface="+mn-lt"/>
              </a:rPr>
              <a:t>e.g. We do not want ordinal variables to dominate numeric and categorical</a:t>
            </a:r>
          </a:p>
          <a:p>
            <a:r>
              <a:rPr lang="en-US" dirty="0">
                <a:latin typeface="+mn-lt"/>
              </a:rPr>
              <a:t>But, weighting is problem dependent!</a:t>
            </a:r>
          </a:p>
          <a:p>
            <a:pPr lvl="1"/>
            <a:r>
              <a:rPr lang="en-US" dirty="0">
                <a:latin typeface="+mn-lt"/>
              </a:rPr>
              <a:t>Unfortunately, no simple procedure for correct weighting</a:t>
            </a:r>
          </a:p>
          <a:p>
            <a:pPr lvl="1"/>
            <a:r>
              <a:rPr lang="en-US" dirty="0">
                <a:latin typeface="+mn-lt"/>
              </a:rPr>
              <a:t>Do I care more about the (ordinal) star rating or calories of the meal (numeric) when choosing a restaurant? </a:t>
            </a:r>
          </a:p>
          <a:p>
            <a:pPr lvl="1"/>
            <a:endParaRPr lang="en-US" dirty="0">
              <a:latin typeface="+mn-lt"/>
            </a:endParaRPr>
          </a:p>
          <a:p>
            <a:pPr marL="0" indent="0">
              <a:buNone/>
            </a:pPr>
            <a:r>
              <a:rPr lang="en-US" sz="2400" i="1" dirty="0">
                <a:latin typeface="+mn-lt"/>
              </a:rPr>
              <a:t>Important Note: There is some controversy around methodology for combining distance metrics of different data types. Some textbooks and theoreticians say combining types should never be done. Pragmatists realize we must do something, even if questionable. </a:t>
            </a:r>
          </a:p>
        </p:txBody>
      </p:sp>
    </p:spTree>
    <p:extLst>
      <p:ext uri="{BB962C8B-B14F-4D97-AF65-F5344CB8AC3E}">
        <p14:creationId xmlns:p14="http://schemas.microsoft.com/office/powerpoint/2010/main" val="22169439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p:sp>
        <p:nvSpPr>
          <p:cNvPr id="3" name="Content Placeholder 2"/>
          <p:cNvSpPr>
            <a:spLocks noGrp="1"/>
          </p:cNvSpPr>
          <p:nvPr>
            <p:ph sz="quarter" idx="10"/>
          </p:nvPr>
        </p:nvSpPr>
        <p:spPr>
          <a:xfrm>
            <a:off x="292100" y="937010"/>
            <a:ext cx="11983041" cy="5698998"/>
          </a:xfrm>
        </p:spPr>
        <p:txBody>
          <a:bodyPr>
            <a:normAutofit/>
          </a:bodyPr>
          <a:lstStyle/>
          <a:p>
            <a:r>
              <a:rPr lang="en-US" dirty="0">
                <a:latin typeface="+mn-lt"/>
              </a:rPr>
              <a:t>An example of computing dissimilarity between restaurants</a:t>
            </a:r>
          </a:p>
          <a:p>
            <a:endParaRPr lang="en-US" dirty="0">
              <a:latin typeface="+mn-lt"/>
            </a:endParaRPr>
          </a:p>
          <a:p>
            <a:endParaRPr lang="en-US" dirty="0">
              <a:latin typeface="+mn-lt"/>
            </a:endParaRPr>
          </a:p>
          <a:p>
            <a:endParaRPr lang="en-US" dirty="0">
              <a:latin typeface="+mn-lt"/>
            </a:endParaRPr>
          </a:p>
          <a:p>
            <a:pPr marL="0" indent="0">
              <a:buNone/>
            </a:pPr>
            <a:endParaRPr lang="en-US" dirty="0">
              <a:latin typeface="+mn-lt"/>
            </a:endParaRPr>
          </a:p>
          <a:p>
            <a:endParaRPr lang="en-US" dirty="0">
              <a:latin typeface="+mn-lt"/>
            </a:endParaRPr>
          </a:p>
          <a:p>
            <a:r>
              <a:rPr lang="en-US" dirty="0">
                <a:latin typeface="+mn-lt"/>
              </a:rPr>
              <a:t>Absolute dissimilarity between R1 and R4, a Mexican and vegetarian restaurant</a:t>
            </a:r>
          </a:p>
          <a:p>
            <a:pPr marL="0" indent="0">
              <a:buNone/>
            </a:pPr>
            <a:r>
              <a:rPr lang="en-US" sz="2400" dirty="0">
                <a:latin typeface="+mn-lt"/>
              </a:rPr>
              <a:t>[¼ + |0.8-0.3| + |0.7-0.1| + |3-1|/2 + |5-4|/4]/5 = [0.25 + 0.5 + 0.6 + 0.5 + 0.25]/5 = </a:t>
            </a:r>
            <a:r>
              <a:rPr lang="en-US" sz="2400" b="1" dirty="0">
                <a:latin typeface="+mn-lt"/>
              </a:rPr>
              <a:t>0.42</a:t>
            </a:r>
          </a:p>
          <a:p>
            <a:r>
              <a:rPr lang="en-US" dirty="0">
                <a:latin typeface="+mn-lt"/>
              </a:rPr>
              <a:t>Absolute dissimilarity between R2 and R3, two pizza places</a:t>
            </a:r>
          </a:p>
          <a:p>
            <a:pPr marL="0" indent="0">
              <a:buNone/>
            </a:pPr>
            <a:r>
              <a:rPr lang="en-US" sz="2400" dirty="0">
                <a:latin typeface="+mn-lt"/>
              </a:rPr>
              <a:t>[0 + |0.9-0.8| + |0.6-0.4| + |2-3|/2 + |4-3|/4]/5 = [0 + 0.1 + 0.2 + 0.5 + 0.25]/5 = </a:t>
            </a:r>
            <a:r>
              <a:rPr lang="en-US" sz="2400" b="1" dirty="0">
                <a:latin typeface="+mn-lt"/>
              </a:rPr>
              <a:t>0.21</a:t>
            </a:r>
          </a:p>
          <a:p>
            <a:endParaRPr lang="en-US" dirty="0">
              <a:latin typeface="+mn-lt"/>
            </a:endParaRPr>
          </a:p>
          <a:p>
            <a:pPr marL="0" indent="0">
              <a:buNone/>
            </a:pPr>
            <a:endParaRPr lang="en-US" dirty="0">
              <a:latin typeface="+mn-lt"/>
            </a:endParaRPr>
          </a:p>
        </p:txBody>
      </p:sp>
      <p:graphicFrame>
        <p:nvGraphicFramePr>
          <p:cNvPr id="5" name="Table 5">
            <a:extLst>
              <a:ext uri="{FF2B5EF4-FFF2-40B4-BE49-F238E27FC236}">
                <a16:creationId xmlns:a16="http://schemas.microsoft.com/office/drawing/2014/main" id="{B4474478-5A96-4835-8FDF-520632B5D493}"/>
              </a:ext>
            </a:extLst>
          </p:cNvPr>
          <p:cNvGraphicFramePr>
            <a:graphicFrameLocks noGrp="1"/>
          </p:cNvGraphicFramePr>
          <p:nvPr/>
        </p:nvGraphicFramePr>
        <p:xfrm>
          <a:off x="584200" y="1432300"/>
          <a:ext cx="11398842" cy="2743200"/>
        </p:xfrm>
        <a:graphic>
          <a:graphicData uri="http://schemas.openxmlformats.org/drawingml/2006/table">
            <a:tbl>
              <a:tblPr firstRow="1" bandRow="1">
                <a:tableStyleId>{5C22544A-7EE6-4342-B048-85BDC9FD1C3A}</a:tableStyleId>
              </a:tblPr>
              <a:tblGrid>
                <a:gridCol w="1862218">
                  <a:extLst>
                    <a:ext uri="{9D8B030D-6E8A-4147-A177-3AD203B41FA5}">
                      <a16:colId xmlns:a16="http://schemas.microsoft.com/office/drawing/2014/main" val="615816892"/>
                    </a:ext>
                  </a:extLst>
                </a:gridCol>
                <a:gridCol w="2128434">
                  <a:extLst>
                    <a:ext uri="{9D8B030D-6E8A-4147-A177-3AD203B41FA5}">
                      <a16:colId xmlns:a16="http://schemas.microsoft.com/office/drawing/2014/main" val="3425097927"/>
                    </a:ext>
                  </a:extLst>
                </a:gridCol>
                <a:gridCol w="1779453">
                  <a:extLst>
                    <a:ext uri="{9D8B030D-6E8A-4147-A177-3AD203B41FA5}">
                      <a16:colId xmlns:a16="http://schemas.microsoft.com/office/drawing/2014/main" val="1337615558"/>
                    </a:ext>
                  </a:extLst>
                </a:gridCol>
                <a:gridCol w="1829123">
                  <a:extLst>
                    <a:ext uri="{9D8B030D-6E8A-4147-A177-3AD203B41FA5}">
                      <a16:colId xmlns:a16="http://schemas.microsoft.com/office/drawing/2014/main" val="3418966473"/>
                    </a:ext>
                  </a:extLst>
                </a:gridCol>
                <a:gridCol w="1899807">
                  <a:extLst>
                    <a:ext uri="{9D8B030D-6E8A-4147-A177-3AD203B41FA5}">
                      <a16:colId xmlns:a16="http://schemas.microsoft.com/office/drawing/2014/main" val="3211043608"/>
                    </a:ext>
                  </a:extLst>
                </a:gridCol>
                <a:gridCol w="1899807">
                  <a:extLst>
                    <a:ext uri="{9D8B030D-6E8A-4147-A177-3AD203B41FA5}">
                      <a16:colId xmlns:a16="http://schemas.microsoft.com/office/drawing/2014/main" val="21232086"/>
                    </a:ext>
                  </a:extLst>
                </a:gridCol>
              </a:tblGrid>
              <a:tr h="456554">
                <a:tc>
                  <a:txBody>
                    <a:bodyPr/>
                    <a:lstStyle/>
                    <a:p>
                      <a:pPr algn="ctr"/>
                      <a:r>
                        <a:rPr lang="en-US" sz="2400" dirty="0">
                          <a:solidFill>
                            <a:schemeClr val="tx1"/>
                          </a:solidFill>
                        </a:rPr>
                        <a:t>Restaurant</a:t>
                      </a:r>
                    </a:p>
                  </a:txBody>
                  <a:tcPr/>
                </a:tc>
                <a:tc>
                  <a:txBody>
                    <a:bodyPr/>
                    <a:lstStyle/>
                    <a:p>
                      <a:pPr algn="ctr"/>
                      <a:r>
                        <a:rPr lang="en-US" sz="2400" dirty="0">
                          <a:solidFill>
                            <a:schemeClr val="tx1"/>
                          </a:solidFill>
                        </a:rPr>
                        <a:t>Type</a:t>
                      </a:r>
                    </a:p>
                  </a:txBody>
                  <a:tcPr/>
                </a:tc>
                <a:tc>
                  <a:txBody>
                    <a:bodyPr/>
                    <a:lstStyle/>
                    <a:p>
                      <a:pPr algn="ctr"/>
                      <a:r>
                        <a:rPr lang="en-US" sz="2400" dirty="0">
                          <a:solidFill>
                            <a:schemeClr val="tx1"/>
                          </a:solidFill>
                        </a:rPr>
                        <a:t>Calories</a:t>
                      </a:r>
                    </a:p>
                  </a:txBody>
                  <a:tcPr/>
                </a:tc>
                <a:tc>
                  <a:txBody>
                    <a:bodyPr/>
                    <a:lstStyle/>
                    <a:p>
                      <a:pPr algn="ctr"/>
                      <a:r>
                        <a:rPr lang="en-US" sz="2400" dirty="0">
                          <a:solidFill>
                            <a:schemeClr val="tx1"/>
                          </a:solidFill>
                        </a:rPr>
                        <a:t>Distance</a:t>
                      </a:r>
                    </a:p>
                  </a:txBody>
                  <a:tcPr/>
                </a:tc>
                <a:tc>
                  <a:txBody>
                    <a:bodyPr/>
                    <a:lstStyle/>
                    <a:p>
                      <a:pPr algn="ctr"/>
                      <a:r>
                        <a:rPr lang="en-US" sz="2400" dirty="0">
                          <a:solidFill>
                            <a:schemeClr val="tx1"/>
                          </a:solidFill>
                        </a:rPr>
                        <a:t>Price Range</a:t>
                      </a:r>
                    </a:p>
                  </a:txBody>
                  <a:tcPr/>
                </a:tc>
                <a:tc>
                  <a:txBody>
                    <a:bodyPr/>
                    <a:lstStyle/>
                    <a:p>
                      <a:pPr algn="ctr"/>
                      <a:r>
                        <a:rPr lang="en-US" sz="2400" dirty="0">
                          <a:solidFill>
                            <a:schemeClr val="tx1"/>
                          </a:solidFill>
                        </a:rPr>
                        <a:t>Stars</a:t>
                      </a:r>
                    </a:p>
                  </a:txBody>
                  <a:tcPr/>
                </a:tc>
                <a:extLst>
                  <a:ext uri="{0D108BD9-81ED-4DB2-BD59-A6C34878D82A}">
                    <a16:rowId xmlns:a16="http://schemas.microsoft.com/office/drawing/2014/main" val="2955699150"/>
                  </a:ext>
                </a:extLst>
              </a:tr>
              <a:tr h="456554">
                <a:tc>
                  <a:txBody>
                    <a:bodyPr/>
                    <a:lstStyle/>
                    <a:p>
                      <a:r>
                        <a:rPr lang="en-US" sz="2400" dirty="0">
                          <a:solidFill>
                            <a:schemeClr val="tx1"/>
                          </a:solidFill>
                        </a:rPr>
                        <a:t>R1</a:t>
                      </a:r>
                    </a:p>
                  </a:txBody>
                  <a:tcPr/>
                </a:tc>
                <a:tc>
                  <a:txBody>
                    <a:bodyPr/>
                    <a:lstStyle/>
                    <a:p>
                      <a:r>
                        <a:rPr lang="en-US" sz="2400" dirty="0">
                          <a:solidFill>
                            <a:schemeClr val="tx1"/>
                          </a:solidFill>
                        </a:rPr>
                        <a:t>Mexican</a:t>
                      </a:r>
                    </a:p>
                  </a:txBody>
                  <a:tcPr/>
                </a:tc>
                <a:tc>
                  <a:txBody>
                    <a:bodyPr/>
                    <a:lstStyle/>
                    <a:p>
                      <a:pPr algn="r"/>
                      <a:r>
                        <a:rPr lang="en-US" sz="2400" dirty="0">
                          <a:solidFill>
                            <a:schemeClr val="tx1"/>
                          </a:solidFill>
                        </a:rPr>
                        <a:t>0.8</a:t>
                      </a:r>
                    </a:p>
                  </a:txBody>
                  <a:tcPr/>
                </a:tc>
                <a:tc>
                  <a:txBody>
                    <a:bodyPr/>
                    <a:lstStyle/>
                    <a:p>
                      <a:pPr algn="r"/>
                      <a:r>
                        <a:rPr lang="en-US" sz="2400" dirty="0">
                          <a:solidFill>
                            <a:schemeClr val="tx1"/>
                          </a:solidFill>
                        </a:rPr>
                        <a:t>0.1</a:t>
                      </a:r>
                    </a:p>
                  </a:txBody>
                  <a:tcPr/>
                </a:tc>
                <a:tc>
                  <a:txBody>
                    <a:bodyPr/>
                    <a:lstStyle/>
                    <a:p>
                      <a:pPr algn="r"/>
                      <a:r>
                        <a:rPr lang="en-US" sz="2400" dirty="0">
                          <a:solidFill>
                            <a:schemeClr val="tx1"/>
                          </a:solidFill>
                        </a:rPr>
                        <a:t>$</a:t>
                      </a:r>
                    </a:p>
                  </a:txBody>
                  <a:tcPr/>
                </a:tc>
                <a:tc>
                  <a:txBody>
                    <a:bodyPr/>
                    <a:lstStyle/>
                    <a:p>
                      <a:pPr algn="r"/>
                      <a:r>
                        <a:rPr lang="en-US" sz="2400" dirty="0">
                          <a:solidFill>
                            <a:schemeClr val="tx1"/>
                          </a:solidFill>
                        </a:rPr>
                        <a:t>4</a:t>
                      </a:r>
                    </a:p>
                  </a:txBody>
                  <a:tcPr/>
                </a:tc>
                <a:extLst>
                  <a:ext uri="{0D108BD9-81ED-4DB2-BD59-A6C34878D82A}">
                    <a16:rowId xmlns:a16="http://schemas.microsoft.com/office/drawing/2014/main" val="4269495456"/>
                  </a:ext>
                </a:extLst>
              </a:tr>
              <a:tr h="456554">
                <a:tc>
                  <a:txBody>
                    <a:bodyPr/>
                    <a:lstStyle/>
                    <a:p>
                      <a:r>
                        <a:rPr lang="en-US" sz="2400" dirty="0">
                          <a:solidFill>
                            <a:schemeClr val="tx1"/>
                          </a:solidFill>
                        </a:rPr>
                        <a:t>R2</a:t>
                      </a:r>
                    </a:p>
                  </a:txBody>
                  <a:tcPr/>
                </a:tc>
                <a:tc>
                  <a:txBody>
                    <a:bodyPr/>
                    <a:lstStyle/>
                    <a:p>
                      <a:r>
                        <a:rPr lang="en-US" sz="2400" dirty="0">
                          <a:solidFill>
                            <a:schemeClr val="tx1"/>
                          </a:solidFill>
                        </a:rPr>
                        <a:t>Pizza</a:t>
                      </a:r>
                    </a:p>
                  </a:txBody>
                  <a:tcPr/>
                </a:tc>
                <a:tc>
                  <a:txBody>
                    <a:bodyPr/>
                    <a:lstStyle/>
                    <a:p>
                      <a:pPr algn="r"/>
                      <a:r>
                        <a:rPr lang="en-US" sz="2400" dirty="0">
                          <a:solidFill>
                            <a:schemeClr val="tx1"/>
                          </a:solidFill>
                        </a:rPr>
                        <a:t>0.9</a:t>
                      </a:r>
                    </a:p>
                  </a:txBody>
                  <a:tcPr/>
                </a:tc>
                <a:tc>
                  <a:txBody>
                    <a:bodyPr/>
                    <a:lstStyle/>
                    <a:p>
                      <a:pPr algn="r"/>
                      <a:r>
                        <a:rPr lang="en-US" sz="2400" dirty="0">
                          <a:solidFill>
                            <a:schemeClr val="tx1"/>
                          </a:solidFill>
                        </a:rPr>
                        <a:t>0.4</a:t>
                      </a:r>
                    </a:p>
                  </a:txBody>
                  <a:tcPr/>
                </a:tc>
                <a:tc>
                  <a:txBody>
                    <a:bodyPr/>
                    <a:lstStyle/>
                    <a:p>
                      <a:pPr algn="r"/>
                      <a:r>
                        <a:rPr lang="en-US" sz="2400" dirty="0">
                          <a:solidFill>
                            <a:schemeClr val="tx1"/>
                          </a:solidFill>
                        </a:rPr>
                        <a:t>$$</a:t>
                      </a:r>
                    </a:p>
                  </a:txBody>
                  <a:tcPr/>
                </a:tc>
                <a:tc>
                  <a:txBody>
                    <a:bodyPr/>
                    <a:lstStyle/>
                    <a:p>
                      <a:pPr algn="r"/>
                      <a:r>
                        <a:rPr lang="en-US" sz="2400" dirty="0">
                          <a:solidFill>
                            <a:schemeClr val="tx1"/>
                          </a:solidFill>
                        </a:rPr>
                        <a:t>3</a:t>
                      </a:r>
                    </a:p>
                  </a:txBody>
                  <a:tcPr/>
                </a:tc>
                <a:extLst>
                  <a:ext uri="{0D108BD9-81ED-4DB2-BD59-A6C34878D82A}">
                    <a16:rowId xmlns:a16="http://schemas.microsoft.com/office/drawing/2014/main" val="90568364"/>
                  </a:ext>
                </a:extLst>
              </a:tr>
              <a:tr h="456554">
                <a:tc>
                  <a:txBody>
                    <a:bodyPr/>
                    <a:lstStyle/>
                    <a:p>
                      <a:r>
                        <a:rPr lang="en-US" sz="2400" dirty="0">
                          <a:solidFill>
                            <a:schemeClr val="tx1"/>
                          </a:solidFill>
                        </a:rPr>
                        <a:t>R3</a:t>
                      </a:r>
                    </a:p>
                  </a:txBody>
                  <a:tcPr/>
                </a:tc>
                <a:tc>
                  <a:txBody>
                    <a:bodyPr/>
                    <a:lstStyle/>
                    <a:p>
                      <a:r>
                        <a:rPr lang="en-US" sz="2400" dirty="0">
                          <a:solidFill>
                            <a:schemeClr val="tx1"/>
                          </a:solidFill>
                        </a:rPr>
                        <a:t>Pizza</a:t>
                      </a:r>
                    </a:p>
                  </a:txBody>
                  <a:tcPr/>
                </a:tc>
                <a:tc>
                  <a:txBody>
                    <a:bodyPr/>
                    <a:lstStyle/>
                    <a:p>
                      <a:pPr algn="r"/>
                      <a:r>
                        <a:rPr lang="en-US" sz="2400" dirty="0">
                          <a:solidFill>
                            <a:schemeClr val="tx1"/>
                          </a:solidFill>
                        </a:rPr>
                        <a:t>0.8</a:t>
                      </a:r>
                    </a:p>
                  </a:txBody>
                  <a:tcPr/>
                </a:tc>
                <a:tc>
                  <a:txBody>
                    <a:bodyPr/>
                    <a:lstStyle/>
                    <a:p>
                      <a:pPr algn="r"/>
                      <a:r>
                        <a:rPr lang="en-US" sz="2400" dirty="0">
                          <a:solidFill>
                            <a:schemeClr val="tx1"/>
                          </a:solidFill>
                        </a:rPr>
                        <a:t>0.6</a:t>
                      </a:r>
                    </a:p>
                  </a:txBody>
                  <a:tcPr/>
                </a:tc>
                <a:tc>
                  <a:txBody>
                    <a:bodyPr/>
                    <a:lstStyle/>
                    <a:p>
                      <a:pPr algn="r"/>
                      <a:r>
                        <a:rPr lang="en-US" sz="2400" dirty="0">
                          <a:solidFill>
                            <a:schemeClr val="tx1"/>
                          </a:solidFill>
                        </a:rPr>
                        <a:t>$$$</a:t>
                      </a:r>
                    </a:p>
                  </a:txBody>
                  <a:tcPr/>
                </a:tc>
                <a:tc>
                  <a:txBody>
                    <a:bodyPr/>
                    <a:lstStyle/>
                    <a:p>
                      <a:pPr algn="r"/>
                      <a:r>
                        <a:rPr lang="en-US" sz="2400" dirty="0">
                          <a:solidFill>
                            <a:schemeClr val="tx1"/>
                          </a:solidFill>
                        </a:rPr>
                        <a:t>4</a:t>
                      </a:r>
                    </a:p>
                  </a:txBody>
                  <a:tcPr/>
                </a:tc>
                <a:extLst>
                  <a:ext uri="{0D108BD9-81ED-4DB2-BD59-A6C34878D82A}">
                    <a16:rowId xmlns:a16="http://schemas.microsoft.com/office/drawing/2014/main" val="2114072735"/>
                  </a:ext>
                </a:extLst>
              </a:tr>
              <a:tr h="456554">
                <a:tc>
                  <a:txBody>
                    <a:bodyPr/>
                    <a:lstStyle/>
                    <a:p>
                      <a:r>
                        <a:rPr lang="en-US" sz="2400" dirty="0">
                          <a:solidFill>
                            <a:schemeClr val="tx1"/>
                          </a:solidFill>
                        </a:rPr>
                        <a:t>R4</a:t>
                      </a:r>
                    </a:p>
                  </a:txBody>
                  <a:tcPr/>
                </a:tc>
                <a:tc>
                  <a:txBody>
                    <a:bodyPr/>
                    <a:lstStyle/>
                    <a:p>
                      <a:r>
                        <a:rPr lang="en-US" sz="2400" dirty="0">
                          <a:solidFill>
                            <a:schemeClr val="tx1"/>
                          </a:solidFill>
                        </a:rPr>
                        <a:t>Vegetarian</a:t>
                      </a:r>
                    </a:p>
                  </a:txBody>
                  <a:tcPr/>
                </a:tc>
                <a:tc>
                  <a:txBody>
                    <a:bodyPr/>
                    <a:lstStyle/>
                    <a:p>
                      <a:pPr algn="r"/>
                      <a:r>
                        <a:rPr lang="en-US" sz="2400" dirty="0">
                          <a:solidFill>
                            <a:schemeClr val="tx1"/>
                          </a:solidFill>
                        </a:rPr>
                        <a:t>0.3</a:t>
                      </a:r>
                    </a:p>
                  </a:txBody>
                  <a:tcPr/>
                </a:tc>
                <a:tc>
                  <a:txBody>
                    <a:bodyPr/>
                    <a:lstStyle/>
                    <a:p>
                      <a:pPr algn="r"/>
                      <a:r>
                        <a:rPr lang="en-US" sz="2400" dirty="0">
                          <a:solidFill>
                            <a:schemeClr val="tx1"/>
                          </a:solidFill>
                        </a:rPr>
                        <a:t>0.7</a:t>
                      </a:r>
                    </a:p>
                  </a:txBody>
                  <a:tcPr/>
                </a:tc>
                <a:tc>
                  <a:txBody>
                    <a:bodyPr/>
                    <a:lstStyle/>
                    <a:p>
                      <a:pPr algn="r"/>
                      <a:r>
                        <a:rPr lang="en-US" sz="2400" dirty="0">
                          <a:solidFill>
                            <a:schemeClr val="tx1"/>
                          </a:solidFill>
                        </a:rPr>
                        <a:t>$$$</a:t>
                      </a:r>
                    </a:p>
                  </a:txBody>
                  <a:tcPr/>
                </a:tc>
                <a:tc>
                  <a:txBody>
                    <a:bodyPr/>
                    <a:lstStyle/>
                    <a:p>
                      <a:pPr algn="r"/>
                      <a:r>
                        <a:rPr lang="en-US" sz="2400" dirty="0">
                          <a:solidFill>
                            <a:schemeClr val="tx1"/>
                          </a:solidFill>
                        </a:rPr>
                        <a:t>5</a:t>
                      </a:r>
                    </a:p>
                  </a:txBody>
                  <a:tcPr/>
                </a:tc>
                <a:extLst>
                  <a:ext uri="{0D108BD9-81ED-4DB2-BD59-A6C34878D82A}">
                    <a16:rowId xmlns:a16="http://schemas.microsoft.com/office/drawing/2014/main" val="4286174170"/>
                  </a:ext>
                </a:extLst>
              </a:tr>
              <a:tr h="456554">
                <a:tc>
                  <a:txBody>
                    <a:bodyPr/>
                    <a:lstStyle/>
                    <a:p>
                      <a:r>
                        <a:rPr lang="en-US" sz="2400" dirty="0">
                          <a:solidFill>
                            <a:schemeClr val="tx1"/>
                          </a:solidFill>
                        </a:rPr>
                        <a:t>R5</a:t>
                      </a:r>
                    </a:p>
                  </a:txBody>
                  <a:tcPr/>
                </a:tc>
                <a:tc>
                  <a:txBody>
                    <a:bodyPr/>
                    <a:lstStyle/>
                    <a:p>
                      <a:r>
                        <a:rPr lang="en-US" sz="2400" dirty="0">
                          <a:solidFill>
                            <a:schemeClr val="tx1"/>
                          </a:solidFill>
                        </a:rPr>
                        <a:t>Thai</a:t>
                      </a:r>
                    </a:p>
                  </a:txBody>
                  <a:tcPr/>
                </a:tc>
                <a:tc>
                  <a:txBody>
                    <a:bodyPr/>
                    <a:lstStyle/>
                    <a:p>
                      <a:pPr algn="r"/>
                      <a:r>
                        <a:rPr lang="en-US" sz="2400" dirty="0">
                          <a:solidFill>
                            <a:schemeClr val="tx1"/>
                          </a:solidFill>
                        </a:rPr>
                        <a:t>0.6</a:t>
                      </a:r>
                    </a:p>
                  </a:txBody>
                  <a:tcPr/>
                </a:tc>
                <a:tc>
                  <a:txBody>
                    <a:bodyPr/>
                    <a:lstStyle/>
                    <a:p>
                      <a:pPr algn="r"/>
                      <a:r>
                        <a:rPr lang="en-US" sz="2400" dirty="0">
                          <a:solidFill>
                            <a:schemeClr val="tx1"/>
                          </a:solidFill>
                        </a:rPr>
                        <a:t>0.3</a:t>
                      </a:r>
                    </a:p>
                  </a:txBody>
                  <a:tcPr/>
                </a:tc>
                <a:tc>
                  <a:txBody>
                    <a:bodyPr/>
                    <a:lstStyle/>
                    <a:p>
                      <a:pPr algn="r"/>
                      <a:r>
                        <a:rPr lang="en-US" sz="2400" dirty="0">
                          <a:solidFill>
                            <a:schemeClr val="tx1"/>
                          </a:solidFill>
                        </a:rPr>
                        <a:t>$$</a:t>
                      </a:r>
                    </a:p>
                  </a:txBody>
                  <a:tcPr/>
                </a:tc>
                <a:tc>
                  <a:txBody>
                    <a:bodyPr/>
                    <a:lstStyle/>
                    <a:p>
                      <a:pPr algn="r"/>
                      <a:r>
                        <a:rPr lang="en-US" sz="2400" dirty="0">
                          <a:solidFill>
                            <a:schemeClr val="tx1"/>
                          </a:solidFill>
                        </a:rPr>
                        <a:t>4</a:t>
                      </a:r>
                    </a:p>
                  </a:txBody>
                  <a:tcPr/>
                </a:tc>
                <a:extLst>
                  <a:ext uri="{0D108BD9-81ED-4DB2-BD59-A6C34878D82A}">
                    <a16:rowId xmlns:a16="http://schemas.microsoft.com/office/drawing/2014/main" val="2363109214"/>
                  </a:ext>
                </a:extLst>
              </a:tr>
            </a:tbl>
          </a:graphicData>
        </a:graphic>
      </p:graphicFrame>
    </p:spTree>
    <p:extLst>
      <p:ext uri="{BB962C8B-B14F-4D97-AF65-F5344CB8AC3E}">
        <p14:creationId xmlns:p14="http://schemas.microsoft.com/office/powerpoint/2010/main" val="31802484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p:sp>
        <p:nvSpPr>
          <p:cNvPr id="3" name="Content Placeholder 2"/>
          <p:cNvSpPr>
            <a:spLocks noGrp="1"/>
          </p:cNvSpPr>
          <p:nvPr>
            <p:ph sz="quarter" idx="10"/>
          </p:nvPr>
        </p:nvSpPr>
        <p:spPr>
          <a:xfrm>
            <a:off x="208958" y="896079"/>
            <a:ext cx="11983041" cy="5698998"/>
          </a:xfrm>
        </p:spPr>
        <p:txBody>
          <a:bodyPr>
            <a:normAutofit/>
          </a:bodyPr>
          <a:lstStyle/>
          <a:p>
            <a:r>
              <a:rPr lang="en-US" dirty="0">
                <a:latin typeface="+mn-lt"/>
              </a:rPr>
              <a:t>Another example of computing dissimilarity between restaurants</a:t>
            </a:r>
          </a:p>
          <a:p>
            <a:endParaRPr lang="en-US" dirty="0">
              <a:latin typeface="+mn-lt"/>
            </a:endParaRPr>
          </a:p>
          <a:p>
            <a:endParaRPr lang="en-US" dirty="0">
              <a:latin typeface="+mn-lt"/>
            </a:endParaRPr>
          </a:p>
          <a:p>
            <a:endParaRPr lang="en-US" dirty="0">
              <a:latin typeface="+mn-lt"/>
            </a:endParaRPr>
          </a:p>
          <a:p>
            <a:pPr marL="0" indent="0">
              <a:buNone/>
            </a:pPr>
            <a:endParaRPr lang="en-US" dirty="0">
              <a:latin typeface="+mn-lt"/>
            </a:endParaRPr>
          </a:p>
          <a:p>
            <a:endParaRPr lang="en-US" dirty="0">
              <a:latin typeface="+mn-lt"/>
            </a:endParaRPr>
          </a:p>
          <a:p>
            <a:r>
              <a:rPr lang="en-US" dirty="0">
                <a:latin typeface="+mn-lt"/>
              </a:rPr>
              <a:t>Squared dissimilarity between R1 and R4, a Mexican and vegetarian restaurant</a:t>
            </a:r>
          </a:p>
          <a:p>
            <a:pPr marL="0" indent="0">
              <a:buNone/>
            </a:pPr>
            <a:r>
              <a:rPr lang="en-US" sz="2400" dirty="0">
                <a:latin typeface="+mn-lt"/>
              </a:rPr>
              <a:t>[0.25</a:t>
            </a:r>
            <a:r>
              <a:rPr lang="en-US" sz="2400" baseline="30000" dirty="0">
                <a:latin typeface="+mn-lt"/>
              </a:rPr>
              <a:t>2</a:t>
            </a:r>
            <a:r>
              <a:rPr lang="en-US" sz="2400" dirty="0">
                <a:latin typeface="+mn-lt"/>
              </a:rPr>
              <a:t> + 0.5</a:t>
            </a:r>
            <a:r>
              <a:rPr lang="en-US" sz="2400" baseline="30000" dirty="0">
                <a:latin typeface="+mn-lt"/>
              </a:rPr>
              <a:t>2</a:t>
            </a:r>
            <a:r>
              <a:rPr lang="en-US" sz="2400" dirty="0">
                <a:latin typeface="+mn-lt"/>
              </a:rPr>
              <a:t> + 0.6</a:t>
            </a:r>
            <a:r>
              <a:rPr lang="en-US" sz="2400" baseline="30000" dirty="0">
                <a:latin typeface="+mn-lt"/>
              </a:rPr>
              <a:t>2</a:t>
            </a:r>
            <a:r>
              <a:rPr lang="en-US" sz="2400" dirty="0">
                <a:latin typeface="+mn-lt"/>
              </a:rPr>
              <a:t> + 0.5</a:t>
            </a:r>
            <a:r>
              <a:rPr lang="en-US" sz="2400" baseline="30000" dirty="0">
                <a:latin typeface="+mn-lt"/>
              </a:rPr>
              <a:t>2</a:t>
            </a:r>
            <a:r>
              <a:rPr lang="en-US" sz="2400" dirty="0">
                <a:latin typeface="+mn-lt"/>
              </a:rPr>
              <a:t> + 0.25</a:t>
            </a:r>
            <a:r>
              <a:rPr lang="en-US" sz="2400" baseline="30000" dirty="0">
                <a:latin typeface="+mn-lt"/>
              </a:rPr>
              <a:t>2</a:t>
            </a:r>
            <a:r>
              <a:rPr lang="en-US" sz="2400" dirty="0">
                <a:latin typeface="+mn-lt"/>
              </a:rPr>
              <a:t>]/5 = [0.125 + 0.25 + 0.36 + 0.25+ 0.125]/5 = </a:t>
            </a:r>
            <a:r>
              <a:rPr lang="en-US" sz="2400" b="1" dirty="0">
                <a:latin typeface="+mn-lt"/>
              </a:rPr>
              <a:t>0.22</a:t>
            </a:r>
          </a:p>
          <a:p>
            <a:r>
              <a:rPr lang="en-US" dirty="0">
                <a:latin typeface="+mn-lt"/>
              </a:rPr>
              <a:t>Squared dissimilarity between R2 and R3, two pizza places</a:t>
            </a:r>
          </a:p>
          <a:p>
            <a:pPr marL="0" indent="0">
              <a:buNone/>
            </a:pPr>
            <a:r>
              <a:rPr lang="en-US" sz="2400" dirty="0">
                <a:latin typeface="+mn-lt"/>
              </a:rPr>
              <a:t>[0 + 0.1</a:t>
            </a:r>
            <a:r>
              <a:rPr lang="en-US" sz="2400" baseline="30000" dirty="0">
                <a:latin typeface="+mn-lt"/>
              </a:rPr>
              <a:t>2</a:t>
            </a:r>
            <a:r>
              <a:rPr lang="en-US" sz="2400" dirty="0">
                <a:latin typeface="+mn-lt"/>
              </a:rPr>
              <a:t> + 0.2</a:t>
            </a:r>
            <a:r>
              <a:rPr lang="en-US" sz="2400" baseline="30000" dirty="0">
                <a:latin typeface="+mn-lt"/>
              </a:rPr>
              <a:t>2</a:t>
            </a:r>
            <a:r>
              <a:rPr lang="en-US" sz="2400" dirty="0">
                <a:latin typeface="+mn-lt"/>
              </a:rPr>
              <a:t> + 0.5</a:t>
            </a:r>
            <a:r>
              <a:rPr lang="en-US" sz="2400" baseline="30000" dirty="0">
                <a:latin typeface="+mn-lt"/>
              </a:rPr>
              <a:t>2</a:t>
            </a:r>
            <a:r>
              <a:rPr lang="en-US" sz="2400" dirty="0">
                <a:latin typeface="+mn-lt"/>
              </a:rPr>
              <a:t> + 0.25</a:t>
            </a:r>
            <a:r>
              <a:rPr lang="en-US" sz="2400" baseline="30000" dirty="0">
                <a:latin typeface="+mn-lt"/>
              </a:rPr>
              <a:t>2</a:t>
            </a:r>
            <a:r>
              <a:rPr lang="en-US" sz="2400" dirty="0">
                <a:latin typeface="+mn-lt"/>
              </a:rPr>
              <a:t>]/5 = [0 + 0.01 + 0.04 + 0.25 + 0.125]/5 = </a:t>
            </a:r>
            <a:r>
              <a:rPr lang="en-US" sz="2400" b="1" dirty="0">
                <a:latin typeface="+mn-lt"/>
              </a:rPr>
              <a:t>0.085</a:t>
            </a:r>
          </a:p>
          <a:p>
            <a:endParaRPr lang="en-US" dirty="0">
              <a:latin typeface="+mn-lt"/>
            </a:endParaRPr>
          </a:p>
          <a:p>
            <a:pPr marL="0" indent="0">
              <a:buNone/>
            </a:pPr>
            <a:endParaRPr lang="en-US" dirty="0">
              <a:latin typeface="+mn-lt"/>
            </a:endParaRPr>
          </a:p>
        </p:txBody>
      </p:sp>
      <p:graphicFrame>
        <p:nvGraphicFramePr>
          <p:cNvPr id="5" name="Table 5">
            <a:extLst>
              <a:ext uri="{FF2B5EF4-FFF2-40B4-BE49-F238E27FC236}">
                <a16:creationId xmlns:a16="http://schemas.microsoft.com/office/drawing/2014/main" id="{B4474478-5A96-4835-8FDF-520632B5D493}"/>
              </a:ext>
            </a:extLst>
          </p:cNvPr>
          <p:cNvGraphicFramePr>
            <a:graphicFrameLocks noGrp="1"/>
          </p:cNvGraphicFramePr>
          <p:nvPr/>
        </p:nvGraphicFramePr>
        <p:xfrm>
          <a:off x="584200" y="1432300"/>
          <a:ext cx="11398842" cy="2743200"/>
        </p:xfrm>
        <a:graphic>
          <a:graphicData uri="http://schemas.openxmlformats.org/drawingml/2006/table">
            <a:tbl>
              <a:tblPr firstRow="1" bandRow="1">
                <a:tableStyleId>{5C22544A-7EE6-4342-B048-85BDC9FD1C3A}</a:tableStyleId>
              </a:tblPr>
              <a:tblGrid>
                <a:gridCol w="1862218">
                  <a:extLst>
                    <a:ext uri="{9D8B030D-6E8A-4147-A177-3AD203B41FA5}">
                      <a16:colId xmlns:a16="http://schemas.microsoft.com/office/drawing/2014/main" val="615816892"/>
                    </a:ext>
                  </a:extLst>
                </a:gridCol>
                <a:gridCol w="2128434">
                  <a:extLst>
                    <a:ext uri="{9D8B030D-6E8A-4147-A177-3AD203B41FA5}">
                      <a16:colId xmlns:a16="http://schemas.microsoft.com/office/drawing/2014/main" val="3425097927"/>
                    </a:ext>
                  </a:extLst>
                </a:gridCol>
                <a:gridCol w="1779453">
                  <a:extLst>
                    <a:ext uri="{9D8B030D-6E8A-4147-A177-3AD203B41FA5}">
                      <a16:colId xmlns:a16="http://schemas.microsoft.com/office/drawing/2014/main" val="1337615558"/>
                    </a:ext>
                  </a:extLst>
                </a:gridCol>
                <a:gridCol w="1829123">
                  <a:extLst>
                    <a:ext uri="{9D8B030D-6E8A-4147-A177-3AD203B41FA5}">
                      <a16:colId xmlns:a16="http://schemas.microsoft.com/office/drawing/2014/main" val="3418966473"/>
                    </a:ext>
                  </a:extLst>
                </a:gridCol>
                <a:gridCol w="1899807">
                  <a:extLst>
                    <a:ext uri="{9D8B030D-6E8A-4147-A177-3AD203B41FA5}">
                      <a16:colId xmlns:a16="http://schemas.microsoft.com/office/drawing/2014/main" val="3211043608"/>
                    </a:ext>
                  </a:extLst>
                </a:gridCol>
                <a:gridCol w="1899807">
                  <a:extLst>
                    <a:ext uri="{9D8B030D-6E8A-4147-A177-3AD203B41FA5}">
                      <a16:colId xmlns:a16="http://schemas.microsoft.com/office/drawing/2014/main" val="21232086"/>
                    </a:ext>
                  </a:extLst>
                </a:gridCol>
              </a:tblGrid>
              <a:tr h="456554">
                <a:tc>
                  <a:txBody>
                    <a:bodyPr/>
                    <a:lstStyle/>
                    <a:p>
                      <a:pPr algn="ctr"/>
                      <a:r>
                        <a:rPr lang="en-US" sz="2400" dirty="0">
                          <a:solidFill>
                            <a:schemeClr val="tx1"/>
                          </a:solidFill>
                        </a:rPr>
                        <a:t>Restaurant</a:t>
                      </a:r>
                    </a:p>
                  </a:txBody>
                  <a:tcPr/>
                </a:tc>
                <a:tc>
                  <a:txBody>
                    <a:bodyPr/>
                    <a:lstStyle/>
                    <a:p>
                      <a:pPr algn="ctr"/>
                      <a:r>
                        <a:rPr lang="en-US" sz="2400" dirty="0">
                          <a:solidFill>
                            <a:schemeClr val="tx1"/>
                          </a:solidFill>
                        </a:rPr>
                        <a:t>Type</a:t>
                      </a:r>
                    </a:p>
                  </a:txBody>
                  <a:tcPr/>
                </a:tc>
                <a:tc>
                  <a:txBody>
                    <a:bodyPr/>
                    <a:lstStyle/>
                    <a:p>
                      <a:pPr algn="ctr"/>
                      <a:r>
                        <a:rPr lang="en-US" sz="2400" dirty="0">
                          <a:solidFill>
                            <a:schemeClr val="tx1"/>
                          </a:solidFill>
                        </a:rPr>
                        <a:t>Calories</a:t>
                      </a:r>
                    </a:p>
                  </a:txBody>
                  <a:tcPr/>
                </a:tc>
                <a:tc>
                  <a:txBody>
                    <a:bodyPr/>
                    <a:lstStyle/>
                    <a:p>
                      <a:pPr algn="ctr"/>
                      <a:r>
                        <a:rPr lang="en-US" sz="2400" dirty="0">
                          <a:solidFill>
                            <a:schemeClr val="tx1"/>
                          </a:solidFill>
                        </a:rPr>
                        <a:t>Distance</a:t>
                      </a:r>
                    </a:p>
                  </a:txBody>
                  <a:tcPr/>
                </a:tc>
                <a:tc>
                  <a:txBody>
                    <a:bodyPr/>
                    <a:lstStyle/>
                    <a:p>
                      <a:pPr algn="ctr"/>
                      <a:r>
                        <a:rPr lang="en-US" sz="2400" dirty="0">
                          <a:solidFill>
                            <a:schemeClr val="tx1"/>
                          </a:solidFill>
                        </a:rPr>
                        <a:t>Price Range</a:t>
                      </a:r>
                    </a:p>
                  </a:txBody>
                  <a:tcPr/>
                </a:tc>
                <a:tc>
                  <a:txBody>
                    <a:bodyPr/>
                    <a:lstStyle/>
                    <a:p>
                      <a:pPr algn="ctr"/>
                      <a:r>
                        <a:rPr lang="en-US" sz="2400" dirty="0">
                          <a:solidFill>
                            <a:schemeClr val="tx1"/>
                          </a:solidFill>
                        </a:rPr>
                        <a:t>Stars</a:t>
                      </a:r>
                    </a:p>
                  </a:txBody>
                  <a:tcPr/>
                </a:tc>
                <a:extLst>
                  <a:ext uri="{0D108BD9-81ED-4DB2-BD59-A6C34878D82A}">
                    <a16:rowId xmlns:a16="http://schemas.microsoft.com/office/drawing/2014/main" val="2955699150"/>
                  </a:ext>
                </a:extLst>
              </a:tr>
              <a:tr h="456554">
                <a:tc>
                  <a:txBody>
                    <a:bodyPr/>
                    <a:lstStyle/>
                    <a:p>
                      <a:r>
                        <a:rPr lang="en-US" sz="2400" dirty="0">
                          <a:solidFill>
                            <a:schemeClr val="tx1"/>
                          </a:solidFill>
                        </a:rPr>
                        <a:t>R1</a:t>
                      </a:r>
                    </a:p>
                  </a:txBody>
                  <a:tcPr/>
                </a:tc>
                <a:tc>
                  <a:txBody>
                    <a:bodyPr/>
                    <a:lstStyle/>
                    <a:p>
                      <a:r>
                        <a:rPr lang="en-US" sz="2400" dirty="0">
                          <a:solidFill>
                            <a:schemeClr val="tx1"/>
                          </a:solidFill>
                        </a:rPr>
                        <a:t>Mexican</a:t>
                      </a:r>
                    </a:p>
                  </a:txBody>
                  <a:tcPr/>
                </a:tc>
                <a:tc>
                  <a:txBody>
                    <a:bodyPr/>
                    <a:lstStyle/>
                    <a:p>
                      <a:pPr algn="r"/>
                      <a:r>
                        <a:rPr lang="en-US" sz="2400" dirty="0">
                          <a:solidFill>
                            <a:schemeClr val="tx1"/>
                          </a:solidFill>
                        </a:rPr>
                        <a:t>0.8</a:t>
                      </a:r>
                    </a:p>
                  </a:txBody>
                  <a:tcPr/>
                </a:tc>
                <a:tc>
                  <a:txBody>
                    <a:bodyPr/>
                    <a:lstStyle/>
                    <a:p>
                      <a:pPr algn="r"/>
                      <a:r>
                        <a:rPr lang="en-US" sz="2400" dirty="0">
                          <a:solidFill>
                            <a:schemeClr val="tx1"/>
                          </a:solidFill>
                        </a:rPr>
                        <a:t>0.1</a:t>
                      </a:r>
                    </a:p>
                  </a:txBody>
                  <a:tcPr/>
                </a:tc>
                <a:tc>
                  <a:txBody>
                    <a:bodyPr/>
                    <a:lstStyle/>
                    <a:p>
                      <a:pPr algn="r"/>
                      <a:r>
                        <a:rPr lang="en-US" sz="2400" dirty="0">
                          <a:solidFill>
                            <a:schemeClr val="tx1"/>
                          </a:solidFill>
                        </a:rPr>
                        <a:t>$</a:t>
                      </a:r>
                    </a:p>
                  </a:txBody>
                  <a:tcPr/>
                </a:tc>
                <a:tc>
                  <a:txBody>
                    <a:bodyPr/>
                    <a:lstStyle/>
                    <a:p>
                      <a:pPr algn="r"/>
                      <a:r>
                        <a:rPr lang="en-US" sz="2400" dirty="0">
                          <a:solidFill>
                            <a:schemeClr val="tx1"/>
                          </a:solidFill>
                        </a:rPr>
                        <a:t>4</a:t>
                      </a:r>
                    </a:p>
                  </a:txBody>
                  <a:tcPr/>
                </a:tc>
                <a:extLst>
                  <a:ext uri="{0D108BD9-81ED-4DB2-BD59-A6C34878D82A}">
                    <a16:rowId xmlns:a16="http://schemas.microsoft.com/office/drawing/2014/main" val="4269495456"/>
                  </a:ext>
                </a:extLst>
              </a:tr>
              <a:tr h="456554">
                <a:tc>
                  <a:txBody>
                    <a:bodyPr/>
                    <a:lstStyle/>
                    <a:p>
                      <a:r>
                        <a:rPr lang="en-US" sz="2400" dirty="0">
                          <a:solidFill>
                            <a:schemeClr val="tx1"/>
                          </a:solidFill>
                        </a:rPr>
                        <a:t>R2</a:t>
                      </a:r>
                    </a:p>
                  </a:txBody>
                  <a:tcPr/>
                </a:tc>
                <a:tc>
                  <a:txBody>
                    <a:bodyPr/>
                    <a:lstStyle/>
                    <a:p>
                      <a:r>
                        <a:rPr lang="en-US" sz="2400" dirty="0">
                          <a:solidFill>
                            <a:schemeClr val="tx1"/>
                          </a:solidFill>
                        </a:rPr>
                        <a:t>Pizza</a:t>
                      </a:r>
                    </a:p>
                  </a:txBody>
                  <a:tcPr/>
                </a:tc>
                <a:tc>
                  <a:txBody>
                    <a:bodyPr/>
                    <a:lstStyle/>
                    <a:p>
                      <a:pPr algn="r"/>
                      <a:r>
                        <a:rPr lang="en-US" sz="2400" dirty="0">
                          <a:solidFill>
                            <a:schemeClr val="tx1"/>
                          </a:solidFill>
                        </a:rPr>
                        <a:t>0.9</a:t>
                      </a:r>
                    </a:p>
                  </a:txBody>
                  <a:tcPr/>
                </a:tc>
                <a:tc>
                  <a:txBody>
                    <a:bodyPr/>
                    <a:lstStyle/>
                    <a:p>
                      <a:pPr algn="r"/>
                      <a:r>
                        <a:rPr lang="en-US" sz="2400" dirty="0">
                          <a:solidFill>
                            <a:schemeClr val="tx1"/>
                          </a:solidFill>
                        </a:rPr>
                        <a:t>0.4</a:t>
                      </a:r>
                    </a:p>
                  </a:txBody>
                  <a:tcPr/>
                </a:tc>
                <a:tc>
                  <a:txBody>
                    <a:bodyPr/>
                    <a:lstStyle/>
                    <a:p>
                      <a:pPr algn="r"/>
                      <a:r>
                        <a:rPr lang="en-US" sz="2400" dirty="0">
                          <a:solidFill>
                            <a:schemeClr val="tx1"/>
                          </a:solidFill>
                        </a:rPr>
                        <a:t>$$</a:t>
                      </a:r>
                    </a:p>
                  </a:txBody>
                  <a:tcPr/>
                </a:tc>
                <a:tc>
                  <a:txBody>
                    <a:bodyPr/>
                    <a:lstStyle/>
                    <a:p>
                      <a:pPr algn="r"/>
                      <a:r>
                        <a:rPr lang="en-US" sz="2400" dirty="0">
                          <a:solidFill>
                            <a:schemeClr val="tx1"/>
                          </a:solidFill>
                        </a:rPr>
                        <a:t>3</a:t>
                      </a:r>
                    </a:p>
                  </a:txBody>
                  <a:tcPr/>
                </a:tc>
                <a:extLst>
                  <a:ext uri="{0D108BD9-81ED-4DB2-BD59-A6C34878D82A}">
                    <a16:rowId xmlns:a16="http://schemas.microsoft.com/office/drawing/2014/main" val="90568364"/>
                  </a:ext>
                </a:extLst>
              </a:tr>
              <a:tr h="456554">
                <a:tc>
                  <a:txBody>
                    <a:bodyPr/>
                    <a:lstStyle/>
                    <a:p>
                      <a:r>
                        <a:rPr lang="en-US" sz="2400" dirty="0">
                          <a:solidFill>
                            <a:schemeClr val="tx1"/>
                          </a:solidFill>
                        </a:rPr>
                        <a:t>R3</a:t>
                      </a:r>
                    </a:p>
                  </a:txBody>
                  <a:tcPr/>
                </a:tc>
                <a:tc>
                  <a:txBody>
                    <a:bodyPr/>
                    <a:lstStyle/>
                    <a:p>
                      <a:r>
                        <a:rPr lang="en-US" sz="2400" dirty="0">
                          <a:solidFill>
                            <a:schemeClr val="tx1"/>
                          </a:solidFill>
                        </a:rPr>
                        <a:t>Pizza</a:t>
                      </a:r>
                    </a:p>
                  </a:txBody>
                  <a:tcPr/>
                </a:tc>
                <a:tc>
                  <a:txBody>
                    <a:bodyPr/>
                    <a:lstStyle/>
                    <a:p>
                      <a:pPr algn="r"/>
                      <a:r>
                        <a:rPr lang="en-US" sz="2400" dirty="0">
                          <a:solidFill>
                            <a:schemeClr val="tx1"/>
                          </a:solidFill>
                        </a:rPr>
                        <a:t>0.8</a:t>
                      </a:r>
                    </a:p>
                  </a:txBody>
                  <a:tcPr/>
                </a:tc>
                <a:tc>
                  <a:txBody>
                    <a:bodyPr/>
                    <a:lstStyle/>
                    <a:p>
                      <a:pPr algn="r"/>
                      <a:r>
                        <a:rPr lang="en-US" sz="2400" dirty="0">
                          <a:solidFill>
                            <a:schemeClr val="tx1"/>
                          </a:solidFill>
                        </a:rPr>
                        <a:t>0.6</a:t>
                      </a:r>
                    </a:p>
                  </a:txBody>
                  <a:tcPr/>
                </a:tc>
                <a:tc>
                  <a:txBody>
                    <a:bodyPr/>
                    <a:lstStyle/>
                    <a:p>
                      <a:pPr algn="r"/>
                      <a:r>
                        <a:rPr lang="en-US" sz="2400" dirty="0">
                          <a:solidFill>
                            <a:schemeClr val="tx1"/>
                          </a:solidFill>
                        </a:rPr>
                        <a:t>$$$</a:t>
                      </a:r>
                    </a:p>
                  </a:txBody>
                  <a:tcPr/>
                </a:tc>
                <a:tc>
                  <a:txBody>
                    <a:bodyPr/>
                    <a:lstStyle/>
                    <a:p>
                      <a:pPr algn="r"/>
                      <a:r>
                        <a:rPr lang="en-US" sz="2400" dirty="0">
                          <a:solidFill>
                            <a:schemeClr val="tx1"/>
                          </a:solidFill>
                        </a:rPr>
                        <a:t>4</a:t>
                      </a:r>
                    </a:p>
                  </a:txBody>
                  <a:tcPr/>
                </a:tc>
                <a:extLst>
                  <a:ext uri="{0D108BD9-81ED-4DB2-BD59-A6C34878D82A}">
                    <a16:rowId xmlns:a16="http://schemas.microsoft.com/office/drawing/2014/main" val="2114072735"/>
                  </a:ext>
                </a:extLst>
              </a:tr>
              <a:tr h="456554">
                <a:tc>
                  <a:txBody>
                    <a:bodyPr/>
                    <a:lstStyle/>
                    <a:p>
                      <a:r>
                        <a:rPr lang="en-US" sz="2400" dirty="0">
                          <a:solidFill>
                            <a:schemeClr val="tx1"/>
                          </a:solidFill>
                        </a:rPr>
                        <a:t>R4</a:t>
                      </a:r>
                    </a:p>
                  </a:txBody>
                  <a:tcPr/>
                </a:tc>
                <a:tc>
                  <a:txBody>
                    <a:bodyPr/>
                    <a:lstStyle/>
                    <a:p>
                      <a:r>
                        <a:rPr lang="en-US" sz="2400" dirty="0">
                          <a:solidFill>
                            <a:schemeClr val="tx1"/>
                          </a:solidFill>
                        </a:rPr>
                        <a:t>Vegetarian</a:t>
                      </a:r>
                    </a:p>
                  </a:txBody>
                  <a:tcPr/>
                </a:tc>
                <a:tc>
                  <a:txBody>
                    <a:bodyPr/>
                    <a:lstStyle/>
                    <a:p>
                      <a:pPr algn="r"/>
                      <a:r>
                        <a:rPr lang="en-US" sz="2400" dirty="0">
                          <a:solidFill>
                            <a:schemeClr val="tx1"/>
                          </a:solidFill>
                        </a:rPr>
                        <a:t>0.3</a:t>
                      </a:r>
                    </a:p>
                  </a:txBody>
                  <a:tcPr/>
                </a:tc>
                <a:tc>
                  <a:txBody>
                    <a:bodyPr/>
                    <a:lstStyle/>
                    <a:p>
                      <a:pPr algn="r"/>
                      <a:r>
                        <a:rPr lang="en-US" sz="2400" dirty="0">
                          <a:solidFill>
                            <a:schemeClr val="tx1"/>
                          </a:solidFill>
                        </a:rPr>
                        <a:t>0.7</a:t>
                      </a:r>
                    </a:p>
                  </a:txBody>
                  <a:tcPr/>
                </a:tc>
                <a:tc>
                  <a:txBody>
                    <a:bodyPr/>
                    <a:lstStyle/>
                    <a:p>
                      <a:pPr algn="r"/>
                      <a:r>
                        <a:rPr lang="en-US" sz="2400" dirty="0">
                          <a:solidFill>
                            <a:schemeClr val="tx1"/>
                          </a:solidFill>
                        </a:rPr>
                        <a:t>$$$</a:t>
                      </a:r>
                    </a:p>
                  </a:txBody>
                  <a:tcPr/>
                </a:tc>
                <a:tc>
                  <a:txBody>
                    <a:bodyPr/>
                    <a:lstStyle/>
                    <a:p>
                      <a:pPr algn="r"/>
                      <a:r>
                        <a:rPr lang="en-US" sz="2400" dirty="0">
                          <a:solidFill>
                            <a:schemeClr val="tx1"/>
                          </a:solidFill>
                        </a:rPr>
                        <a:t>5</a:t>
                      </a:r>
                    </a:p>
                  </a:txBody>
                  <a:tcPr/>
                </a:tc>
                <a:extLst>
                  <a:ext uri="{0D108BD9-81ED-4DB2-BD59-A6C34878D82A}">
                    <a16:rowId xmlns:a16="http://schemas.microsoft.com/office/drawing/2014/main" val="4286174170"/>
                  </a:ext>
                </a:extLst>
              </a:tr>
              <a:tr h="456554">
                <a:tc>
                  <a:txBody>
                    <a:bodyPr/>
                    <a:lstStyle/>
                    <a:p>
                      <a:r>
                        <a:rPr lang="en-US" sz="2400" dirty="0">
                          <a:solidFill>
                            <a:schemeClr val="tx1"/>
                          </a:solidFill>
                        </a:rPr>
                        <a:t>R5</a:t>
                      </a:r>
                    </a:p>
                  </a:txBody>
                  <a:tcPr/>
                </a:tc>
                <a:tc>
                  <a:txBody>
                    <a:bodyPr/>
                    <a:lstStyle/>
                    <a:p>
                      <a:r>
                        <a:rPr lang="en-US" sz="2400" dirty="0">
                          <a:solidFill>
                            <a:schemeClr val="tx1"/>
                          </a:solidFill>
                        </a:rPr>
                        <a:t>Thai</a:t>
                      </a:r>
                    </a:p>
                  </a:txBody>
                  <a:tcPr/>
                </a:tc>
                <a:tc>
                  <a:txBody>
                    <a:bodyPr/>
                    <a:lstStyle/>
                    <a:p>
                      <a:pPr algn="r"/>
                      <a:r>
                        <a:rPr lang="en-US" sz="2400" dirty="0">
                          <a:solidFill>
                            <a:schemeClr val="tx1"/>
                          </a:solidFill>
                        </a:rPr>
                        <a:t>0.6</a:t>
                      </a:r>
                    </a:p>
                  </a:txBody>
                  <a:tcPr/>
                </a:tc>
                <a:tc>
                  <a:txBody>
                    <a:bodyPr/>
                    <a:lstStyle/>
                    <a:p>
                      <a:pPr algn="r"/>
                      <a:r>
                        <a:rPr lang="en-US" sz="2400" dirty="0">
                          <a:solidFill>
                            <a:schemeClr val="tx1"/>
                          </a:solidFill>
                        </a:rPr>
                        <a:t>0.3</a:t>
                      </a:r>
                    </a:p>
                  </a:txBody>
                  <a:tcPr/>
                </a:tc>
                <a:tc>
                  <a:txBody>
                    <a:bodyPr/>
                    <a:lstStyle/>
                    <a:p>
                      <a:pPr algn="r"/>
                      <a:r>
                        <a:rPr lang="en-US" sz="2400" dirty="0">
                          <a:solidFill>
                            <a:schemeClr val="tx1"/>
                          </a:solidFill>
                        </a:rPr>
                        <a:t>$$</a:t>
                      </a:r>
                    </a:p>
                  </a:txBody>
                  <a:tcPr/>
                </a:tc>
                <a:tc>
                  <a:txBody>
                    <a:bodyPr/>
                    <a:lstStyle/>
                    <a:p>
                      <a:pPr algn="r"/>
                      <a:r>
                        <a:rPr lang="en-US" sz="2400" dirty="0">
                          <a:solidFill>
                            <a:schemeClr val="tx1"/>
                          </a:solidFill>
                        </a:rPr>
                        <a:t>4</a:t>
                      </a:r>
                    </a:p>
                  </a:txBody>
                  <a:tcPr/>
                </a:tc>
                <a:extLst>
                  <a:ext uri="{0D108BD9-81ED-4DB2-BD59-A6C34878D82A}">
                    <a16:rowId xmlns:a16="http://schemas.microsoft.com/office/drawing/2014/main" val="2363109214"/>
                  </a:ext>
                </a:extLst>
              </a:tr>
            </a:tbl>
          </a:graphicData>
        </a:graphic>
      </p:graphicFrame>
    </p:spTree>
    <p:extLst>
      <p:ext uri="{BB962C8B-B14F-4D97-AF65-F5344CB8AC3E}">
        <p14:creationId xmlns:p14="http://schemas.microsoft.com/office/powerpoint/2010/main" val="12420623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8" end="8"/>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or dissimilarity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5698998"/>
              </a:xfrm>
            </p:spPr>
            <p:txBody>
              <a:bodyPr>
                <a:normAutofit/>
              </a:bodyPr>
              <a:lstStyle/>
              <a:p>
                <a:pPr marL="0" indent="0">
                  <a:buNone/>
                </a:pPr>
                <a:r>
                  <a:rPr lang="en-US" dirty="0">
                    <a:latin typeface="+mn-lt"/>
                  </a:rPr>
                  <a:t>How much do different metrics matter?</a:t>
                </a:r>
              </a:p>
              <a:p>
                <a:r>
                  <a:rPr lang="en-US" dirty="0">
                    <a:latin typeface="+mn-lt"/>
                  </a:rPr>
                  <a:t>A lot!</a:t>
                </a:r>
              </a:p>
              <a:p>
                <a:r>
                  <a:rPr lang="en-US" dirty="0">
                    <a:latin typeface="+mn-lt"/>
                  </a:rPr>
                  <a:t>Compare dissimilarity metrics between the restaurants</a:t>
                </a:r>
              </a:p>
              <a:p>
                <a:endParaRPr lang="en-US" dirty="0">
                  <a:latin typeface="+mn-lt"/>
                </a:endParaRPr>
              </a:p>
              <a:p>
                <a:endParaRPr lang="en-US" dirty="0">
                  <a:latin typeface="+mn-lt"/>
                </a:endParaRPr>
              </a:p>
              <a:p>
                <a:endParaRPr lang="en-US" dirty="0">
                  <a:latin typeface="+mn-lt"/>
                </a:endParaRPr>
              </a:p>
              <a:p>
                <a:r>
                  <a:rPr lang="en-US" dirty="0">
                    <a:latin typeface="+mn-lt"/>
                  </a:rPr>
                  <a:t>Manhattan distance, </a:t>
                </a:r>
                <a14:m>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𝐿</m:t>
                        </m:r>
                      </m:e>
                      <m:sub>
                        <m:r>
                          <a:rPr lang="en-US" b="0" i="1" smtClean="0">
                            <a:latin typeface="Cambria Math" panose="02040503050406030204" pitchFamily="18" charset="0"/>
                          </a:rPr>
                          <m:t>1</m:t>
                        </m:r>
                      </m:sub>
                    </m:sSub>
                  </m:oMath>
                </a14:m>
                <a:r>
                  <a:rPr lang="en-US" dirty="0">
                    <a:latin typeface="+mn-lt"/>
                  </a:rPr>
                  <a:t>, less sensitive to extreme differences </a:t>
                </a:r>
              </a:p>
              <a:p>
                <a:pPr marL="457200" lvl="1" indent="0">
                  <a:buNone/>
                </a:pPr>
                <a14:m>
                  <m:oMathPara xmlns:m="http://schemas.openxmlformats.org/officeDocument/2006/math">
                    <m:oMathParaPr>
                      <m:jc m:val="centerGroup"/>
                    </m:oMathParaPr>
                    <m:oMath xmlns:m="http://schemas.openxmlformats.org/officeDocument/2006/math">
                      <m:f>
                        <m:fPr>
                          <m:ctrlPr>
                            <a:rPr lang="en-US" i="1" smtClean="0">
                              <a:latin typeface="Cambria Math" panose="02040503050406030204" pitchFamily="18" charset="0"/>
                            </a:rPr>
                          </m:ctrlPr>
                        </m:fPr>
                        <m:num>
                          <m:r>
                            <a:rPr lang="en-US" b="0" i="1" smtClean="0">
                              <a:latin typeface="Cambria Math" panose="02040503050406030204" pitchFamily="18" charset="0"/>
                            </a:rPr>
                            <m:t>0.42</m:t>
                          </m:r>
                        </m:num>
                        <m:den>
                          <m:r>
                            <a:rPr lang="en-US" b="0" i="1" smtClean="0">
                              <a:latin typeface="Cambria Math" panose="02040503050406030204" pitchFamily="18" charset="0"/>
                            </a:rPr>
                            <m:t>0.21</m:t>
                          </m:r>
                        </m:den>
                      </m:f>
                      <m:r>
                        <a:rPr lang="en-US" b="0" i="1" smtClean="0">
                          <a:latin typeface="Cambria Math" panose="02040503050406030204" pitchFamily="18" charset="0"/>
                        </a:rPr>
                        <m:t>=2.0</m:t>
                      </m:r>
                    </m:oMath>
                  </m:oMathPara>
                </a14:m>
                <a:endParaRPr lang="en-US" dirty="0">
                  <a:latin typeface="+mn-lt"/>
                </a:endParaRPr>
              </a:p>
              <a:p>
                <a:r>
                  <a:rPr lang="en-US" dirty="0">
                    <a:latin typeface="+mn-lt"/>
                  </a:rPr>
                  <a:t>The Euclidean,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𝐿</m:t>
                        </m:r>
                      </m:e>
                      <m:sub>
                        <m:r>
                          <a:rPr lang="en-US" i="1">
                            <a:latin typeface="Cambria Math" panose="02040503050406030204" pitchFamily="18" charset="0"/>
                          </a:rPr>
                          <m:t>2</m:t>
                        </m:r>
                      </m:sub>
                    </m:sSub>
                  </m:oMath>
                </a14:m>
                <a:r>
                  <a:rPr lang="en-US" dirty="0">
                    <a:latin typeface="+mn-lt"/>
                  </a:rPr>
                  <a:t>, distance emphasizes larger differences in feature values  </a:t>
                </a:r>
              </a:p>
              <a:p>
                <a:pPr marL="457200" lvl="1" indent="0">
                  <a:buNone/>
                </a:pPr>
                <a14:m>
                  <m:oMathPara xmlns:m="http://schemas.openxmlformats.org/officeDocument/2006/math">
                    <m:oMathParaPr>
                      <m:jc m:val="centerGroup"/>
                    </m:oMathParaPr>
                    <m:oMath xmlns:m="http://schemas.openxmlformats.org/officeDocument/2006/math">
                      <m:f>
                        <m:fPr>
                          <m:ctrlPr>
                            <a:rPr lang="en-US" i="1">
                              <a:latin typeface="Cambria Math" panose="02040503050406030204" pitchFamily="18" charset="0"/>
                            </a:rPr>
                          </m:ctrlPr>
                        </m:fPr>
                        <m:num>
                          <m:r>
                            <a:rPr lang="en-US" i="1">
                              <a:latin typeface="Cambria Math" panose="02040503050406030204" pitchFamily="18" charset="0"/>
                            </a:rPr>
                            <m:t>0.22</m:t>
                          </m:r>
                        </m:num>
                        <m:den>
                          <m:r>
                            <a:rPr lang="en-US" i="1">
                              <a:latin typeface="Cambria Math" panose="02040503050406030204" pitchFamily="18" charset="0"/>
                            </a:rPr>
                            <m:t>0.085</m:t>
                          </m:r>
                        </m:den>
                      </m:f>
                      <m:r>
                        <a:rPr lang="en-US" i="1">
                          <a:latin typeface="Cambria Math" panose="02040503050406030204" pitchFamily="18" charset="0"/>
                        </a:rPr>
                        <m:t>=2.6</m:t>
                      </m:r>
                    </m:oMath>
                  </m:oMathPara>
                </a14:m>
                <a:endParaRPr lang="en-US" dirty="0"/>
              </a:p>
              <a:p>
                <a:endParaRPr lang="en-US"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5698998"/>
              </a:xfrm>
              <a:blipFill>
                <a:blip r:embed="rId3"/>
                <a:stretch>
                  <a:fillRect l="-1111" t="-1818"/>
                </a:stretch>
              </a:blipFill>
            </p:spPr>
            <p:txBody>
              <a:bodyPr/>
              <a:lstStyle/>
              <a:p>
                <a:r>
                  <a:rPr lang="en-US">
                    <a:noFill/>
                  </a:rPr>
                  <a:t> </a:t>
                </a:r>
              </a:p>
            </p:txBody>
          </p:sp>
        </mc:Fallback>
      </mc:AlternateContent>
      <p:graphicFrame>
        <p:nvGraphicFramePr>
          <p:cNvPr id="5" name="Table 5">
            <a:extLst>
              <a:ext uri="{FF2B5EF4-FFF2-40B4-BE49-F238E27FC236}">
                <a16:creationId xmlns:a16="http://schemas.microsoft.com/office/drawing/2014/main" id="{1CB42A7F-F831-4FC9-A747-7D416F91ED9D}"/>
              </a:ext>
            </a:extLst>
          </p:cNvPr>
          <p:cNvGraphicFramePr>
            <a:graphicFrameLocks noGrp="1"/>
          </p:cNvGraphicFramePr>
          <p:nvPr>
            <p:extLst>
              <p:ext uri="{D42A27DB-BD31-4B8C-83A1-F6EECF244321}">
                <p14:modId xmlns:p14="http://schemas.microsoft.com/office/powerpoint/2010/main" val="1696918281"/>
              </p:ext>
            </p:extLst>
          </p:nvPr>
        </p:nvGraphicFramePr>
        <p:xfrm>
          <a:off x="709478" y="2588217"/>
          <a:ext cx="9638223" cy="1416441"/>
        </p:xfrm>
        <a:graphic>
          <a:graphicData uri="http://schemas.openxmlformats.org/drawingml/2006/table">
            <a:tbl>
              <a:tblPr firstRow="1" bandRow="1">
                <a:tableStyleId>{5C22544A-7EE6-4342-B048-85BDC9FD1C3A}</a:tableStyleId>
              </a:tblPr>
              <a:tblGrid>
                <a:gridCol w="3212741">
                  <a:extLst>
                    <a:ext uri="{9D8B030D-6E8A-4147-A177-3AD203B41FA5}">
                      <a16:colId xmlns:a16="http://schemas.microsoft.com/office/drawing/2014/main" val="4235277372"/>
                    </a:ext>
                  </a:extLst>
                </a:gridCol>
                <a:gridCol w="3212741">
                  <a:extLst>
                    <a:ext uri="{9D8B030D-6E8A-4147-A177-3AD203B41FA5}">
                      <a16:colId xmlns:a16="http://schemas.microsoft.com/office/drawing/2014/main" val="2417895486"/>
                    </a:ext>
                  </a:extLst>
                </a:gridCol>
                <a:gridCol w="3212741">
                  <a:extLst>
                    <a:ext uri="{9D8B030D-6E8A-4147-A177-3AD203B41FA5}">
                      <a16:colId xmlns:a16="http://schemas.microsoft.com/office/drawing/2014/main" val="747759040"/>
                    </a:ext>
                  </a:extLst>
                </a:gridCol>
              </a:tblGrid>
              <a:tr h="472147">
                <a:tc>
                  <a:txBody>
                    <a:bodyPr/>
                    <a:lstStyle/>
                    <a:p>
                      <a:endParaRPr lang="en-US" sz="2400" dirty="0">
                        <a:solidFill>
                          <a:schemeClr val="tx1"/>
                        </a:solidFill>
                      </a:endParaRPr>
                    </a:p>
                  </a:txBody>
                  <a:tcPr/>
                </a:tc>
                <a:tc>
                  <a:txBody>
                    <a:bodyPr/>
                    <a:lstStyle/>
                    <a:p>
                      <a:pPr algn="ctr"/>
                      <a:r>
                        <a:rPr lang="en-US" sz="2400" dirty="0">
                          <a:solidFill>
                            <a:schemeClr val="tx1"/>
                          </a:solidFill>
                        </a:rPr>
                        <a:t>Mexican – Vegetarian</a:t>
                      </a:r>
                    </a:p>
                  </a:txBody>
                  <a:tcPr/>
                </a:tc>
                <a:tc>
                  <a:txBody>
                    <a:bodyPr/>
                    <a:lstStyle/>
                    <a:p>
                      <a:pPr algn="ctr"/>
                      <a:r>
                        <a:rPr lang="en-US" sz="2400" dirty="0">
                          <a:solidFill>
                            <a:schemeClr val="tx1"/>
                          </a:solidFill>
                        </a:rPr>
                        <a:t>2 Pizza Places</a:t>
                      </a:r>
                    </a:p>
                  </a:txBody>
                  <a:tcPr/>
                </a:tc>
                <a:extLst>
                  <a:ext uri="{0D108BD9-81ED-4DB2-BD59-A6C34878D82A}">
                    <a16:rowId xmlns:a16="http://schemas.microsoft.com/office/drawing/2014/main" val="634146937"/>
                  </a:ext>
                </a:extLst>
              </a:tr>
              <a:tr h="472147">
                <a:tc>
                  <a:txBody>
                    <a:bodyPr/>
                    <a:lstStyle/>
                    <a:p>
                      <a:r>
                        <a:rPr lang="en-US" sz="2400" b="1" dirty="0">
                          <a:solidFill>
                            <a:schemeClr val="tx1"/>
                          </a:solidFill>
                        </a:rPr>
                        <a:t>Absolute distance</a:t>
                      </a:r>
                    </a:p>
                  </a:txBody>
                  <a:tcPr/>
                </a:tc>
                <a:tc>
                  <a:txBody>
                    <a:bodyPr/>
                    <a:lstStyle/>
                    <a:p>
                      <a:pPr algn="r"/>
                      <a:r>
                        <a:rPr lang="en-US" sz="2400" dirty="0">
                          <a:solidFill>
                            <a:schemeClr val="tx1"/>
                          </a:solidFill>
                        </a:rPr>
                        <a:t>0.42</a:t>
                      </a:r>
                    </a:p>
                  </a:txBody>
                  <a:tcPr/>
                </a:tc>
                <a:tc>
                  <a:txBody>
                    <a:bodyPr/>
                    <a:lstStyle/>
                    <a:p>
                      <a:pPr algn="r"/>
                      <a:r>
                        <a:rPr lang="en-US" sz="2400" dirty="0">
                          <a:solidFill>
                            <a:schemeClr val="tx1"/>
                          </a:solidFill>
                        </a:rPr>
                        <a:t>0.21</a:t>
                      </a:r>
                    </a:p>
                  </a:txBody>
                  <a:tcPr/>
                </a:tc>
                <a:extLst>
                  <a:ext uri="{0D108BD9-81ED-4DB2-BD59-A6C34878D82A}">
                    <a16:rowId xmlns:a16="http://schemas.microsoft.com/office/drawing/2014/main" val="1267392511"/>
                  </a:ext>
                </a:extLst>
              </a:tr>
              <a:tr h="472147">
                <a:tc>
                  <a:txBody>
                    <a:bodyPr/>
                    <a:lstStyle/>
                    <a:p>
                      <a:r>
                        <a:rPr lang="en-US" sz="2400" b="1" dirty="0">
                          <a:solidFill>
                            <a:schemeClr val="tx1"/>
                          </a:solidFill>
                        </a:rPr>
                        <a:t>Euclidean distance</a:t>
                      </a:r>
                    </a:p>
                  </a:txBody>
                  <a:tcPr/>
                </a:tc>
                <a:tc>
                  <a:txBody>
                    <a:bodyPr/>
                    <a:lstStyle/>
                    <a:p>
                      <a:pPr algn="r"/>
                      <a:r>
                        <a:rPr lang="en-US" sz="2400" dirty="0">
                          <a:solidFill>
                            <a:schemeClr val="tx1"/>
                          </a:solidFill>
                        </a:rPr>
                        <a:t>0.22</a:t>
                      </a:r>
                    </a:p>
                  </a:txBody>
                  <a:tcPr/>
                </a:tc>
                <a:tc>
                  <a:txBody>
                    <a:bodyPr/>
                    <a:lstStyle/>
                    <a:p>
                      <a:pPr algn="r"/>
                      <a:r>
                        <a:rPr lang="en-US" sz="2400" dirty="0">
                          <a:solidFill>
                            <a:schemeClr val="tx1"/>
                          </a:solidFill>
                        </a:rPr>
                        <a:t>0.085</a:t>
                      </a:r>
                    </a:p>
                  </a:txBody>
                  <a:tcPr/>
                </a:tc>
                <a:extLst>
                  <a:ext uri="{0D108BD9-81ED-4DB2-BD59-A6C34878D82A}">
                    <a16:rowId xmlns:a16="http://schemas.microsoft.com/office/drawing/2014/main" val="4269338162"/>
                  </a:ext>
                </a:extLst>
              </a:tr>
            </a:tbl>
          </a:graphicData>
        </a:graphic>
      </p:graphicFrame>
    </p:spTree>
    <p:extLst>
      <p:ext uri="{BB962C8B-B14F-4D97-AF65-F5344CB8AC3E}">
        <p14:creationId xmlns:p14="http://schemas.microsoft.com/office/powerpoint/2010/main" val="31634541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E728F5-5F65-F174-2A1A-90A41374062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B304B82-BDCC-AFBB-B6F0-5B82CE6979F0}"/>
              </a:ext>
            </a:extLst>
          </p:cNvPr>
          <p:cNvSpPr>
            <a:spLocks noGrp="1"/>
          </p:cNvSpPr>
          <p:nvPr>
            <p:ph type="title"/>
          </p:nvPr>
        </p:nvSpPr>
        <p:spPr>
          <a:xfrm>
            <a:off x="831850" y="1709738"/>
            <a:ext cx="10515600" cy="2104337"/>
          </a:xfrm>
        </p:spPr>
        <p:txBody>
          <a:bodyPr/>
          <a:lstStyle/>
          <a:p>
            <a:pPr algn="ctr"/>
            <a:r>
              <a:rPr lang="en-US" b="1" dirty="0"/>
              <a:t>Similarity Metrics</a:t>
            </a:r>
          </a:p>
        </p:txBody>
      </p:sp>
    </p:spTree>
    <p:extLst>
      <p:ext uri="{BB962C8B-B14F-4D97-AF65-F5344CB8AC3E}">
        <p14:creationId xmlns:p14="http://schemas.microsoft.com/office/powerpoint/2010/main" val="405647256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distance and similarity</a:t>
            </a:r>
          </a:p>
        </p:txBody>
      </p:sp>
      <p:sp>
        <p:nvSpPr>
          <p:cNvPr id="3" name="Content Placeholder 2"/>
          <p:cNvSpPr>
            <a:spLocks noGrp="1"/>
          </p:cNvSpPr>
          <p:nvPr>
            <p:ph sz="quarter" idx="10"/>
          </p:nvPr>
        </p:nvSpPr>
        <p:spPr>
          <a:xfrm>
            <a:off x="333375" y="896079"/>
            <a:ext cx="11525250" cy="5698998"/>
          </a:xfrm>
        </p:spPr>
        <p:txBody>
          <a:bodyPr>
            <a:normAutofit lnSpcReduction="10000"/>
          </a:bodyPr>
          <a:lstStyle/>
          <a:p>
            <a:pPr marL="0" indent="0">
              <a:buNone/>
            </a:pPr>
            <a:r>
              <a:rPr lang="en-US" dirty="0">
                <a:latin typeface="+mn-lt"/>
              </a:rPr>
              <a:t>Do we always work with dissimilarity?</a:t>
            </a:r>
          </a:p>
          <a:p>
            <a:r>
              <a:rPr lang="en-US" dirty="0">
                <a:latin typeface="+mn-lt"/>
              </a:rPr>
              <a:t>No! </a:t>
            </a:r>
          </a:p>
          <a:p>
            <a:r>
              <a:rPr lang="en-US" dirty="0">
                <a:latin typeface="+mn-lt"/>
              </a:rPr>
              <a:t>We often work with measures of </a:t>
            </a:r>
            <a:r>
              <a:rPr lang="en-US" b="1" dirty="0">
                <a:latin typeface="+mn-lt"/>
              </a:rPr>
              <a:t>similarity</a:t>
            </a:r>
          </a:p>
          <a:p>
            <a:r>
              <a:rPr lang="en-US" dirty="0">
                <a:latin typeface="+mn-lt"/>
              </a:rPr>
              <a:t>The closer points are in a space (smaller distance) the more similar they are</a:t>
            </a:r>
          </a:p>
          <a:p>
            <a:r>
              <a:rPr lang="en-US" dirty="0">
                <a:latin typeface="+mn-lt"/>
              </a:rPr>
              <a:t>In many cases, similarity measures can be transformed to dissimilarity </a:t>
            </a:r>
            <a:endParaRPr lang="en-US" b="1" dirty="0">
              <a:latin typeface="+mn-lt"/>
            </a:endParaRPr>
          </a:p>
          <a:p>
            <a:r>
              <a:rPr lang="en-US" dirty="0">
                <a:latin typeface="+mn-lt"/>
              </a:rPr>
              <a:t>For data with positive and negative coding similarity must be in the range [-1,1]</a:t>
            </a:r>
          </a:p>
          <a:p>
            <a:pPr lvl="1"/>
            <a:r>
              <a:rPr lang="en-US" dirty="0">
                <a:latin typeface="+mn-lt"/>
              </a:rPr>
              <a:t>Similarity = 1, maximum similarity, points are at the same location in the space</a:t>
            </a:r>
          </a:p>
          <a:p>
            <a:pPr lvl="1"/>
            <a:r>
              <a:rPr lang="en-US" dirty="0">
                <a:latin typeface="+mn-lt"/>
              </a:rPr>
              <a:t>Similarity = 0, points are </a:t>
            </a:r>
            <a:r>
              <a:rPr lang="en-US" b="1" dirty="0">
                <a:latin typeface="+mn-lt"/>
              </a:rPr>
              <a:t>orthogonal</a:t>
            </a:r>
            <a:r>
              <a:rPr lang="en-US" dirty="0">
                <a:latin typeface="+mn-lt"/>
              </a:rPr>
              <a:t> in the space, no similarity</a:t>
            </a:r>
          </a:p>
          <a:p>
            <a:pPr lvl="1"/>
            <a:r>
              <a:rPr lang="en-US" dirty="0">
                <a:latin typeface="+mn-lt"/>
              </a:rPr>
              <a:t>Similarity = -1, minimum similarity, points have completely opposite coding </a:t>
            </a:r>
          </a:p>
          <a:p>
            <a:r>
              <a:rPr lang="en-US" dirty="0">
                <a:latin typeface="+mn-lt"/>
              </a:rPr>
              <a:t>For non-negative data similarity in range [0,1] </a:t>
            </a:r>
          </a:p>
          <a:p>
            <a:pPr lvl="1"/>
            <a:r>
              <a:rPr lang="en-US" dirty="0">
                <a:latin typeface="+mn-lt"/>
              </a:rPr>
              <a:t>Example, binary data</a:t>
            </a:r>
          </a:p>
        </p:txBody>
      </p:sp>
    </p:spTree>
    <p:extLst>
      <p:ext uri="{BB962C8B-B14F-4D97-AF65-F5344CB8AC3E}">
        <p14:creationId xmlns:p14="http://schemas.microsoft.com/office/powerpoint/2010/main" val="22456361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3">
                                            <p:txEl>
                                              <p:pRg st="9" end="9"/>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1159932"/>
                <a:ext cx="11525250" cy="5363577"/>
              </a:xfrm>
            </p:spPr>
            <p:txBody>
              <a:bodyPr>
                <a:normAutofit/>
              </a:bodyPr>
              <a:lstStyle/>
              <a:p>
                <a:pPr marL="0" indent="0">
                  <a:buNone/>
                </a:pPr>
                <a:r>
                  <a:rPr lang="en-US" dirty="0">
                    <a:latin typeface="+mn-lt"/>
                  </a:rPr>
                  <a:t>Different metrics for similarity can be computed for numeric variables in p dimensions</a:t>
                </a:r>
              </a:p>
              <a:p>
                <a:r>
                  <a:rPr lang="en-US" b="1" dirty="0">
                    <a:latin typeface="+mn-lt"/>
                  </a:rPr>
                  <a:t>Pearson correlation</a:t>
                </a:r>
                <a:r>
                  <a:rPr lang="en-US" dirty="0">
                    <a:latin typeface="+mn-lt"/>
                  </a:rPr>
                  <a:t>, for two vectors of values </a:t>
                </a:r>
                <a14:m>
                  <m:oMath xmlns:m="http://schemas.openxmlformats.org/officeDocument/2006/math">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𝑥</m:t>
                        </m:r>
                      </m:e>
                      <m:sup>
                        <m:r>
                          <a:rPr lang="en-US" b="0" i="1" smtClean="0">
                            <a:latin typeface="Cambria Math" panose="02040503050406030204" pitchFamily="18" charset="0"/>
                          </a:rPr>
                          <m:t>′</m:t>
                        </m:r>
                      </m:sup>
                    </m:sSup>
                    <m:r>
                      <a:rPr lang="en-US" b="0" i="1" smtClean="0">
                        <a:latin typeface="Cambria Math" panose="02040503050406030204" pitchFamily="18" charset="0"/>
                      </a:rPr>
                      <m:t>)</m:t>
                    </m:r>
                  </m:oMath>
                </a14:m>
                <a:endParaRPr lang="en-US" dirty="0">
                  <a:latin typeface="+mn-lt"/>
                </a:endParaRP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𝑠</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e>
                      </m:d>
                      <m:f>
                        <m:fPr>
                          <m:ctrlPr>
                            <a:rPr lang="en-US" b="0" i="1" smtClean="0">
                              <a:latin typeface="Cambria Math" panose="02040503050406030204" pitchFamily="18" charset="0"/>
                            </a:rPr>
                          </m:ctrlPr>
                        </m:fPr>
                        <m:num>
                          <m:r>
                            <a:rPr lang="en-US" b="0" i="1" smtClean="0">
                              <a:latin typeface="Cambria Math" panose="02040503050406030204" pitchFamily="18" charset="0"/>
                            </a:rPr>
                            <m:t>𝐶𝑜𝑣</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num>
                        <m:den>
                          <m:rad>
                            <m:radPr>
                              <m:degHide m:val="on"/>
                              <m:ctrlPr>
                                <a:rPr lang="en-US" b="0" i="1" smtClean="0">
                                  <a:latin typeface="Cambria Math" panose="02040503050406030204" pitchFamily="18" charset="0"/>
                                </a:rPr>
                              </m:ctrlPr>
                            </m:radPr>
                            <m:deg/>
                            <m:e>
                              <m:sSup>
                                <m:sSupPr>
                                  <m:ctrlPr>
                                    <a:rPr lang="en-US" b="0" i="1" smtClean="0">
                                      <a:latin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𝜎</m:t>
                                  </m:r>
                                </m:e>
                                <m:sup>
                                  <m:r>
                                    <a:rPr lang="en-US" b="0" i="1" smtClean="0">
                                      <a:latin typeface="Cambria Math" panose="02040503050406030204" pitchFamily="18" charset="0"/>
                                    </a:rPr>
                                    <m:t>2</m:t>
                                  </m:r>
                                </m:sup>
                              </m:sSup>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𝑥</m:t>
                              </m:r>
                              <m:r>
                                <a:rPr lang="en-US" i="1">
                                  <a:latin typeface="Cambria Math" panose="02040503050406030204" pitchFamily="18" charset="0"/>
                                  <a:ea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𝜎</m:t>
                                  </m:r>
                                </m:e>
                                <m:sup>
                                  <m:r>
                                    <a:rPr lang="en-US" b="0" i="1" smtClean="0">
                                      <a:latin typeface="Cambria Math" panose="02040503050406030204" pitchFamily="18" charset="0"/>
                                    </a:rPr>
                                    <m:t>2</m:t>
                                  </m:r>
                                </m:sup>
                              </m:sSup>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m:t>
                              </m:r>
                            </m:e>
                          </m:rad>
                        </m:den>
                      </m:f>
                      <m:r>
                        <a:rPr lang="en-US" b="0" i="1" dirty="0" smtClean="0">
                          <a:latin typeface="Cambria Math" panose="02040503050406030204" pitchFamily="18" charset="0"/>
                        </a:rPr>
                        <m:t>=</m:t>
                      </m:r>
                      <m:f>
                        <m:fPr>
                          <m:ctrlPr>
                            <a:rPr lang="en-US" b="0" i="1" dirty="0" smtClean="0">
                              <a:latin typeface="Cambria Math" panose="02040503050406030204" pitchFamily="18" charset="0"/>
                            </a:rPr>
                          </m:ctrlPr>
                        </m:fPr>
                        <m:num>
                          <m:r>
                            <a:rPr lang="en-US" b="0" i="1" dirty="0" smtClean="0">
                              <a:latin typeface="Cambria Math" panose="02040503050406030204" pitchFamily="18" charset="0"/>
                            </a:rPr>
                            <m:t>(</m:t>
                          </m:r>
                          <m:r>
                            <a:rPr lang="en-US" b="0" i="1" dirty="0" smtClean="0">
                              <a:latin typeface="Cambria Math" panose="02040503050406030204" pitchFamily="18" charset="0"/>
                            </a:rPr>
                            <m:t>𝑥</m:t>
                          </m:r>
                          <m:r>
                            <a:rPr lang="en-US" b="0" i="1" dirty="0" smtClean="0">
                              <a:latin typeface="Cambria Math" panose="02040503050406030204" pitchFamily="18" charset="0"/>
                            </a:rPr>
                            <m:t>−</m:t>
                          </m:r>
                          <m:acc>
                            <m:accPr>
                              <m:chr m:val="̅"/>
                              <m:ctrlPr>
                                <a:rPr lang="en-US" b="0" i="1" dirty="0" smtClean="0">
                                  <a:latin typeface="Cambria Math" panose="02040503050406030204" pitchFamily="18" charset="0"/>
                                </a:rPr>
                              </m:ctrlPr>
                            </m:accPr>
                            <m:e>
                              <m:r>
                                <a:rPr lang="en-US" b="0" i="1" dirty="0" smtClean="0">
                                  <a:latin typeface="Cambria Math" panose="02040503050406030204" pitchFamily="18" charset="0"/>
                                </a:rPr>
                                <m:t>𝑥</m:t>
                              </m:r>
                            </m:e>
                          </m:acc>
                          <m:r>
                            <a:rPr lang="en-US" b="0" i="1" dirty="0" smtClean="0">
                              <a:latin typeface="Cambria Math" panose="02040503050406030204" pitchFamily="18" charset="0"/>
                            </a:rPr>
                            <m:t>)</m:t>
                          </m:r>
                          <m:sSup>
                            <m:sSupPr>
                              <m:ctrlPr>
                                <a:rPr lang="en-US" b="0" i="1" dirty="0" smtClean="0">
                                  <a:latin typeface="Cambria Math" panose="02040503050406030204" pitchFamily="18" charset="0"/>
                                </a:rPr>
                              </m:ctrlPr>
                            </m:sSupPr>
                            <m:e>
                              <m:r>
                                <a:rPr lang="en-US" i="1" dirty="0">
                                  <a:latin typeface="Cambria Math" panose="02040503050406030204" pitchFamily="18" charset="0"/>
                                </a:rPr>
                                <m:t>(</m:t>
                              </m:r>
                              <m:r>
                                <a:rPr lang="en-US" b="0" i="1" dirty="0" smtClean="0">
                                  <a:latin typeface="Cambria Math" panose="02040503050406030204" pitchFamily="18" charset="0"/>
                                </a:rPr>
                                <m:t>𝑥</m:t>
                              </m:r>
                              <m:r>
                                <a:rPr lang="en-US" b="0" i="1" dirty="0" smtClean="0">
                                  <a:latin typeface="Cambria Math" panose="02040503050406030204" pitchFamily="18" charset="0"/>
                                </a:rPr>
                                <m:t>′−</m:t>
                              </m:r>
                              <m:acc>
                                <m:accPr>
                                  <m:chr m:val="̅"/>
                                  <m:ctrlPr>
                                    <a:rPr lang="en-US" i="1" dirty="0">
                                      <a:latin typeface="Cambria Math" panose="02040503050406030204" pitchFamily="18" charset="0"/>
                                    </a:rPr>
                                  </m:ctrlPr>
                                </m:accPr>
                                <m:e>
                                  <m:r>
                                    <a:rPr lang="en-US" i="1" dirty="0">
                                      <a:latin typeface="Cambria Math" panose="02040503050406030204" pitchFamily="18" charset="0"/>
                                    </a:rPr>
                                    <m:t>𝑥</m:t>
                                  </m:r>
                                </m:e>
                              </m:acc>
                              <m:r>
                                <a:rPr lang="en-US" b="0" i="1" dirty="0" smtClean="0">
                                  <a:latin typeface="Cambria Math" panose="02040503050406030204" pitchFamily="18" charset="0"/>
                                </a:rPr>
                                <m:t>′)</m:t>
                              </m:r>
                            </m:e>
                            <m:sup>
                              <m:r>
                                <a:rPr lang="en-US" b="0" i="1" dirty="0" smtClean="0">
                                  <a:latin typeface="Cambria Math" panose="02040503050406030204" pitchFamily="18" charset="0"/>
                                </a:rPr>
                                <m:t>𝑇</m:t>
                              </m:r>
                            </m:sup>
                          </m:sSup>
                        </m:num>
                        <m:den>
                          <m:rad>
                            <m:radPr>
                              <m:degHide m:val="on"/>
                              <m:ctrlPr>
                                <a:rPr lang="en-US" i="1">
                                  <a:latin typeface="Cambria Math" panose="02040503050406030204" pitchFamily="18" charset="0"/>
                                </a:rPr>
                              </m:ctrlPr>
                            </m:radPr>
                            <m:deg/>
                            <m:e>
                              <m:sSup>
                                <m:sSupPr>
                                  <m:ctrlPr>
                                    <a:rPr lang="en-US" i="1">
                                      <a:latin typeface="Cambria Math" panose="02040503050406030204" pitchFamily="18" charset="0"/>
                                    </a:rPr>
                                  </m:ctrlPr>
                                </m:sSupPr>
                                <m:e>
                                  <m:r>
                                    <a:rPr lang="en-US" i="1">
                                      <a:latin typeface="Cambria Math" panose="02040503050406030204" pitchFamily="18" charset="0"/>
                                      <a:ea typeface="Cambria Math" panose="02040503050406030204" pitchFamily="18" charset="0"/>
                                    </a:rPr>
                                    <m:t>𝜎</m:t>
                                  </m:r>
                                </m:e>
                                <m:sup>
                                  <m:r>
                                    <a:rPr lang="en-US" i="1">
                                      <a:latin typeface="Cambria Math" panose="02040503050406030204" pitchFamily="18" charset="0"/>
                                    </a:rPr>
                                    <m:t>2</m:t>
                                  </m:r>
                                </m:sup>
                              </m:sSup>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𝑥</m:t>
                              </m:r>
                              <m:r>
                                <a:rPr lang="en-US" i="1">
                                  <a:latin typeface="Cambria Math" panose="02040503050406030204" pitchFamily="18" charset="0"/>
                                  <a:ea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ea typeface="Cambria Math" panose="02040503050406030204" pitchFamily="18" charset="0"/>
                                    </a:rPr>
                                    <m:t>𝜎</m:t>
                                  </m:r>
                                </m:e>
                                <m:sup>
                                  <m:r>
                                    <a:rPr lang="en-US" i="1">
                                      <a:latin typeface="Cambria Math" panose="02040503050406030204" pitchFamily="18" charset="0"/>
                                    </a:rPr>
                                    <m:t>2</m:t>
                                  </m:r>
                                </m:sup>
                              </m:sSup>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𝑥</m:t>
                              </m:r>
                              <m:r>
                                <a:rPr lang="en-US" i="1">
                                  <a:latin typeface="Cambria Math" panose="02040503050406030204" pitchFamily="18" charset="0"/>
                                  <a:ea typeface="Cambria Math" panose="02040503050406030204" pitchFamily="18" charset="0"/>
                                </a:rPr>
                                <m:t>′)</m:t>
                              </m:r>
                            </m:e>
                          </m:rad>
                        </m:den>
                      </m:f>
                      <m:r>
                        <a:rPr lang="en-US" b="0" i="1" smtClean="0">
                          <a:latin typeface="Cambria Math" panose="02040503050406030204" pitchFamily="18" charset="0"/>
                        </a:rPr>
                        <m:t> </m:t>
                      </m:r>
                    </m:oMath>
                  </m:oMathPara>
                </a14:m>
                <a:endParaRPr lang="en-US" dirty="0">
                  <a:latin typeface="+mn-lt"/>
                </a:endParaRPr>
              </a:p>
              <a:p>
                <a:r>
                  <a:rPr lang="en-US" dirty="0">
                    <a:latin typeface="+mn-lt"/>
                  </a:rPr>
                  <a:t>Range of [-1,1]</a:t>
                </a:r>
              </a:p>
              <a:p>
                <a:r>
                  <a:rPr lang="en-US" dirty="0">
                    <a:latin typeface="+mn-lt"/>
                  </a:rPr>
                  <a:t>Other correlation measures of similarity, e.g. </a:t>
                </a:r>
                <a:r>
                  <a:rPr lang="en-US" b="1" dirty="0">
                    <a:latin typeface="+mn-lt"/>
                  </a:rPr>
                  <a:t>rank-based</a:t>
                </a:r>
                <a:r>
                  <a:rPr lang="en-US" dirty="0">
                    <a:latin typeface="+mn-lt"/>
                  </a:rPr>
                  <a:t> measures </a:t>
                </a:r>
              </a:p>
              <a:p>
                <a:pPr lvl="1"/>
                <a:r>
                  <a:rPr lang="en-US" b="1" dirty="0">
                    <a:latin typeface="+mn-lt"/>
                    <a:hlinkClick r:id="rId3"/>
                  </a:rPr>
                  <a:t>Kendal</a:t>
                </a:r>
                <a:r>
                  <a:rPr lang="en-US" dirty="0">
                    <a:latin typeface="+mn-lt"/>
                  </a:rPr>
                  <a:t>, </a:t>
                </a:r>
                <a:r>
                  <a:rPr lang="en-US" b="1" dirty="0">
                    <a:latin typeface="+mn-lt"/>
                    <a:hlinkClick r:id="rId4"/>
                  </a:rPr>
                  <a:t>Spearman</a:t>
                </a:r>
                <a:r>
                  <a:rPr lang="en-US" dirty="0">
                    <a:latin typeface="+mn-lt"/>
                  </a:rPr>
                  <a:t>, are rank correlations, more robust than Pearson</a:t>
                </a:r>
              </a:p>
              <a:p>
                <a:pPr lvl="1"/>
                <a:r>
                  <a:rPr lang="en-US" dirty="0">
                    <a:latin typeface="+mn-lt"/>
                  </a:rPr>
                  <a:t>Often better choices for data mining </a:t>
                </a:r>
              </a:p>
              <a:p>
                <a:pPr marL="0" indent="0">
                  <a:buNone/>
                </a:pPr>
                <a:endParaRPr lang="en-US"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1159932"/>
                <a:ext cx="11525250" cy="5363577"/>
              </a:xfrm>
              <a:blipFill>
                <a:blip r:embed="rId5"/>
                <a:stretch>
                  <a:fillRect l="-1111" t="-1818"/>
                </a:stretch>
              </a:blipFill>
            </p:spPr>
            <p:txBody>
              <a:bodyPr/>
              <a:lstStyle/>
              <a:p>
                <a:r>
                  <a:rPr lang="en-US">
                    <a:noFill/>
                  </a:rPr>
                  <a:t> </a:t>
                </a:r>
              </a:p>
            </p:txBody>
          </p:sp>
        </mc:Fallback>
      </mc:AlternateContent>
    </p:spTree>
    <p:extLst>
      <p:ext uri="{BB962C8B-B14F-4D97-AF65-F5344CB8AC3E}">
        <p14:creationId xmlns:p14="http://schemas.microsoft.com/office/powerpoint/2010/main" val="15112405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a:t>Measuring Similarity</a:t>
            </a:r>
            <a:endParaRPr lang="en-US" dirty="0"/>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1639303"/>
              </a:xfrm>
            </p:spPr>
            <p:txBody>
              <a:bodyPr>
                <a:normAutofit/>
              </a:bodyPr>
              <a:lstStyle/>
              <a:p>
                <a:pPr marL="0" indent="0">
                  <a:buNone/>
                </a:pPr>
                <a:r>
                  <a:rPr lang="en-US" dirty="0">
                    <a:latin typeface="+mn-lt"/>
                  </a:rPr>
                  <a:t>Cosine Similarity</a:t>
                </a:r>
              </a:p>
              <a:p>
                <a:pPr marL="0" indent="0">
                  <a:buNone/>
                </a:pPr>
                <a14:m>
                  <m:oMathPara xmlns:m="http://schemas.openxmlformats.org/officeDocument/2006/math">
                    <m:oMathParaPr>
                      <m:jc m:val="centerGroup"/>
                    </m:oMathParaPr>
                    <m:oMath xmlns:m="http://schemas.openxmlformats.org/officeDocument/2006/math">
                      <m:func>
                        <m:funcPr>
                          <m:ctrlPr>
                            <a:rPr lang="en-US" i="1">
                              <a:latin typeface="Cambria Math" panose="02040503050406030204" pitchFamily="18" charset="0"/>
                            </a:rPr>
                          </m:ctrlPr>
                        </m:funcPr>
                        <m:fName>
                          <m:r>
                            <m:rPr>
                              <m:sty m:val="p"/>
                            </m:rPr>
                            <a:rPr lang="en-US" b="0" i="0" smtClean="0">
                              <a:latin typeface="Cambria Math" panose="02040503050406030204" pitchFamily="18" charset="0"/>
                            </a:rPr>
                            <m:t>d</m:t>
                          </m:r>
                          <m:d>
                            <m:dPr>
                              <m:ctrlPr>
                                <a:rPr lang="en-US" b="0" i="1" smtClean="0">
                                  <a:latin typeface="Cambria Math" panose="02040503050406030204" pitchFamily="18" charset="0"/>
                                </a:rPr>
                              </m:ctrlPr>
                            </m:dPr>
                            <m:e>
                              <m:r>
                                <m:rPr>
                                  <m:sty m:val="p"/>
                                </m:rPr>
                                <a:rPr lang="en-US" b="0" i="0" smtClean="0">
                                  <a:latin typeface="Cambria Math" panose="02040503050406030204" pitchFamily="18" charset="0"/>
                                </a:rPr>
                                <m:t>x</m:t>
                              </m:r>
                              <m:r>
                                <a:rPr lang="en-US" b="0" i="0" smtClean="0">
                                  <a:latin typeface="Cambria Math" panose="02040503050406030204" pitchFamily="18" charset="0"/>
                                </a:rPr>
                                <m:t>,</m:t>
                              </m:r>
                              <m:sSup>
                                <m:sSupPr>
                                  <m:ctrlPr>
                                    <a:rPr lang="en-US" b="0" i="1" smtClean="0">
                                      <a:latin typeface="Cambria Math" panose="02040503050406030204" pitchFamily="18" charset="0"/>
                                    </a:rPr>
                                  </m:ctrlPr>
                                </m:sSupPr>
                                <m:e>
                                  <m:r>
                                    <m:rPr>
                                      <m:sty m:val="p"/>
                                    </m:rPr>
                                    <a:rPr lang="en-US" b="0" i="0" smtClean="0">
                                      <a:latin typeface="Cambria Math" panose="02040503050406030204" pitchFamily="18" charset="0"/>
                                    </a:rPr>
                                    <m:t>x</m:t>
                                  </m:r>
                                </m:e>
                                <m:sup>
                                  <m:r>
                                    <a:rPr lang="en-US" b="0" i="0" smtClean="0">
                                      <a:latin typeface="Cambria Math" panose="02040503050406030204" pitchFamily="18" charset="0"/>
                                    </a:rPr>
                                    <m:t>′</m:t>
                                  </m:r>
                                </m:sup>
                              </m:sSup>
                            </m:e>
                          </m:d>
                          <m:r>
                            <a:rPr lang="en-US" b="0" i="0" smtClean="0">
                              <a:latin typeface="Cambria Math" panose="02040503050406030204" pitchFamily="18" charset="0"/>
                            </a:rPr>
                            <m:t>=</m:t>
                          </m:r>
                          <m:r>
                            <m:rPr>
                              <m:sty m:val="p"/>
                            </m:rPr>
                            <a:rPr lang="en-US">
                              <a:latin typeface="Cambria Math" panose="02040503050406030204" pitchFamily="18" charset="0"/>
                            </a:rPr>
                            <m:t>cos</m:t>
                          </m:r>
                        </m:fName>
                        <m:e>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ea typeface="Cambria Math" panose="02040503050406030204" pitchFamily="18" charset="0"/>
                                    </a:rPr>
                                    <m:t>𝜃</m:t>
                                  </m:r>
                                </m:e>
                                <m:sub>
                                  <m:r>
                                    <a:rPr lang="en-US" i="1">
                                      <a:latin typeface="Cambria Math" panose="02040503050406030204" pitchFamily="18" charset="0"/>
                                    </a:rPr>
                                    <m:t>𝑖</m:t>
                                  </m:r>
                                </m:sub>
                              </m:sSub>
                            </m:e>
                          </m:d>
                        </m:e>
                      </m:func>
                      <m:r>
                        <a:rPr lang="en-US" i="1">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𝑥</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𝑥</m:t>
                          </m:r>
                          <m:r>
                            <a:rPr lang="en-US" i="1">
                              <a:latin typeface="Cambria Math" panose="02040503050406030204" pitchFamily="18" charset="0"/>
                              <a:ea typeface="Cambria Math" panose="02040503050406030204" pitchFamily="18" charset="0"/>
                            </a:rPr>
                            <m:t>′</m:t>
                          </m:r>
                        </m:num>
                        <m:den>
                          <m:d>
                            <m:dPr>
                              <m:begChr m:val="|"/>
                              <m:endChr m:val="|"/>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𝑥</m:t>
                              </m:r>
                            </m:e>
                          </m:d>
                          <m:d>
                            <m:dPr>
                              <m:begChr m:val="|"/>
                              <m:endChr m:val="|"/>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𝑥</m:t>
                              </m:r>
                              <m:r>
                                <a:rPr lang="en-US" i="1">
                                  <a:latin typeface="Cambria Math" panose="02040503050406030204" pitchFamily="18" charset="0"/>
                                  <a:ea typeface="Cambria Math" panose="02040503050406030204" pitchFamily="18" charset="0"/>
                                </a:rPr>
                                <m:t>′</m:t>
                              </m:r>
                            </m:e>
                          </m:d>
                        </m:den>
                      </m:f>
                    </m:oMath>
                  </m:oMathPara>
                </a14:m>
                <a:endParaRPr lang="en-US" dirty="0"/>
              </a:p>
              <a:p>
                <a:pPr marL="0" indent="0">
                  <a:buNone/>
                </a:pPr>
                <a:endParaRPr lang="en-US" dirty="0">
                  <a:latin typeface="+mn-lt"/>
                </a:endParaRPr>
              </a:p>
              <a:p>
                <a:endParaRPr lang="en-US"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1639303"/>
              </a:xfrm>
              <a:blipFill>
                <a:blip r:embed="rId3"/>
                <a:stretch>
                  <a:fillRect l="-1111" t="-6320"/>
                </a:stretch>
              </a:blipFill>
            </p:spPr>
            <p:txBody>
              <a:bodyPr/>
              <a:lstStyle/>
              <a:p>
                <a:r>
                  <a:rPr lang="en-US">
                    <a:noFill/>
                  </a:rPr>
                  <a:t> </a:t>
                </a:r>
              </a:p>
            </p:txBody>
          </p:sp>
        </mc:Fallback>
      </mc:AlternateContent>
      <p:cxnSp>
        <p:nvCxnSpPr>
          <p:cNvPr id="6" name="Straight Arrow Connector 5">
            <a:extLst>
              <a:ext uri="{FF2B5EF4-FFF2-40B4-BE49-F238E27FC236}">
                <a16:creationId xmlns:a16="http://schemas.microsoft.com/office/drawing/2014/main" id="{DBC2410D-2843-43D4-8696-1D08665D8734}"/>
              </a:ext>
            </a:extLst>
          </p:cNvPr>
          <p:cNvCxnSpPr/>
          <p:nvPr/>
        </p:nvCxnSpPr>
        <p:spPr>
          <a:xfrm>
            <a:off x="758008" y="5961921"/>
            <a:ext cx="4597830"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AF210B04-140B-48C3-AB42-D61C9037800A}"/>
              </a:ext>
            </a:extLst>
          </p:cNvPr>
          <p:cNvCxnSpPr>
            <a:cxnSpLocks/>
          </p:cNvCxnSpPr>
          <p:nvPr/>
        </p:nvCxnSpPr>
        <p:spPr>
          <a:xfrm flipV="1">
            <a:off x="758008" y="2578125"/>
            <a:ext cx="0" cy="3383796"/>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62B40F0C-6CA8-4E2B-9506-257938DB4E99}"/>
              </a:ext>
            </a:extLst>
          </p:cNvPr>
          <p:cNvSpPr txBox="1"/>
          <p:nvPr/>
        </p:nvSpPr>
        <p:spPr>
          <a:xfrm>
            <a:off x="2907106" y="5961921"/>
            <a:ext cx="503664" cy="523220"/>
          </a:xfrm>
          <a:prstGeom prst="rect">
            <a:avLst/>
          </a:prstGeom>
          <a:noFill/>
        </p:spPr>
        <p:txBody>
          <a:bodyPr wrap="none" rtlCol="0">
            <a:spAutoFit/>
          </a:bodyPr>
          <a:lstStyle/>
          <a:p>
            <a:r>
              <a:rPr lang="en-US" sz="2800" b="1" dirty="0"/>
              <a:t>X</a:t>
            </a:r>
            <a:r>
              <a:rPr lang="en-US" sz="2800" b="1" baseline="-25000" dirty="0"/>
              <a:t>1</a:t>
            </a:r>
          </a:p>
        </p:txBody>
      </p:sp>
      <p:sp>
        <p:nvSpPr>
          <p:cNvPr id="11" name="TextBox 10">
            <a:extLst>
              <a:ext uri="{FF2B5EF4-FFF2-40B4-BE49-F238E27FC236}">
                <a16:creationId xmlns:a16="http://schemas.microsoft.com/office/drawing/2014/main" id="{9793A1DA-70A2-4EC3-9CAF-5C65A92AE62B}"/>
              </a:ext>
            </a:extLst>
          </p:cNvPr>
          <p:cNvSpPr txBox="1"/>
          <p:nvPr/>
        </p:nvSpPr>
        <p:spPr>
          <a:xfrm>
            <a:off x="238462" y="3953012"/>
            <a:ext cx="503664" cy="523220"/>
          </a:xfrm>
          <a:prstGeom prst="rect">
            <a:avLst/>
          </a:prstGeom>
          <a:noFill/>
        </p:spPr>
        <p:txBody>
          <a:bodyPr wrap="none" rtlCol="0">
            <a:spAutoFit/>
          </a:bodyPr>
          <a:lstStyle/>
          <a:p>
            <a:r>
              <a:rPr lang="en-US" sz="2800" b="1" dirty="0"/>
              <a:t>X</a:t>
            </a:r>
            <a:r>
              <a:rPr lang="en-US" sz="2800" b="1" baseline="-25000" dirty="0"/>
              <a:t>2</a:t>
            </a:r>
          </a:p>
        </p:txBody>
      </p:sp>
      <p:sp>
        <p:nvSpPr>
          <p:cNvPr id="12" name="Cross 11">
            <a:extLst>
              <a:ext uri="{FF2B5EF4-FFF2-40B4-BE49-F238E27FC236}">
                <a16:creationId xmlns:a16="http://schemas.microsoft.com/office/drawing/2014/main" id="{B23426B5-5480-4DE4-9184-9876C2CB2517}"/>
              </a:ext>
            </a:extLst>
          </p:cNvPr>
          <p:cNvSpPr/>
          <p:nvPr/>
        </p:nvSpPr>
        <p:spPr>
          <a:xfrm>
            <a:off x="4316808" y="3390317"/>
            <a:ext cx="200890" cy="208875"/>
          </a:xfrm>
          <a:prstGeom prst="plus">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Cross 12">
            <a:extLst>
              <a:ext uri="{FF2B5EF4-FFF2-40B4-BE49-F238E27FC236}">
                <a16:creationId xmlns:a16="http://schemas.microsoft.com/office/drawing/2014/main" id="{CD8CD439-2CC4-4431-AB63-0F32315F3BC5}"/>
              </a:ext>
            </a:extLst>
          </p:cNvPr>
          <p:cNvSpPr/>
          <p:nvPr/>
        </p:nvSpPr>
        <p:spPr>
          <a:xfrm>
            <a:off x="2498956" y="5229827"/>
            <a:ext cx="200890" cy="208875"/>
          </a:xfrm>
          <a:prstGeom prst="plus">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20D27AE9-6F7D-46F4-B0C2-70E2F3CD488A}"/>
              </a:ext>
            </a:extLst>
          </p:cNvPr>
          <p:cNvSpPr txBox="1"/>
          <p:nvPr/>
        </p:nvSpPr>
        <p:spPr>
          <a:xfrm>
            <a:off x="2211797" y="5411221"/>
            <a:ext cx="845126" cy="461665"/>
          </a:xfrm>
          <a:prstGeom prst="rect">
            <a:avLst/>
          </a:prstGeom>
          <a:noFill/>
        </p:spPr>
        <p:txBody>
          <a:bodyPr wrap="square" rtlCol="0">
            <a:spAutoFit/>
          </a:bodyPr>
          <a:lstStyle/>
          <a:p>
            <a:r>
              <a:rPr lang="en-US" sz="2400" dirty="0"/>
              <a:t>(2,1)</a:t>
            </a:r>
          </a:p>
        </p:txBody>
      </p:sp>
      <p:sp>
        <p:nvSpPr>
          <p:cNvPr id="15" name="TextBox 14">
            <a:extLst>
              <a:ext uri="{FF2B5EF4-FFF2-40B4-BE49-F238E27FC236}">
                <a16:creationId xmlns:a16="http://schemas.microsoft.com/office/drawing/2014/main" id="{65800F31-6C70-4F71-B1DD-342BB67BF461}"/>
              </a:ext>
            </a:extLst>
          </p:cNvPr>
          <p:cNvSpPr txBox="1"/>
          <p:nvPr/>
        </p:nvSpPr>
        <p:spPr>
          <a:xfrm>
            <a:off x="4531787" y="3222984"/>
            <a:ext cx="845126" cy="461665"/>
          </a:xfrm>
          <a:prstGeom prst="rect">
            <a:avLst/>
          </a:prstGeom>
          <a:noFill/>
        </p:spPr>
        <p:txBody>
          <a:bodyPr wrap="square" rtlCol="0">
            <a:spAutoFit/>
          </a:bodyPr>
          <a:lstStyle/>
          <a:p>
            <a:r>
              <a:rPr lang="en-US" sz="2400" dirty="0"/>
              <a:t>(4,3)</a:t>
            </a:r>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65FEAA3B-26B3-4998-B64A-7CACD68892A0}"/>
                  </a:ext>
                </a:extLst>
              </p:cNvPr>
              <p:cNvSpPr txBox="1"/>
              <p:nvPr/>
            </p:nvSpPr>
            <p:spPr>
              <a:xfrm>
                <a:off x="5591892" y="2768378"/>
                <a:ext cx="6445125" cy="2268121"/>
              </a:xfrm>
              <a:prstGeom prst="rect">
                <a:avLst/>
              </a:prstGeom>
              <a:noFill/>
            </p:spPr>
            <p:txBody>
              <a:bodyPr wrap="square" rtlCol="0">
                <a:spAutoFit/>
              </a:bodyPr>
              <a:lstStyle/>
              <a:p>
                <a:pPr marL="285750" indent="-285750">
                  <a:buFont typeface="Arial" panose="020B0604020202020204" pitchFamily="34" charset="0"/>
                  <a:buChar char="•"/>
                </a:pPr>
                <a:r>
                  <a:rPr lang="en-US" sz="2400" dirty="0"/>
                  <a:t>Points at (2,1) and (4,3)</a:t>
                </a:r>
              </a:p>
              <a:p>
                <a:pPr marL="285750" indent="-285750">
                  <a:buFont typeface="Arial" panose="020B0604020202020204" pitchFamily="34" charset="0"/>
                  <a:buChar char="•"/>
                </a:pPr>
                <a:r>
                  <a:rPr lang="en-US" sz="2400" dirty="0"/>
                  <a:t>What is the similarity? </a:t>
                </a:r>
              </a:p>
              <a:p>
                <a:pPr marL="285750" indent="-285750">
                  <a:buFont typeface="Arial" panose="020B0604020202020204" pitchFamily="34" charset="0"/>
                  <a:buChar char="•"/>
                </a:pPr>
                <a:r>
                  <a:rPr lang="en-US" sz="2400" dirty="0"/>
                  <a:t>Cosine similarity</a:t>
                </a:r>
              </a:p>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𝑐𝑜𝑠</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𝑥</m:t>
                          </m:r>
                          <m:r>
                            <a:rPr lang="en-US" sz="2400" b="0" i="1" smtClean="0">
                              <a:latin typeface="Cambria Math" panose="02040503050406030204" pitchFamily="18" charset="0"/>
                            </a:rPr>
                            <m:t>,</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𝑥</m:t>
                              </m:r>
                            </m:e>
                            <m:sup>
                              <m:r>
                                <a:rPr lang="en-US" sz="2400" b="0" i="1" smtClean="0">
                                  <a:latin typeface="Cambria Math" panose="02040503050406030204" pitchFamily="18" charset="0"/>
                                </a:rPr>
                                <m:t>′</m:t>
                              </m:r>
                            </m:sup>
                          </m:sSup>
                        </m:e>
                      </m:d>
                      <m:r>
                        <a:rPr lang="en-US" sz="2400" b="0" i="1" smtClean="0">
                          <a:latin typeface="Cambria Math" panose="02040503050406030204" pitchFamily="18" charset="0"/>
                        </a:rPr>
                        <m:t>=</m:t>
                      </m:r>
                      <m:box>
                        <m:boxPr>
                          <m:ctrlPr>
                            <a:rPr lang="en-US" sz="2400" b="0" i="1" smtClean="0">
                              <a:latin typeface="Cambria Math" panose="02040503050406030204" pitchFamily="18" charset="0"/>
                            </a:rPr>
                          </m:ctrlPr>
                        </m:boxPr>
                        <m:e>
                          <m:argPr>
                            <m:argSz m:val="-1"/>
                          </m:argP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2∗4 +1∗3</m:t>
                              </m:r>
                            </m:num>
                            <m:den>
                              <m:sSup>
                                <m:sSupPr>
                                  <m:ctrlPr>
                                    <a:rPr lang="en-US" sz="2400" b="0" i="1" smtClean="0">
                                      <a:latin typeface="Cambria Math" panose="02040503050406030204" pitchFamily="18" charset="0"/>
                                    </a:rPr>
                                  </m:ctrlPr>
                                </m:sSupPr>
                                <m:e>
                                  <m:d>
                                    <m:dPr>
                                      <m:ctrlPr>
                                        <a:rPr lang="en-US" sz="2400" b="0" i="1" smtClean="0">
                                          <a:latin typeface="Cambria Math" panose="02040503050406030204" pitchFamily="18" charset="0"/>
                                        </a:rPr>
                                      </m:ctrlPr>
                                    </m:dPr>
                                    <m:e>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2</m:t>
                                          </m:r>
                                        </m:e>
                                        <m:sup>
                                          <m:r>
                                            <a:rPr lang="en-US" sz="2400" b="0" i="1" smtClean="0">
                                              <a:latin typeface="Cambria Math" panose="02040503050406030204" pitchFamily="18" charset="0"/>
                                            </a:rPr>
                                            <m:t>2</m:t>
                                          </m:r>
                                        </m:sup>
                                      </m:sSup>
                                      <m:r>
                                        <a:rPr lang="en-US" sz="2400" b="0" i="1" smtClean="0">
                                          <a:latin typeface="Cambria Math" panose="02040503050406030204" pitchFamily="18" charset="0"/>
                                        </a:rPr>
                                        <m:t>+</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1</m:t>
                                          </m:r>
                                        </m:e>
                                        <m:sup>
                                          <m:r>
                                            <a:rPr lang="en-US" sz="2400" b="0" i="1" smtClean="0">
                                              <a:latin typeface="Cambria Math" panose="02040503050406030204" pitchFamily="18" charset="0"/>
                                            </a:rPr>
                                            <m:t>2</m:t>
                                          </m:r>
                                        </m:sup>
                                      </m:sSup>
                                    </m:e>
                                  </m:d>
                                </m:e>
                                <m:sup>
                                  <m:r>
                                    <a:rPr lang="en-US" sz="2400" b="0" i="1" smtClean="0">
                                      <a:latin typeface="Cambria Math" panose="02040503050406030204" pitchFamily="18" charset="0"/>
                                    </a:rPr>
                                    <m:t>1/2</m:t>
                                  </m:r>
                                </m:sup>
                              </m:sSup>
                              <m:sSup>
                                <m:sSupPr>
                                  <m:ctrlPr>
                                    <a:rPr lang="en-US" sz="2400" b="0" i="1" smtClean="0">
                                      <a:latin typeface="Cambria Math" panose="02040503050406030204" pitchFamily="18" charset="0"/>
                                    </a:rPr>
                                  </m:ctrlPr>
                                </m:sSupPr>
                                <m:e>
                                  <m:d>
                                    <m:dPr>
                                      <m:ctrlPr>
                                        <a:rPr lang="en-US" sz="2400" b="0" i="1" smtClean="0">
                                          <a:latin typeface="Cambria Math" panose="02040503050406030204" pitchFamily="18" charset="0"/>
                                        </a:rPr>
                                      </m:ctrlPr>
                                    </m:dPr>
                                    <m:e>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4</m:t>
                                          </m:r>
                                        </m:e>
                                        <m:sup>
                                          <m:r>
                                            <a:rPr lang="en-US" sz="2400" b="0" i="1" smtClean="0">
                                              <a:latin typeface="Cambria Math" panose="02040503050406030204" pitchFamily="18" charset="0"/>
                                            </a:rPr>
                                            <m:t>2</m:t>
                                          </m:r>
                                        </m:sup>
                                      </m:sSup>
                                      <m:r>
                                        <a:rPr lang="en-US" sz="2400" b="0" i="1" smtClean="0">
                                          <a:latin typeface="Cambria Math" panose="02040503050406030204" pitchFamily="18" charset="0"/>
                                        </a:rPr>
                                        <m:t>+</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3</m:t>
                                          </m:r>
                                        </m:e>
                                        <m:sup>
                                          <m:r>
                                            <a:rPr lang="en-US" sz="2400" b="0" i="1" smtClean="0">
                                              <a:latin typeface="Cambria Math" panose="02040503050406030204" pitchFamily="18" charset="0"/>
                                            </a:rPr>
                                            <m:t>2</m:t>
                                          </m:r>
                                        </m:sup>
                                      </m:sSup>
                                    </m:e>
                                  </m:d>
                                </m:e>
                                <m:sup>
                                  <m:r>
                                    <a:rPr lang="en-US" sz="2400" b="0" i="1" smtClean="0">
                                      <a:latin typeface="Cambria Math" panose="02040503050406030204" pitchFamily="18" charset="0"/>
                                    </a:rPr>
                                    <m:t>1/2</m:t>
                                  </m:r>
                                </m:sup>
                              </m:sSup>
                            </m:den>
                          </m:f>
                        </m:e>
                      </m:box>
                      <m:r>
                        <a:rPr lang="en-US" sz="2400" b="0" i="1" smtClean="0">
                          <a:latin typeface="Cambria Math" panose="02040503050406030204" pitchFamily="18" charset="0"/>
                        </a:rPr>
                        <m:t>= </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11</m:t>
                          </m:r>
                        </m:num>
                        <m:den>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5</m:t>
                              </m:r>
                            </m:e>
                            <m:sup>
                              <m:r>
                                <a:rPr lang="en-US" sz="2400" b="0" i="1" smtClean="0">
                                  <a:latin typeface="Cambria Math" panose="02040503050406030204" pitchFamily="18" charset="0"/>
                                </a:rPr>
                                <m:t>1/2</m:t>
                              </m:r>
                            </m:sup>
                          </m:sSup>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25</m:t>
                              </m:r>
                            </m:e>
                            <m:sup>
                              <m:r>
                                <a:rPr lang="en-US" sz="2400" b="0" i="1" smtClean="0">
                                  <a:latin typeface="Cambria Math" panose="02040503050406030204" pitchFamily="18" charset="0"/>
                                </a:rPr>
                                <m:t>1/2</m:t>
                              </m:r>
                            </m:sup>
                          </m:sSup>
                        </m:den>
                      </m:f>
                      <m:r>
                        <a:rPr lang="en-US" sz="2400" b="0" i="1" smtClean="0">
                          <a:latin typeface="Cambria Math" panose="02040503050406030204" pitchFamily="18" charset="0"/>
                        </a:rPr>
                        <m:t>=0.984</m:t>
                      </m:r>
                    </m:oMath>
                  </m:oMathPara>
                </a14:m>
                <a:endParaRPr lang="en-US" sz="2400" dirty="0"/>
              </a:p>
            </p:txBody>
          </p:sp>
        </mc:Choice>
        <mc:Fallback xmlns="">
          <p:sp>
            <p:nvSpPr>
              <p:cNvPr id="17" name="TextBox 16">
                <a:extLst>
                  <a:ext uri="{FF2B5EF4-FFF2-40B4-BE49-F238E27FC236}">
                    <a16:creationId xmlns:a16="http://schemas.microsoft.com/office/drawing/2014/main" id="{65FEAA3B-26B3-4998-B64A-7CACD68892A0}"/>
                  </a:ext>
                </a:extLst>
              </p:cNvPr>
              <p:cNvSpPr txBox="1">
                <a:spLocks noRot="1" noChangeAspect="1" noMove="1" noResize="1" noEditPoints="1" noAdjustHandles="1" noChangeArrowheads="1" noChangeShapeType="1" noTextEdit="1"/>
              </p:cNvSpPr>
              <p:nvPr/>
            </p:nvSpPr>
            <p:spPr>
              <a:xfrm>
                <a:off x="5591892" y="2768378"/>
                <a:ext cx="6445125" cy="2268121"/>
              </a:xfrm>
              <a:prstGeom prst="rect">
                <a:avLst/>
              </a:prstGeom>
              <a:blipFill>
                <a:blip r:embed="rId4"/>
                <a:stretch>
                  <a:fillRect l="-1229" t="-2151"/>
                </a:stretch>
              </a:blipFill>
            </p:spPr>
            <p:txBody>
              <a:bodyPr/>
              <a:lstStyle/>
              <a:p>
                <a:r>
                  <a:rPr lang="en-US">
                    <a:noFill/>
                  </a:rPr>
                  <a:t> </a:t>
                </a:r>
              </a:p>
            </p:txBody>
          </p:sp>
        </mc:Fallback>
      </mc:AlternateContent>
      <p:cxnSp>
        <p:nvCxnSpPr>
          <p:cNvPr id="18" name="Straight Arrow Connector 17">
            <a:extLst>
              <a:ext uri="{FF2B5EF4-FFF2-40B4-BE49-F238E27FC236}">
                <a16:creationId xmlns:a16="http://schemas.microsoft.com/office/drawing/2014/main" id="{22C19033-E180-48CB-8A3F-5E01D0B45E8B}"/>
              </a:ext>
            </a:extLst>
          </p:cNvPr>
          <p:cNvCxnSpPr>
            <a:cxnSpLocks/>
            <a:endCxn id="13" idx="1"/>
          </p:cNvCxnSpPr>
          <p:nvPr/>
        </p:nvCxnSpPr>
        <p:spPr>
          <a:xfrm flipV="1">
            <a:off x="758008" y="5334265"/>
            <a:ext cx="1740948" cy="627656"/>
          </a:xfrm>
          <a:prstGeom prst="straightConnector1">
            <a:avLst/>
          </a:prstGeom>
          <a:ln w="44450">
            <a:solidFill>
              <a:schemeClr val="tx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5C4470BD-1B84-4863-B51E-E05B61323441}"/>
              </a:ext>
            </a:extLst>
          </p:cNvPr>
          <p:cNvCxnSpPr>
            <a:cxnSpLocks/>
            <a:endCxn id="12" idx="1"/>
          </p:cNvCxnSpPr>
          <p:nvPr/>
        </p:nvCxnSpPr>
        <p:spPr>
          <a:xfrm flipV="1">
            <a:off x="742126" y="3494755"/>
            <a:ext cx="3574682" cy="2467168"/>
          </a:xfrm>
          <a:prstGeom prst="straightConnector1">
            <a:avLst/>
          </a:prstGeom>
          <a:ln w="44450">
            <a:solidFill>
              <a:schemeClr val="tx1"/>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BC4F1A39-7311-4D97-9D1E-707E33AC61BC}"/>
              </a:ext>
            </a:extLst>
          </p:cNvPr>
          <p:cNvSpPr txBox="1"/>
          <p:nvPr/>
        </p:nvSpPr>
        <p:spPr>
          <a:xfrm>
            <a:off x="1850592" y="5051214"/>
            <a:ext cx="386032" cy="461665"/>
          </a:xfrm>
          <a:prstGeom prst="rect">
            <a:avLst/>
          </a:prstGeom>
          <a:noFill/>
        </p:spPr>
        <p:txBody>
          <a:bodyPr wrap="square" rtlCol="0">
            <a:spAutoFit/>
          </a:bodyPr>
          <a:lstStyle/>
          <a:p>
            <a:r>
              <a:rPr lang="en-US" sz="2400" dirty="0">
                <a:latin typeface="Symbol" panose="05050102010706020507" pitchFamily="18" charset="2"/>
              </a:rPr>
              <a:t>q</a:t>
            </a:r>
          </a:p>
        </p:txBody>
      </p:sp>
    </p:spTree>
    <p:extLst>
      <p:ext uri="{BB962C8B-B14F-4D97-AF65-F5344CB8AC3E}">
        <p14:creationId xmlns:p14="http://schemas.microsoft.com/office/powerpoint/2010/main" val="37085296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xEl>
                                              <p:pRg st="0" end="0"/>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8"/>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7">
                                            <p:txEl>
                                              <p:pRg st="1" end="1"/>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7">
                                            <p:txEl>
                                              <p:pRg st="2" end="2"/>
                                            </p:txEl>
                                          </p:spTgt>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12" grpId="0" animBg="1"/>
      <p:bldP spid="13" grpId="0" animBg="1"/>
      <p:bldP spid="14" grpId="0"/>
      <p:bldP spid="15" grpId="0"/>
      <p:bldP spid="21"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a:t>Measuring Similarity</a:t>
            </a:r>
            <a:endParaRPr lang="en-US" dirty="0"/>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1639303"/>
              </a:xfrm>
            </p:spPr>
            <p:txBody>
              <a:bodyPr>
                <a:normAutofit/>
              </a:bodyPr>
              <a:lstStyle/>
              <a:p>
                <a:pPr marL="0" indent="0">
                  <a:buNone/>
                </a:pPr>
                <a:r>
                  <a:rPr lang="en-US" dirty="0">
                    <a:latin typeface="+mn-lt"/>
                  </a:rPr>
                  <a:t>Cosine Similarity</a:t>
                </a:r>
              </a:p>
              <a:p>
                <a:pPr marL="0" indent="0">
                  <a:buNone/>
                </a:pPr>
                <a14:m>
                  <m:oMathPara xmlns:m="http://schemas.openxmlformats.org/officeDocument/2006/math">
                    <m:oMathParaPr>
                      <m:jc m:val="centerGroup"/>
                    </m:oMathParaPr>
                    <m:oMath xmlns:m="http://schemas.openxmlformats.org/officeDocument/2006/math">
                      <m:func>
                        <m:funcPr>
                          <m:ctrlPr>
                            <a:rPr lang="en-US" i="1">
                              <a:latin typeface="Cambria Math" panose="02040503050406030204" pitchFamily="18" charset="0"/>
                            </a:rPr>
                          </m:ctrlPr>
                        </m:funcPr>
                        <m:fName>
                          <m:r>
                            <m:rPr>
                              <m:sty m:val="p"/>
                            </m:rPr>
                            <a:rPr lang="en-US" b="0" i="0" smtClean="0">
                              <a:latin typeface="Cambria Math" panose="02040503050406030204" pitchFamily="18" charset="0"/>
                            </a:rPr>
                            <m:t>d</m:t>
                          </m:r>
                          <m:d>
                            <m:dPr>
                              <m:ctrlPr>
                                <a:rPr lang="en-US" b="0" i="1" smtClean="0">
                                  <a:latin typeface="Cambria Math" panose="02040503050406030204" pitchFamily="18" charset="0"/>
                                </a:rPr>
                              </m:ctrlPr>
                            </m:dPr>
                            <m:e>
                              <m:r>
                                <m:rPr>
                                  <m:sty m:val="p"/>
                                </m:rPr>
                                <a:rPr lang="en-US" b="0" i="0" smtClean="0">
                                  <a:latin typeface="Cambria Math" panose="02040503050406030204" pitchFamily="18" charset="0"/>
                                </a:rPr>
                                <m:t>x</m:t>
                              </m:r>
                              <m:r>
                                <a:rPr lang="en-US" b="0" i="0" smtClean="0">
                                  <a:latin typeface="Cambria Math" panose="02040503050406030204" pitchFamily="18" charset="0"/>
                                </a:rPr>
                                <m:t>,</m:t>
                              </m:r>
                              <m:sSup>
                                <m:sSupPr>
                                  <m:ctrlPr>
                                    <a:rPr lang="en-US" b="0" i="1" smtClean="0">
                                      <a:latin typeface="Cambria Math" panose="02040503050406030204" pitchFamily="18" charset="0"/>
                                    </a:rPr>
                                  </m:ctrlPr>
                                </m:sSupPr>
                                <m:e>
                                  <m:r>
                                    <m:rPr>
                                      <m:sty m:val="p"/>
                                    </m:rPr>
                                    <a:rPr lang="en-US" b="0" i="0" smtClean="0">
                                      <a:latin typeface="Cambria Math" panose="02040503050406030204" pitchFamily="18" charset="0"/>
                                    </a:rPr>
                                    <m:t>x</m:t>
                                  </m:r>
                                </m:e>
                                <m:sup>
                                  <m:r>
                                    <a:rPr lang="en-US" b="0" i="0" smtClean="0">
                                      <a:latin typeface="Cambria Math" panose="02040503050406030204" pitchFamily="18" charset="0"/>
                                    </a:rPr>
                                    <m:t>′</m:t>
                                  </m:r>
                                </m:sup>
                              </m:sSup>
                            </m:e>
                          </m:d>
                          <m:r>
                            <a:rPr lang="en-US" b="0" i="0" smtClean="0">
                              <a:latin typeface="Cambria Math" panose="02040503050406030204" pitchFamily="18" charset="0"/>
                            </a:rPr>
                            <m:t>=</m:t>
                          </m:r>
                          <m:r>
                            <m:rPr>
                              <m:sty m:val="p"/>
                            </m:rPr>
                            <a:rPr lang="en-US">
                              <a:latin typeface="Cambria Math" panose="02040503050406030204" pitchFamily="18" charset="0"/>
                            </a:rPr>
                            <m:t>cos</m:t>
                          </m:r>
                        </m:fName>
                        <m:e>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ea typeface="Cambria Math" panose="02040503050406030204" pitchFamily="18" charset="0"/>
                                    </a:rPr>
                                    <m:t>𝜃</m:t>
                                  </m:r>
                                </m:e>
                                <m:sub>
                                  <m:r>
                                    <a:rPr lang="en-US" i="1">
                                      <a:latin typeface="Cambria Math" panose="02040503050406030204" pitchFamily="18" charset="0"/>
                                    </a:rPr>
                                    <m:t>𝑖</m:t>
                                  </m:r>
                                </m:sub>
                              </m:sSub>
                            </m:e>
                          </m:d>
                        </m:e>
                      </m:func>
                      <m:r>
                        <a:rPr lang="en-US" i="1">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𝑥</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𝑥</m:t>
                          </m:r>
                          <m:r>
                            <a:rPr lang="en-US" i="1">
                              <a:latin typeface="Cambria Math" panose="02040503050406030204" pitchFamily="18" charset="0"/>
                              <a:ea typeface="Cambria Math" panose="02040503050406030204" pitchFamily="18" charset="0"/>
                            </a:rPr>
                            <m:t>′</m:t>
                          </m:r>
                        </m:num>
                        <m:den>
                          <m:d>
                            <m:dPr>
                              <m:begChr m:val="|"/>
                              <m:endChr m:val="|"/>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𝑥</m:t>
                              </m:r>
                            </m:e>
                          </m:d>
                          <m:d>
                            <m:dPr>
                              <m:begChr m:val="|"/>
                              <m:endChr m:val="|"/>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𝑥</m:t>
                              </m:r>
                              <m:r>
                                <a:rPr lang="en-US" i="1">
                                  <a:latin typeface="Cambria Math" panose="02040503050406030204" pitchFamily="18" charset="0"/>
                                  <a:ea typeface="Cambria Math" panose="02040503050406030204" pitchFamily="18" charset="0"/>
                                </a:rPr>
                                <m:t>′</m:t>
                              </m:r>
                            </m:e>
                          </m:d>
                        </m:den>
                      </m:f>
                    </m:oMath>
                  </m:oMathPara>
                </a14:m>
                <a:endParaRPr lang="en-US" dirty="0"/>
              </a:p>
              <a:p>
                <a:pPr marL="0" indent="0">
                  <a:buNone/>
                </a:pPr>
                <a:endParaRPr lang="en-US" dirty="0">
                  <a:latin typeface="+mn-lt"/>
                </a:endParaRPr>
              </a:p>
              <a:p>
                <a:endParaRPr lang="en-US"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1639303"/>
              </a:xfrm>
              <a:blipFill>
                <a:blip r:embed="rId3"/>
                <a:stretch>
                  <a:fillRect l="-1111" t="-6320"/>
                </a:stretch>
              </a:blipFill>
            </p:spPr>
            <p:txBody>
              <a:bodyPr/>
              <a:lstStyle/>
              <a:p>
                <a:r>
                  <a:rPr lang="en-US">
                    <a:noFill/>
                  </a:rPr>
                  <a:t> </a:t>
                </a:r>
              </a:p>
            </p:txBody>
          </p:sp>
        </mc:Fallback>
      </mc:AlternateContent>
      <p:cxnSp>
        <p:nvCxnSpPr>
          <p:cNvPr id="6" name="Straight Arrow Connector 5">
            <a:extLst>
              <a:ext uri="{FF2B5EF4-FFF2-40B4-BE49-F238E27FC236}">
                <a16:creationId xmlns:a16="http://schemas.microsoft.com/office/drawing/2014/main" id="{DBC2410D-2843-43D4-8696-1D08665D8734}"/>
              </a:ext>
            </a:extLst>
          </p:cNvPr>
          <p:cNvCxnSpPr/>
          <p:nvPr/>
        </p:nvCxnSpPr>
        <p:spPr>
          <a:xfrm>
            <a:off x="758008" y="5961921"/>
            <a:ext cx="4597830"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AF210B04-140B-48C3-AB42-D61C9037800A}"/>
              </a:ext>
            </a:extLst>
          </p:cNvPr>
          <p:cNvCxnSpPr>
            <a:cxnSpLocks/>
          </p:cNvCxnSpPr>
          <p:nvPr/>
        </p:nvCxnSpPr>
        <p:spPr>
          <a:xfrm flipV="1">
            <a:off x="758008" y="2578125"/>
            <a:ext cx="0" cy="3383796"/>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62B40F0C-6CA8-4E2B-9506-257938DB4E99}"/>
              </a:ext>
            </a:extLst>
          </p:cNvPr>
          <p:cNvSpPr txBox="1"/>
          <p:nvPr/>
        </p:nvSpPr>
        <p:spPr>
          <a:xfrm>
            <a:off x="2907106" y="5961921"/>
            <a:ext cx="503664" cy="523220"/>
          </a:xfrm>
          <a:prstGeom prst="rect">
            <a:avLst/>
          </a:prstGeom>
          <a:noFill/>
        </p:spPr>
        <p:txBody>
          <a:bodyPr wrap="none" rtlCol="0">
            <a:spAutoFit/>
          </a:bodyPr>
          <a:lstStyle/>
          <a:p>
            <a:r>
              <a:rPr lang="en-US" sz="2800" b="1" dirty="0"/>
              <a:t>X</a:t>
            </a:r>
            <a:r>
              <a:rPr lang="en-US" sz="2800" b="1" baseline="-25000" dirty="0"/>
              <a:t>1</a:t>
            </a:r>
          </a:p>
        </p:txBody>
      </p:sp>
      <p:sp>
        <p:nvSpPr>
          <p:cNvPr id="11" name="TextBox 10">
            <a:extLst>
              <a:ext uri="{FF2B5EF4-FFF2-40B4-BE49-F238E27FC236}">
                <a16:creationId xmlns:a16="http://schemas.microsoft.com/office/drawing/2014/main" id="{9793A1DA-70A2-4EC3-9CAF-5C65A92AE62B}"/>
              </a:ext>
            </a:extLst>
          </p:cNvPr>
          <p:cNvSpPr txBox="1"/>
          <p:nvPr/>
        </p:nvSpPr>
        <p:spPr>
          <a:xfrm>
            <a:off x="238462" y="3953012"/>
            <a:ext cx="503664" cy="523220"/>
          </a:xfrm>
          <a:prstGeom prst="rect">
            <a:avLst/>
          </a:prstGeom>
          <a:noFill/>
        </p:spPr>
        <p:txBody>
          <a:bodyPr wrap="none" rtlCol="0">
            <a:spAutoFit/>
          </a:bodyPr>
          <a:lstStyle/>
          <a:p>
            <a:r>
              <a:rPr lang="en-US" sz="2800" b="1" dirty="0"/>
              <a:t>X</a:t>
            </a:r>
            <a:r>
              <a:rPr lang="en-US" sz="2800" b="1" baseline="-25000" dirty="0"/>
              <a:t>2</a:t>
            </a:r>
          </a:p>
        </p:txBody>
      </p:sp>
      <p:sp>
        <p:nvSpPr>
          <p:cNvPr id="12" name="Cross 11">
            <a:extLst>
              <a:ext uri="{FF2B5EF4-FFF2-40B4-BE49-F238E27FC236}">
                <a16:creationId xmlns:a16="http://schemas.microsoft.com/office/drawing/2014/main" id="{B23426B5-5480-4DE4-9184-9876C2CB2517}"/>
              </a:ext>
            </a:extLst>
          </p:cNvPr>
          <p:cNvSpPr/>
          <p:nvPr/>
        </p:nvSpPr>
        <p:spPr>
          <a:xfrm>
            <a:off x="4316808" y="3390317"/>
            <a:ext cx="200890" cy="208875"/>
          </a:xfrm>
          <a:prstGeom prst="plus">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Cross 12">
            <a:extLst>
              <a:ext uri="{FF2B5EF4-FFF2-40B4-BE49-F238E27FC236}">
                <a16:creationId xmlns:a16="http://schemas.microsoft.com/office/drawing/2014/main" id="{CD8CD439-2CC4-4431-AB63-0F32315F3BC5}"/>
              </a:ext>
            </a:extLst>
          </p:cNvPr>
          <p:cNvSpPr/>
          <p:nvPr/>
        </p:nvSpPr>
        <p:spPr>
          <a:xfrm>
            <a:off x="2498956" y="5229827"/>
            <a:ext cx="200890" cy="208875"/>
          </a:xfrm>
          <a:prstGeom prst="plus">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20D27AE9-6F7D-46F4-B0C2-70E2F3CD488A}"/>
              </a:ext>
            </a:extLst>
          </p:cNvPr>
          <p:cNvSpPr txBox="1"/>
          <p:nvPr/>
        </p:nvSpPr>
        <p:spPr>
          <a:xfrm>
            <a:off x="2211797" y="5411221"/>
            <a:ext cx="845126" cy="461665"/>
          </a:xfrm>
          <a:prstGeom prst="rect">
            <a:avLst/>
          </a:prstGeom>
          <a:noFill/>
        </p:spPr>
        <p:txBody>
          <a:bodyPr wrap="square" rtlCol="0">
            <a:spAutoFit/>
          </a:bodyPr>
          <a:lstStyle/>
          <a:p>
            <a:r>
              <a:rPr lang="en-US" sz="2400" dirty="0"/>
              <a:t>(2,1)</a:t>
            </a:r>
          </a:p>
        </p:txBody>
      </p:sp>
      <p:sp>
        <p:nvSpPr>
          <p:cNvPr id="15" name="TextBox 14">
            <a:extLst>
              <a:ext uri="{FF2B5EF4-FFF2-40B4-BE49-F238E27FC236}">
                <a16:creationId xmlns:a16="http://schemas.microsoft.com/office/drawing/2014/main" id="{65800F31-6C70-4F71-B1DD-342BB67BF461}"/>
              </a:ext>
            </a:extLst>
          </p:cNvPr>
          <p:cNvSpPr txBox="1"/>
          <p:nvPr/>
        </p:nvSpPr>
        <p:spPr>
          <a:xfrm>
            <a:off x="4531787" y="3222984"/>
            <a:ext cx="845126" cy="461665"/>
          </a:xfrm>
          <a:prstGeom prst="rect">
            <a:avLst/>
          </a:prstGeom>
          <a:noFill/>
        </p:spPr>
        <p:txBody>
          <a:bodyPr wrap="square" rtlCol="0">
            <a:spAutoFit/>
          </a:bodyPr>
          <a:lstStyle/>
          <a:p>
            <a:r>
              <a:rPr lang="en-US" sz="2400" dirty="0"/>
              <a:t>(4,3)</a:t>
            </a:r>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65FEAA3B-26B3-4998-B64A-7CACD68892A0}"/>
                  </a:ext>
                </a:extLst>
              </p:cNvPr>
              <p:cNvSpPr txBox="1"/>
              <p:nvPr/>
            </p:nvSpPr>
            <p:spPr>
              <a:xfrm>
                <a:off x="5591892" y="2768378"/>
                <a:ext cx="6445125" cy="2566600"/>
              </a:xfrm>
              <a:prstGeom prst="rect">
                <a:avLst/>
              </a:prstGeom>
              <a:noFill/>
            </p:spPr>
            <p:txBody>
              <a:bodyPr wrap="square" rtlCol="0">
                <a:spAutoFit/>
              </a:bodyPr>
              <a:lstStyle/>
              <a:p>
                <a:pPr marL="285750" indent="-285750">
                  <a:buFont typeface="Arial" panose="020B0604020202020204" pitchFamily="34" charset="0"/>
                  <a:buChar char="•"/>
                </a:pPr>
                <a:r>
                  <a:rPr lang="en-US" sz="2400" dirty="0"/>
                  <a:t>If vectors point in same direction </a:t>
                </a:r>
              </a:p>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ea typeface="Cambria Math" panose="02040503050406030204" pitchFamily="18" charset="0"/>
                        </a:rPr>
                        <m:t>𝜃</m:t>
                      </m:r>
                      <m:r>
                        <a:rPr lang="en-US" sz="2400" b="0" i="1" smtClean="0">
                          <a:latin typeface="Cambria Math" panose="02040503050406030204" pitchFamily="18" charset="0"/>
                          <a:ea typeface="Cambria Math" panose="02040503050406030204" pitchFamily="18" charset="0"/>
                        </a:rPr>
                        <m:t>=0,</m:t>
                      </m:r>
                      <m:func>
                        <m:funcPr>
                          <m:ctrlPr>
                            <a:rPr lang="en-US" sz="2400" b="0" i="1" smtClean="0">
                              <a:latin typeface="Cambria Math" panose="02040503050406030204" pitchFamily="18" charset="0"/>
                              <a:ea typeface="Cambria Math" panose="02040503050406030204" pitchFamily="18" charset="0"/>
                            </a:rPr>
                          </m:ctrlPr>
                        </m:funcPr>
                        <m:fName>
                          <m:r>
                            <m:rPr>
                              <m:sty m:val="p"/>
                            </m:rPr>
                            <a:rPr lang="en-US" sz="2400" b="0" i="0" smtClean="0">
                              <a:latin typeface="Cambria Math" panose="02040503050406030204" pitchFamily="18" charset="0"/>
                              <a:ea typeface="Cambria Math" panose="02040503050406030204" pitchFamily="18" charset="0"/>
                            </a:rPr>
                            <m:t>cos</m:t>
                          </m:r>
                        </m:fName>
                        <m:e>
                          <m:d>
                            <m:dPr>
                              <m:ctrlPr>
                                <a:rPr lang="en-US" sz="2400" b="0" i="1" smtClean="0">
                                  <a:latin typeface="Cambria Math" panose="02040503050406030204" pitchFamily="18" charset="0"/>
                                  <a:ea typeface="Cambria Math" panose="02040503050406030204" pitchFamily="18" charset="0"/>
                                </a:rPr>
                              </m:ctrlPr>
                            </m:dPr>
                            <m:e>
                              <m:r>
                                <a:rPr lang="en-US" sz="2400" b="0" i="1" smtClean="0">
                                  <a:latin typeface="Cambria Math" panose="02040503050406030204" pitchFamily="18" charset="0"/>
                                  <a:ea typeface="Cambria Math" panose="02040503050406030204" pitchFamily="18" charset="0"/>
                                </a:rPr>
                                <m:t>𝜃</m:t>
                              </m:r>
                            </m:e>
                          </m:d>
                        </m:e>
                      </m:func>
                      <m:r>
                        <a:rPr lang="en-US" sz="2400" b="0" i="1" smtClean="0">
                          <a:latin typeface="Cambria Math" panose="02040503050406030204" pitchFamily="18" charset="0"/>
                          <a:ea typeface="Cambria Math" panose="02040503050406030204" pitchFamily="18" charset="0"/>
                        </a:rPr>
                        <m:t>=1 </m:t>
                      </m:r>
                    </m:oMath>
                  </m:oMathPara>
                </a14:m>
                <a:endParaRPr lang="en-US" sz="2400" b="0" dirty="0">
                  <a:ea typeface="Cambria Math" panose="02040503050406030204" pitchFamily="18" charset="0"/>
                </a:endParaRPr>
              </a:p>
              <a:p>
                <a:pPr marL="285750" indent="-285750">
                  <a:buFont typeface="Arial" panose="020B0604020202020204" pitchFamily="34" charset="0"/>
                  <a:buChar char="•"/>
                </a:pPr>
                <a:r>
                  <a:rPr lang="en-US" sz="2400" dirty="0"/>
                  <a:t>If vectors point in opposite direction </a:t>
                </a:r>
              </a:p>
              <a:p>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ea typeface="Cambria Math" panose="02040503050406030204" pitchFamily="18" charset="0"/>
                        </a:rPr>
                        <m:t>𝜃</m:t>
                      </m:r>
                      <m:r>
                        <a:rPr lang="en-US" sz="2400" i="1">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𝜋</m:t>
                      </m:r>
                      <m:r>
                        <a:rPr lang="en-US" sz="2400" i="1">
                          <a:latin typeface="Cambria Math" panose="02040503050406030204" pitchFamily="18" charset="0"/>
                          <a:ea typeface="Cambria Math" panose="02040503050406030204" pitchFamily="18" charset="0"/>
                        </a:rPr>
                        <m:t>,</m:t>
                      </m:r>
                      <m:func>
                        <m:funcPr>
                          <m:ctrlPr>
                            <a:rPr lang="en-US" sz="2400" i="1">
                              <a:latin typeface="Cambria Math" panose="02040503050406030204" pitchFamily="18" charset="0"/>
                              <a:ea typeface="Cambria Math" panose="02040503050406030204" pitchFamily="18" charset="0"/>
                            </a:rPr>
                          </m:ctrlPr>
                        </m:funcPr>
                        <m:fName>
                          <m:r>
                            <m:rPr>
                              <m:sty m:val="p"/>
                            </m:rPr>
                            <a:rPr lang="en-US" sz="2400">
                              <a:latin typeface="Cambria Math" panose="02040503050406030204" pitchFamily="18" charset="0"/>
                              <a:ea typeface="Cambria Math" panose="02040503050406030204" pitchFamily="18" charset="0"/>
                            </a:rPr>
                            <m:t>cos</m:t>
                          </m:r>
                        </m:fName>
                        <m:e>
                          <m:d>
                            <m:dPr>
                              <m:ctrlPr>
                                <a:rPr lang="en-US" sz="2400" i="1">
                                  <a:latin typeface="Cambria Math" panose="02040503050406030204" pitchFamily="18" charset="0"/>
                                  <a:ea typeface="Cambria Math" panose="02040503050406030204" pitchFamily="18" charset="0"/>
                                </a:rPr>
                              </m:ctrlPr>
                            </m:dPr>
                            <m:e>
                              <m:r>
                                <a:rPr lang="en-US" sz="2400" i="1">
                                  <a:latin typeface="Cambria Math" panose="02040503050406030204" pitchFamily="18" charset="0"/>
                                  <a:ea typeface="Cambria Math" panose="02040503050406030204" pitchFamily="18" charset="0"/>
                                </a:rPr>
                                <m:t>𝜃</m:t>
                              </m:r>
                            </m:e>
                          </m:d>
                        </m:e>
                      </m:func>
                      <m:r>
                        <a:rPr lang="en-US" sz="2400" i="1">
                          <a:latin typeface="Cambria Math" panose="02040503050406030204" pitchFamily="18" charset="0"/>
                          <a:ea typeface="Cambria Math" panose="02040503050406030204" pitchFamily="18" charset="0"/>
                        </a:rPr>
                        <m:t>=</m:t>
                      </m:r>
                      <m:r>
                        <a:rPr lang="en-US" sz="2400" b="0" i="1" smtClean="0">
                          <a:latin typeface="Cambria Math" panose="02040503050406030204" pitchFamily="18" charset="0"/>
                          <a:ea typeface="Cambria Math" panose="02040503050406030204" pitchFamily="18" charset="0"/>
                        </a:rPr>
                        <m:t>−</m:t>
                      </m:r>
                      <m:r>
                        <a:rPr lang="en-US" sz="2400" i="1">
                          <a:latin typeface="Cambria Math" panose="02040503050406030204" pitchFamily="18" charset="0"/>
                          <a:ea typeface="Cambria Math" panose="02040503050406030204" pitchFamily="18" charset="0"/>
                        </a:rPr>
                        <m:t>1 </m:t>
                      </m:r>
                    </m:oMath>
                  </m:oMathPara>
                </a14:m>
                <a:endParaRPr lang="en-US" sz="2400" dirty="0"/>
              </a:p>
              <a:p>
                <a:pPr marL="285750" indent="-285750">
                  <a:buFont typeface="Arial" panose="020B0604020202020204" pitchFamily="34" charset="0"/>
                  <a:buChar char="•"/>
                </a:pPr>
                <a:r>
                  <a:rPr lang="en-US" sz="2400" dirty="0"/>
                  <a:t>If vectors orthogonal</a:t>
                </a:r>
              </a:p>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ea typeface="Cambria Math" panose="02040503050406030204" pitchFamily="18" charset="0"/>
                        </a:rPr>
                        <m:t>𝜃</m:t>
                      </m:r>
                      <m:r>
                        <a:rPr lang="en-US" sz="2400" b="0" i="1" smtClean="0">
                          <a:latin typeface="Cambria Math" panose="02040503050406030204" pitchFamily="18" charset="0"/>
                          <a:ea typeface="Cambria Math" panose="02040503050406030204" pitchFamily="18" charset="0"/>
                        </a:rPr>
                        <m:t>= </m:t>
                      </m:r>
                      <m:f>
                        <m:fPr>
                          <m:ctrlPr>
                            <a:rPr lang="en-US" sz="2400" b="0" i="1" smtClean="0">
                              <a:latin typeface="Cambria Math" panose="02040503050406030204" pitchFamily="18" charset="0"/>
                              <a:ea typeface="Cambria Math" panose="02040503050406030204" pitchFamily="18" charset="0"/>
                            </a:rPr>
                          </m:ctrlPr>
                        </m:fPr>
                        <m:num>
                          <m:r>
                            <a:rPr lang="en-US" sz="2400" b="0" i="1" smtClean="0">
                              <a:latin typeface="Cambria Math" panose="02040503050406030204" pitchFamily="18" charset="0"/>
                              <a:ea typeface="Cambria Math" panose="02040503050406030204" pitchFamily="18" charset="0"/>
                            </a:rPr>
                            <m:t>𝜋</m:t>
                          </m:r>
                        </m:num>
                        <m:den>
                          <m:r>
                            <a:rPr lang="en-US" sz="2400" b="0" i="1" smtClean="0">
                              <a:latin typeface="Cambria Math" panose="02040503050406030204" pitchFamily="18" charset="0"/>
                              <a:ea typeface="Cambria Math" panose="02040503050406030204" pitchFamily="18" charset="0"/>
                            </a:rPr>
                            <m:t>2</m:t>
                          </m:r>
                        </m:den>
                      </m:f>
                      <m:r>
                        <a:rPr lang="en-US" sz="2400" b="0" i="1" smtClean="0">
                          <a:latin typeface="Cambria Math" panose="02040503050406030204" pitchFamily="18" charset="0"/>
                          <a:ea typeface="Cambria Math" panose="02040503050406030204" pitchFamily="18" charset="0"/>
                        </a:rPr>
                        <m:t>,</m:t>
                      </m:r>
                      <m:func>
                        <m:funcPr>
                          <m:ctrlPr>
                            <a:rPr lang="en-US" sz="2400" b="0" i="1" smtClean="0">
                              <a:latin typeface="Cambria Math" panose="02040503050406030204" pitchFamily="18" charset="0"/>
                              <a:ea typeface="Cambria Math" panose="02040503050406030204" pitchFamily="18" charset="0"/>
                            </a:rPr>
                          </m:ctrlPr>
                        </m:funcPr>
                        <m:fName>
                          <m:r>
                            <m:rPr>
                              <m:sty m:val="p"/>
                            </m:rPr>
                            <a:rPr lang="en-US" sz="2400" b="0" i="0" smtClean="0">
                              <a:latin typeface="Cambria Math" panose="02040503050406030204" pitchFamily="18" charset="0"/>
                              <a:ea typeface="Cambria Math" panose="02040503050406030204" pitchFamily="18" charset="0"/>
                            </a:rPr>
                            <m:t>cos</m:t>
                          </m:r>
                        </m:fName>
                        <m:e>
                          <m:d>
                            <m:dPr>
                              <m:ctrlPr>
                                <a:rPr lang="en-US" sz="2400" b="0" i="1" smtClean="0">
                                  <a:latin typeface="Cambria Math" panose="02040503050406030204" pitchFamily="18" charset="0"/>
                                  <a:ea typeface="Cambria Math" panose="02040503050406030204" pitchFamily="18" charset="0"/>
                                </a:rPr>
                              </m:ctrlPr>
                            </m:dPr>
                            <m:e>
                              <m:r>
                                <a:rPr lang="en-US" sz="2400" b="0" i="1" smtClean="0">
                                  <a:latin typeface="Cambria Math" panose="02040503050406030204" pitchFamily="18" charset="0"/>
                                  <a:ea typeface="Cambria Math" panose="02040503050406030204" pitchFamily="18" charset="0"/>
                                </a:rPr>
                                <m:t>𝜃</m:t>
                              </m:r>
                            </m:e>
                          </m:d>
                        </m:e>
                      </m:func>
                      <m:r>
                        <a:rPr lang="en-US" sz="2400" b="0" i="1" smtClean="0">
                          <a:latin typeface="Cambria Math" panose="02040503050406030204" pitchFamily="18" charset="0"/>
                          <a:ea typeface="Cambria Math" panose="02040503050406030204" pitchFamily="18" charset="0"/>
                        </a:rPr>
                        <m:t>=0</m:t>
                      </m:r>
                    </m:oMath>
                  </m:oMathPara>
                </a14:m>
                <a:endParaRPr lang="en-US" sz="2400" dirty="0"/>
              </a:p>
            </p:txBody>
          </p:sp>
        </mc:Choice>
        <mc:Fallback xmlns="">
          <p:sp>
            <p:nvSpPr>
              <p:cNvPr id="17" name="TextBox 16">
                <a:extLst>
                  <a:ext uri="{FF2B5EF4-FFF2-40B4-BE49-F238E27FC236}">
                    <a16:creationId xmlns:a16="http://schemas.microsoft.com/office/drawing/2014/main" id="{65FEAA3B-26B3-4998-B64A-7CACD68892A0}"/>
                  </a:ext>
                </a:extLst>
              </p:cNvPr>
              <p:cNvSpPr txBox="1">
                <a:spLocks noRot="1" noChangeAspect="1" noMove="1" noResize="1" noEditPoints="1" noAdjustHandles="1" noChangeArrowheads="1" noChangeShapeType="1" noTextEdit="1"/>
              </p:cNvSpPr>
              <p:nvPr/>
            </p:nvSpPr>
            <p:spPr>
              <a:xfrm>
                <a:off x="5591892" y="2768378"/>
                <a:ext cx="6445125" cy="2566600"/>
              </a:xfrm>
              <a:prstGeom prst="rect">
                <a:avLst/>
              </a:prstGeom>
              <a:blipFill>
                <a:blip r:embed="rId4"/>
                <a:stretch>
                  <a:fillRect l="-1229" t="-1900"/>
                </a:stretch>
              </a:blipFill>
            </p:spPr>
            <p:txBody>
              <a:bodyPr/>
              <a:lstStyle/>
              <a:p>
                <a:r>
                  <a:rPr lang="en-US">
                    <a:noFill/>
                  </a:rPr>
                  <a:t> </a:t>
                </a:r>
              </a:p>
            </p:txBody>
          </p:sp>
        </mc:Fallback>
      </mc:AlternateContent>
      <p:cxnSp>
        <p:nvCxnSpPr>
          <p:cNvPr id="18" name="Straight Arrow Connector 17">
            <a:extLst>
              <a:ext uri="{FF2B5EF4-FFF2-40B4-BE49-F238E27FC236}">
                <a16:creationId xmlns:a16="http://schemas.microsoft.com/office/drawing/2014/main" id="{22C19033-E180-48CB-8A3F-5E01D0B45E8B}"/>
              </a:ext>
            </a:extLst>
          </p:cNvPr>
          <p:cNvCxnSpPr>
            <a:cxnSpLocks/>
            <a:endCxn id="13" idx="1"/>
          </p:cNvCxnSpPr>
          <p:nvPr/>
        </p:nvCxnSpPr>
        <p:spPr>
          <a:xfrm flipV="1">
            <a:off x="758008" y="5334265"/>
            <a:ext cx="1740948" cy="627656"/>
          </a:xfrm>
          <a:prstGeom prst="straightConnector1">
            <a:avLst/>
          </a:prstGeom>
          <a:ln w="44450">
            <a:solidFill>
              <a:schemeClr val="tx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5C4470BD-1B84-4863-B51E-E05B61323441}"/>
              </a:ext>
            </a:extLst>
          </p:cNvPr>
          <p:cNvCxnSpPr>
            <a:cxnSpLocks/>
            <a:endCxn id="12" idx="1"/>
          </p:cNvCxnSpPr>
          <p:nvPr/>
        </p:nvCxnSpPr>
        <p:spPr>
          <a:xfrm flipV="1">
            <a:off x="742126" y="3494755"/>
            <a:ext cx="3574682" cy="2467168"/>
          </a:xfrm>
          <a:prstGeom prst="straightConnector1">
            <a:avLst/>
          </a:prstGeom>
          <a:ln w="44450">
            <a:solidFill>
              <a:schemeClr val="tx1"/>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BC4F1A39-7311-4D97-9D1E-707E33AC61BC}"/>
              </a:ext>
            </a:extLst>
          </p:cNvPr>
          <p:cNvSpPr txBox="1"/>
          <p:nvPr/>
        </p:nvSpPr>
        <p:spPr>
          <a:xfrm>
            <a:off x="1850592" y="5051214"/>
            <a:ext cx="386032" cy="461665"/>
          </a:xfrm>
          <a:prstGeom prst="rect">
            <a:avLst/>
          </a:prstGeom>
          <a:noFill/>
        </p:spPr>
        <p:txBody>
          <a:bodyPr wrap="square" rtlCol="0">
            <a:spAutoFit/>
          </a:bodyPr>
          <a:lstStyle/>
          <a:p>
            <a:r>
              <a:rPr lang="en-US" sz="2400" dirty="0">
                <a:latin typeface="Symbol" panose="05050102010706020507" pitchFamily="18" charset="2"/>
              </a:rPr>
              <a:t>q</a:t>
            </a:r>
          </a:p>
        </p:txBody>
      </p:sp>
    </p:spTree>
    <p:extLst>
      <p:ext uri="{BB962C8B-B14F-4D97-AF65-F5344CB8AC3E}">
        <p14:creationId xmlns:p14="http://schemas.microsoft.com/office/powerpoint/2010/main" val="30157832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1"/>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7">
                                            <p:txEl>
                                              <p:pRg st="0" end="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7">
                                            <p:txEl>
                                              <p:pRg st="1" end="1"/>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7">
                                            <p:txEl>
                                              <p:pRg st="2" end="2"/>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7">
                                            <p:txEl>
                                              <p:pRg st="3" end="3"/>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17">
                                            <p:txEl>
                                              <p:pRg st="4" end="4"/>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17">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12" grpId="0" animBg="1"/>
      <p:bldP spid="13" grpId="0" animBg="1"/>
      <p:bldP spid="14" grpId="0"/>
      <p:bldP spid="15" grpId="0"/>
      <p:bldP spid="21" grpId="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DF10CD-2ACC-6B1E-9524-86AB2729DF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051176-3A7B-4E9F-FB87-648BF47F1784}"/>
              </a:ext>
            </a:extLst>
          </p:cNvPr>
          <p:cNvSpPr>
            <a:spLocks noGrp="1"/>
          </p:cNvSpPr>
          <p:nvPr>
            <p:ph type="title"/>
          </p:nvPr>
        </p:nvSpPr>
        <p:spPr>
          <a:xfrm>
            <a:off x="584200" y="221992"/>
            <a:ext cx="10515600" cy="530954"/>
          </a:xfrm>
        </p:spPr>
        <p:txBody>
          <a:bodyPr>
            <a:normAutofit fontScale="90000"/>
          </a:bodyPr>
          <a:lstStyle/>
          <a:p>
            <a:r>
              <a:rPr lang="en-US" dirty="0"/>
              <a:t>Measuring Similarity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5191FB6-AA30-982A-19DE-0E6AAD95EB9B}"/>
                  </a:ext>
                </a:extLst>
              </p:cNvPr>
              <p:cNvSpPr>
                <a:spLocks noGrp="1"/>
              </p:cNvSpPr>
              <p:nvPr>
                <p:ph sz="quarter" idx="10"/>
              </p:nvPr>
            </p:nvSpPr>
            <p:spPr>
              <a:xfrm>
                <a:off x="333375" y="1159932"/>
                <a:ext cx="11525250" cy="5363577"/>
              </a:xfrm>
            </p:spPr>
            <p:txBody>
              <a:bodyPr>
                <a:normAutofit/>
              </a:bodyPr>
              <a:lstStyle/>
              <a:p>
                <a:pPr marL="0" indent="0">
                  <a:buNone/>
                </a:pPr>
                <a:r>
                  <a:rPr lang="en-US" dirty="0">
                    <a:latin typeface="+mn-lt"/>
                  </a:rPr>
                  <a:t>Different metrics for similarity can be computed for numeric variables in p dimensions</a:t>
                </a:r>
              </a:p>
              <a:p>
                <a:r>
                  <a:rPr lang="en-US" b="1" dirty="0">
                    <a:latin typeface="+mn-lt"/>
                  </a:rPr>
                  <a:t>Dot product similarity</a:t>
                </a:r>
                <a:r>
                  <a:rPr lang="en-US" dirty="0">
                    <a:latin typeface="+mn-lt"/>
                  </a:rPr>
                  <a:t>, for two vectors of values </a:t>
                </a:r>
                <a14:m>
                  <m:oMath xmlns:m="http://schemas.openxmlformats.org/officeDocument/2006/math">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𝑥</m:t>
                        </m:r>
                      </m:e>
                      <m:sup>
                        <m:r>
                          <a:rPr lang="en-US" b="0" i="1" smtClean="0">
                            <a:latin typeface="Cambria Math" panose="02040503050406030204" pitchFamily="18" charset="0"/>
                          </a:rPr>
                          <m:t>′</m:t>
                        </m:r>
                      </m:sup>
                    </m:sSup>
                    <m:r>
                      <a:rPr lang="en-US" b="0" i="1" smtClean="0">
                        <a:latin typeface="Cambria Math" panose="02040503050406030204" pitchFamily="18" charset="0"/>
                      </a:rPr>
                      <m:t>)</m:t>
                    </m:r>
                  </m:oMath>
                </a14:m>
                <a:endParaRPr lang="en-US" dirty="0">
                  <a:latin typeface="+mn-lt"/>
                </a:endParaRP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𝑠</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e>
                      </m:d>
                      <m:r>
                        <a:rPr lang="en-US" b="0" i="1" dirty="0" smtClean="0">
                          <a:latin typeface="Cambria Math" panose="02040503050406030204" pitchFamily="18" charset="0"/>
                        </a:rPr>
                        <m:t>=</m:t>
                      </m:r>
                      <m:r>
                        <a:rPr lang="en-US" i="1" dirty="0">
                          <a:latin typeface="Cambria Math" panose="02040503050406030204" pitchFamily="18" charset="0"/>
                        </a:rPr>
                        <m:t>(</m:t>
                      </m:r>
                      <m:r>
                        <a:rPr lang="en-US" i="1" dirty="0">
                          <a:latin typeface="Cambria Math" panose="02040503050406030204" pitchFamily="18" charset="0"/>
                        </a:rPr>
                        <m:t>𝑥</m:t>
                      </m:r>
                      <m:r>
                        <a:rPr lang="en-US" i="1" dirty="0">
                          <a:latin typeface="Cambria Math" panose="02040503050406030204" pitchFamily="18" charset="0"/>
                        </a:rPr>
                        <m:t>−</m:t>
                      </m:r>
                      <m:acc>
                        <m:accPr>
                          <m:chr m:val="̅"/>
                          <m:ctrlPr>
                            <a:rPr lang="en-US" i="1" dirty="0">
                              <a:latin typeface="Cambria Math" panose="02040503050406030204" pitchFamily="18" charset="0"/>
                            </a:rPr>
                          </m:ctrlPr>
                        </m:accPr>
                        <m:e>
                          <m:r>
                            <a:rPr lang="en-US" i="1" dirty="0">
                              <a:latin typeface="Cambria Math" panose="02040503050406030204" pitchFamily="18" charset="0"/>
                            </a:rPr>
                            <m:t>𝑥</m:t>
                          </m:r>
                        </m:e>
                      </m:acc>
                      <m:r>
                        <a:rPr lang="en-US" i="1" dirty="0">
                          <a:latin typeface="Cambria Math" panose="02040503050406030204" pitchFamily="18" charset="0"/>
                        </a:rPr>
                        <m:t>)</m:t>
                      </m:r>
                      <m:r>
                        <a:rPr lang="en-US" i="1" dirty="0" smtClean="0">
                          <a:latin typeface="Cambria Math" panose="02040503050406030204" pitchFamily="18" charset="0"/>
                          <a:ea typeface="Cambria Math" panose="02040503050406030204" pitchFamily="18" charset="0"/>
                        </a:rPr>
                        <m:t>∙</m:t>
                      </m:r>
                      <m:r>
                        <a:rPr lang="en-US" i="1" dirty="0">
                          <a:latin typeface="Cambria Math" panose="02040503050406030204" pitchFamily="18" charset="0"/>
                        </a:rPr>
                        <m:t>(</m:t>
                      </m:r>
                      <m:r>
                        <a:rPr lang="en-US" i="1" dirty="0">
                          <a:latin typeface="Cambria Math" panose="02040503050406030204" pitchFamily="18" charset="0"/>
                        </a:rPr>
                        <m:t>𝑥</m:t>
                      </m:r>
                      <m:r>
                        <a:rPr lang="en-US" b="0" i="1" dirty="0" smtClean="0">
                          <a:latin typeface="Cambria Math" panose="02040503050406030204" pitchFamily="18" charset="0"/>
                        </a:rPr>
                        <m:t>′</m:t>
                      </m:r>
                      <m:r>
                        <a:rPr lang="en-US" i="1" dirty="0">
                          <a:latin typeface="Cambria Math" panose="02040503050406030204" pitchFamily="18" charset="0"/>
                        </a:rPr>
                        <m:t>−</m:t>
                      </m:r>
                      <m:acc>
                        <m:accPr>
                          <m:chr m:val="̅"/>
                          <m:ctrlPr>
                            <a:rPr lang="en-US" i="1" dirty="0">
                              <a:latin typeface="Cambria Math" panose="02040503050406030204" pitchFamily="18" charset="0"/>
                            </a:rPr>
                          </m:ctrlPr>
                        </m:accPr>
                        <m:e>
                          <m:r>
                            <a:rPr lang="en-US" i="1" dirty="0">
                              <a:latin typeface="Cambria Math" panose="02040503050406030204" pitchFamily="18" charset="0"/>
                            </a:rPr>
                            <m:t>𝑥</m:t>
                          </m:r>
                          <m:r>
                            <a:rPr lang="en-US" b="0" i="1" dirty="0" smtClean="0">
                              <a:latin typeface="Cambria Math" panose="02040503050406030204" pitchFamily="18" charset="0"/>
                            </a:rPr>
                            <m:t>′</m:t>
                          </m:r>
                        </m:e>
                      </m:acc>
                      <m:r>
                        <a:rPr lang="en-US" i="1" dirty="0">
                          <a:latin typeface="Cambria Math" panose="02040503050406030204" pitchFamily="18" charset="0"/>
                        </a:rPr>
                        <m:t>)</m:t>
                      </m:r>
                      <m:r>
                        <a:rPr lang="en-US" b="0" i="0" smtClean="0">
                          <a:latin typeface="Cambria Math" panose="02040503050406030204" pitchFamily="18" charset="0"/>
                          <a:ea typeface="Cambria Math" panose="02040503050406030204" pitchFamily="18" charset="0"/>
                        </a:rPr>
                        <m:t>=</m:t>
                      </m:r>
                      <m:r>
                        <a:rPr lang="en-US" i="1" dirty="0">
                          <a:latin typeface="Cambria Math" panose="02040503050406030204" pitchFamily="18" charset="0"/>
                        </a:rPr>
                        <m:t>(</m:t>
                      </m:r>
                      <m:r>
                        <a:rPr lang="en-US" i="1" dirty="0">
                          <a:latin typeface="Cambria Math" panose="02040503050406030204" pitchFamily="18" charset="0"/>
                        </a:rPr>
                        <m:t>𝑥</m:t>
                      </m:r>
                      <m:r>
                        <a:rPr lang="en-US" i="1" dirty="0">
                          <a:latin typeface="Cambria Math" panose="02040503050406030204" pitchFamily="18" charset="0"/>
                        </a:rPr>
                        <m:t>−</m:t>
                      </m:r>
                      <m:acc>
                        <m:accPr>
                          <m:chr m:val="̅"/>
                          <m:ctrlPr>
                            <a:rPr lang="en-US" i="1" dirty="0">
                              <a:latin typeface="Cambria Math" panose="02040503050406030204" pitchFamily="18" charset="0"/>
                            </a:rPr>
                          </m:ctrlPr>
                        </m:accPr>
                        <m:e>
                          <m:r>
                            <a:rPr lang="en-US" i="1" dirty="0">
                              <a:latin typeface="Cambria Math" panose="02040503050406030204" pitchFamily="18" charset="0"/>
                            </a:rPr>
                            <m:t>𝑥</m:t>
                          </m:r>
                        </m:e>
                      </m:acc>
                      <m:r>
                        <a:rPr lang="en-US" i="1" dirty="0">
                          <a:latin typeface="Cambria Math" panose="02040503050406030204" pitchFamily="18" charset="0"/>
                        </a:rPr>
                        <m:t>)</m:t>
                      </m:r>
                      <m:sSup>
                        <m:sSupPr>
                          <m:ctrlPr>
                            <a:rPr lang="en-US" i="1" dirty="0">
                              <a:latin typeface="Cambria Math" panose="02040503050406030204" pitchFamily="18" charset="0"/>
                            </a:rPr>
                          </m:ctrlPr>
                        </m:sSupPr>
                        <m:e>
                          <m:r>
                            <a:rPr lang="en-US" i="1" dirty="0">
                              <a:latin typeface="Cambria Math" panose="02040503050406030204" pitchFamily="18" charset="0"/>
                            </a:rPr>
                            <m:t>(</m:t>
                          </m:r>
                          <m:r>
                            <a:rPr lang="en-US" i="1" dirty="0">
                              <a:latin typeface="Cambria Math" panose="02040503050406030204" pitchFamily="18" charset="0"/>
                            </a:rPr>
                            <m:t>𝑥</m:t>
                          </m:r>
                          <m:r>
                            <a:rPr lang="en-US" i="1" dirty="0">
                              <a:latin typeface="Cambria Math" panose="02040503050406030204" pitchFamily="18" charset="0"/>
                            </a:rPr>
                            <m:t>′−</m:t>
                          </m:r>
                          <m:acc>
                            <m:accPr>
                              <m:chr m:val="̅"/>
                              <m:ctrlPr>
                                <a:rPr lang="en-US" i="1" dirty="0">
                                  <a:latin typeface="Cambria Math" panose="02040503050406030204" pitchFamily="18" charset="0"/>
                                </a:rPr>
                              </m:ctrlPr>
                            </m:accPr>
                            <m:e>
                              <m:r>
                                <a:rPr lang="en-US" i="1" dirty="0">
                                  <a:latin typeface="Cambria Math" panose="02040503050406030204" pitchFamily="18" charset="0"/>
                                </a:rPr>
                                <m:t>𝑥</m:t>
                              </m:r>
                              <m:r>
                                <a:rPr lang="en-US" b="0" i="1" dirty="0" smtClean="0">
                                  <a:latin typeface="Cambria Math" panose="02040503050406030204" pitchFamily="18" charset="0"/>
                                </a:rPr>
                                <m:t>′</m:t>
                              </m:r>
                            </m:e>
                          </m:acc>
                          <m:r>
                            <a:rPr lang="en-US" i="1" dirty="0">
                              <a:latin typeface="Cambria Math" panose="02040503050406030204" pitchFamily="18" charset="0"/>
                            </a:rPr>
                            <m:t>)</m:t>
                          </m:r>
                        </m:e>
                        <m:sup>
                          <m:r>
                            <a:rPr lang="en-US" i="1" dirty="0">
                              <a:latin typeface="Cambria Math" panose="02040503050406030204" pitchFamily="18" charset="0"/>
                            </a:rPr>
                            <m:t>𝑇</m:t>
                          </m:r>
                        </m:sup>
                      </m:sSup>
                    </m:oMath>
                  </m:oMathPara>
                </a14:m>
                <a:endParaRPr lang="en-US" dirty="0">
                  <a:latin typeface="+mn-lt"/>
                </a:endParaRPr>
              </a:p>
              <a:p>
                <a:r>
                  <a:rPr lang="en-US" dirty="0">
                    <a:latin typeface="+mn-lt"/>
                  </a:rPr>
                  <a:t>Range is unbounded!</a:t>
                </a:r>
              </a:p>
              <a:p>
                <a:r>
                  <a:rPr lang="en-US" dirty="0">
                    <a:latin typeface="+mn-lt"/>
                  </a:rPr>
                  <a:t>If </a:t>
                </a:r>
                <a14:m>
                  <m:oMath xmlns:m="http://schemas.openxmlformats.org/officeDocument/2006/math">
                    <m:r>
                      <a:rPr lang="en-US" i="1" dirty="0">
                        <a:latin typeface="Cambria Math" panose="02040503050406030204" pitchFamily="18" charset="0"/>
                      </a:rPr>
                      <m:t>𝑥</m:t>
                    </m:r>
                  </m:oMath>
                </a14:m>
                <a:r>
                  <a:rPr lang="en-US" dirty="0">
                    <a:latin typeface="+mn-lt"/>
                  </a:rPr>
                  <a:t>, </a:t>
                </a:r>
                <a14:m>
                  <m:oMath xmlns:m="http://schemas.openxmlformats.org/officeDocument/2006/math">
                    <m:r>
                      <a:rPr lang="en-US" i="1" dirty="0">
                        <a:latin typeface="Cambria Math" panose="02040503050406030204" pitchFamily="18" charset="0"/>
                      </a:rPr>
                      <m:t>𝑥</m:t>
                    </m:r>
                    <m:r>
                      <a:rPr lang="en-US" b="0" i="1" dirty="0" smtClean="0">
                        <a:latin typeface="Cambria Math" panose="02040503050406030204" pitchFamily="18" charset="0"/>
                      </a:rPr>
                      <m:t>′</m:t>
                    </m:r>
                  </m:oMath>
                </a14:m>
                <a:r>
                  <a:rPr lang="en-US" dirty="0">
                    <a:latin typeface="+mn-lt"/>
                  </a:rPr>
                  <a:t> have unit Euclidean norm, is same as Pearson correlation</a:t>
                </a:r>
              </a:p>
              <a:p>
                <a:pPr lvl="1"/>
                <a:r>
                  <a:rPr lang="en-US" dirty="0">
                    <a:latin typeface="+mn-lt"/>
                  </a:rPr>
                  <a:t>Compute </a:t>
                </a:r>
                <a:r>
                  <a:rPr lang="en-US" b="1" dirty="0">
                    <a:latin typeface="+mn-lt"/>
                  </a:rPr>
                  <a:t>Pearson correlation </a:t>
                </a:r>
                <a:r>
                  <a:rPr lang="en-US" dirty="0">
                    <a:latin typeface="+mn-lt"/>
                  </a:rPr>
                  <a:t>by taking dot product of zero centered unit variance vectors </a:t>
                </a:r>
              </a:p>
              <a:p>
                <a:r>
                  <a:rPr lang="en-US" dirty="0">
                    <a:latin typeface="+mn-lt"/>
                  </a:rPr>
                  <a:t>FAISS only supports dot product similarity</a:t>
                </a:r>
              </a:p>
              <a:p>
                <a:pPr marL="0" indent="0">
                  <a:buNone/>
                </a:pPr>
                <a:endParaRPr lang="en-US" dirty="0">
                  <a:latin typeface="+mn-lt"/>
                </a:endParaRPr>
              </a:p>
            </p:txBody>
          </p:sp>
        </mc:Choice>
        <mc:Fallback xmlns="">
          <p:sp>
            <p:nvSpPr>
              <p:cNvPr id="3" name="Content Placeholder 2">
                <a:extLst>
                  <a:ext uri="{FF2B5EF4-FFF2-40B4-BE49-F238E27FC236}">
                    <a16:creationId xmlns:a16="http://schemas.microsoft.com/office/drawing/2014/main" id="{85191FB6-AA30-982A-19DE-0E6AAD95EB9B}"/>
                  </a:ext>
                </a:extLst>
              </p:cNvPr>
              <p:cNvSpPr>
                <a:spLocks noGrp="1" noRot="1" noChangeAspect="1" noMove="1" noResize="1" noEditPoints="1" noAdjustHandles="1" noChangeArrowheads="1" noChangeShapeType="1" noTextEdit="1"/>
              </p:cNvSpPr>
              <p:nvPr>
                <p:ph sz="quarter" idx="10"/>
              </p:nvPr>
            </p:nvSpPr>
            <p:spPr>
              <a:xfrm>
                <a:off x="333375" y="1159932"/>
                <a:ext cx="11525250" cy="5363577"/>
              </a:xfrm>
              <a:blipFill>
                <a:blip r:embed="rId3"/>
                <a:stretch>
                  <a:fillRect l="-1111" t="-1818"/>
                </a:stretch>
              </a:blipFill>
            </p:spPr>
            <p:txBody>
              <a:bodyPr/>
              <a:lstStyle/>
              <a:p>
                <a:r>
                  <a:rPr lang="en-US">
                    <a:noFill/>
                  </a:rPr>
                  <a:t> </a:t>
                </a:r>
              </a:p>
            </p:txBody>
          </p:sp>
        </mc:Fallback>
      </mc:AlternateContent>
    </p:spTree>
    <p:extLst>
      <p:ext uri="{BB962C8B-B14F-4D97-AF65-F5344CB8AC3E}">
        <p14:creationId xmlns:p14="http://schemas.microsoft.com/office/powerpoint/2010/main" val="13563475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Measuring 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5698998"/>
              </a:xfrm>
            </p:spPr>
            <p:txBody>
              <a:bodyPr>
                <a:normAutofit fontScale="92500"/>
              </a:bodyPr>
              <a:lstStyle/>
              <a:p>
                <a:pPr marL="0" indent="0">
                  <a:buNone/>
                </a:pPr>
                <a:r>
                  <a:rPr lang="en-US" dirty="0">
                    <a:latin typeface="+mn-lt"/>
                  </a:rPr>
                  <a:t>Different metrics for similarity can be computed for discretely coded or numeric variables in p dimensions</a:t>
                </a:r>
              </a:p>
              <a:p>
                <a:r>
                  <a:rPr lang="en-US" b="1" dirty="0">
                    <a:latin typeface="+mn-lt"/>
                    <a:hlinkClick r:id="rId3"/>
                  </a:rPr>
                  <a:t>Jaccard Similarity</a:t>
                </a:r>
                <a:r>
                  <a:rPr lang="en-US" b="1" dirty="0">
                    <a:latin typeface="+mn-lt"/>
                  </a:rPr>
                  <a:t>:</a:t>
                </a:r>
                <a:r>
                  <a:rPr lang="en-US" dirty="0">
                    <a:latin typeface="+mn-lt"/>
                  </a:rPr>
                  <a:t> For discretely coded data</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𝑠</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e>
                      </m:d>
                      <m:r>
                        <a:rPr lang="en-US" b="0" i="1" smtClean="0">
                          <a:latin typeface="Cambria Math" panose="02040503050406030204" pitchFamily="18" charset="0"/>
                        </a:rPr>
                        <m:t>= </m:t>
                      </m:r>
                      <m:f>
                        <m:fPr>
                          <m:ctrlPr>
                            <a:rPr lang="en-US" b="0" i="1" smtClean="0">
                              <a:latin typeface="Cambria Math" panose="02040503050406030204" pitchFamily="18" charset="0"/>
                            </a:rPr>
                          </m:ctrlPr>
                        </m:fPr>
                        <m:num>
                          <m:r>
                            <a:rPr lang="en-US" b="0" i="1" smtClean="0">
                              <a:latin typeface="Cambria Math" panose="02040503050406030204" pitchFamily="18" charset="0"/>
                            </a:rPr>
                            <m:t>𝑆𝑖𝑧𝑒</m:t>
                          </m:r>
                          <m:r>
                            <a:rPr lang="en-US" b="0" i="1" smtClean="0">
                              <a:latin typeface="Cambria Math" panose="02040503050406030204" pitchFamily="18" charset="0"/>
                            </a:rPr>
                            <m:t> </m:t>
                          </m:r>
                          <m:r>
                            <a:rPr lang="en-US" b="0" i="1" smtClean="0">
                              <a:latin typeface="Cambria Math" panose="02040503050406030204" pitchFamily="18" charset="0"/>
                            </a:rPr>
                            <m:t>𝑜𝑓</m:t>
                          </m:r>
                          <m:r>
                            <a:rPr lang="en-US" b="0" i="1" smtClean="0">
                              <a:latin typeface="Cambria Math" panose="02040503050406030204" pitchFamily="18" charset="0"/>
                            </a:rPr>
                            <m:t> </m:t>
                          </m:r>
                          <m:r>
                            <a:rPr lang="en-US" b="0" i="1" smtClean="0">
                              <a:latin typeface="Cambria Math" panose="02040503050406030204" pitchFamily="18" charset="0"/>
                            </a:rPr>
                            <m:t>𝐼𝑛𝑡𝑒𝑟𝑠𝑒𝑐𝑡𝑖𝑜𝑛</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𝑥</m:t>
                              </m:r>
                            </m:e>
                            <m:sup>
                              <m:r>
                                <a:rPr lang="en-US" b="0" i="1" smtClean="0">
                                  <a:latin typeface="Cambria Math" panose="02040503050406030204" pitchFamily="18" charset="0"/>
                                </a:rPr>
                                <m:t>′</m:t>
                              </m:r>
                            </m:sup>
                          </m:sSup>
                          <m:r>
                            <a:rPr lang="en-US" b="0" i="1" smtClean="0">
                              <a:latin typeface="Cambria Math" panose="02040503050406030204" pitchFamily="18" charset="0"/>
                            </a:rPr>
                            <m:t>)</m:t>
                          </m:r>
                        </m:num>
                        <m:den>
                          <m:r>
                            <a:rPr lang="en-US" b="0" i="1" smtClean="0">
                              <a:latin typeface="Cambria Math" panose="02040503050406030204" pitchFamily="18" charset="0"/>
                            </a:rPr>
                            <m:t>𝑆𝑖𝑧𝑒</m:t>
                          </m:r>
                          <m:r>
                            <a:rPr lang="en-US" b="0" i="1" smtClean="0">
                              <a:latin typeface="Cambria Math" panose="02040503050406030204" pitchFamily="18" charset="0"/>
                            </a:rPr>
                            <m:t> </m:t>
                          </m:r>
                          <m:r>
                            <a:rPr lang="en-US" b="0" i="1" smtClean="0">
                              <a:latin typeface="Cambria Math" panose="02040503050406030204" pitchFamily="18" charset="0"/>
                            </a:rPr>
                            <m:t>𝑜𝑓</m:t>
                          </m:r>
                          <m:r>
                            <a:rPr lang="en-US" b="0" i="1" smtClean="0">
                              <a:latin typeface="Cambria Math" panose="02040503050406030204" pitchFamily="18" charset="0"/>
                            </a:rPr>
                            <m:t> </m:t>
                          </m:r>
                          <m:r>
                            <a:rPr lang="en-US" b="0" i="1" smtClean="0">
                              <a:latin typeface="Cambria Math" panose="02040503050406030204" pitchFamily="18" charset="0"/>
                            </a:rPr>
                            <m:t>𝑈𝑛𝑖𝑜𝑛</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𝑥</m:t>
                              </m:r>
                            </m:e>
                            <m:sup>
                              <m:r>
                                <a:rPr lang="en-US" b="0" i="1" smtClean="0">
                                  <a:latin typeface="Cambria Math" panose="02040503050406030204" pitchFamily="18" charset="0"/>
                                </a:rPr>
                                <m:t>′</m:t>
                              </m:r>
                            </m:sup>
                          </m:sSup>
                          <m:r>
                            <a:rPr lang="en-US" b="0" i="1" smtClean="0">
                              <a:latin typeface="Cambria Math" panose="02040503050406030204" pitchFamily="18" charset="0"/>
                            </a:rPr>
                            <m:t>)</m:t>
                          </m:r>
                        </m:den>
                      </m:f>
                      <m:r>
                        <a:rPr lang="en-US" b="0" i="1" smtClean="0">
                          <a:latin typeface="Cambria Math" panose="02040503050406030204" pitchFamily="18" charset="0"/>
                        </a:rPr>
                        <m:t>=</m:t>
                      </m:r>
                      <m:f>
                        <m:fPr>
                          <m:ctrlPr>
                            <a:rPr lang="en-US" b="0" i="1" smtClean="0">
                              <a:latin typeface="Cambria Math" panose="02040503050406030204" pitchFamily="18" charset="0"/>
                            </a:rPr>
                          </m:ctrlPr>
                        </m:fPr>
                        <m:num>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e>
                          </m:d>
                        </m:num>
                        <m:den>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e>
                          </m:d>
                        </m:den>
                      </m:f>
                    </m:oMath>
                  </m:oMathPara>
                </a14:m>
                <a:endParaRPr lang="en-US" b="0" dirty="0">
                  <a:latin typeface="+mn-lt"/>
                </a:endParaRPr>
              </a:p>
              <a:p>
                <a:r>
                  <a:rPr lang="en-US" dirty="0">
                    <a:latin typeface="+mn-lt"/>
                  </a:rPr>
                  <a:t>Jaccard similarity in range </a:t>
                </a:r>
                <a14:m>
                  <m:oMath xmlns:m="http://schemas.openxmlformats.org/officeDocument/2006/math">
                    <m:d>
                      <m:dPr>
                        <m:begChr m:val="["/>
                        <m:endChr m:val="]"/>
                        <m:ctrlPr>
                          <a:rPr lang="en-US" i="1" smtClean="0">
                            <a:latin typeface="Cambria Math" panose="02040503050406030204" pitchFamily="18" charset="0"/>
                          </a:rPr>
                        </m:ctrlPr>
                      </m:dPr>
                      <m:e>
                        <m:r>
                          <a:rPr lang="en-US" b="0" i="1" smtClean="0">
                            <a:latin typeface="Cambria Math" panose="02040503050406030204" pitchFamily="18" charset="0"/>
                          </a:rPr>
                          <m:t>0,1</m:t>
                        </m:r>
                      </m:e>
                    </m:d>
                  </m:oMath>
                </a14:m>
                <a:endParaRPr lang="en-US" dirty="0">
                  <a:latin typeface="+mn-lt"/>
                </a:endParaRPr>
              </a:p>
              <a:p>
                <a:r>
                  <a:rPr lang="en-US" dirty="0">
                    <a:latin typeface="+mn-lt"/>
                  </a:rPr>
                  <a:t>Example: consider the following character strings</a:t>
                </a:r>
                <a:r>
                  <a:rPr lang="en-US" sz="2400" dirty="0">
                    <a:latin typeface="+mn-lt"/>
                  </a:rPr>
                  <a:t>:      </a:t>
                </a:r>
              </a:p>
              <a:p>
                <a:pPr marL="457200" lvl="1" indent="0">
                  <a:buNone/>
                </a:pPr>
                <a:r>
                  <a:rPr lang="en-US" dirty="0">
                    <a:latin typeface="+mn-lt"/>
                  </a:rPr>
                  <a:t>				x = </a:t>
                </a:r>
                <a:r>
                  <a:rPr lang="en-US" dirty="0" err="1">
                    <a:latin typeface="+mn-lt"/>
                  </a:rPr>
                  <a:t>thisismy</a:t>
                </a:r>
                <a:r>
                  <a:rPr lang="en-US" dirty="0" err="1">
                    <a:solidFill>
                      <a:srgbClr val="C00000"/>
                    </a:solidFill>
                    <a:latin typeface="+mn-lt"/>
                  </a:rPr>
                  <a:t>olddog</a:t>
                </a:r>
                <a:endParaRPr lang="en-US" dirty="0">
                  <a:solidFill>
                    <a:srgbClr val="C00000"/>
                  </a:solidFill>
                  <a:latin typeface="+mn-lt"/>
                </a:endParaRPr>
              </a:p>
              <a:p>
                <a:pPr marL="457200" lvl="1" indent="0">
                  <a:buNone/>
                </a:pPr>
                <a:r>
                  <a:rPr lang="en-US" dirty="0">
                    <a:latin typeface="+mn-lt"/>
                  </a:rPr>
                  <a:t>				x’ = </a:t>
                </a:r>
                <a:r>
                  <a:rPr lang="en-US" dirty="0" err="1">
                    <a:latin typeface="+mn-lt"/>
                  </a:rPr>
                  <a:t>thisismy</a:t>
                </a:r>
                <a:r>
                  <a:rPr lang="en-US" dirty="0" err="1">
                    <a:solidFill>
                      <a:srgbClr val="C00000"/>
                    </a:solidFill>
                    <a:latin typeface="+mn-lt"/>
                  </a:rPr>
                  <a:t>cat</a:t>
                </a:r>
                <a:endParaRPr lang="en-US" dirty="0">
                  <a:solidFill>
                    <a:srgbClr val="C00000"/>
                  </a:solidFill>
                  <a:latin typeface="+mn-lt"/>
                </a:endParaRPr>
              </a:p>
              <a:p>
                <a:pPr marL="457200" lvl="1" indent="0">
                  <a:buNone/>
                </a:pPr>
                <a14:m>
                  <m:oMathPara xmlns:m="http://schemas.openxmlformats.org/officeDocument/2006/math">
                    <m:oMathParaPr>
                      <m:jc m:val="centerGroup"/>
                    </m:oMathParaPr>
                    <m:oMath xmlns:m="http://schemas.openxmlformats.org/officeDocument/2006/math">
                      <m:d>
                        <m:dPr>
                          <m:begChr m:val="|"/>
                          <m:endChr m:val="|"/>
                          <m:ctrlPr>
                            <a:rPr lang="en-US"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e>
                      </m:d>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𝑡h𝑖𝑠𝑚𝑦</m:t>
                          </m:r>
                        </m:e>
                      </m:d>
                      <m:r>
                        <a:rPr lang="en-US" b="0" i="1" smtClean="0">
                          <a:latin typeface="Cambria Math" panose="02040503050406030204" pitchFamily="18" charset="0"/>
                        </a:rPr>
                        <m:t>=6</m:t>
                      </m:r>
                    </m:oMath>
                  </m:oMathPara>
                </a14:m>
                <a:endParaRPr lang="en-US" b="0" dirty="0">
                  <a:latin typeface="+mn-lt"/>
                </a:endParaRPr>
              </a:p>
              <a:p>
                <a:pPr marL="457200" lvl="1" indent="0">
                  <a:buNone/>
                </a:pPr>
                <a14:m>
                  <m:oMathPara xmlns:m="http://schemas.openxmlformats.org/officeDocument/2006/math">
                    <m:oMathParaPr>
                      <m:jc m:val="centerGroup"/>
                    </m:oMathParaPr>
                    <m:oMath xmlns:m="http://schemas.openxmlformats.org/officeDocument/2006/math">
                      <m:d>
                        <m:dPr>
                          <m:begChr m:val="|"/>
                          <m:endChr m:val="|"/>
                          <m:ctrlPr>
                            <a:rPr lang="en-US"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e>
                      </m:d>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𝑡h𝑖𝑠𝑚𝑦𝑜𝑙𝑑𝑔𝑐𝑎</m:t>
                          </m:r>
                        </m:e>
                      </m:d>
                      <m:r>
                        <a:rPr lang="en-US" b="0" i="1" smtClean="0">
                          <a:latin typeface="Cambria Math" panose="02040503050406030204" pitchFamily="18" charset="0"/>
                        </a:rPr>
                        <m:t>=12</m:t>
                      </m:r>
                    </m:oMath>
                  </m:oMathPara>
                </a14:m>
                <a:endParaRPr lang="en-US" b="0" dirty="0">
                  <a:latin typeface="+mn-lt"/>
                </a:endParaRPr>
              </a:p>
              <a:p>
                <a:pPr marL="457200" lvl="1" indent="0">
                  <a:buNone/>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𝐽𝑎𝑐𝑐𝑎𝑟𝑑</m:t>
                          </m:r>
                          <m:r>
                            <a:rPr lang="en-US" b="0" i="1" smtClean="0">
                              <a:latin typeface="Cambria Math" panose="02040503050406030204" pitchFamily="18" charset="0"/>
                            </a:rPr>
                            <m:t> </m:t>
                          </m:r>
                          <m:r>
                            <a:rPr lang="en-US" b="0" i="1" smtClean="0">
                              <a:latin typeface="Cambria Math" panose="02040503050406030204" pitchFamily="18" charset="0"/>
                            </a:rPr>
                            <m:t>𝑆𝑖𝑚𝑖𝑙𝑎𝑟𝑖𝑡𝑦</m:t>
                          </m:r>
                          <m:r>
                            <a:rPr lang="en-US" b="0" i="1" smtClean="0">
                              <a:latin typeface="Cambria Math" panose="02040503050406030204" pitchFamily="18" charset="0"/>
                            </a:rPr>
                            <m:t>= </m:t>
                          </m:r>
                          <m:r>
                            <a:rPr lang="en-US" b="0" i="1" smtClean="0">
                              <a:latin typeface="Cambria Math" panose="02040503050406030204" pitchFamily="18" charset="0"/>
                            </a:rPr>
                            <m:t>𝑠</m:t>
                          </m:r>
                        </m:e>
                        <m:sub>
                          <m:r>
                            <a:rPr lang="en-US" b="0" i="1" smtClean="0">
                              <a:latin typeface="Cambria Math" panose="02040503050406030204" pitchFamily="18" charset="0"/>
                            </a:rPr>
                            <m:t>𝐽</m:t>
                          </m:r>
                        </m:sub>
                      </m:sSub>
                      <m:d>
                        <m:dPr>
                          <m:ctrlPr>
                            <a:rPr lang="en-US" i="1">
                              <a:latin typeface="Cambria Math" panose="02040503050406030204" pitchFamily="18" charset="0"/>
                            </a:rPr>
                          </m:ctrlPr>
                        </m:dPr>
                        <m:e>
                          <m:r>
                            <a:rPr lang="en-US" i="1">
                              <a:latin typeface="Cambria Math" panose="02040503050406030204" pitchFamily="18" charset="0"/>
                            </a:rPr>
                            <m:t>𝑥</m:t>
                          </m:r>
                          <m:r>
                            <a:rPr lang="en-US" i="1">
                              <a:latin typeface="Cambria Math" panose="02040503050406030204" pitchFamily="18" charset="0"/>
                            </a:rPr>
                            <m:t>,</m:t>
                          </m:r>
                          <m:r>
                            <a:rPr lang="en-US" i="1">
                              <a:latin typeface="Cambria Math" panose="02040503050406030204" pitchFamily="18" charset="0"/>
                            </a:rPr>
                            <m:t>𝑥</m:t>
                          </m:r>
                          <m:r>
                            <a:rPr lang="en-US" i="1">
                              <a:latin typeface="Cambria Math" panose="02040503050406030204" pitchFamily="18" charset="0"/>
                            </a:rPr>
                            <m:t>′</m:t>
                          </m:r>
                        </m:e>
                      </m:d>
                      <m:r>
                        <a:rPr lang="en-US" i="1">
                          <a:latin typeface="Cambria Math" panose="02040503050406030204" pitchFamily="18" charset="0"/>
                        </a:rPr>
                        <m:t>=</m:t>
                      </m:r>
                      <m:f>
                        <m:fPr>
                          <m:ctrlPr>
                            <a:rPr lang="en-US" i="1">
                              <a:latin typeface="Cambria Math" panose="02040503050406030204" pitchFamily="18" charset="0"/>
                            </a:rPr>
                          </m:ctrlPr>
                        </m:fPr>
                        <m:num>
                          <m:r>
                            <a:rPr lang="en-US" b="0" i="1" smtClean="0">
                              <a:latin typeface="Cambria Math" panose="02040503050406030204" pitchFamily="18" charset="0"/>
                            </a:rPr>
                            <m:t>6</m:t>
                          </m:r>
                        </m:num>
                        <m:den>
                          <m:r>
                            <a:rPr lang="en-US" b="0" i="1" smtClean="0">
                              <a:latin typeface="Cambria Math" panose="02040503050406030204" pitchFamily="18" charset="0"/>
                              <a:ea typeface="Cambria Math" panose="02040503050406030204" pitchFamily="18" charset="0"/>
                            </a:rPr>
                            <m:t>12</m:t>
                          </m:r>
                        </m:den>
                      </m:f>
                      <m:r>
                        <a:rPr lang="en-US" b="0" i="1" smtClean="0">
                          <a:latin typeface="Cambria Math" panose="02040503050406030204" pitchFamily="18" charset="0"/>
                          <a:ea typeface="Cambria Math" panose="02040503050406030204" pitchFamily="18" charset="0"/>
                        </a:rPr>
                        <m:t>=0.5</m:t>
                      </m:r>
                    </m:oMath>
                  </m:oMathPara>
                </a14:m>
                <a:endParaRPr lang="en-US" dirty="0">
                  <a:latin typeface="+mn-lt"/>
                </a:endParaRPr>
              </a:p>
              <a:p>
                <a:r>
                  <a:rPr lang="en-US" dirty="0">
                    <a:latin typeface="+mn-lt"/>
                  </a:rPr>
                  <a:t>Jaccard similarity often used for data with many categories like natural languages</a:t>
                </a: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5698998"/>
              </a:xfrm>
              <a:blipFill>
                <a:blip r:embed="rId4"/>
                <a:stretch>
                  <a:fillRect l="-952" t="-1604" b="-1070"/>
                </a:stretch>
              </a:blipFill>
            </p:spPr>
            <p:txBody>
              <a:bodyPr/>
              <a:lstStyle/>
              <a:p>
                <a:r>
                  <a:rPr lang="en-US">
                    <a:noFill/>
                  </a:rPr>
                  <a:t> </a:t>
                </a:r>
              </a:p>
            </p:txBody>
          </p:sp>
        </mc:Fallback>
      </mc:AlternateContent>
    </p:spTree>
    <p:extLst>
      <p:ext uri="{BB962C8B-B14F-4D97-AF65-F5344CB8AC3E}">
        <p14:creationId xmlns:p14="http://schemas.microsoft.com/office/powerpoint/2010/main" val="2366237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Relationship Between Similarity and Distance</a:t>
            </a:r>
          </a:p>
        </p:txBody>
      </p:sp>
      <p:sp>
        <p:nvSpPr>
          <p:cNvPr id="3" name="Content Placeholder 2"/>
          <p:cNvSpPr>
            <a:spLocks noGrp="1"/>
          </p:cNvSpPr>
          <p:nvPr>
            <p:ph sz="quarter" idx="10"/>
          </p:nvPr>
        </p:nvSpPr>
        <p:spPr>
          <a:xfrm>
            <a:off x="333375" y="896079"/>
            <a:ext cx="11525250" cy="2141761"/>
          </a:xfrm>
        </p:spPr>
        <p:txBody>
          <a:bodyPr>
            <a:normAutofit lnSpcReduction="10000"/>
          </a:bodyPr>
          <a:lstStyle/>
          <a:p>
            <a:pPr marL="0" indent="0">
              <a:buNone/>
            </a:pPr>
            <a:r>
              <a:rPr lang="en-US" dirty="0">
                <a:latin typeface="+mn-lt"/>
              </a:rPr>
              <a:t>Some similarity measures can be transformed to distance metrics</a:t>
            </a:r>
          </a:p>
          <a:p>
            <a:r>
              <a:rPr lang="en-US" dirty="0">
                <a:latin typeface="+mn-lt"/>
              </a:rPr>
              <a:t>Transform is an inverse function</a:t>
            </a:r>
          </a:p>
          <a:p>
            <a:r>
              <a:rPr lang="en-US" dirty="0">
                <a:latin typeface="+mn-lt"/>
              </a:rPr>
              <a:t>Resulting distance usually has limited range (limited support)</a:t>
            </a:r>
          </a:p>
          <a:p>
            <a:r>
              <a:rPr lang="en-US" dirty="0">
                <a:latin typeface="+mn-lt"/>
              </a:rPr>
              <a:t>Examples: </a:t>
            </a:r>
          </a:p>
          <a:p>
            <a:pPr marL="0" indent="0">
              <a:buNone/>
            </a:pPr>
            <a:endParaRPr lang="en-US" dirty="0">
              <a:latin typeface="+mn-lt"/>
            </a:endParaRPr>
          </a:p>
        </p:txBody>
      </p:sp>
      <mc:AlternateContent xmlns:mc="http://schemas.openxmlformats.org/markup-compatibility/2006" xmlns:a14="http://schemas.microsoft.com/office/drawing/2010/main">
        <mc:Choice Requires="a14">
          <p:graphicFrame>
            <p:nvGraphicFramePr>
              <p:cNvPr id="5" name="Table 5">
                <a:extLst>
                  <a:ext uri="{FF2B5EF4-FFF2-40B4-BE49-F238E27FC236}">
                    <a16:creationId xmlns:a16="http://schemas.microsoft.com/office/drawing/2014/main" id="{34275F9A-F194-47E8-B6C7-A6ABC532CFA9}"/>
                  </a:ext>
                </a:extLst>
              </p:cNvPr>
              <p:cNvGraphicFramePr>
                <a:graphicFrameLocks noGrp="1"/>
              </p:cNvGraphicFramePr>
              <p:nvPr>
                <p:extLst>
                  <p:ext uri="{D42A27DB-BD31-4B8C-83A1-F6EECF244321}">
                    <p14:modId xmlns:p14="http://schemas.microsoft.com/office/powerpoint/2010/main" val="3884684090"/>
                  </p:ext>
                </p:extLst>
              </p:nvPr>
            </p:nvGraphicFramePr>
            <p:xfrm>
              <a:off x="127000" y="3244292"/>
              <a:ext cx="11938000" cy="3421444"/>
            </p:xfrm>
            <a:graphic>
              <a:graphicData uri="http://schemas.openxmlformats.org/drawingml/2006/table">
                <a:tbl>
                  <a:tblPr firstRow="1" bandRow="1">
                    <a:tableStyleId>{5C22544A-7EE6-4342-B048-85BDC9FD1C3A}</a:tableStyleId>
                  </a:tblPr>
                  <a:tblGrid>
                    <a:gridCol w="5704840">
                      <a:extLst>
                        <a:ext uri="{9D8B030D-6E8A-4147-A177-3AD203B41FA5}">
                          <a16:colId xmlns:a16="http://schemas.microsoft.com/office/drawing/2014/main" val="367994989"/>
                        </a:ext>
                      </a:extLst>
                    </a:gridCol>
                    <a:gridCol w="6233160">
                      <a:extLst>
                        <a:ext uri="{9D8B030D-6E8A-4147-A177-3AD203B41FA5}">
                          <a16:colId xmlns:a16="http://schemas.microsoft.com/office/drawing/2014/main" val="2940886102"/>
                        </a:ext>
                      </a:extLst>
                    </a:gridCol>
                  </a:tblGrid>
                  <a:tr h="370840">
                    <a:tc>
                      <a:txBody>
                        <a:bodyPr/>
                        <a:lstStyle/>
                        <a:p>
                          <a:pPr algn="ctr"/>
                          <a:r>
                            <a:rPr lang="en-US" sz="2800" dirty="0">
                              <a:solidFill>
                                <a:schemeClr val="tx1"/>
                              </a:solidFill>
                            </a:rPr>
                            <a:t>Similarity Measure</a:t>
                          </a:r>
                        </a:p>
                      </a:txBody>
                      <a:tcPr/>
                    </a:tc>
                    <a:tc>
                      <a:txBody>
                        <a:bodyPr/>
                        <a:lstStyle/>
                        <a:p>
                          <a:pPr algn="ctr"/>
                          <a:r>
                            <a:rPr lang="en-US" sz="2800" dirty="0">
                              <a:solidFill>
                                <a:schemeClr val="tx1"/>
                              </a:solidFill>
                            </a:rPr>
                            <a:t>Transform to Distance Metric</a:t>
                          </a:r>
                        </a:p>
                      </a:txBody>
                      <a:tcPr/>
                    </a:tc>
                    <a:extLst>
                      <a:ext uri="{0D108BD9-81ED-4DB2-BD59-A6C34878D82A}">
                        <a16:rowId xmlns:a16="http://schemas.microsoft.com/office/drawing/2014/main" val="391128024"/>
                      </a:ext>
                    </a:extLst>
                  </a:tr>
                  <a:tr h="370840">
                    <a:tc>
                      <a:txBody>
                        <a:bodyPr/>
                        <a:lstStyle/>
                        <a:p>
                          <a:r>
                            <a:rPr lang="en-US" sz="2800" dirty="0">
                              <a:solidFill>
                                <a:schemeClr val="tx1"/>
                              </a:solidFill>
                            </a:rPr>
                            <a:t>Pearson Correlation</a:t>
                          </a:r>
                        </a:p>
                      </a:txBody>
                      <a:tcPr/>
                    </a:tc>
                    <a:tc>
                      <a:txBody>
                        <a:bodyPr/>
                        <a:lstStyle/>
                        <a:p>
                          <a:pPr/>
                          <a14:m>
                            <m:oMathPara xmlns:m="http://schemas.openxmlformats.org/officeDocument/2006/math">
                              <m:oMathParaPr>
                                <m:jc m:val="centerGroup"/>
                              </m:oMathParaPr>
                              <m:oMath xmlns:m="http://schemas.openxmlformats.org/officeDocument/2006/math">
                                <m:sSub>
                                  <m:sSubPr>
                                    <m:ctrlPr>
                                      <a:rPr lang="en-US" sz="2800" i="1" smtClean="0">
                                        <a:solidFill>
                                          <a:schemeClr val="tx1"/>
                                        </a:solidFill>
                                        <a:latin typeface="Cambria Math" panose="02040503050406030204" pitchFamily="18" charset="0"/>
                                      </a:rPr>
                                    </m:ctrlPr>
                                  </m:sSubPr>
                                  <m:e>
                                    <m:r>
                                      <a:rPr lang="en-US" sz="2800" b="0" i="1" smtClean="0">
                                        <a:solidFill>
                                          <a:schemeClr val="tx1"/>
                                        </a:solidFill>
                                        <a:latin typeface="Cambria Math" panose="02040503050406030204" pitchFamily="18" charset="0"/>
                                      </a:rPr>
                                      <m:t>𝑑</m:t>
                                    </m:r>
                                  </m:e>
                                  <m:sub>
                                    <m:r>
                                      <a:rPr lang="en-US" sz="2800" b="0" i="1" smtClean="0">
                                        <a:solidFill>
                                          <a:schemeClr val="tx1"/>
                                        </a:solidFill>
                                        <a:latin typeface="Cambria Math" panose="02040503050406030204" pitchFamily="18" charset="0"/>
                                      </a:rPr>
                                      <m:t>𝑃</m:t>
                                    </m:r>
                                  </m:sub>
                                </m:sSub>
                                <m:d>
                                  <m:dPr>
                                    <m:ctrlPr>
                                      <a:rPr lang="en-US" sz="2800" b="0" i="1" smtClean="0">
                                        <a:solidFill>
                                          <a:schemeClr val="tx1"/>
                                        </a:solidFill>
                                        <a:latin typeface="Cambria Math" panose="02040503050406030204" pitchFamily="18" charset="0"/>
                                      </a:rPr>
                                    </m:ctrlPr>
                                  </m:dPr>
                                  <m:e>
                                    <m:r>
                                      <a:rPr lang="en-US" sz="2800" b="0" i="1" smtClean="0">
                                        <a:solidFill>
                                          <a:schemeClr val="tx1"/>
                                        </a:solidFill>
                                        <a:latin typeface="Cambria Math" panose="02040503050406030204" pitchFamily="18" charset="0"/>
                                      </a:rPr>
                                      <m:t>𝑥</m:t>
                                    </m:r>
                                    <m:r>
                                      <a:rPr lang="en-US" sz="2800" b="0" i="1" smtClean="0">
                                        <a:solidFill>
                                          <a:schemeClr val="tx1"/>
                                        </a:solidFill>
                                        <a:latin typeface="Cambria Math" panose="02040503050406030204" pitchFamily="18" charset="0"/>
                                      </a:rPr>
                                      <m:t>,</m:t>
                                    </m:r>
                                    <m:sSup>
                                      <m:sSupPr>
                                        <m:ctrlPr>
                                          <a:rPr lang="en-US" sz="2800" b="0" i="1" smtClean="0">
                                            <a:solidFill>
                                              <a:schemeClr val="tx1"/>
                                            </a:solidFill>
                                            <a:latin typeface="Cambria Math" panose="02040503050406030204" pitchFamily="18" charset="0"/>
                                          </a:rPr>
                                        </m:ctrlPr>
                                      </m:sSupPr>
                                      <m:e>
                                        <m:r>
                                          <a:rPr lang="en-US" sz="2800" b="0" i="1" smtClean="0">
                                            <a:solidFill>
                                              <a:schemeClr val="tx1"/>
                                            </a:solidFill>
                                            <a:latin typeface="Cambria Math" panose="02040503050406030204" pitchFamily="18" charset="0"/>
                                          </a:rPr>
                                          <m:t>𝑥</m:t>
                                        </m:r>
                                      </m:e>
                                      <m:sup>
                                        <m:r>
                                          <a:rPr lang="en-US" sz="2800" b="0" i="1" smtClean="0">
                                            <a:solidFill>
                                              <a:schemeClr val="tx1"/>
                                            </a:solidFill>
                                            <a:latin typeface="Cambria Math" panose="02040503050406030204" pitchFamily="18" charset="0"/>
                                          </a:rPr>
                                          <m:t>′</m:t>
                                        </m:r>
                                      </m:sup>
                                    </m:sSup>
                                  </m:e>
                                </m:d>
                                <m:r>
                                  <a:rPr lang="en-US" sz="2800" b="0" i="1" smtClean="0">
                                    <a:solidFill>
                                      <a:schemeClr val="tx1"/>
                                    </a:solidFill>
                                    <a:latin typeface="Cambria Math" panose="02040503050406030204" pitchFamily="18" charset="0"/>
                                  </a:rPr>
                                  <m:t>=</m:t>
                                </m:r>
                                <m:f>
                                  <m:fPr>
                                    <m:ctrlPr>
                                      <a:rPr lang="en-US" sz="2800" b="0" i="1" smtClean="0">
                                        <a:solidFill>
                                          <a:schemeClr val="tx1"/>
                                        </a:solidFill>
                                        <a:latin typeface="Cambria Math" panose="02040503050406030204" pitchFamily="18" charset="0"/>
                                      </a:rPr>
                                    </m:ctrlPr>
                                  </m:fPr>
                                  <m:num>
                                    <m:r>
                                      <a:rPr lang="en-US" sz="2800" b="0" i="1" smtClean="0">
                                        <a:solidFill>
                                          <a:schemeClr val="tx1"/>
                                        </a:solidFill>
                                        <a:latin typeface="Cambria Math" panose="02040503050406030204" pitchFamily="18" charset="0"/>
                                      </a:rPr>
                                      <m:t>1</m:t>
                                    </m:r>
                                  </m:num>
                                  <m:den>
                                    <m:r>
                                      <a:rPr lang="en-US" sz="2800" b="0" i="1" smtClean="0">
                                        <a:solidFill>
                                          <a:schemeClr val="tx1"/>
                                        </a:solidFill>
                                        <a:latin typeface="Cambria Math" panose="02040503050406030204" pitchFamily="18" charset="0"/>
                                      </a:rPr>
                                      <m:t>2</m:t>
                                    </m:r>
                                  </m:den>
                                </m:f>
                                <m:d>
                                  <m:dPr>
                                    <m:ctrlPr>
                                      <a:rPr lang="en-US" sz="2800" b="0" i="1" smtClean="0">
                                        <a:solidFill>
                                          <a:schemeClr val="tx1"/>
                                        </a:solidFill>
                                        <a:latin typeface="Cambria Math" panose="02040503050406030204" pitchFamily="18" charset="0"/>
                                      </a:rPr>
                                    </m:ctrlPr>
                                  </m:dPr>
                                  <m:e>
                                    <m:r>
                                      <a:rPr lang="en-US" sz="2800" b="0" i="1" smtClean="0">
                                        <a:solidFill>
                                          <a:schemeClr val="tx1"/>
                                        </a:solidFill>
                                        <a:latin typeface="Cambria Math" panose="02040503050406030204" pitchFamily="18" charset="0"/>
                                      </a:rPr>
                                      <m:t>1 − </m:t>
                                    </m:r>
                                    <m:sSub>
                                      <m:sSubPr>
                                        <m:ctrlPr>
                                          <a:rPr lang="en-US" sz="2800" b="0" i="1" smtClean="0">
                                            <a:solidFill>
                                              <a:schemeClr val="tx1"/>
                                            </a:solidFill>
                                            <a:latin typeface="Cambria Math" panose="02040503050406030204" pitchFamily="18" charset="0"/>
                                          </a:rPr>
                                        </m:ctrlPr>
                                      </m:sSubPr>
                                      <m:e>
                                        <m:r>
                                          <a:rPr lang="en-US" sz="2800" b="0" i="1" smtClean="0">
                                            <a:solidFill>
                                              <a:schemeClr val="tx1"/>
                                            </a:solidFill>
                                            <a:latin typeface="Cambria Math" panose="02040503050406030204" pitchFamily="18" charset="0"/>
                                          </a:rPr>
                                          <m:t>𝑠</m:t>
                                        </m:r>
                                      </m:e>
                                      <m:sub>
                                        <m:r>
                                          <a:rPr lang="en-US" sz="2800" b="0" i="1" smtClean="0">
                                            <a:solidFill>
                                              <a:schemeClr val="tx1"/>
                                            </a:solidFill>
                                            <a:latin typeface="Cambria Math" panose="02040503050406030204" pitchFamily="18" charset="0"/>
                                          </a:rPr>
                                          <m:t>𝑃</m:t>
                                        </m:r>
                                      </m:sub>
                                    </m:sSub>
                                    <m:d>
                                      <m:dPr>
                                        <m:ctrlPr>
                                          <a:rPr lang="en-US" sz="2800" b="0" i="1" smtClean="0">
                                            <a:solidFill>
                                              <a:schemeClr val="tx1"/>
                                            </a:solidFill>
                                            <a:latin typeface="Cambria Math" panose="02040503050406030204" pitchFamily="18" charset="0"/>
                                          </a:rPr>
                                        </m:ctrlPr>
                                      </m:dPr>
                                      <m:e>
                                        <m:r>
                                          <a:rPr lang="en-US" sz="2800" b="0" i="1" smtClean="0">
                                            <a:solidFill>
                                              <a:schemeClr val="tx1"/>
                                            </a:solidFill>
                                            <a:latin typeface="Cambria Math" panose="02040503050406030204" pitchFamily="18" charset="0"/>
                                          </a:rPr>
                                          <m:t>𝑥</m:t>
                                        </m:r>
                                        <m:r>
                                          <a:rPr lang="en-US" sz="2800" b="0" i="1" smtClean="0">
                                            <a:solidFill>
                                              <a:schemeClr val="tx1"/>
                                            </a:solidFill>
                                            <a:latin typeface="Cambria Math" panose="02040503050406030204" pitchFamily="18" charset="0"/>
                                          </a:rPr>
                                          <m:t>,</m:t>
                                        </m:r>
                                        <m:sSup>
                                          <m:sSupPr>
                                            <m:ctrlPr>
                                              <a:rPr lang="en-US" sz="2800" b="0" i="1" smtClean="0">
                                                <a:solidFill>
                                                  <a:schemeClr val="tx1"/>
                                                </a:solidFill>
                                                <a:latin typeface="Cambria Math" panose="02040503050406030204" pitchFamily="18" charset="0"/>
                                              </a:rPr>
                                            </m:ctrlPr>
                                          </m:sSupPr>
                                          <m:e>
                                            <m:r>
                                              <a:rPr lang="en-US" sz="2800" b="0" i="1" smtClean="0">
                                                <a:solidFill>
                                                  <a:schemeClr val="tx1"/>
                                                </a:solidFill>
                                                <a:latin typeface="Cambria Math" panose="02040503050406030204" pitchFamily="18" charset="0"/>
                                              </a:rPr>
                                              <m:t>𝑥</m:t>
                                            </m:r>
                                          </m:e>
                                          <m:sup>
                                            <m:r>
                                              <a:rPr lang="en-US" sz="2800" b="0" i="1" smtClean="0">
                                                <a:solidFill>
                                                  <a:schemeClr val="tx1"/>
                                                </a:solidFill>
                                                <a:latin typeface="Cambria Math" panose="02040503050406030204" pitchFamily="18" charset="0"/>
                                              </a:rPr>
                                              <m:t>′</m:t>
                                            </m:r>
                                          </m:sup>
                                        </m:sSup>
                                      </m:e>
                                    </m:d>
                                  </m:e>
                                </m:d>
                              </m:oMath>
                            </m:oMathPara>
                          </a14:m>
                          <a:endParaRPr lang="en-US" sz="2800" dirty="0">
                            <a:solidFill>
                              <a:schemeClr val="tx1"/>
                            </a:solidFill>
                          </a:endParaRPr>
                        </a:p>
                      </a:txBody>
                      <a:tcPr/>
                    </a:tc>
                    <a:extLst>
                      <a:ext uri="{0D108BD9-81ED-4DB2-BD59-A6C34878D82A}">
                        <a16:rowId xmlns:a16="http://schemas.microsoft.com/office/drawing/2014/main" val="3941939117"/>
                      </a:ext>
                    </a:extLst>
                  </a:tr>
                  <a:tr h="370840">
                    <a:tc>
                      <a:txBody>
                        <a:bodyPr/>
                        <a:lstStyle/>
                        <a:p>
                          <a:r>
                            <a:rPr lang="en-US" sz="2800" dirty="0">
                              <a:solidFill>
                                <a:schemeClr val="tx1"/>
                              </a:solidFill>
                            </a:rPr>
                            <a:t>Jaccard Similarity</a:t>
                          </a:r>
                        </a:p>
                      </a:txBody>
                      <a:tcPr/>
                    </a:tc>
                    <a:tc>
                      <a:txBody>
                        <a:bodyPr/>
                        <a:lstStyle/>
                        <a:p>
                          <a:pPr/>
                          <a14:m>
                            <m:oMathPara xmlns:m="http://schemas.openxmlformats.org/officeDocument/2006/math">
                              <m:oMathParaPr>
                                <m:jc m:val="centerGroup"/>
                              </m:oMathParaPr>
                              <m:oMath xmlns:m="http://schemas.openxmlformats.org/officeDocument/2006/math">
                                <m:sSub>
                                  <m:sSubPr>
                                    <m:ctrlPr>
                                      <a:rPr lang="en-US" sz="2800" i="1" smtClean="0">
                                        <a:solidFill>
                                          <a:schemeClr val="tx1"/>
                                        </a:solidFill>
                                        <a:latin typeface="Cambria Math" panose="02040503050406030204" pitchFamily="18" charset="0"/>
                                      </a:rPr>
                                    </m:ctrlPr>
                                  </m:sSubPr>
                                  <m:e>
                                    <m:r>
                                      <a:rPr lang="en-US" sz="2800" b="0" i="1" smtClean="0">
                                        <a:solidFill>
                                          <a:schemeClr val="tx1"/>
                                        </a:solidFill>
                                        <a:latin typeface="Cambria Math" panose="02040503050406030204" pitchFamily="18" charset="0"/>
                                      </a:rPr>
                                      <m:t>𝑑</m:t>
                                    </m:r>
                                  </m:e>
                                  <m:sub>
                                    <m:r>
                                      <a:rPr lang="en-US" sz="2800" b="0" i="1" smtClean="0">
                                        <a:solidFill>
                                          <a:schemeClr val="tx1"/>
                                        </a:solidFill>
                                        <a:latin typeface="Cambria Math" panose="02040503050406030204" pitchFamily="18" charset="0"/>
                                      </a:rPr>
                                      <m:t>𝐽</m:t>
                                    </m:r>
                                  </m:sub>
                                </m:sSub>
                                <m:d>
                                  <m:dPr>
                                    <m:ctrlPr>
                                      <a:rPr lang="en-US" sz="2800" b="0" i="1" smtClean="0">
                                        <a:solidFill>
                                          <a:schemeClr val="tx1"/>
                                        </a:solidFill>
                                        <a:latin typeface="Cambria Math" panose="02040503050406030204" pitchFamily="18" charset="0"/>
                                      </a:rPr>
                                    </m:ctrlPr>
                                  </m:dPr>
                                  <m:e>
                                    <m:r>
                                      <a:rPr lang="en-US" sz="2800" b="0" i="1" smtClean="0">
                                        <a:solidFill>
                                          <a:schemeClr val="tx1"/>
                                        </a:solidFill>
                                        <a:latin typeface="Cambria Math" panose="02040503050406030204" pitchFamily="18" charset="0"/>
                                      </a:rPr>
                                      <m:t>𝑥</m:t>
                                    </m:r>
                                    <m:r>
                                      <a:rPr lang="en-US" sz="2800" b="0" i="1" smtClean="0">
                                        <a:solidFill>
                                          <a:schemeClr val="tx1"/>
                                        </a:solidFill>
                                        <a:latin typeface="Cambria Math" panose="02040503050406030204" pitchFamily="18" charset="0"/>
                                      </a:rPr>
                                      <m:t>,</m:t>
                                    </m:r>
                                    <m:sSup>
                                      <m:sSupPr>
                                        <m:ctrlPr>
                                          <a:rPr lang="en-US" sz="2800" b="0" i="1" smtClean="0">
                                            <a:solidFill>
                                              <a:schemeClr val="tx1"/>
                                            </a:solidFill>
                                            <a:latin typeface="Cambria Math" panose="02040503050406030204" pitchFamily="18" charset="0"/>
                                          </a:rPr>
                                        </m:ctrlPr>
                                      </m:sSupPr>
                                      <m:e>
                                        <m:r>
                                          <a:rPr lang="en-US" sz="2800" b="0" i="1" smtClean="0">
                                            <a:solidFill>
                                              <a:schemeClr val="tx1"/>
                                            </a:solidFill>
                                            <a:latin typeface="Cambria Math" panose="02040503050406030204" pitchFamily="18" charset="0"/>
                                          </a:rPr>
                                          <m:t>𝑥</m:t>
                                        </m:r>
                                      </m:e>
                                      <m:sup>
                                        <m:r>
                                          <a:rPr lang="en-US" sz="2800" b="0" i="1" smtClean="0">
                                            <a:solidFill>
                                              <a:schemeClr val="tx1"/>
                                            </a:solidFill>
                                            <a:latin typeface="Cambria Math" panose="02040503050406030204" pitchFamily="18" charset="0"/>
                                          </a:rPr>
                                          <m:t>′</m:t>
                                        </m:r>
                                      </m:sup>
                                    </m:sSup>
                                  </m:e>
                                </m:d>
                                <m:r>
                                  <a:rPr lang="en-US" sz="2800" b="0" i="1" smtClean="0">
                                    <a:solidFill>
                                      <a:schemeClr val="tx1"/>
                                    </a:solidFill>
                                    <a:latin typeface="Cambria Math" panose="02040503050406030204" pitchFamily="18" charset="0"/>
                                  </a:rPr>
                                  <m:t>=1 − </m:t>
                                </m:r>
                                <m:sSub>
                                  <m:sSubPr>
                                    <m:ctrlPr>
                                      <a:rPr lang="en-US" sz="2800" b="0" i="1" smtClean="0">
                                        <a:solidFill>
                                          <a:schemeClr val="tx1"/>
                                        </a:solidFill>
                                        <a:latin typeface="Cambria Math" panose="02040503050406030204" pitchFamily="18" charset="0"/>
                                      </a:rPr>
                                    </m:ctrlPr>
                                  </m:sSubPr>
                                  <m:e>
                                    <m:r>
                                      <a:rPr lang="en-US" sz="2800" b="0" i="1" smtClean="0">
                                        <a:solidFill>
                                          <a:schemeClr val="tx1"/>
                                        </a:solidFill>
                                        <a:latin typeface="Cambria Math" panose="02040503050406030204" pitchFamily="18" charset="0"/>
                                      </a:rPr>
                                      <m:t>𝑠</m:t>
                                    </m:r>
                                  </m:e>
                                  <m:sub>
                                    <m:r>
                                      <a:rPr lang="en-US" sz="2800" b="0" i="1" smtClean="0">
                                        <a:solidFill>
                                          <a:schemeClr val="tx1"/>
                                        </a:solidFill>
                                        <a:latin typeface="Cambria Math" panose="02040503050406030204" pitchFamily="18" charset="0"/>
                                      </a:rPr>
                                      <m:t>𝐽</m:t>
                                    </m:r>
                                  </m:sub>
                                </m:sSub>
                                <m:r>
                                  <a:rPr lang="en-US" sz="2800" b="0" i="1" smtClean="0">
                                    <a:solidFill>
                                      <a:schemeClr val="tx1"/>
                                    </a:solidFill>
                                    <a:latin typeface="Cambria Math" panose="02040503050406030204" pitchFamily="18" charset="0"/>
                                  </a:rPr>
                                  <m:t>(</m:t>
                                </m:r>
                                <m:r>
                                  <a:rPr lang="en-US" sz="2800" b="0" i="1" smtClean="0">
                                    <a:solidFill>
                                      <a:schemeClr val="tx1"/>
                                    </a:solidFill>
                                    <a:latin typeface="Cambria Math" panose="02040503050406030204" pitchFamily="18" charset="0"/>
                                  </a:rPr>
                                  <m:t>𝑥</m:t>
                                </m:r>
                                <m:r>
                                  <a:rPr lang="en-US" sz="2800" b="0" i="1" smtClean="0">
                                    <a:solidFill>
                                      <a:schemeClr val="tx1"/>
                                    </a:solidFill>
                                    <a:latin typeface="Cambria Math" panose="02040503050406030204" pitchFamily="18" charset="0"/>
                                  </a:rPr>
                                  <m:t>,</m:t>
                                </m:r>
                                <m:sSup>
                                  <m:sSupPr>
                                    <m:ctrlPr>
                                      <a:rPr lang="en-US" sz="2800" b="0" i="1" smtClean="0">
                                        <a:solidFill>
                                          <a:schemeClr val="tx1"/>
                                        </a:solidFill>
                                        <a:latin typeface="Cambria Math" panose="02040503050406030204" pitchFamily="18" charset="0"/>
                                      </a:rPr>
                                    </m:ctrlPr>
                                  </m:sSupPr>
                                  <m:e>
                                    <m:r>
                                      <a:rPr lang="en-US" sz="2800" b="0" i="1" smtClean="0">
                                        <a:solidFill>
                                          <a:schemeClr val="tx1"/>
                                        </a:solidFill>
                                        <a:latin typeface="Cambria Math" panose="02040503050406030204" pitchFamily="18" charset="0"/>
                                      </a:rPr>
                                      <m:t>𝑥</m:t>
                                    </m:r>
                                  </m:e>
                                  <m:sup>
                                    <m:r>
                                      <a:rPr lang="en-US" sz="2800" b="0" i="1" smtClean="0">
                                        <a:solidFill>
                                          <a:schemeClr val="tx1"/>
                                        </a:solidFill>
                                        <a:latin typeface="Cambria Math" panose="02040503050406030204" pitchFamily="18" charset="0"/>
                                      </a:rPr>
                                      <m:t>′</m:t>
                                    </m:r>
                                  </m:sup>
                                </m:sSup>
                                <m:r>
                                  <a:rPr lang="en-US" sz="2800" b="0" i="1" smtClean="0">
                                    <a:solidFill>
                                      <a:schemeClr val="tx1"/>
                                    </a:solidFill>
                                    <a:latin typeface="Cambria Math" panose="02040503050406030204" pitchFamily="18" charset="0"/>
                                  </a:rPr>
                                  <m:t>)</m:t>
                                </m:r>
                              </m:oMath>
                            </m:oMathPara>
                          </a14:m>
                          <a:endParaRPr lang="en-US" sz="2800" dirty="0">
                            <a:solidFill>
                              <a:schemeClr val="tx1"/>
                            </a:solidFill>
                          </a:endParaRPr>
                        </a:p>
                      </a:txBody>
                      <a:tcPr/>
                    </a:tc>
                    <a:extLst>
                      <a:ext uri="{0D108BD9-81ED-4DB2-BD59-A6C34878D82A}">
                        <a16:rowId xmlns:a16="http://schemas.microsoft.com/office/drawing/2014/main" val="518136395"/>
                      </a:ext>
                    </a:extLst>
                  </a:tr>
                  <a:tr h="370840">
                    <a:tc>
                      <a:txBody>
                        <a:bodyPr/>
                        <a:lstStyle/>
                        <a:p>
                          <a:r>
                            <a:rPr lang="en-US" sz="2800" dirty="0">
                              <a:solidFill>
                                <a:schemeClr val="tx1"/>
                              </a:solidFill>
                            </a:rPr>
                            <a:t>Hamming Similarity (</a:t>
                          </a:r>
                          <a14:m>
                            <m:oMath xmlns:m="http://schemas.openxmlformats.org/officeDocument/2006/math">
                              <m:r>
                                <a:rPr lang="en-US" sz="2800" b="0" i="1" smtClean="0">
                                  <a:solidFill>
                                    <a:schemeClr val="tx1"/>
                                  </a:solidFill>
                                  <a:latin typeface="Cambria Math" panose="02040503050406030204" pitchFamily="18" charset="0"/>
                                </a:rPr>
                                <m:t>𝑛</m:t>
                              </m:r>
                            </m:oMath>
                          </a14:m>
                          <a:r>
                            <a:rPr lang="en-US" sz="2800" dirty="0">
                              <a:solidFill>
                                <a:schemeClr val="tx1"/>
                              </a:solidFill>
                            </a:rPr>
                            <a:t> length string)</a:t>
                          </a:r>
                        </a:p>
                      </a:txBody>
                      <a:tcPr/>
                    </a:tc>
                    <a:tc>
                      <a:txBody>
                        <a:bodyPr/>
                        <a:lstStyle/>
                        <a:p>
                          <a:pPr/>
                          <a14:m>
                            <m:oMathPara xmlns:m="http://schemas.openxmlformats.org/officeDocument/2006/math">
                              <m:oMathParaPr>
                                <m:jc m:val="centerGroup"/>
                              </m:oMathParaPr>
                              <m:oMath xmlns:m="http://schemas.openxmlformats.org/officeDocument/2006/math">
                                <m:sSub>
                                  <m:sSubPr>
                                    <m:ctrlPr>
                                      <a:rPr lang="en-US" sz="2800" i="1" smtClean="0">
                                        <a:solidFill>
                                          <a:schemeClr val="tx1"/>
                                        </a:solidFill>
                                        <a:latin typeface="Cambria Math" panose="02040503050406030204" pitchFamily="18" charset="0"/>
                                      </a:rPr>
                                    </m:ctrlPr>
                                  </m:sSubPr>
                                  <m:e>
                                    <m:r>
                                      <a:rPr lang="en-US" sz="2800" b="0" i="1" smtClean="0">
                                        <a:solidFill>
                                          <a:schemeClr val="tx1"/>
                                        </a:solidFill>
                                        <a:latin typeface="Cambria Math" panose="02040503050406030204" pitchFamily="18" charset="0"/>
                                      </a:rPr>
                                      <m:t>𝑑</m:t>
                                    </m:r>
                                  </m:e>
                                  <m:sub>
                                    <m:r>
                                      <a:rPr lang="en-US" sz="2800" b="0" i="1" smtClean="0">
                                        <a:solidFill>
                                          <a:schemeClr val="tx1"/>
                                        </a:solidFill>
                                        <a:latin typeface="Cambria Math" panose="02040503050406030204" pitchFamily="18" charset="0"/>
                                      </a:rPr>
                                      <m:t>h</m:t>
                                    </m:r>
                                  </m:sub>
                                </m:sSub>
                                <m:d>
                                  <m:dPr>
                                    <m:ctrlPr>
                                      <a:rPr lang="en-US" sz="2800" b="0" i="1" smtClean="0">
                                        <a:solidFill>
                                          <a:schemeClr val="tx1"/>
                                        </a:solidFill>
                                        <a:latin typeface="Cambria Math" panose="02040503050406030204" pitchFamily="18" charset="0"/>
                                      </a:rPr>
                                    </m:ctrlPr>
                                  </m:dPr>
                                  <m:e>
                                    <m:r>
                                      <a:rPr lang="en-US" sz="2800" b="0" i="1" smtClean="0">
                                        <a:solidFill>
                                          <a:schemeClr val="tx1"/>
                                        </a:solidFill>
                                        <a:latin typeface="Cambria Math" panose="02040503050406030204" pitchFamily="18" charset="0"/>
                                      </a:rPr>
                                      <m:t>𝑥</m:t>
                                    </m:r>
                                    <m:r>
                                      <a:rPr lang="en-US" sz="2800" b="0" i="1" smtClean="0">
                                        <a:solidFill>
                                          <a:schemeClr val="tx1"/>
                                        </a:solidFill>
                                        <a:latin typeface="Cambria Math" panose="02040503050406030204" pitchFamily="18" charset="0"/>
                                      </a:rPr>
                                      <m:t>,</m:t>
                                    </m:r>
                                    <m:sSup>
                                      <m:sSupPr>
                                        <m:ctrlPr>
                                          <a:rPr lang="en-US" sz="2800" b="0" i="1" smtClean="0">
                                            <a:solidFill>
                                              <a:schemeClr val="tx1"/>
                                            </a:solidFill>
                                            <a:latin typeface="Cambria Math" panose="02040503050406030204" pitchFamily="18" charset="0"/>
                                          </a:rPr>
                                        </m:ctrlPr>
                                      </m:sSupPr>
                                      <m:e>
                                        <m:r>
                                          <a:rPr lang="en-US" sz="2800" b="0" i="1" smtClean="0">
                                            <a:solidFill>
                                              <a:schemeClr val="tx1"/>
                                            </a:solidFill>
                                            <a:latin typeface="Cambria Math" panose="02040503050406030204" pitchFamily="18" charset="0"/>
                                          </a:rPr>
                                          <m:t>𝑥</m:t>
                                        </m:r>
                                      </m:e>
                                      <m:sup>
                                        <m:r>
                                          <a:rPr lang="en-US" sz="2800" b="0" i="1" smtClean="0">
                                            <a:solidFill>
                                              <a:schemeClr val="tx1"/>
                                            </a:solidFill>
                                            <a:latin typeface="Cambria Math" panose="02040503050406030204" pitchFamily="18" charset="0"/>
                                          </a:rPr>
                                          <m:t>′</m:t>
                                        </m:r>
                                      </m:sup>
                                    </m:sSup>
                                  </m:e>
                                </m:d>
                                <m:r>
                                  <a:rPr lang="en-US" sz="2800" b="0" i="1" smtClean="0">
                                    <a:solidFill>
                                      <a:schemeClr val="tx1"/>
                                    </a:solidFill>
                                    <a:latin typeface="Cambria Math" panose="02040503050406030204" pitchFamily="18" charset="0"/>
                                  </a:rPr>
                                  <m:t>=</m:t>
                                </m:r>
                                <m:r>
                                  <a:rPr lang="en-US" sz="2800" b="0" i="1" smtClean="0">
                                    <a:solidFill>
                                      <a:schemeClr val="tx1"/>
                                    </a:solidFill>
                                    <a:latin typeface="Cambria Math" panose="02040503050406030204" pitchFamily="18" charset="0"/>
                                  </a:rPr>
                                  <m:t>𝑛</m:t>
                                </m:r>
                                <m:r>
                                  <a:rPr lang="en-US" sz="2800" b="0" i="1" smtClean="0">
                                    <a:solidFill>
                                      <a:schemeClr val="tx1"/>
                                    </a:solidFill>
                                    <a:latin typeface="Cambria Math" panose="02040503050406030204" pitchFamily="18" charset="0"/>
                                  </a:rPr>
                                  <m:t>−</m:t>
                                </m:r>
                                <m:sSub>
                                  <m:sSubPr>
                                    <m:ctrlPr>
                                      <a:rPr lang="en-US" sz="2800" b="0" i="1" smtClean="0">
                                        <a:solidFill>
                                          <a:schemeClr val="tx1"/>
                                        </a:solidFill>
                                        <a:latin typeface="Cambria Math" panose="02040503050406030204" pitchFamily="18" charset="0"/>
                                      </a:rPr>
                                    </m:ctrlPr>
                                  </m:sSubPr>
                                  <m:e>
                                    <m:r>
                                      <a:rPr lang="en-US" sz="2800" b="0" i="1" smtClean="0">
                                        <a:solidFill>
                                          <a:schemeClr val="tx1"/>
                                        </a:solidFill>
                                        <a:latin typeface="Cambria Math" panose="02040503050406030204" pitchFamily="18" charset="0"/>
                                      </a:rPr>
                                      <m:t>𝑠</m:t>
                                    </m:r>
                                  </m:e>
                                  <m:sub>
                                    <m:r>
                                      <a:rPr lang="en-US" sz="2800" b="0" i="1" smtClean="0">
                                        <a:solidFill>
                                          <a:schemeClr val="tx1"/>
                                        </a:solidFill>
                                        <a:latin typeface="Cambria Math" panose="02040503050406030204" pitchFamily="18" charset="0"/>
                                      </a:rPr>
                                      <m:t>h</m:t>
                                    </m:r>
                                  </m:sub>
                                </m:sSub>
                                <m:r>
                                  <a:rPr lang="en-US" sz="2800" b="0" i="1" smtClean="0">
                                    <a:solidFill>
                                      <a:schemeClr val="tx1"/>
                                    </a:solidFill>
                                    <a:latin typeface="Cambria Math" panose="02040503050406030204" pitchFamily="18" charset="0"/>
                                  </a:rPr>
                                  <m:t>(</m:t>
                                </m:r>
                                <m:r>
                                  <a:rPr lang="en-US" sz="2800" b="0" i="1" smtClean="0">
                                    <a:solidFill>
                                      <a:schemeClr val="tx1"/>
                                    </a:solidFill>
                                    <a:latin typeface="Cambria Math" panose="02040503050406030204" pitchFamily="18" charset="0"/>
                                  </a:rPr>
                                  <m:t>𝑥</m:t>
                                </m:r>
                                <m:r>
                                  <a:rPr lang="en-US" sz="2800" b="0" i="1" smtClean="0">
                                    <a:solidFill>
                                      <a:schemeClr val="tx1"/>
                                    </a:solidFill>
                                    <a:latin typeface="Cambria Math" panose="02040503050406030204" pitchFamily="18" charset="0"/>
                                  </a:rPr>
                                  <m:t>,</m:t>
                                </m:r>
                                <m:sSup>
                                  <m:sSupPr>
                                    <m:ctrlPr>
                                      <a:rPr lang="en-US" sz="2800" b="0" i="1" smtClean="0">
                                        <a:solidFill>
                                          <a:schemeClr val="tx1"/>
                                        </a:solidFill>
                                        <a:latin typeface="Cambria Math" panose="02040503050406030204" pitchFamily="18" charset="0"/>
                                      </a:rPr>
                                    </m:ctrlPr>
                                  </m:sSupPr>
                                  <m:e>
                                    <m:r>
                                      <a:rPr lang="en-US" sz="2800" b="0" i="1" smtClean="0">
                                        <a:solidFill>
                                          <a:schemeClr val="tx1"/>
                                        </a:solidFill>
                                        <a:latin typeface="Cambria Math" panose="02040503050406030204" pitchFamily="18" charset="0"/>
                                      </a:rPr>
                                      <m:t>𝑥</m:t>
                                    </m:r>
                                  </m:e>
                                  <m:sup>
                                    <m:r>
                                      <a:rPr lang="en-US" sz="2800" b="0" i="1" smtClean="0">
                                        <a:solidFill>
                                          <a:schemeClr val="tx1"/>
                                        </a:solidFill>
                                        <a:latin typeface="Cambria Math" panose="02040503050406030204" pitchFamily="18" charset="0"/>
                                      </a:rPr>
                                      <m:t>′</m:t>
                                    </m:r>
                                  </m:sup>
                                </m:sSup>
                                <m:r>
                                  <a:rPr lang="en-US" sz="2800" b="0" i="1" smtClean="0">
                                    <a:solidFill>
                                      <a:schemeClr val="tx1"/>
                                    </a:solidFill>
                                    <a:latin typeface="Cambria Math" panose="02040503050406030204" pitchFamily="18" charset="0"/>
                                  </a:rPr>
                                  <m:t>)</m:t>
                                </m:r>
                              </m:oMath>
                            </m:oMathPara>
                          </a14:m>
                          <a:endParaRPr lang="en-US" sz="2800" dirty="0">
                            <a:solidFill>
                              <a:schemeClr val="tx1"/>
                            </a:solidFill>
                          </a:endParaRPr>
                        </a:p>
                      </a:txBody>
                      <a:tcPr/>
                    </a:tc>
                    <a:extLst>
                      <a:ext uri="{0D108BD9-81ED-4DB2-BD59-A6C34878D82A}">
                        <a16:rowId xmlns:a16="http://schemas.microsoft.com/office/drawing/2014/main" val="1091878639"/>
                      </a:ext>
                    </a:extLst>
                  </a:tr>
                  <a:tr h="370840">
                    <a:tc>
                      <a:txBody>
                        <a:bodyPr/>
                        <a:lstStyle/>
                        <a:p>
                          <a:r>
                            <a:rPr lang="en-US" sz="2800" dirty="0">
                              <a:solidFill>
                                <a:schemeClr val="tx1"/>
                              </a:solidFill>
                            </a:rPr>
                            <a:t>Cosine Similarity</a:t>
                          </a:r>
                        </a:p>
                      </a:txBody>
                      <a:tcPr/>
                    </a:tc>
                    <a:tc>
                      <a:txBody>
                        <a:bodyPr/>
                        <a:lstStyle/>
                        <a:p>
                          <a:pPr/>
                          <a14:m>
                            <m:oMathPara xmlns:m="http://schemas.openxmlformats.org/officeDocument/2006/math">
                              <m:oMathParaPr>
                                <m:jc m:val="centerGroup"/>
                              </m:oMathParaPr>
                              <m:oMath xmlns:m="http://schemas.openxmlformats.org/officeDocument/2006/math">
                                <m:sSub>
                                  <m:sSubPr>
                                    <m:ctrlPr>
                                      <a:rPr lang="en-US" sz="2800" i="1" smtClean="0">
                                        <a:solidFill>
                                          <a:schemeClr val="tx1"/>
                                        </a:solidFill>
                                        <a:latin typeface="Cambria Math" panose="02040503050406030204" pitchFamily="18" charset="0"/>
                                      </a:rPr>
                                    </m:ctrlPr>
                                  </m:sSubPr>
                                  <m:e>
                                    <m:r>
                                      <a:rPr lang="en-US" sz="2800" b="0" i="1" smtClean="0">
                                        <a:solidFill>
                                          <a:schemeClr val="tx1"/>
                                        </a:solidFill>
                                        <a:latin typeface="Cambria Math" panose="02040503050406030204" pitchFamily="18" charset="0"/>
                                      </a:rPr>
                                      <m:t>𝑑</m:t>
                                    </m:r>
                                  </m:e>
                                  <m:sub>
                                    <m:r>
                                      <a:rPr lang="en-US" sz="2800" b="0" i="1" smtClean="0">
                                        <a:solidFill>
                                          <a:schemeClr val="tx1"/>
                                        </a:solidFill>
                                        <a:latin typeface="Cambria Math" panose="02040503050406030204" pitchFamily="18" charset="0"/>
                                      </a:rPr>
                                      <m:t>𝑎𝑛𝑔𝑢𝑙𝑎𝑟</m:t>
                                    </m:r>
                                  </m:sub>
                                </m:sSub>
                                <m:d>
                                  <m:dPr>
                                    <m:ctrlPr>
                                      <a:rPr lang="en-US" sz="2800" b="0" i="1" smtClean="0">
                                        <a:solidFill>
                                          <a:schemeClr val="tx1"/>
                                        </a:solidFill>
                                        <a:latin typeface="Cambria Math" panose="02040503050406030204" pitchFamily="18" charset="0"/>
                                      </a:rPr>
                                    </m:ctrlPr>
                                  </m:dPr>
                                  <m:e>
                                    <m:r>
                                      <a:rPr lang="en-US" sz="2800" b="0" i="1" smtClean="0">
                                        <a:solidFill>
                                          <a:schemeClr val="tx1"/>
                                        </a:solidFill>
                                        <a:latin typeface="Cambria Math" panose="02040503050406030204" pitchFamily="18" charset="0"/>
                                      </a:rPr>
                                      <m:t>𝑥</m:t>
                                    </m:r>
                                    <m:r>
                                      <a:rPr lang="en-US" sz="2800" b="0" i="1" smtClean="0">
                                        <a:solidFill>
                                          <a:schemeClr val="tx1"/>
                                        </a:solidFill>
                                        <a:latin typeface="Cambria Math" panose="02040503050406030204" pitchFamily="18" charset="0"/>
                                      </a:rPr>
                                      <m:t>,</m:t>
                                    </m:r>
                                    <m:sSup>
                                      <m:sSupPr>
                                        <m:ctrlPr>
                                          <a:rPr lang="en-US" sz="2800" b="0" i="1" smtClean="0">
                                            <a:solidFill>
                                              <a:schemeClr val="tx1"/>
                                            </a:solidFill>
                                            <a:latin typeface="Cambria Math" panose="02040503050406030204" pitchFamily="18" charset="0"/>
                                          </a:rPr>
                                        </m:ctrlPr>
                                      </m:sSupPr>
                                      <m:e>
                                        <m:r>
                                          <a:rPr lang="en-US" sz="2800" b="0" i="1" smtClean="0">
                                            <a:solidFill>
                                              <a:schemeClr val="tx1"/>
                                            </a:solidFill>
                                            <a:latin typeface="Cambria Math" panose="02040503050406030204" pitchFamily="18" charset="0"/>
                                          </a:rPr>
                                          <m:t>𝑥</m:t>
                                        </m:r>
                                      </m:e>
                                      <m:sup>
                                        <m:r>
                                          <a:rPr lang="en-US" sz="2800" b="0" i="1" smtClean="0">
                                            <a:solidFill>
                                              <a:schemeClr val="tx1"/>
                                            </a:solidFill>
                                            <a:latin typeface="Cambria Math" panose="02040503050406030204" pitchFamily="18" charset="0"/>
                                          </a:rPr>
                                          <m:t>′</m:t>
                                        </m:r>
                                      </m:sup>
                                    </m:sSup>
                                  </m:e>
                                </m:d>
                                <m:r>
                                  <a:rPr lang="en-US" sz="2800" b="0" i="1" smtClean="0">
                                    <a:solidFill>
                                      <a:schemeClr val="tx1"/>
                                    </a:solidFill>
                                    <a:latin typeface="Cambria Math" panose="02040503050406030204" pitchFamily="18" charset="0"/>
                                  </a:rPr>
                                  <m:t>= </m:t>
                                </m:r>
                                <m:f>
                                  <m:fPr>
                                    <m:ctrlPr>
                                      <a:rPr lang="en-US" sz="2800" b="0" i="1" smtClean="0">
                                        <a:solidFill>
                                          <a:schemeClr val="tx1"/>
                                        </a:solidFill>
                                        <a:latin typeface="Cambria Math" panose="02040503050406030204" pitchFamily="18" charset="0"/>
                                      </a:rPr>
                                    </m:ctrlPr>
                                  </m:fPr>
                                  <m:num>
                                    <m:sSup>
                                      <m:sSupPr>
                                        <m:ctrlPr>
                                          <a:rPr lang="en-US" sz="2800" b="0" i="1" smtClean="0">
                                            <a:solidFill>
                                              <a:schemeClr val="tx1"/>
                                            </a:solidFill>
                                            <a:latin typeface="Cambria Math" panose="02040503050406030204" pitchFamily="18" charset="0"/>
                                          </a:rPr>
                                        </m:ctrlPr>
                                      </m:sSupPr>
                                      <m:e>
                                        <m:r>
                                          <a:rPr lang="en-US" sz="2800" b="0" i="1" smtClean="0">
                                            <a:solidFill>
                                              <a:schemeClr val="tx1"/>
                                            </a:solidFill>
                                            <a:latin typeface="Cambria Math" panose="02040503050406030204" pitchFamily="18" charset="0"/>
                                          </a:rPr>
                                          <m:t>𝑐𝑜𝑠</m:t>
                                        </m:r>
                                      </m:e>
                                      <m:sup>
                                        <m:r>
                                          <a:rPr lang="en-US" sz="2800" b="0" i="1" smtClean="0">
                                            <a:solidFill>
                                              <a:schemeClr val="tx1"/>
                                            </a:solidFill>
                                            <a:latin typeface="Cambria Math" panose="02040503050406030204" pitchFamily="18" charset="0"/>
                                          </a:rPr>
                                          <m:t>−1</m:t>
                                        </m:r>
                                      </m:sup>
                                    </m:sSup>
                                    <m:r>
                                      <a:rPr lang="en-US" sz="2800" b="0" i="1" smtClean="0">
                                        <a:solidFill>
                                          <a:schemeClr val="tx1"/>
                                        </a:solidFill>
                                        <a:latin typeface="Cambria Math" panose="02040503050406030204" pitchFamily="18" charset="0"/>
                                      </a:rPr>
                                      <m:t>(</m:t>
                                    </m:r>
                                    <m:sSub>
                                      <m:sSubPr>
                                        <m:ctrlPr>
                                          <a:rPr lang="en-US" sz="2800" b="0" i="1" smtClean="0">
                                            <a:solidFill>
                                              <a:schemeClr val="tx1"/>
                                            </a:solidFill>
                                            <a:latin typeface="Cambria Math" panose="02040503050406030204" pitchFamily="18" charset="0"/>
                                          </a:rPr>
                                        </m:ctrlPr>
                                      </m:sSubPr>
                                      <m:e>
                                        <m:r>
                                          <a:rPr lang="en-US" sz="2800" b="0" i="1" smtClean="0">
                                            <a:solidFill>
                                              <a:schemeClr val="tx1"/>
                                            </a:solidFill>
                                            <a:latin typeface="Cambria Math" panose="02040503050406030204" pitchFamily="18" charset="0"/>
                                          </a:rPr>
                                          <m:t>𝑠</m:t>
                                        </m:r>
                                      </m:e>
                                      <m:sub>
                                        <m:r>
                                          <a:rPr lang="en-US" sz="2800" b="0" i="1" smtClean="0">
                                            <a:solidFill>
                                              <a:schemeClr val="tx1"/>
                                            </a:solidFill>
                                            <a:latin typeface="Cambria Math" panose="02040503050406030204" pitchFamily="18" charset="0"/>
                                          </a:rPr>
                                          <m:t>𝑐𝑜𝑠</m:t>
                                        </m:r>
                                      </m:sub>
                                    </m:sSub>
                                    <m:d>
                                      <m:dPr>
                                        <m:ctrlPr>
                                          <a:rPr lang="en-US" sz="2800" b="0" i="1" smtClean="0">
                                            <a:solidFill>
                                              <a:schemeClr val="tx1"/>
                                            </a:solidFill>
                                            <a:latin typeface="Cambria Math" panose="02040503050406030204" pitchFamily="18" charset="0"/>
                                          </a:rPr>
                                        </m:ctrlPr>
                                      </m:dPr>
                                      <m:e>
                                        <m:r>
                                          <a:rPr lang="en-US" sz="2800" b="0" i="1" smtClean="0">
                                            <a:solidFill>
                                              <a:schemeClr val="tx1"/>
                                            </a:solidFill>
                                            <a:latin typeface="Cambria Math" panose="02040503050406030204" pitchFamily="18" charset="0"/>
                                          </a:rPr>
                                          <m:t>𝑥</m:t>
                                        </m:r>
                                        <m:r>
                                          <a:rPr lang="en-US" sz="2800" b="0" i="1" smtClean="0">
                                            <a:solidFill>
                                              <a:schemeClr val="tx1"/>
                                            </a:solidFill>
                                            <a:latin typeface="Cambria Math" panose="02040503050406030204" pitchFamily="18" charset="0"/>
                                          </a:rPr>
                                          <m:t>,</m:t>
                                        </m:r>
                                        <m:sSup>
                                          <m:sSupPr>
                                            <m:ctrlPr>
                                              <a:rPr lang="en-US" sz="2800" b="0" i="1" smtClean="0">
                                                <a:solidFill>
                                                  <a:schemeClr val="tx1"/>
                                                </a:solidFill>
                                                <a:latin typeface="Cambria Math" panose="02040503050406030204" pitchFamily="18" charset="0"/>
                                              </a:rPr>
                                            </m:ctrlPr>
                                          </m:sSupPr>
                                          <m:e>
                                            <m:r>
                                              <a:rPr lang="en-US" sz="2800" b="0" i="1" smtClean="0">
                                                <a:solidFill>
                                                  <a:schemeClr val="tx1"/>
                                                </a:solidFill>
                                                <a:latin typeface="Cambria Math" panose="02040503050406030204" pitchFamily="18" charset="0"/>
                                              </a:rPr>
                                              <m:t>𝑥</m:t>
                                            </m:r>
                                          </m:e>
                                          <m:sup>
                                            <m:r>
                                              <a:rPr lang="en-US" sz="2800" b="0" i="1" smtClean="0">
                                                <a:solidFill>
                                                  <a:schemeClr val="tx1"/>
                                                </a:solidFill>
                                                <a:latin typeface="Cambria Math" panose="02040503050406030204" pitchFamily="18" charset="0"/>
                                              </a:rPr>
                                              <m:t>′</m:t>
                                            </m:r>
                                          </m:sup>
                                        </m:sSup>
                                      </m:e>
                                    </m:d>
                                    <m:r>
                                      <a:rPr lang="en-US" sz="2800" b="0" i="1" smtClean="0">
                                        <a:solidFill>
                                          <a:schemeClr val="tx1"/>
                                        </a:solidFill>
                                        <a:latin typeface="Cambria Math" panose="02040503050406030204" pitchFamily="18" charset="0"/>
                                      </a:rPr>
                                      <m:t>)</m:t>
                                    </m:r>
                                  </m:num>
                                  <m:den>
                                    <m:r>
                                      <a:rPr lang="en-US" sz="2800" b="0" i="1" smtClean="0">
                                        <a:solidFill>
                                          <a:schemeClr val="tx1"/>
                                        </a:solidFill>
                                        <a:latin typeface="Cambria Math" panose="02040503050406030204" pitchFamily="18" charset="0"/>
                                        <a:ea typeface="Cambria Math" panose="02040503050406030204" pitchFamily="18" charset="0"/>
                                      </a:rPr>
                                      <m:t>𝜋</m:t>
                                    </m:r>
                                  </m:den>
                                </m:f>
                              </m:oMath>
                            </m:oMathPara>
                          </a14:m>
                          <a:endParaRPr lang="en-US" sz="2800" dirty="0">
                            <a:solidFill>
                              <a:schemeClr val="tx1"/>
                            </a:solidFill>
                          </a:endParaRPr>
                        </a:p>
                      </a:txBody>
                      <a:tcPr/>
                    </a:tc>
                    <a:extLst>
                      <a:ext uri="{0D108BD9-81ED-4DB2-BD59-A6C34878D82A}">
                        <a16:rowId xmlns:a16="http://schemas.microsoft.com/office/drawing/2014/main" val="3545086956"/>
                      </a:ext>
                    </a:extLst>
                  </a:tr>
                </a:tbl>
              </a:graphicData>
            </a:graphic>
          </p:graphicFrame>
        </mc:Choice>
        <mc:Fallback xmlns="">
          <p:graphicFrame>
            <p:nvGraphicFramePr>
              <p:cNvPr id="5" name="Table 5">
                <a:extLst>
                  <a:ext uri="{FF2B5EF4-FFF2-40B4-BE49-F238E27FC236}">
                    <a16:creationId xmlns:a16="http://schemas.microsoft.com/office/drawing/2014/main" id="{34275F9A-F194-47E8-B6C7-A6ABC532CFA9}"/>
                  </a:ext>
                </a:extLst>
              </p:cNvPr>
              <p:cNvGraphicFramePr>
                <a:graphicFrameLocks noGrp="1"/>
              </p:cNvGraphicFramePr>
              <p:nvPr>
                <p:extLst>
                  <p:ext uri="{D42A27DB-BD31-4B8C-83A1-F6EECF244321}">
                    <p14:modId xmlns:p14="http://schemas.microsoft.com/office/powerpoint/2010/main" val="3884684090"/>
                  </p:ext>
                </p:extLst>
              </p:nvPr>
            </p:nvGraphicFramePr>
            <p:xfrm>
              <a:off x="127000" y="3244292"/>
              <a:ext cx="11938000" cy="3421444"/>
            </p:xfrm>
            <a:graphic>
              <a:graphicData uri="http://schemas.openxmlformats.org/drawingml/2006/table">
                <a:tbl>
                  <a:tblPr firstRow="1" bandRow="1">
                    <a:tableStyleId>{5C22544A-7EE6-4342-B048-85BDC9FD1C3A}</a:tableStyleId>
                  </a:tblPr>
                  <a:tblGrid>
                    <a:gridCol w="5704840">
                      <a:extLst>
                        <a:ext uri="{9D8B030D-6E8A-4147-A177-3AD203B41FA5}">
                          <a16:colId xmlns:a16="http://schemas.microsoft.com/office/drawing/2014/main" val="367994989"/>
                        </a:ext>
                      </a:extLst>
                    </a:gridCol>
                    <a:gridCol w="6233160">
                      <a:extLst>
                        <a:ext uri="{9D8B030D-6E8A-4147-A177-3AD203B41FA5}">
                          <a16:colId xmlns:a16="http://schemas.microsoft.com/office/drawing/2014/main" val="2940886102"/>
                        </a:ext>
                      </a:extLst>
                    </a:gridCol>
                  </a:tblGrid>
                  <a:tr h="518160">
                    <a:tc>
                      <a:txBody>
                        <a:bodyPr/>
                        <a:lstStyle/>
                        <a:p>
                          <a:pPr algn="ctr"/>
                          <a:r>
                            <a:rPr lang="en-US" sz="2800" dirty="0">
                              <a:solidFill>
                                <a:schemeClr val="tx1"/>
                              </a:solidFill>
                            </a:rPr>
                            <a:t>Similarity Measure</a:t>
                          </a:r>
                        </a:p>
                      </a:txBody>
                      <a:tcPr/>
                    </a:tc>
                    <a:tc>
                      <a:txBody>
                        <a:bodyPr/>
                        <a:lstStyle/>
                        <a:p>
                          <a:pPr algn="ctr"/>
                          <a:r>
                            <a:rPr lang="en-US" sz="2800" dirty="0">
                              <a:solidFill>
                                <a:schemeClr val="tx1"/>
                              </a:solidFill>
                            </a:rPr>
                            <a:t>Transform to Distance Metric</a:t>
                          </a:r>
                        </a:p>
                      </a:txBody>
                      <a:tcPr/>
                    </a:tc>
                    <a:extLst>
                      <a:ext uri="{0D108BD9-81ED-4DB2-BD59-A6C34878D82A}">
                        <a16:rowId xmlns:a16="http://schemas.microsoft.com/office/drawing/2014/main" val="391128024"/>
                      </a:ext>
                    </a:extLst>
                  </a:tr>
                  <a:tr h="890270">
                    <a:tc>
                      <a:txBody>
                        <a:bodyPr/>
                        <a:lstStyle/>
                        <a:p>
                          <a:r>
                            <a:rPr lang="en-US" sz="2800" dirty="0">
                              <a:solidFill>
                                <a:schemeClr val="tx1"/>
                              </a:solidFill>
                            </a:rPr>
                            <a:t>Pearson Correlation</a:t>
                          </a:r>
                        </a:p>
                      </a:txBody>
                      <a:tcPr/>
                    </a:tc>
                    <a:tc>
                      <a:txBody>
                        <a:bodyPr/>
                        <a:lstStyle/>
                        <a:p>
                          <a:endParaRPr lang="en-US"/>
                        </a:p>
                      </a:txBody>
                      <a:tcPr>
                        <a:blipFill>
                          <a:blip r:embed="rId3"/>
                          <a:stretch>
                            <a:fillRect l="-91691" t="-64384" r="-391" b="-228082"/>
                          </a:stretch>
                        </a:blipFill>
                      </a:tcPr>
                    </a:tc>
                    <a:extLst>
                      <a:ext uri="{0D108BD9-81ED-4DB2-BD59-A6C34878D82A}">
                        <a16:rowId xmlns:a16="http://schemas.microsoft.com/office/drawing/2014/main" val="3941939117"/>
                      </a:ext>
                    </a:extLst>
                  </a:tr>
                  <a:tr h="548069">
                    <a:tc>
                      <a:txBody>
                        <a:bodyPr/>
                        <a:lstStyle/>
                        <a:p>
                          <a:r>
                            <a:rPr lang="en-US" sz="2800" dirty="0">
                              <a:solidFill>
                                <a:schemeClr val="tx1"/>
                              </a:solidFill>
                            </a:rPr>
                            <a:t>Jaccard Similarity</a:t>
                          </a:r>
                        </a:p>
                      </a:txBody>
                      <a:tcPr/>
                    </a:tc>
                    <a:tc>
                      <a:txBody>
                        <a:bodyPr/>
                        <a:lstStyle/>
                        <a:p>
                          <a:endParaRPr lang="en-US"/>
                        </a:p>
                      </a:txBody>
                      <a:tcPr>
                        <a:blipFill>
                          <a:blip r:embed="rId3"/>
                          <a:stretch>
                            <a:fillRect l="-91691" t="-266667" r="-391" b="-270000"/>
                          </a:stretch>
                        </a:blipFill>
                      </a:tcPr>
                    </a:tc>
                    <a:extLst>
                      <a:ext uri="{0D108BD9-81ED-4DB2-BD59-A6C34878D82A}">
                        <a16:rowId xmlns:a16="http://schemas.microsoft.com/office/drawing/2014/main" val="518136395"/>
                      </a:ext>
                    </a:extLst>
                  </a:tr>
                  <a:tr h="518160">
                    <a:tc>
                      <a:txBody>
                        <a:bodyPr/>
                        <a:lstStyle/>
                        <a:p>
                          <a:endParaRPr lang="en-US"/>
                        </a:p>
                      </a:txBody>
                      <a:tcPr>
                        <a:blipFill>
                          <a:blip r:embed="rId3"/>
                          <a:stretch>
                            <a:fillRect l="-107" t="-388235" r="-109605" b="-185882"/>
                          </a:stretch>
                        </a:blipFill>
                      </a:tcPr>
                    </a:tc>
                    <a:tc>
                      <a:txBody>
                        <a:bodyPr/>
                        <a:lstStyle/>
                        <a:p>
                          <a:endParaRPr lang="en-US"/>
                        </a:p>
                      </a:txBody>
                      <a:tcPr>
                        <a:blipFill>
                          <a:blip r:embed="rId3"/>
                          <a:stretch>
                            <a:fillRect l="-91691" t="-388235" r="-391" b="-185882"/>
                          </a:stretch>
                        </a:blipFill>
                      </a:tcPr>
                    </a:tc>
                    <a:extLst>
                      <a:ext uri="{0D108BD9-81ED-4DB2-BD59-A6C34878D82A}">
                        <a16:rowId xmlns:a16="http://schemas.microsoft.com/office/drawing/2014/main" val="1091878639"/>
                      </a:ext>
                    </a:extLst>
                  </a:tr>
                  <a:tr h="946785">
                    <a:tc>
                      <a:txBody>
                        <a:bodyPr/>
                        <a:lstStyle/>
                        <a:p>
                          <a:r>
                            <a:rPr lang="en-US" sz="2800" dirty="0">
                              <a:solidFill>
                                <a:schemeClr val="tx1"/>
                              </a:solidFill>
                            </a:rPr>
                            <a:t>Cosine Similarity</a:t>
                          </a:r>
                        </a:p>
                      </a:txBody>
                      <a:tcPr/>
                    </a:tc>
                    <a:tc>
                      <a:txBody>
                        <a:bodyPr/>
                        <a:lstStyle/>
                        <a:p>
                          <a:endParaRPr lang="en-US"/>
                        </a:p>
                      </a:txBody>
                      <a:tcPr>
                        <a:blipFill>
                          <a:blip r:embed="rId3"/>
                          <a:stretch>
                            <a:fillRect l="-91691" t="-266026" r="-391" b="-1282"/>
                          </a:stretch>
                        </a:blipFill>
                      </a:tcPr>
                    </a:tc>
                    <a:extLst>
                      <a:ext uri="{0D108BD9-81ED-4DB2-BD59-A6C34878D82A}">
                        <a16:rowId xmlns:a16="http://schemas.microsoft.com/office/drawing/2014/main" val="3545086956"/>
                      </a:ext>
                    </a:extLst>
                  </a:tr>
                </a:tbl>
              </a:graphicData>
            </a:graphic>
          </p:graphicFrame>
        </mc:Fallback>
      </mc:AlternateContent>
    </p:spTree>
    <p:extLst>
      <p:ext uri="{BB962C8B-B14F-4D97-AF65-F5344CB8AC3E}">
        <p14:creationId xmlns:p14="http://schemas.microsoft.com/office/powerpoint/2010/main" val="3752589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Relationship Between Distance and Similarity</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9"/>
                <a:ext cx="11525250" cy="5698998"/>
              </a:xfrm>
            </p:spPr>
            <p:txBody>
              <a:bodyPr>
                <a:normAutofit/>
              </a:bodyPr>
              <a:lstStyle/>
              <a:p>
                <a:pPr marL="0" indent="0">
                  <a:buNone/>
                </a:pPr>
                <a:r>
                  <a:rPr lang="en-US" dirty="0">
                    <a:latin typeface="+mn-lt"/>
                  </a:rPr>
                  <a:t>In some cases distance measures can be transformed to similarity</a:t>
                </a:r>
              </a:p>
              <a:p>
                <a:r>
                  <a:rPr lang="en-US" dirty="0">
                    <a:latin typeface="+mn-lt"/>
                  </a:rPr>
                  <a:t>May not be a unique transformation   </a:t>
                </a:r>
              </a:p>
              <a:p>
                <a:r>
                  <a:rPr lang="en-US" dirty="0">
                    <a:latin typeface="+mn-lt"/>
                  </a:rPr>
                  <a:t>Similarity must be in proper range:  </a:t>
                </a:r>
              </a:p>
              <a:p>
                <a:pPr lvl="1"/>
                <a:r>
                  <a:rPr lang="en-US" dirty="0">
                    <a:latin typeface="+mn-lt"/>
                  </a:rPr>
                  <a:t>[-1,1]</a:t>
                </a:r>
              </a:p>
              <a:p>
                <a:pPr lvl="1"/>
                <a:r>
                  <a:rPr lang="en-US" dirty="0">
                    <a:latin typeface="+mn-lt"/>
                  </a:rPr>
                  <a:t>[0,1] </a:t>
                </a:r>
              </a:p>
              <a:p>
                <a:r>
                  <a:rPr lang="en-US" dirty="0">
                    <a:latin typeface="+mn-lt"/>
                  </a:rPr>
                  <a:t>Distance always </a:t>
                </a:r>
                <a14:m>
                  <m:oMath xmlns:m="http://schemas.openxmlformats.org/officeDocument/2006/math">
                    <m:r>
                      <a:rPr lang="en-US"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0</m:t>
                    </m:r>
                  </m:oMath>
                </a14:m>
                <a:endParaRPr lang="en-US" dirty="0">
                  <a:latin typeface="+mn-lt"/>
                </a:endParaRPr>
              </a:p>
              <a:p>
                <a:r>
                  <a:rPr lang="en-US" dirty="0">
                    <a:latin typeface="+mn-lt"/>
                  </a:rPr>
                  <a:t>Examples </a:t>
                </a:r>
                <a:r>
                  <a:rPr lang="en-US">
                    <a:latin typeface="+mn-lt"/>
                  </a:rPr>
                  <a:t>of transformations for Euclidean metrics </a:t>
                </a:r>
                <a:r>
                  <a:rPr lang="en-US" dirty="0">
                    <a:latin typeface="+mn-lt"/>
                  </a:rPr>
                  <a:t>:  </a:t>
                </a:r>
              </a:p>
              <a:p>
                <a:pPr marL="0"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𝑠</m:t>
                      </m:r>
                      <m:d>
                        <m:dPr>
                          <m:ctrlPr>
                            <a:rPr lang="en-US" i="1">
                              <a:latin typeface="Cambria Math" panose="02040503050406030204" pitchFamily="18" charset="0"/>
                            </a:rPr>
                          </m:ctrlPr>
                        </m:dPr>
                        <m:e>
                          <m:r>
                            <a:rPr lang="en-US" i="1">
                              <a:latin typeface="Cambria Math" panose="02040503050406030204" pitchFamily="18" charset="0"/>
                            </a:rPr>
                            <m:t>𝑥</m:t>
                          </m:r>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𝑥</m:t>
                              </m:r>
                            </m:e>
                            <m:sup>
                              <m:r>
                                <a:rPr lang="en-US" i="1">
                                  <a:latin typeface="Cambria Math" panose="02040503050406030204" pitchFamily="18" charset="0"/>
                                </a:rPr>
                                <m:t>′</m:t>
                              </m:r>
                            </m:sup>
                          </m:sSup>
                        </m:e>
                      </m:d>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1+</m:t>
                          </m:r>
                          <m:sSub>
                            <m:sSubPr>
                              <m:ctrlPr>
                                <a:rPr lang="en-US" i="1">
                                  <a:latin typeface="Cambria Math" panose="02040503050406030204" pitchFamily="18" charset="0"/>
                                </a:rPr>
                              </m:ctrlPr>
                            </m:sSubPr>
                            <m:e>
                              <m:r>
                                <a:rPr lang="en-US" i="1">
                                  <a:latin typeface="Cambria Math" panose="02040503050406030204" pitchFamily="18" charset="0"/>
                                </a:rPr>
                                <m:t>𝑑</m:t>
                              </m:r>
                            </m:e>
                            <m:sub>
                              <m:r>
                                <a:rPr lang="en-US" i="1">
                                  <a:latin typeface="Cambria Math" panose="02040503050406030204" pitchFamily="18" charset="0"/>
                                </a:rPr>
                                <m:t>𝐸</m:t>
                              </m:r>
                            </m:sub>
                          </m:sSub>
                          <m:r>
                            <a:rPr lang="en-US" i="1">
                              <a:latin typeface="Cambria Math" panose="02040503050406030204" pitchFamily="18" charset="0"/>
                            </a:rPr>
                            <m:t>(</m:t>
                          </m:r>
                          <m:r>
                            <a:rPr lang="en-US" i="1">
                              <a:latin typeface="Cambria Math" panose="02040503050406030204" pitchFamily="18" charset="0"/>
                            </a:rPr>
                            <m:t>𝑥</m:t>
                          </m:r>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𝑥</m:t>
                              </m:r>
                            </m:e>
                            <m:sup>
                              <m:r>
                                <a:rPr lang="en-US" i="1">
                                  <a:latin typeface="Cambria Math" panose="02040503050406030204" pitchFamily="18" charset="0"/>
                                </a:rPr>
                                <m:t>′</m:t>
                              </m:r>
                            </m:sup>
                          </m:sSup>
                          <m:r>
                            <a:rPr lang="en-US" i="1">
                              <a:latin typeface="Cambria Math" panose="02040503050406030204" pitchFamily="18" charset="0"/>
                            </a:rPr>
                            <m:t>)</m:t>
                          </m:r>
                        </m:den>
                      </m:f>
                    </m:oMath>
                  </m:oMathPara>
                </a14:m>
                <a:endParaRPr lang="en-US" dirty="0"/>
              </a:p>
              <a:p>
                <a:pPr marL="0" indent="0">
                  <a:buNone/>
                </a:pPr>
                <a:endParaRPr lang="en-US" sz="1200" dirty="0"/>
              </a:p>
              <a:p>
                <a:pPr marL="0"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𝑠</m:t>
                      </m:r>
                      <m:d>
                        <m:dPr>
                          <m:ctrlPr>
                            <a:rPr lang="en-US" i="1">
                              <a:latin typeface="Cambria Math" panose="02040503050406030204" pitchFamily="18" charset="0"/>
                            </a:rPr>
                          </m:ctrlPr>
                        </m:dPr>
                        <m:e>
                          <m:r>
                            <a:rPr lang="en-US" i="1">
                              <a:latin typeface="Cambria Math" panose="02040503050406030204" pitchFamily="18" charset="0"/>
                            </a:rPr>
                            <m:t>𝑥</m:t>
                          </m:r>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𝑥</m:t>
                              </m:r>
                            </m:e>
                            <m:sup>
                              <m:r>
                                <a:rPr lang="en-US" i="1">
                                  <a:latin typeface="Cambria Math" panose="02040503050406030204" pitchFamily="18" charset="0"/>
                                </a:rPr>
                                <m:t>′</m:t>
                              </m:r>
                            </m:sup>
                          </m:sSup>
                        </m:e>
                      </m:d>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sSup>
                            <m:sSupPr>
                              <m:ctrlPr>
                                <a:rPr lang="en-US" i="1">
                                  <a:latin typeface="Cambria Math" panose="02040503050406030204" pitchFamily="18" charset="0"/>
                                </a:rPr>
                              </m:ctrlPr>
                            </m:sSupPr>
                            <m:e>
                              <m:r>
                                <a:rPr lang="en-US" i="1">
                                  <a:latin typeface="Cambria Math" panose="02040503050406030204" pitchFamily="18" charset="0"/>
                                </a:rPr>
                                <m:t>𝑒</m:t>
                              </m:r>
                            </m:e>
                            <m:sup>
                              <m:sSub>
                                <m:sSubPr>
                                  <m:ctrlPr>
                                    <a:rPr lang="en-US" i="1">
                                      <a:latin typeface="Cambria Math" panose="02040503050406030204" pitchFamily="18" charset="0"/>
                                    </a:rPr>
                                  </m:ctrlPr>
                                </m:sSubPr>
                                <m:e>
                                  <m:r>
                                    <a:rPr lang="en-US" i="1">
                                      <a:latin typeface="Cambria Math" panose="02040503050406030204" pitchFamily="18" charset="0"/>
                                    </a:rPr>
                                    <m:t>𝑑</m:t>
                                  </m:r>
                                </m:e>
                                <m:sub>
                                  <m:r>
                                    <a:rPr lang="en-US" i="1">
                                      <a:latin typeface="Cambria Math" panose="02040503050406030204" pitchFamily="18" charset="0"/>
                                    </a:rPr>
                                    <m:t>𝐸</m:t>
                                  </m:r>
                                </m:sub>
                              </m:sSub>
                              <m:r>
                                <a:rPr lang="en-US" i="1">
                                  <a:latin typeface="Cambria Math" panose="02040503050406030204" pitchFamily="18" charset="0"/>
                                </a:rPr>
                                <m:t>(</m:t>
                              </m:r>
                              <m:r>
                                <a:rPr lang="en-US" i="1">
                                  <a:latin typeface="Cambria Math" panose="02040503050406030204" pitchFamily="18" charset="0"/>
                                </a:rPr>
                                <m:t>𝑥</m:t>
                              </m:r>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𝑥</m:t>
                                  </m:r>
                                </m:e>
                                <m:sup>
                                  <m:r>
                                    <a:rPr lang="en-US" i="1">
                                      <a:latin typeface="Cambria Math" panose="02040503050406030204" pitchFamily="18" charset="0"/>
                                    </a:rPr>
                                    <m:t>′</m:t>
                                  </m:r>
                                </m:sup>
                              </m:sSup>
                              <m:r>
                                <a:rPr lang="en-US" i="1">
                                  <a:latin typeface="Cambria Math" panose="02040503050406030204" pitchFamily="18" charset="0"/>
                                </a:rPr>
                                <m:t>)</m:t>
                              </m:r>
                            </m:sup>
                          </m:sSup>
                        </m:den>
                      </m:f>
                    </m:oMath>
                  </m:oMathPara>
                </a14:m>
                <a:endParaRPr lang="en-US" dirty="0"/>
              </a:p>
              <a:p>
                <a:pPr marL="0" indent="0">
                  <a:buNone/>
                </a:pPr>
                <a:endParaRPr lang="en-US" sz="2400" dirty="0">
                  <a:latin typeface="+mn-lt"/>
                </a:endParaRPr>
              </a:p>
              <a:p>
                <a:pPr marL="0" indent="0">
                  <a:buNone/>
                </a:pPr>
                <a:endParaRPr lang="en-US"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9"/>
                <a:ext cx="11525250" cy="5698998"/>
              </a:xfrm>
              <a:blipFill>
                <a:blip r:embed="rId3"/>
                <a:stretch>
                  <a:fillRect l="-1111" t="-1818"/>
                </a:stretch>
              </a:blipFill>
            </p:spPr>
            <p:txBody>
              <a:bodyPr/>
              <a:lstStyle/>
              <a:p>
                <a:r>
                  <a:rPr lang="en-US">
                    <a:noFill/>
                  </a:rPr>
                  <a:t> </a:t>
                </a:r>
              </a:p>
            </p:txBody>
          </p:sp>
        </mc:Fallback>
      </mc:AlternateContent>
    </p:spTree>
    <p:extLst>
      <p:ext uri="{BB962C8B-B14F-4D97-AF65-F5344CB8AC3E}">
        <p14:creationId xmlns:p14="http://schemas.microsoft.com/office/powerpoint/2010/main" val="40001641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7DECDF-814A-B2D1-F5F0-82FF12F0791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8266A1-0CB3-712B-C7AA-92B375DAF3B2}"/>
              </a:ext>
            </a:extLst>
          </p:cNvPr>
          <p:cNvSpPr>
            <a:spLocks noGrp="1"/>
          </p:cNvSpPr>
          <p:nvPr>
            <p:ph type="title"/>
          </p:nvPr>
        </p:nvSpPr>
        <p:spPr>
          <a:xfrm>
            <a:off x="831850" y="1709738"/>
            <a:ext cx="10515600" cy="2104337"/>
          </a:xfrm>
        </p:spPr>
        <p:txBody>
          <a:bodyPr/>
          <a:lstStyle/>
          <a:p>
            <a:pPr algn="ctr"/>
            <a:r>
              <a:rPr lang="en-US" b="1" dirty="0"/>
              <a:t>Scaling Distance and Similarity Metrics</a:t>
            </a:r>
          </a:p>
        </p:txBody>
      </p:sp>
    </p:spTree>
    <p:extLst>
      <p:ext uri="{BB962C8B-B14F-4D97-AF65-F5344CB8AC3E}">
        <p14:creationId xmlns:p14="http://schemas.microsoft.com/office/powerpoint/2010/main" val="414906716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Scaling distance and similarity measures</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8"/>
                <a:ext cx="11525250" cy="5523771"/>
              </a:xfrm>
            </p:spPr>
            <p:txBody>
              <a:bodyPr>
                <a:normAutofit/>
              </a:bodyPr>
              <a:lstStyle/>
              <a:p>
                <a:pPr marL="0" indent="0">
                  <a:buNone/>
                </a:pPr>
                <a:r>
                  <a:rPr lang="en-US" dirty="0">
                    <a:latin typeface="+mn-lt"/>
                  </a:rPr>
                  <a:t>A dissimilarity matrix contains the differences between each case </a:t>
                </a:r>
                <a:r>
                  <a:rPr lang="en-US" i="1" dirty="0">
                    <a:latin typeface="+mn-lt"/>
                  </a:rPr>
                  <a:t>x</a:t>
                </a:r>
                <a:r>
                  <a:rPr lang="en-US" i="1" baseline="-25000" dirty="0">
                    <a:latin typeface="+mn-lt"/>
                  </a:rPr>
                  <a:t>i</a:t>
                </a:r>
                <a:r>
                  <a:rPr lang="en-US" dirty="0">
                    <a:latin typeface="+mn-lt"/>
                  </a:rPr>
                  <a:t> and every other case </a:t>
                </a:r>
                <a:r>
                  <a:rPr lang="en-US" i="1" dirty="0" err="1">
                    <a:latin typeface="+mn-lt"/>
                  </a:rPr>
                  <a:t>x’</a:t>
                </a:r>
                <a:r>
                  <a:rPr lang="en-US" i="1" baseline="-25000" dirty="0" err="1">
                    <a:latin typeface="+mn-lt"/>
                  </a:rPr>
                  <a:t>i</a:t>
                </a:r>
                <a:r>
                  <a:rPr lang="en-US" dirty="0">
                    <a:latin typeface="+mn-lt"/>
                  </a:rPr>
                  <a:t>,</a:t>
                </a:r>
                <a:r>
                  <a:rPr lang="en-US" i="1" dirty="0">
                    <a:latin typeface="+mn-lt"/>
                  </a:rPr>
                  <a:t> d(x</a:t>
                </a:r>
                <a:r>
                  <a:rPr lang="en-US" i="1" baseline="-25000" dirty="0">
                    <a:latin typeface="+mn-lt"/>
                  </a:rPr>
                  <a:t>i</a:t>
                </a:r>
                <a:r>
                  <a:rPr lang="en-US" i="1" dirty="0">
                    <a:latin typeface="+mn-lt"/>
                  </a:rPr>
                  <a:t>, </a:t>
                </a:r>
                <a:r>
                  <a:rPr lang="en-US" i="1" dirty="0" err="1">
                    <a:latin typeface="+mn-lt"/>
                  </a:rPr>
                  <a:t>x’</a:t>
                </a:r>
                <a:r>
                  <a:rPr lang="en-US" i="1" baseline="-25000" dirty="0" err="1">
                    <a:latin typeface="+mn-lt"/>
                  </a:rPr>
                  <a:t>i</a:t>
                </a:r>
                <a:r>
                  <a:rPr lang="en-US" i="1" dirty="0">
                    <a:latin typeface="+mn-lt"/>
                  </a:rPr>
                  <a:t>)</a:t>
                </a:r>
              </a:p>
              <a:p>
                <a:endParaRPr lang="en-US" sz="2800" i="1" baseline="-25000" dirty="0">
                  <a:latin typeface="+mn-lt"/>
                </a:endParaRPr>
              </a:p>
              <a:p>
                <a:pPr marL="0" indent="0">
                  <a:buNone/>
                </a:pPr>
                <a14:m>
                  <m:oMathPara xmlns:m="http://schemas.openxmlformats.org/officeDocument/2006/math">
                    <m:oMathParaPr>
                      <m:jc m:val="centerGroup"/>
                    </m:oMathParaPr>
                    <m:oMath xmlns:m="http://schemas.openxmlformats.org/officeDocument/2006/math">
                      <m:r>
                        <m:rPr>
                          <m:sty m:val="p"/>
                        </m:rPr>
                        <a:rPr lang="en-US" sz="2800" b="0" i="0" smtClean="0">
                          <a:latin typeface="Cambria Math" panose="02040503050406030204" pitchFamily="18" charset="0"/>
                        </a:rPr>
                        <m:t>D</m:t>
                      </m:r>
                      <m:d>
                        <m:dPr>
                          <m:ctrlPr>
                            <a:rPr lang="en-US" sz="2800" b="0" i="1" smtClean="0">
                              <a:latin typeface="Cambria Math" panose="02040503050406030204" pitchFamily="18" charset="0"/>
                            </a:rPr>
                          </m:ctrlPr>
                        </m:dPr>
                        <m:e>
                          <m:r>
                            <m:rPr>
                              <m:sty m:val="p"/>
                            </m:rPr>
                            <a:rPr lang="en-US" sz="2800" b="0" i="0" smtClean="0">
                              <a:latin typeface="Cambria Math" panose="02040503050406030204" pitchFamily="18" charset="0"/>
                            </a:rPr>
                            <m:t>X</m:t>
                          </m:r>
                        </m:e>
                      </m:d>
                      <m:r>
                        <a:rPr lang="en-US" sz="2800" b="0" i="0" smtClean="0">
                          <a:latin typeface="Cambria Math" panose="02040503050406030204" pitchFamily="18" charset="0"/>
                        </a:rPr>
                        <m:t>=</m:t>
                      </m:r>
                      <m:d>
                        <m:dPr>
                          <m:ctrlPr>
                            <a:rPr lang="en-US" sz="2800" b="0" i="1" smtClean="0">
                              <a:latin typeface="Cambria Math" panose="02040503050406030204" pitchFamily="18" charset="0"/>
                            </a:rPr>
                          </m:ctrlPr>
                        </m:dPr>
                        <m:e>
                          <m:m>
                            <m:mPr>
                              <m:mcs>
                                <m:mc>
                                  <m:mcPr>
                                    <m:count m:val="3"/>
                                    <m:mcJc m:val="center"/>
                                  </m:mcPr>
                                </m:mc>
                              </m:mcs>
                              <m:ctrlPr>
                                <a:rPr lang="en-US" sz="2800" b="0" i="1" smtClean="0">
                                  <a:latin typeface="Cambria Math" panose="02040503050406030204" pitchFamily="18" charset="0"/>
                                </a:rPr>
                              </m:ctrlPr>
                            </m:mPr>
                            <m:mr>
                              <m:e>
                                <m:r>
                                  <m:rPr>
                                    <m:brk m:alnAt="7"/>
                                  </m:rPr>
                                  <a:rPr lang="en-US" sz="2800" b="0" i="1" smtClean="0">
                                    <a:latin typeface="Cambria Math" panose="02040503050406030204" pitchFamily="18" charset="0"/>
                                  </a:rPr>
                                  <m:t>𝑑</m:t>
                                </m:r>
                                <m:d>
                                  <m:dPr>
                                    <m:ctrlPr>
                                      <a:rPr lang="en-US" sz="2800" b="0" i="1" smtClean="0">
                                        <a:latin typeface="Cambria Math" panose="02040503050406030204" pitchFamily="18" charset="0"/>
                                      </a:rPr>
                                    </m:ctrlPr>
                                  </m:dPr>
                                  <m:e>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𝑥</m:t>
                                        </m:r>
                                      </m:e>
                                      <m:sub>
                                        <m:r>
                                          <a:rPr lang="en-US" sz="2800" b="0" i="1" smtClean="0">
                                            <a:latin typeface="Cambria Math" panose="02040503050406030204" pitchFamily="18" charset="0"/>
                                          </a:rPr>
                                          <m:t>1</m:t>
                                        </m:r>
                                      </m:sub>
                                    </m:sSub>
                                    <m:r>
                                      <m:rPr>
                                        <m:brk m:alnAt="7"/>
                                      </m:rPr>
                                      <a:rPr lang="en-US" sz="2800" b="0" i="1" smtClean="0">
                                        <a:latin typeface="Cambria Math" panose="02040503050406030204" pitchFamily="18" charset="0"/>
                                      </a:rPr>
                                      <m:t>,</m:t>
                                    </m:r>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𝑥</m:t>
                                        </m:r>
                                      </m:e>
                                      <m:sub>
                                        <m:r>
                                          <a:rPr lang="en-US" sz="2800" b="0" i="1" smtClean="0">
                                            <a:latin typeface="Cambria Math" panose="02040503050406030204" pitchFamily="18" charset="0"/>
                                          </a:rPr>
                                          <m:t>1</m:t>
                                        </m:r>
                                      </m:sub>
                                    </m:sSub>
                                  </m:e>
                                </m:d>
                                <m:r>
                                  <m:rPr>
                                    <m:brk m:alnAt="7"/>
                                  </m:rPr>
                                  <a:rPr lang="en-US" i="1">
                                    <a:latin typeface="Cambria Math" panose="02040503050406030204" pitchFamily="18" charset="0"/>
                                  </a:rPr>
                                  <m:t>,</m:t>
                                </m:r>
                                <m:r>
                                  <a:rPr lang="en-US" b="0" i="1" smtClean="0">
                                    <a:latin typeface="Cambria Math" panose="02040503050406030204" pitchFamily="18" charset="0"/>
                                  </a:rPr>
                                  <m:t> </m:t>
                                </m:r>
                                <m: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r>
                                  <m:rPr>
                                    <m:brk m:alnAt="7"/>
                                  </m:rPr>
                                  <a:rPr lang="en-US" i="1">
                                    <a:latin typeface="Cambria Math" panose="02040503050406030204" pitchFamily="18" charset="0"/>
                                  </a:rPr>
                                  <m:t>)</m:t>
                                </m:r>
                              </m:e>
                              <m:e>
                                <m:r>
                                  <a:rPr lang="en-US" sz="2800" b="0" i="1" smtClean="0">
                                    <a:latin typeface="Cambria Math" panose="02040503050406030204" pitchFamily="18" charset="0"/>
                                  </a:rPr>
                                  <m:t>⋯</m:t>
                                </m:r>
                              </m:e>
                              <m:e>
                                <m:r>
                                  <m:rPr>
                                    <m:brk m:alnAt="7"/>
                                  </m:rP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e>
                            </m:mr>
                            <m:mr>
                              <m:e>
                                <m:r>
                                  <a:rPr lang="en-US" sz="2800" b="0" i="1" smtClean="0">
                                    <a:latin typeface="Cambria Math" panose="02040503050406030204" pitchFamily="18" charset="0"/>
                                  </a:rPr>
                                  <m:t>⋮</m:t>
                                </m:r>
                              </m:e>
                              <m:e>
                                <m:r>
                                  <a:rPr lang="en-US" sz="2800" b="0" i="1" smtClean="0">
                                    <a:latin typeface="Cambria Math" panose="02040503050406030204" pitchFamily="18" charset="0"/>
                                  </a:rPr>
                                  <m:t>⋱</m:t>
                                </m:r>
                              </m:e>
                              <m:e>
                                <m:r>
                                  <a:rPr lang="en-US" sz="2800" b="0" i="1" smtClean="0">
                                    <a:latin typeface="Cambria Math" panose="02040503050406030204" pitchFamily="18" charset="0"/>
                                  </a:rPr>
                                  <m:t>⋮</m:t>
                                </m:r>
                              </m:e>
                            </m:mr>
                            <m:mr>
                              <m:e>
                                <m:r>
                                  <m:rPr>
                                    <m:brk m:alnAt="7"/>
                                  </m:rPr>
                                  <a:rPr lang="en-US" i="1">
                                    <a:latin typeface="Cambria Math" panose="02040503050406030204" pitchFamily="18" charset="0"/>
                                  </a:rPr>
                                  <m:t>𝑑</m:t>
                                </m:r>
                                <m:d>
                                  <m:dPr>
                                    <m:ctrlPr>
                                      <a:rPr lang="en-US" i="1">
                                        <a:latin typeface="Cambria Math" panose="02040503050406030204" pitchFamily="18" charset="0"/>
                                      </a:rPr>
                                    </m:ctrlPr>
                                  </m:dPr>
                                  <m:e>
                                    <m:r>
                                      <a:rPr lang="en-US" b="0" i="1" smtClean="0">
                                        <a:latin typeface="Cambria Math" panose="02040503050406030204" pitchFamily="18" charset="0"/>
                                      </a:rPr>
                                      <m:t>𝑥</m:t>
                                    </m:r>
                                    <m:r>
                                      <m:rPr>
                                        <m:brk m:alnAt="7"/>
                                      </m:rPr>
                                      <a:rPr lang="en-US" b="0" i="1" baseline="-25000" smtClean="0">
                                        <a:latin typeface="Cambria Math" panose="02040503050406030204" pitchFamily="18" charset="0"/>
                                      </a:rPr>
                                      <m:t>𝑛</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e>
                                </m:d>
                                <m:r>
                                  <m:rPr>
                                    <m:brk m:alnAt="7"/>
                                  </m:rPr>
                                  <a:rPr lang="en-US" b="0" i="1" smtClean="0">
                                    <a:latin typeface="Cambria Math" panose="02040503050406030204" pitchFamily="18" charset="0"/>
                                  </a:rPr>
                                  <m:t>,</m:t>
                                </m:r>
                                <m: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r>
                                  <m:rPr>
                                    <m:brk m:alnAt="7"/>
                                  </m:rPr>
                                  <a:rPr lang="en-US" i="1">
                                    <a:latin typeface="Cambria Math" panose="02040503050406030204" pitchFamily="18" charset="0"/>
                                  </a:rPr>
                                  <m:t>)</m:t>
                                </m:r>
                              </m:e>
                              <m:e>
                                <m:r>
                                  <a:rPr lang="en-US" sz="2800" b="0" i="1" smtClean="0">
                                    <a:latin typeface="Cambria Math" panose="02040503050406030204" pitchFamily="18" charset="0"/>
                                  </a:rPr>
                                  <m:t>⋯</m:t>
                                </m:r>
                              </m:e>
                              <m:e>
                                <m:r>
                                  <m:rPr>
                                    <m:brk m:alnAt="7"/>
                                  </m:rPr>
                                  <a:rPr lang="en-US" i="1">
                                    <a:latin typeface="Cambria Math" panose="02040503050406030204" pitchFamily="18" charset="0"/>
                                  </a:rPr>
                                  <m:t>𝑑</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r>
                                  <m:rPr>
                                    <m:brk m:alnAt="7"/>
                                  </m:rPr>
                                  <a:rPr lang="en-US" i="1">
                                    <a:latin typeface="Cambria Math" panose="02040503050406030204" pitchFamily="18" charset="0"/>
                                  </a:rPr>
                                  <m:t>)</m:t>
                                </m:r>
                              </m:e>
                            </m:mr>
                          </m:m>
                        </m:e>
                      </m:d>
                    </m:oMath>
                  </m:oMathPara>
                </a14:m>
                <a:endParaRPr lang="en-US" sz="2800" dirty="0">
                  <a:latin typeface="+mn-lt"/>
                </a:endParaRPr>
              </a:p>
              <a:p>
                <a:pPr lvl="1"/>
                <a:endParaRPr lang="en-US" dirty="0"/>
              </a:p>
              <a:p>
                <a:r>
                  <a:rPr lang="en-US" dirty="0">
                    <a:latin typeface="+mn-lt"/>
                  </a:rPr>
                  <a:t>Only need to store upper (or lower) triangular elements of array  </a:t>
                </a:r>
              </a:p>
              <a:p>
                <a:r>
                  <a:rPr lang="en-US" dirty="0">
                    <a:latin typeface="+mn-lt"/>
                  </a:rPr>
                  <a:t>But, a dense </a:t>
                </a:r>
                <a:r>
                  <a:rPr lang="en-US" b="1" dirty="0">
                    <a:latin typeface="+mn-lt"/>
                  </a:rPr>
                  <a:t>computationally intensive </a:t>
                </a:r>
                <a:r>
                  <a:rPr lang="en-US" dirty="0">
                    <a:latin typeface="+mn-lt"/>
                  </a:rPr>
                  <a:t>and </a:t>
                </a:r>
                <a:r>
                  <a:rPr lang="en-US" b="1" dirty="0">
                    <a:latin typeface="+mn-lt"/>
                  </a:rPr>
                  <a:t>memory intensive representation:</a:t>
                </a:r>
                <a:r>
                  <a:rPr lang="en-US" dirty="0">
                    <a:latin typeface="+mn-lt"/>
                  </a:rPr>
                  <a:t> </a:t>
                </a:r>
                <a14:m>
                  <m:oMath xmlns:m="http://schemas.openxmlformats.org/officeDocument/2006/math">
                    <m:r>
                      <a:rPr lang="en-US" b="1" i="1">
                        <a:latin typeface="Cambria Math" panose="02040503050406030204" pitchFamily="18" charset="0"/>
                      </a:rPr>
                      <m:t>𝑶</m:t>
                    </m:r>
                    <m:d>
                      <m:dPr>
                        <m:ctrlPr>
                          <a:rPr lang="en-US" b="1" i="1" smtClean="0">
                            <a:latin typeface="Cambria Math" panose="02040503050406030204" pitchFamily="18" charset="0"/>
                          </a:rPr>
                        </m:ctrlPr>
                      </m:dPr>
                      <m:e>
                        <m:sSup>
                          <m:sSupPr>
                            <m:ctrlPr>
                              <a:rPr lang="en-US" b="1" i="1" smtClean="0">
                                <a:latin typeface="Cambria Math" panose="02040503050406030204" pitchFamily="18" charset="0"/>
                              </a:rPr>
                            </m:ctrlPr>
                          </m:sSupPr>
                          <m:e>
                            <m:r>
                              <a:rPr lang="en-US" b="1" i="1" smtClean="0">
                                <a:latin typeface="Cambria Math" panose="02040503050406030204" pitchFamily="18" charset="0"/>
                              </a:rPr>
                              <m:t>𝒏</m:t>
                            </m:r>
                          </m:e>
                          <m:sup>
                            <m:r>
                              <a:rPr lang="en-US" b="1" i="1" smtClean="0">
                                <a:latin typeface="Cambria Math" panose="02040503050406030204" pitchFamily="18" charset="0"/>
                              </a:rPr>
                              <m:t>𝟐</m:t>
                            </m:r>
                          </m:sup>
                        </m:sSup>
                      </m:e>
                    </m:d>
                  </m:oMath>
                </a14:m>
                <a:endParaRPr lang="en-US"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8"/>
                <a:ext cx="11525250" cy="5523771"/>
              </a:xfrm>
              <a:blipFill>
                <a:blip r:embed="rId3"/>
                <a:stretch>
                  <a:fillRect l="-1111" t="-1876" r="-370"/>
                </a:stretch>
              </a:blipFill>
            </p:spPr>
            <p:txBody>
              <a:bodyPr/>
              <a:lstStyle/>
              <a:p>
                <a:r>
                  <a:rPr lang="en-US">
                    <a:noFill/>
                  </a:rPr>
                  <a:t> </a:t>
                </a:r>
              </a:p>
            </p:txBody>
          </p:sp>
        </mc:Fallback>
      </mc:AlternateContent>
    </p:spTree>
    <p:extLst>
      <p:ext uri="{BB962C8B-B14F-4D97-AF65-F5344CB8AC3E}">
        <p14:creationId xmlns:p14="http://schemas.microsoft.com/office/powerpoint/2010/main" val="16794698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Autofit/>
          </a:bodyPr>
          <a:lstStyle/>
          <a:p>
            <a:r>
              <a:rPr lang="en-US" sz="3600" dirty="0"/>
              <a:t>Massively scaling distance and similarity measures</a:t>
            </a:r>
          </a:p>
        </p:txBody>
      </p:sp>
      <mc:AlternateContent xmlns:mc="http://schemas.openxmlformats.org/markup-compatibility/2006" xmlns:a14="http://schemas.microsoft.com/office/drawing/2010/main">
        <mc:Choice Requires="a14">
          <p:sp>
            <p:nvSpPr>
              <p:cNvPr id="3" name="Content Placeholder 2"/>
              <p:cNvSpPr>
                <a:spLocks noGrp="1"/>
              </p:cNvSpPr>
              <p:nvPr>
                <p:ph sz="quarter" idx="10"/>
              </p:nvPr>
            </p:nvSpPr>
            <p:spPr>
              <a:xfrm>
                <a:off x="333375" y="896078"/>
                <a:ext cx="11525250" cy="5523771"/>
              </a:xfrm>
            </p:spPr>
            <p:txBody>
              <a:bodyPr>
                <a:normAutofit/>
              </a:bodyPr>
              <a:lstStyle/>
              <a:p>
                <a:pPr marL="0" indent="0">
                  <a:buNone/>
                </a:pPr>
                <a:r>
                  <a:rPr lang="en-US" dirty="0">
                    <a:latin typeface="+mn-lt"/>
                  </a:rPr>
                  <a:t>A dissimilarity matrix contains the differences between each case </a:t>
                </a:r>
                <a:r>
                  <a:rPr lang="en-US" i="1" dirty="0">
                    <a:latin typeface="+mn-lt"/>
                  </a:rPr>
                  <a:t>x</a:t>
                </a:r>
                <a:r>
                  <a:rPr lang="en-US" i="1" baseline="-25000" dirty="0">
                    <a:latin typeface="+mn-lt"/>
                  </a:rPr>
                  <a:t>i</a:t>
                </a:r>
                <a:r>
                  <a:rPr lang="en-US" dirty="0">
                    <a:latin typeface="+mn-lt"/>
                  </a:rPr>
                  <a:t> and every other case </a:t>
                </a:r>
                <a:r>
                  <a:rPr lang="en-US" i="1" dirty="0" err="1">
                    <a:latin typeface="+mn-lt"/>
                  </a:rPr>
                  <a:t>x’</a:t>
                </a:r>
                <a:r>
                  <a:rPr lang="en-US" i="1" baseline="-25000" dirty="0" err="1">
                    <a:latin typeface="+mn-lt"/>
                  </a:rPr>
                  <a:t>i</a:t>
                </a:r>
                <a:r>
                  <a:rPr lang="en-US" dirty="0">
                    <a:latin typeface="+mn-lt"/>
                  </a:rPr>
                  <a:t>,</a:t>
                </a:r>
                <a:r>
                  <a:rPr lang="en-US" i="1" dirty="0">
                    <a:latin typeface="+mn-lt"/>
                  </a:rPr>
                  <a:t> d(x</a:t>
                </a:r>
                <a:r>
                  <a:rPr lang="en-US" i="1" baseline="-25000" dirty="0">
                    <a:latin typeface="+mn-lt"/>
                  </a:rPr>
                  <a:t>i</a:t>
                </a:r>
                <a:r>
                  <a:rPr lang="en-US" i="1" dirty="0">
                    <a:latin typeface="+mn-lt"/>
                  </a:rPr>
                  <a:t>, </a:t>
                </a:r>
                <a:r>
                  <a:rPr lang="en-US" i="1" dirty="0" err="1">
                    <a:latin typeface="+mn-lt"/>
                  </a:rPr>
                  <a:t>x’</a:t>
                </a:r>
                <a:r>
                  <a:rPr lang="en-US" i="1" baseline="-25000" dirty="0" err="1">
                    <a:latin typeface="+mn-lt"/>
                  </a:rPr>
                  <a:t>i</a:t>
                </a:r>
                <a:r>
                  <a:rPr lang="en-US" i="1" dirty="0">
                    <a:latin typeface="+mn-lt"/>
                  </a:rPr>
                  <a:t>)</a:t>
                </a:r>
                <a:endParaRPr lang="en-US" sz="2800" i="1" baseline="-25000" dirty="0">
                  <a:latin typeface="+mn-lt"/>
                </a:endParaRPr>
              </a:p>
              <a:p>
                <a:r>
                  <a:rPr lang="en-US" dirty="0">
                    <a:latin typeface="+mn-lt"/>
                  </a:rPr>
                  <a:t>a dense </a:t>
                </a:r>
                <a:r>
                  <a:rPr lang="en-US" b="1" dirty="0">
                    <a:latin typeface="+mn-lt"/>
                  </a:rPr>
                  <a:t>computationally intensive </a:t>
                </a:r>
                <a:r>
                  <a:rPr lang="en-US" dirty="0">
                    <a:latin typeface="+mn-lt"/>
                  </a:rPr>
                  <a:t>and </a:t>
                </a:r>
                <a:r>
                  <a:rPr lang="en-US" b="1" dirty="0">
                    <a:latin typeface="+mn-lt"/>
                  </a:rPr>
                  <a:t>memory intensive representation:</a:t>
                </a:r>
                <a:r>
                  <a:rPr lang="en-US" dirty="0">
                    <a:latin typeface="+mn-lt"/>
                  </a:rPr>
                  <a:t> </a:t>
                </a:r>
                <a14:m>
                  <m:oMath xmlns:m="http://schemas.openxmlformats.org/officeDocument/2006/math">
                    <m:r>
                      <a:rPr lang="en-US" b="1" i="1">
                        <a:latin typeface="Cambria Math" panose="02040503050406030204" pitchFamily="18" charset="0"/>
                      </a:rPr>
                      <m:t>𝑶</m:t>
                    </m:r>
                    <m:d>
                      <m:dPr>
                        <m:ctrlPr>
                          <a:rPr lang="en-US" b="1" i="1">
                            <a:latin typeface="Cambria Math" panose="02040503050406030204" pitchFamily="18" charset="0"/>
                          </a:rPr>
                        </m:ctrlPr>
                      </m:dPr>
                      <m:e>
                        <m:sSup>
                          <m:sSupPr>
                            <m:ctrlPr>
                              <a:rPr lang="en-US" b="1" i="1" smtClean="0">
                                <a:latin typeface="Cambria Math" panose="02040503050406030204" pitchFamily="18" charset="0"/>
                              </a:rPr>
                            </m:ctrlPr>
                          </m:sSupPr>
                          <m:e>
                            <m:r>
                              <a:rPr lang="en-US" b="1" i="1" smtClean="0">
                                <a:latin typeface="Cambria Math" panose="02040503050406030204" pitchFamily="18" charset="0"/>
                              </a:rPr>
                              <m:t>𝒏</m:t>
                            </m:r>
                          </m:e>
                          <m:sup>
                            <m:r>
                              <a:rPr lang="en-US" b="1" i="1" smtClean="0">
                                <a:latin typeface="Cambria Math" panose="02040503050406030204" pitchFamily="18" charset="0"/>
                              </a:rPr>
                              <m:t>𝟐</m:t>
                            </m:r>
                          </m:sup>
                        </m:sSup>
                      </m:e>
                    </m:d>
                    <m:r>
                      <a:rPr lang="en-US" b="1" i="1">
                        <a:latin typeface="Cambria Math" panose="02040503050406030204" pitchFamily="18" charset="0"/>
                      </a:rPr>
                      <m:t> </m:t>
                    </m:r>
                  </m:oMath>
                </a14:m>
                <a:endParaRPr lang="en-US" dirty="0">
                  <a:latin typeface="+mn-lt"/>
                </a:endParaRPr>
              </a:p>
              <a:p>
                <a:r>
                  <a:rPr lang="en-US" dirty="0">
                    <a:latin typeface="+mn-lt"/>
                  </a:rPr>
                  <a:t>How can we </a:t>
                </a:r>
                <a:r>
                  <a:rPr lang="en-US" b="1" dirty="0">
                    <a:latin typeface="+mn-lt"/>
                  </a:rPr>
                  <a:t>massively scale</a:t>
                </a:r>
                <a:r>
                  <a:rPr lang="en-US" dirty="0">
                    <a:latin typeface="+mn-lt"/>
                  </a:rPr>
                  <a:t>?    </a:t>
                </a:r>
              </a:p>
              <a:p>
                <a:r>
                  <a:rPr lang="en-US" b="1" dirty="0">
                    <a:latin typeface="+mn-lt"/>
                  </a:rPr>
                  <a:t>Use an approximate sparse graph representation!</a:t>
                </a:r>
              </a:p>
              <a:p>
                <a:r>
                  <a:rPr lang="en-US" dirty="0">
                    <a:latin typeface="+mn-lt"/>
                  </a:rPr>
                  <a:t>Compute distance or similarity metric along graph edges </a:t>
                </a:r>
              </a:p>
              <a:p>
                <a:pPr lvl="1"/>
                <a:r>
                  <a:rPr lang="en-US" dirty="0">
                    <a:latin typeface="+mn-lt"/>
                  </a:rPr>
                  <a:t>Only consider metric between </a:t>
                </a:r>
                <a:r>
                  <a:rPr lang="en-US" b="1" dirty="0">
                    <a:latin typeface="+mn-lt"/>
                  </a:rPr>
                  <a:t>nearest neighbors (NNs)</a:t>
                </a:r>
              </a:p>
              <a:p>
                <a:pPr lvl="1"/>
                <a:r>
                  <a:rPr lang="en-US" dirty="0">
                    <a:latin typeface="+mn-lt"/>
                  </a:rPr>
                  <a:t>Nearest neighbors are most important </a:t>
                </a:r>
              </a:p>
              <a:p>
                <a:pPr lvl="1"/>
                <a:r>
                  <a:rPr lang="en-US" dirty="0">
                    <a:latin typeface="+mn-lt"/>
                  </a:rPr>
                  <a:t>The nearest neighbor approximation </a:t>
                </a:r>
              </a:p>
              <a:p>
                <a:pPr marL="0" indent="0">
                  <a:buNone/>
                </a:pPr>
                <a:r>
                  <a:rPr lang="en-US" b="1" dirty="0">
                    <a:solidFill>
                      <a:srgbClr val="C00000"/>
                    </a:solidFill>
                    <a:latin typeface="+mn-lt"/>
                  </a:rPr>
                  <a:t>Don’t confuse this idea with clustering models! – No cluster assignment</a:t>
                </a:r>
              </a:p>
              <a:p>
                <a:pPr marL="0" indent="0">
                  <a:buNone/>
                </a:pPr>
                <a:endParaRPr lang="en-US" b="1" dirty="0">
                  <a:latin typeface="+mn-lt"/>
                </a:endParaRPr>
              </a:p>
            </p:txBody>
          </p:sp>
        </mc:Choice>
        <mc:Fallback xmlns="">
          <p:sp>
            <p:nvSpPr>
              <p:cNvPr id="3" name="Content Placeholder 2"/>
              <p:cNvSpPr>
                <a:spLocks noGrp="1" noRot="1" noChangeAspect="1" noMove="1" noResize="1" noEditPoints="1" noAdjustHandles="1" noChangeArrowheads="1" noChangeShapeType="1" noTextEdit="1"/>
              </p:cNvSpPr>
              <p:nvPr>
                <p:ph sz="quarter" idx="10"/>
              </p:nvPr>
            </p:nvSpPr>
            <p:spPr>
              <a:xfrm>
                <a:off x="333375" y="896078"/>
                <a:ext cx="11525250" cy="5523771"/>
              </a:xfrm>
              <a:blipFill>
                <a:blip r:embed="rId3"/>
                <a:stretch>
                  <a:fillRect l="-1111" t="-1876" r="-370"/>
                </a:stretch>
              </a:blipFill>
            </p:spPr>
            <p:txBody>
              <a:bodyPr/>
              <a:lstStyle/>
              <a:p>
                <a:r>
                  <a:rPr lang="en-US">
                    <a:noFill/>
                  </a:rPr>
                  <a:t> </a:t>
                </a:r>
              </a:p>
            </p:txBody>
          </p:sp>
        </mc:Fallback>
      </mc:AlternateContent>
    </p:spTree>
    <p:extLst>
      <p:ext uri="{BB962C8B-B14F-4D97-AF65-F5344CB8AC3E}">
        <p14:creationId xmlns:p14="http://schemas.microsoft.com/office/powerpoint/2010/main" val="35382164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Autofit/>
          </a:bodyPr>
          <a:lstStyle/>
          <a:p>
            <a:r>
              <a:rPr lang="en-US" sz="3600" dirty="0"/>
              <a:t>Massively scaling distance and similarity measures</a:t>
            </a:r>
          </a:p>
        </p:txBody>
      </p:sp>
      <p:sp>
        <p:nvSpPr>
          <p:cNvPr id="3" name="Content Placeholder 2"/>
          <p:cNvSpPr>
            <a:spLocks noGrp="1"/>
          </p:cNvSpPr>
          <p:nvPr>
            <p:ph sz="quarter" idx="10"/>
          </p:nvPr>
        </p:nvSpPr>
        <p:spPr>
          <a:xfrm>
            <a:off x="333375" y="896078"/>
            <a:ext cx="11525250" cy="5523771"/>
          </a:xfrm>
        </p:spPr>
        <p:txBody>
          <a:bodyPr>
            <a:normAutofit/>
          </a:bodyPr>
          <a:lstStyle/>
          <a:p>
            <a:pPr marL="0" indent="0">
              <a:buNone/>
            </a:pPr>
            <a:r>
              <a:rPr lang="en-US" dirty="0">
                <a:latin typeface="+mn-lt"/>
              </a:rPr>
              <a:t>A dissimilarity matrix contains the differences between each case </a:t>
            </a:r>
            <a:r>
              <a:rPr lang="en-US" i="1" dirty="0">
                <a:latin typeface="+mn-lt"/>
              </a:rPr>
              <a:t>x</a:t>
            </a:r>
            <a:r>
              <a:rPr lang="en-US" i="1" baseline="-25000" dirty="0">
                <a:latin typeface="+mn-lt"/>
              </a:rPr>
              <a:t>i</a:t>
            </a:r>
            <a:r>
              <a:rPr lang="en-US" dirty="0">
                <a:latin typeface="+mn-lt"/>
              </a:rPr>
              <a:t> and every other case </a:t>
            </a:r>
            <a:r>
              <a:rPr lang="en-US" i="1" dirty="0" err="1">
                <a:latin typeface="+mn-lt"/>
              </a:rPr>
              <a:t>x’</a:t>
            </a:r>
            <a:r>
              <a:rPr lang="en-US" i="1" baseline="-25000" dirty="0" err="1">
                <a:latin typeface="+mn-lt"/>
              </a:rPr>
              <a:t>i</a:t>
            </a:r>
            <a:r>
              <a:rPr lang="en-US" dirty="0">
                <a:latin typeface="+mn-lt"/>
              </a:rPr>
              <a:t>,</a:t>
            </a:r>
            <a:r>
              <a:rPr lang="en-US" i="1" dirty="0">
                <a:latin typeface="+mn-lt"/>
              </a:rPr>
              <a:t> d(x</a:t>
            </a:r>
            <a:r>
              <a:rPr lang="en-US" i="1" baseline="-25000" dirty="0">
                <a:latin typeface="+mn-lt"/>
              </a:rPr>
              <a:t>i</a:t>
            </a:r>
            <a:r>
              <a:rPr lang="en-US" i="1" dirty="0">
                <a:latin typeface="+mn-lt"/>
              </a:rPr>
              <a:t>, </a:t>
            </a:r>
            <a:r>
              <a:rPr lang="en-US" i="1" dirty="0" err="1">
                <a:latin typeface="+mn-lt"/>
              </a:rPr>
              <a:t>x’</a:t>
            </a:r>
            <a:r>
              <a:rPr lang="en-US" i="1" baseline="-25000" dirty="0" err="1">
                <a:latin typeface="+mn-lt"/>
              </a:rPr>
              <a:t>i</a:t>
            </a:r>
            <a:r>
              <a:rPr lang="en-US" i="1" dirty="0">
                <a:latin typeface="+mn-lt"/>
              </a:rPr>
              <a:t>)</a:t>
            </a:r>
            <a:endParaRPr lang="en-US" sz="2800" i="1" baseline="-25000" dirty="0">
              <a:latin typeface="+mn-lt"/>
            </a:endParaRPr>
          </a:p>
          <a:p>
            <a:r>
              <a:rPr lang="en-US" b="1" dirty="0">
                <a:latin typeface="+mn-lt"/>
              </a:rPr>
              <a:t>Sparse graph representation</a:t>
            </a:r>
            <a:r>
              <a:rPr lang="en-US" dirty="0">
                <a:latin typeface="+mn-lt"/>
              </a:rPr>
              <a:t> reduces computation and memory use    </a:t>
            </a:r>
          </a:p>
          <a:p>
            <a:r>
              <a:rPr lang="en-US" dirty="0">
                <a:latin typeface="+mn-lt"/>
              </a:rPr>
              <a:t>In many practical situations only need measure for closest neighbors   </a:t>
            </a:r>
          </a:p>
          <a:p>
            <a:pPr lvl="1"/>
            <a:r>
              <a:rPr lang="en-US" dirty="0">
                <a:latin typeface="+mn-lt"/>
              </a:rPr>
              <a:t>Construct graph of </a:t>
            </a:r>
            <a:r>
              <a:rPr lang="en-US" b="1" dirty="0">
                <a:latin typeface="+mn-lt"/>
              </a:rPr>
              <a:t>nearest neighbors     </a:t>
            </a:r>
          </a:p>
          <a:p>
            <a:pPr lvl="1"/>
            <a:r>
              <a:rPr lang="en-US" dirty="0">
                <a:latin typeface="+mn-lt"/>
              </a:rPr>
              <a:t>Neglect metric for less important distant nodes</a:t>
            </a:r>
          </a:p>
          <a:p>
            <a:r>
              <a:rPr lang="en-US" dirty="0">
                <a:latin typeface="+mn-lt"/>
              </a:rPr>
              <a:t>Ways to define nearest neighbor      </a:t>
            </a:r>
          </a:p>
          <a:p>
            <a:pPr lvl="1"/>
            <a:r>
              <a:rPr lang="en-US" dirty="0">
                <a:latin typeface="+mn-lt"/>
              </a:rPr>
              <a:t>Neighbors within radius </a:t>
            </a:r>
            <a:r>
              <a:rPr lang="en-US" b="1" dirty="0">
                <a:latin typeface="+mn-lt"/>
              </a:rPr>
              <a:t>r</a:t>
            </a:r>
          </a:p>
          <a:p>
            <a:pPr lvl="1"/>
            <a:r>
              <a:rPr lang="en-US" dirty="0">
                <a:latin typeface="+mn-lt"/>
              </a:rPr>
              <a:t>Nearest </a:t>
            </a:r>
            <a:r>
              <a:rPr lang="en-US" b="1" dirty="0">
                <a:latin typeface="+mn-lt"/>
              </a:rPr>
              <a:t>k </a:t>
            </a:r>
            <a:r>
              <a:rPr lang="en-US" dirty="0">
                <a:latin typeface="+mn-lt"/>
              </a:rPr>
              <a:t>neighbors     </a:t>
            </a:r>
            <a:endParaRPr lang="en-US" b="1" dirty="0">
              <a:latin typeface="+mn-lt"/>
            </a:endParaRPr>
          </a:p>
          <a:p>
            <a:endParaRPr lang="en-US" dirty="0">
              <a:latin typeface="+mn-lt"/>
            </a:endParaRPr>
          </a:p>
        </p:txBody>
      </p:sp>
    </p:spTree>
    <p:extLst>
      <p:ext uri="{BB962C8B-B14F-4D97-AF65-F5344CB8AC3E}">
        <p14:creationId xmlns:p14="http://schemas.microsoft.com/office/powerpoint/2010/main" val="39693660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Scaling distance and similarity measures</a:t>
            </a:r>
          </a:p>
        </p:txBody>
      </p:sp>
      <p:sp>
        <p:nvSpPr>
          <p:cNvPr id="3" name="Content Placeholder 2"/>
          <p:cNvSpPr>
            <a:spLocks noGrp="1"/>
          </p:cNvSpPr>
          <p:nvPr>
            <p:ph sz="quarter" idx="10"/>
          </p:nvPr>
        </p:nvSpPr>
        <p:spPr>
          <a:xfrm>
            <a:off x="333375" y="896079"/>
            <a:ext cx="11525250" cy="530954"/>
          </a:xfrm>
        </p:spPr>
        <p:txBody>
          <a:bodyPr>
            <a:normAutofit/>
          </a:bodyPr>
          <a:lstStyle/>
          <a:p>
            <a:pPr marL="0" indent="0">
              <a:buNone/>
            </a:pPr>
            <a:r>
              <a:rPr lang="en-US" b="1" dirty="0">
                <a:latin typeface="+mn-lt"/>
              </a:rPr>
              <a:t>Sparse graph representation</a:t>
            </a:r>
            <a:r>
              <a:rPr lang="en-US" dirty="0">
                <a:latin typeface="+mn-lt"/>
              </a:rPr>
              <a:t> reduces computation and memory use    </a:t>
            </a:r>
          </a:p>
        </p:txBody>
      </p:sp>
      <p:pic>
        <p:nvPicPr>
          <p:cNvPr id="5" name="Picture 4">
            <a:extLst>
              <a:ext uri="{FF2B5EF4-FFF2-40B4-BE49-F238E27FC236}">
                <a16:creationId xmlns:a16="http://schemas.microsoft.com/office/drawing/2014/main" id="{A5548DED-98F8-A31E-5342-F683E842C912}"/>
              </a:ext>
            </a:extLst>
          </p:cNvPr>
          <p:cNvPicPr>
            <a:picLocks noChangeAspect="1"/>
          </p:cNvPicPr>
          <p:nvPr/>
        </p:nvPicPr>
        <p:blipFill>
          <a:blip r:embed="rId3"/>
          <a:stretch>
            <a:fillRect/>
          </a:stretch>
        </p:blipFill>
        <p:spPr>
          <a:xfrm>
            <a:off x="6637362" y="1398559"/>
            <a:ext cx="5263486" cy="5379935"/>
          </a:xfrm>
          <a:prstGeom prst="rect">
            <a:avLst/>
          </a:prstGeom>
        </p:spPr>
      </p:pic>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82F104C8-939D-17AC-9595-D23F88C334CA}"/>
                  </a:ext>
                </a:extLst>
              </p:cNvPr>
              <p:cNvSpPr txBox="1"/>
              <p:nvPr/>
            </p:nvSpPr>
            <p:spPr>
              <a:xfrm>
                <a:off x="396497" y="1709893"/>
                <a:ext cx="6058732" cy="3970318"/>
              </a:xfrm>
              <a:prstGeom prst="rect">
                <a:avLst/>
              </a:prstGeom>
              <a:noFill/>
            </p:spPr>
            <p:txBody>
              <a:bodyPr wrap="square" rtlCol="0">
                <a:spAutoFit/>
              </a:bodyPr>
              <a:lstStyle/>
              <a:p>
                <a:pPr marL="285750" indent="-285750">
                  <a:buFont typeface="Arial" panose="020B0604020202020204" pitchFamily="34" charset="0"/>
                  <a:buChar char="•"/>
                </a:pPr>
                <a:r>
                  <a:rPr lang="en-US" sz="2800" dirty="0"/>
                  <a:t>Nearest neighbors within a fixed radius   </a:t>
                </a:r>
              </a:p>
              <a:p>
                <a:pPr marL="285750" indent="-285750">
                  <a:buFont typeface="Arial" panose="020B0604020202020204" pitchFamily="34" charset="0"/>
                  <a:buChar char="•"/>
                </a:pPr>
                <a:r>
                  <a:rPr lang="en-US" sz="2800" dirty="0"/>
                  <a:t>Need to select a radius   </a:t>
                </a:r>
              </a:p>
              <a:p>
                <a:pPr marL="285750" indent="-285750">
                  <a:buFont typeface="Arial" panose="020B0604020202020204" pitchFamily="34" charset="0"/>
                  <a:buChar char="•"/>
                </a:pPr>
                <a:r>
                  <a:rPr lang="en-US" sz="2800" dirty="0"/>
                  <a:t>Connectivity increases with radius    </a:t>
                </a:r>
              </a:p>
              <a:p>
                <a:pPr marL="742950" lvl="1" indent="-285750">
                  <a:buFont typeface="Arial" panose="020B0604020202020204" pitchFamily="34" charset="0"/>
                  <a:buChar char="•"/>
                </a:pPr>
                <a:r>
                  <a:rPr lang="en-US" sz="2800" dirty="0"/>
                  <a:t>Lower </a:t>
                </a:r>
                <a14:m>
                  <m:oMath xmlns:m="http://schemas.openxmlformats.org/officeDocument/2006/math">
                    <m:r>
                      <a:rPr lang="en-US" sz="2800" b="0" i="1" smtClean="0">
                        <a:latin typeface="Cambria Math" panose="02040503050406030204" pitchFamily="18" charset="0"/>
                      </a:rPr>
                      <m:t>𝑟</m:t>
                    </m:r>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𝑠𝑝𝑎𝑠𝑒𝑟</m:t>
                    </m:r>
                    <m:r>
                      <a:rPr lang="en-US" sz="2800" b="0" i="1" smtClean="0">
                        <a:latin typeface="Cambria Math" panose="02040503050406030204" pitchFamily="18" charset="0"/>
                        <a:ea typeface="Cambria Math" panose="02040503050406030204" pitchFamily="18" charset="0"/>
                      </a:rPr>
                      <m:t> </m:t>
                    </m:r>
                    <m:r>
                      <a:rPr lang="en-US" sz="2800" b="0" i="1" smtClean="0">
                        <a:latin typeface="Cambria Math" panose="02040503050406030204" pitchFamily="18" charset="0"/>
                        <a:ea typeface="Cambria Math" panose="02040503050406030204" pitchFamily="18" charset="0"/>
                      </a:rPr>
                      <m:t>𝑔𝑟𝑎𝑝h</m:t>
                    </m:r>
                  </m:oMath>
                </a14:m>
                <a:r>
                  <a:rPr lang="en-US" sz="2800" dirty="0"/>
                  <a:t> </a:t>
                </a:r>
              </a:p>
              <a:p>
                <a:pPr marL="742950" lvl="1" indent="-285750">
                  <a:buFont typeface="Arial" panose="020B0604020202020204" pitchFamily="34" charset="0"/>
                  <a:buChar char="•"/>
                </a:pPr>
                <a:r>
                  <a:rPr lang="en-US" sz="2800" dirty="0"/>
                  <a:t>Lower </a:t>
                </a:r>
                <a14:m>
                  <m:oMath xmlns:m="http://schemas.openxmlformats.org/officeDocument/2006/math">
                    <m:r>
                      <a:rPr lang="en-US" sz="2800" b="0" i="1" smtClean="0">
                        <a:latin typeface="Cambria Math" panose="02040503050406030204" pitchFamily="18" charset="0"/>
                      </a:rPr>
                      <m:t>𝑟</m:t>
                    </m:r>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𝑙𝑒𝑠𝑠</m:t>
                    </m:r>
                    <m:r>
                      <a:rPr lang="en-US" sz="2800" b="0" i="1" smtClean="0">
                        <a:latin typeface="Cambria Math" panose="02040503050406030204" pitchFamily="18" charset="0"/>
                        <a:ea typeface="Cambria Math" panose="02040503050406030204" pitchFamily="18" charset="0"/>
                      </a:rPr>
                      <m:t> </m:t>
                    </m:r>
                    <m:r>
                      <a:rPr lang="en-US" sz="2800" b="0" i="1" smtClean="0">
                        <a:latin typeface="Cambria Math" panose="02040503050406030204" pitchFamily="18" charset="0"/>
                        <a:ea typeface="Cambria Math" panose="02040503050406030204" pitchFamily="18" charset="0"/>
                      </a:rPr>
                      <m:t>𝑐𝑜𝑚𝑝𝑢𝑡𝑎𝑡𝑖𝑜𝑛</m:t>
                    </m:r>
                    <m:r>
                      <a:rPr lang="en-US" sz="2800" b="0" i="1" smtClean="0">
                        <a:latin typeface="Cambria Math" panose="02040503050406030204" pitchFamily="18" charset="0"/>
                        <a:ea typeface="Cambria Math" panose="02040503050406030204" pitchFamily="18" charset="0"/>
                      </a:rPr>
                      <m:t> </m:t>
                    </m:r>
                  </m:oMath>
                </a14:m>
                <a:endParaRPr lang="en-US" sz="2800" dirty="0"/>
              </a:p>
              <a:p>
                <a:pPr marL="742950" lvl="1" indent="-285750">
                  <a:buFont typeface="Arial" panose="020B0604020202020204" pitchFamily="34" charset="0"/>
                  <a:buChar char="•"/>
                </a:pPr>
                <a:r>
                  <a:rPr lang="en-US" sz="2800" dirty="0"/>
                  <a:t>Lower </a:t>
                </a:r>
                <a14:m>
                  <m:oMath xmlns:m="http://schemas.openxmlformats.org/officeDocument/2006/math">
                    <m:r>
                      <a:rPr lang="en-US" sz="2800" i="1">
                        <a:latin typeface="Cambria Math" panose="02040503050406030204" pitchFamily="18" charset="0"/>
                      </a:rPr>
                      <m:t>𝑟</m:t>
                    </m:r>
                    <m:r>
                      <a:rPr lang="en-US" sz="2800" i="1">
                        <a:latin typeface="Cambria Math" panose="02040503050406030204" pitchFamily="18" charset="0"/>
                        <a:ea typeface="Cambria Math" panose="02040503050406030204" pitchFamily="18" charset="0"/>
                      </a:rPr>
                      <m:t>⟶</m:t>
                    </m:r>
                    <m:r>
                      <a:rPr lang="en-US" sz="2800" i="1">
                        <a:latin typeface="Cambria Math" panose="02040503050406030204" pitchFamily="18" charset="0"/>
                        <a:ea typeface="Cambria Math" panose="02040503050406030204" pitchFamily="18" charset="0"/>
                      </a:rPr>
                      <m:t>𝑙𝑒𝑠𝑠</m:t>
                    </m:r>
                    <m:r>
                      <a:rPr lang="en-US" sz="2800" i="1">
                        <a:latin typeface="Cambria Math" panose="02040503050406030204" pitchFamily="18" charset="0"/>
                        <a:ea typeface="Cambria Math" panose="02040503050406030204" pitchFamily="18" charset="0"/>
                      </a:rPr>
                      <m:t> </m:t>
                    </m:r>
                    <m:r>
                      <a:rPr lang="en-US" sz="2800" i="1">
                        <a:latin typeface="Cambria Math" panose="02040503050406030204" pitchFamily="18" charset="0"/>
                        <a:ea typeface="Cambria Math" panose="02040503050406030204" pitchFamily="18" charset="0"/>
                      </a:rPr>
                      <m:t>𝑚𝑒𝑚𝑜𝑟𝑦</m:t>
                    </m:r>
                    <m:r>
                      <a:rPr lang="en-US" sz="2800" i="1">
                        <a:latin typeface="Cambria Math" panose="02040503050406030204" pitchFamily="18" charset="0"/>
                        <a:ea typeface="Cambria Math" panose="02040503050406030204" pitchFamily="18" charset="0"/>
                      </a:rPr>
                      <m:t> </m:t>
                    </m:r>
                  </m:oMath>
                </a14:m>
                <a:endParaRPr lang="en-US" sz="2800" dirty="0"/>
              </a:p>
              <a:p>
                <a:pPr marL="742950" lvl="1" indent="-285750">
                  <a:buFont typeface="Arial" panose="020B0604020202020204" pitchFamily="34" charset="0"/>
                  <a:buChar char="•"/>
                </a:pPr>
                <a:r>
                  <a:rPr lang="en-US" sz="2800" dirty="0"/>
                  <a:t>Lower </a:t>
                </a:r>
                <a14:m>
                  <m:oMath xmlns:m="http://schemas.openxmlformats.org/officeDocument/2006/math">
                    <m:r>
                      <a:rPr lang="en-US" sz="2800" i="1">
                        <a:latin typeface="Cambria Math" panose="02040503050406030204" pitchFamily="18" charset="0"/>
                      </a:rPr>
                      <m:t>𝑟</m:t>
                    </m:r>
                    <m:r>
                      <a:rPr lang="en-US" sz="2800" i="1">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𝑚𝑜𝑟𝑒</m:t>
                    </m:r>
                    <m:r>
                      <a:rPr lang="en-US" sz="2800" b="0" i="1" smtClean="0">
                        <a:latin typeface="Cambria Math" panose="02040503050406030204" pitchFamily="18" charset="0"/>
                        <a:ea typeface="Cambria Math" panose="02040503050406030204" pitchFamily="18" charset="0"/>
                      </a:rPr>
                      <m:t> </m:t>
                    </m:r>
                    <m:r>
                      <a:rPr lang="en-US" sz="2800" b="0" i="1" smtClean="0">
                        <a:latin typeface="Cambria Math" panose="02040503050406030204" pitchFamily="18" charset="0"/>
                        <a:ea typeface="Cambria Math" panose="02040503050406030204" pitchFamily="18" charset="0"/>
                      </a:rPr>
                      <m:t>𝑎𝑝𝑝𝑟𝑜𝑥𝑖𝑚𝑎𝑡𝑒</m:t>
                    </m:r>
                  </m:oMath>
                </a14:m>
                <a:endParaRPr lang="en-US" sz="2800" dirty="0"/>
              </a:p>
              <a:p>
                <a:pPr marL="742950" lvl="1" indent="-285750">
                  <a:buFont typeface="Arial" panose="020B0604020202020204" pitchFamily="34" charset="0"/>
                  <a:buChar char="•"/>
                </a:pPr>
                <a:r>
                  <a:rPr lang="en-US" sz="2800" dirty="0"/>
                  <a:t>Lower </a:t>
                </a:r>
                <a14:m>
                  <m:oMath xmlns:m="http://schemas.openxmlformats.org/officeDocument/2006/math">
                    <m:r>
                      <a:rPr lang="en-US" sz="2800" i="1">
                        <a:latin typeface="Cambria Math" panose="02040503050406030204" pitchFamily="18" charset="0"/>
                      </a:rPr>
                      <m:t>𝑟</m:t>
                    </m:r>
                    <m:r>
                      <a:rPr lang="en-US" sz="2800" i="1">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𝑑𝑖𝑠𝑐𝑜𝑛𝑛𝑒𝑐𝑡𝑒𝑑</m:t>
                    </m:r>
                    <m:r>
                      <a:rPr lang="en-US" sz="2800" b="0" i="1" smtClean="0">
                        <a:latin typeface="Cambria Math" panose="02040503050406030204" pitchFamily="18" charset="0"/>
                        <a:ea typeface="Cambria Math" panose="02040503050406030204" pitchFamily="18" charset="0"/>
                      </a:rPr>
                      <m:t> </m:t>
                    </m:r>
                    <m:r>
                      <a:rPr lang="en-US" sz="2800" b="0" i="1" smtClean="0">
                        <a:latin typeface="Cambria Math" panose="02040503050406030204" pitchFamily="18" charset="0"/>
                        <a:ea typeface="Cambria Math" panose="02040503050406030204" pitchFamily="18" charset="0"/>
                      </a:rPr>
                      <m:t>𝑔𝑟𝑎𝑝h</m:t>
                    </m:r>
                  </m:oMath>
                </a14:m>
                <a:endParaRPr lang="en-US" sz="2800" dirty="0"/>
              </a:p>
            </p:txBody>
          </p:sp>
        </mc:Choice>
        <mc:Fallback xmlns="">
          <p:sp>
            <p:nvSpPr>
              <p:cNvPr id="6" name="TextBox 5">
                <a:extLst>
                  <a:ext uri="{FF2B5EF4-FFF2-40B4-BE49-F238E27FC236}">
                    <a16:creationId xmlns:a16="http://schemas.microsoft.com/office/drawing/2014/main" id="{82F104C8-939D-17AC-9595-D23F88C334CA}"/>
                  </a:ext>
                </a:extLst>
              </p:cNvPr>
              <p:cNvSpPr txBox="1">
                <a:spLocks noRot="1" noChangeAspect="1" noMove="1" noResize="1" noEditPoints="1" noAdjustHandles="1" noChangeArrowheads="1" noChangeShapeType="1" noTextEdit="1"/>
              </p:cNvSpPr>
              <p:nvPr/>
            </p:nvSpPr>
            <p:spPr>
              <a:xfrm>
                <a:off x="396497" y="1709893"/>
                <a:ext cx="6058732" cy="3970318"/>
              </a:xfrm>
              <a:prstGeom prst="rect">
                <a:avLst/>
              </a:prstGeom>
              <a:blipFill>
                <a:blip r:embed="rId4"/>
                <a:stretch>
                  <a:fillRect l="-1811" t="-1380" b="-3374"/>
                </a:stretch>
              </a:blipFill>
            </p:spPr>
            <p:txBody>
              <a:bodyPr/>
              <a:lstStyle/>
              <a:p>
                <a:r>
                  <a:rPr lang="en-US">
                    <a:noFill/>
                  </a:rPr>
                  <a:t> </a:t>
                </a:r>
              </a:p>
            </p:txBody>
          </p:sp>
        </mc:Fallback>
      </mc:AlternateContent>
    </p:spTree>
    <p:extLst>
      <p:ext uri="{BB962C8B-B14F-4D97-AF65-F5344CB8AC3E}">
        <p14:creationId xmlns:p14="http://schemas.microsoft.com/office/powerpoint/2010/main" val="36449009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Scaling distance and similarity measures</a:t>
            </a:r>
          </a:p>
        </p:txBody>
      </p:sp>
      <p:sp>
        <p:nvSpPr>
          <p:cNvPr id="3" name="Content Placeholder 2"/>
          <p:cNvSpPr>
            <a:spLocks noGrp="1"/>
          </p:cNvSpPr>
          <p:nvPr>
            <p:ph sz="quarter" idx="10"/>
          </p:nvPr>
        </p:nvSpPr>
        <p:spPr>
          <a:xfrm>
            <a:off x="333375" y="896079"/>
            <a:ext cx="11525250" cy="530954"/>
          </a:xfrm>
        </p:spPr>
        <p:txBody>
          <a:bodyPr>
            <a:normAutofit/>
          </a:bodyPr>
          <a:lstStyle/>
          <a:p>
            <a:pPr marL="0" indent="0">
              <a:buNone/>
            </a:pPr>
            <a:r>
              <a:rPr lang="en-US" b="1" dirty="0">
                <a:latin typeface="+mn-lt"/>
              </a:rPr>
              <a:t>Sparse graph representation</a:t>
            </a:r>
            <a:r>
              <a:rPr lang="en-US" dirty="0">
                <a:latin typeface="+mn-lt"/>
              </a:rPr>
              <a:t> reduces computation and memory use    </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82F104C8-939D-17AC-9595-D23F88C334CA}"/>
                  </a:ext>
                </a:extLst>
              </p:cNvPr>
              <p:cNvSpPr txBox="1"/>
              <p:nvPr/>
            </p:nvSpPr>
            <p:spPr>
              <a:xfrm>
                <a:off x="396498" y="1709893"/>
                <a:ext cx="5851902" cy="3970318"/>
              </a:xfrm>
              <a:prstGeom prst="rect">
                <a:avLst/>
              </a:prstGeom>
              <a:noFill/>
            </p:spPr>
            <p:txBody>
              <a:bodyPr wrap="square" rtlCol="0">
                <a:spAutoFit/>
              </a:bodyPr>
              <a:lstStyle/>
              <a:p>
                <a:pPr marL="285750" indent="-285750">
                  <a:buFont typeface="Arial" panose="020B0604020202020204" pitchFamily="34" charset="0"/>
                  <a:buChar char="•"/>
                </a:pPr>
                <a:r>
                  <a:rPr lang="en-US" sz="2800" dirty="0"/>
                  <a:t>Nearest neighbors within a fixed number of neighbors, </a:t>
                </a:r>
                <a:r>
                  <a:rPr lang="en-US" sz="2800" i="1" dirty="0"/>
                  <a:t>k</a:t>
                </a:r>
                <a:r>
                  <a:rPr lang="en-US" sz="2800" dirty="0"/>
                  <a:t> </a:t>
                </a:r>
              </a:p>
              <a:p>
                <a:pPr marL="285750" indent="-285750">
                  <a:buFont typeface="Arial" panose="020B0604020202020204" pitchFamily="34" charset="0"/>
                  <a:buChar char="•"/>
                </a:pPr>
                <a:r>
                  <a:rPr lang="en-US" sz="2800" dirty="0"/>
                  <a:t>Need to select </a:t>
                </a:r>
                <a:r>
                  <a:rPr lang="en-US" sz="2800" i="1" dirty="0"/>
                  <a:t>k</a:t>
                </a:r>
              </a:p>
              <a:p>
                <a:pPr marL="285750" indent="-285750">
                  <a:buFont typeface="Arial" panose="020B0604020202020204" pitchFamily="34" charset="0"/>
                  <a:buChar char="•"/>
                </a:pPr>
                <a:r>
                  <a:rPr lang="en-US" sz="2800" dirty="0"/>
                  <a:t>Connectivity increases with </a:t>
                </a:r>
                <a:r>
                  <a:rPr lang="en-US" sz="2800" i="1" dirty="0"/>
                  <a:t>k</a:t>
                </a:r>
                <a:r>
                  <a:rPr lang="en-US" sz="2800" dirty="0"/>
                  <a:t>    </a:t>
                </a:r>
              </a:p>
              <a:p>
                <a:pPr marL="742950" lvl="1" indent="-285750">
                  <a:buFont typeface="Arial" panose="020B0604020202020204" pitchFamily="34" charset="0"/>
                  <a:buChar char="•"/>
                </a:pPr>
                <a:r>
                  <a:rPr lang="en-US" sz="2800" dirty="0"/>
                  <a:t>Lower </a:t>
                </a:r>
                <a14:m>
                  <m:oMath xmlns:m="http://schemas.openxmlformats.org/officeDocument/2006/math">
                    <m:r>
                      <a:rPr lang="en-US" sz="2800" b="0" i="1" smtClean="0">
                        <a:latin typeface="Cambria Math" panose="02040503050406030204" pitchFamily="18" charset="0"/>
                      </a:rPr>
                      <m:t>𝑘</m:t>
                    </m:r>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𝑠𝑝𝑎𝑠𝑒𝑟</m:t>
                    </m:r>
                    <m:r>
                      <a:rPr lang="en-US" sz="2800" b="0" i="1" smtClean="0">
                        <a:latin typeface="Cambria Math" panose="02040503050406030204" pitchFamily="18" charset="0"/>
                        <a:ea typeface="Cambria Math" panose="02040503050406030204" pitchFamily="18" charset="0"/>
                      </a:rPr>
                      <m:t> </m:t>
                    </m:r>
                    <m:r>
                      <a:rPr lang="en-US" sz="2800" b="0" i="1" smtClean="0">
                        <a:latin typeface="Cambria Math" panose="02040503050406030204" pitchFamily="18" charset="0"/>
                        <a:ea typeface="Cambria Math" panose="02040503050406030204" pitchFamily="18" charset="0"/>
                      </a:rPr>
                      <m:t>𝑔𝑟𝑎𝑝h</m:t>
                    </m:r>
                  </m:oMath>
                </a14:m>
                <a:r>
                  <a:rPr lang="en-US" sz="2800" dirty="0"/>
                  <a:t> </a:t>
                </a:r>
              </a:p>
              <a:p>
                <a:pPr marL="742950" lvl="1" indent="-285750">
                  <a:buFont typeface="Arial" panose="020B0604020202020204" pitchFamily="34" charset="0"/>
                  <a:buChar char="•"/>
                </a:pPr>
                <a:r>
                  <a:rPr lang="en-US" sz="2800" dirty="0"/>
                  <a:t>Lower </a:t>
                </a:r>
                <a14:m>
                  <m:oMath xmlns:m="http://schemas.openxmlformats.org/officeDocument/2006/math">
                    <m:r>
                      <a:rPr lang="en-US" sz="2800" b="0" i="1" smtClean="0">
                        <a:latin typeface="Cambria Math" panose="02040503050406030204" pitchFamily="18" charset="0"/>
                      </a:rPr>
                      <m:t>𝑘</m:t>
                    </m:r>
                    <m:r>
                      <a:rPr lang="en-US" sz="2800" b="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𝑙𝑒𝑠𝑠</m:t>
                    </m:r>
                    <m:r>
                      <a:rPr lang="en-US" sz="2800" b="0" i="1" smtClean="0">
                        <a:latin typeface="Cambria Math" panose="02040503050406030204" pitchFamily="18" charset="0"/>
                        <a:ea typeface="Cambria Math" panose="02040503050406030204" pitchFamily="18" charset="0"/>
                      </a:rPr>
                      <m:t> </m:t>
                    </m:r>
                    <m:r>
                      <a:rPr lang="en-US" sz="2800" b="0" i="1" smtClean="0">
                        <a:latin typeface="Cambria Math" panose="02040503050406030204" pitchFamily="18" charset="0"/>
                        <a:ea typeface="Cambria Math" panose="02040503050406030204" pitchFamily="18" charset="0"/>
                      </a:rPr>
                      <m:t>𝑐𝑜𝑚𝑝𝑢𝑡𝑎𝑡𝑖𝑜𝑛</m:t>
                    </m:r>
                    <m:r>
                      <a:rPr lang="en-US" sz="2800" b="0" i="1" smtClean="0">
                        <a:latin typeface="Cambria Math" panose="02040503050406030204" pitchFamily="18" charset="0"/>
                        <a:ea typeface="Cambria Math" panose="02040503050406030204" pitchFamily="18" charset="0"/>
                      </a:rPr>
                      <m:t> </m:t>
                    </m:r>
                  </m:oMath>
                </a14:m>
                <a:endParaRPr lang="en-US" sz="2800" dirty="0"/>
              </a:p>
              <a:p>
                <a:pPr marL="742950" lvl="1" indent="-285750">
                  <a:buFont typeface="Arial" panose="020B0604020202020204" pitchFamily="34" charset="0"/>
                  <a:buChar char="•"/>
                </a:pPr>
                <a:r>
                  <a:rPr lang="en-US" sz="2800" dirty="0"/>
                  <a:t>Lower </a:t>
                </a:r>
                <a14:m>
                  <m:oMath xmlns:m="http://schemas.openxmlformats.org/officeDocument/2006/math">
                    <m:r>
                      <a:rPr lang="en-US" sz="2800" b="0" i="1" smtClean="0">
                        <a:latin typeface="Cambria Math" panose="02040503050406030204" pitchFamily="18" charset="0"/>
                      </a:rPr>
                      <m:t>𝑘</m:t>
                    </m:r>
                    <m:r>
                      <a:rPr lang="en-US" sz="2800" i="1">
                        <a:latin typeface="Cambria Math" panose="02040503050406030204" pitchFamily="18" charset="0"/>
                        <a:ea typeface="Cambria Math" panose="02040503050406030204" pitchFamily="18" charset="0"/>
                      </a:rPr>
                      <m:t>⟶</m:t>
                    </m:r>
                    <m:r>
                      <a:rPr lang="en-US" sz="2800" i="1">
                        <a:latin typeface="Cambria Math" panose="02040503050406030204" pitchFamily="18" charset="0"/>
                        <a:ea typeface="Cambria Math" panose="02040503050406030204" pitchFamily="18" charset="0"/>
                      </a:rPr>
                      <m:t>𝑙𝑒𝑠𝑠</m:t>
                    </m:r>
                    <m:r>
                      <a:rPr lang="en-US" sz="2800" i="1">
                        <a:latin typeface="Cambria Math" panose="02040503050406030204" pitchFamily="18" charset="0"/>
                        <a:ea typeface="Cambria Math" panose="02040503050406030204" pitchFamily="18" charset="0"/>
                      </a:rPr>
                      <m:t> </m:t>
                    </m:r>
                    <m:r>
                      <a:rPr lang="en-US" sz="2800" i="1">
                        <a:latin typeface="Cambria Math" panose="02040503050406030204" pitchFamily="18" charset="0"/>
                        <a:ea typeface="Cambria Math" panose="02040503050406030204" pitchFamily="18" charset="0"/>
                      </a:rPr>
                      <m:t>𝑚𝑒𝑚𝑜𝑟𝑦</m:t>
                    </m:r>
                    <m:r>
                      <a:rPr lang="en-US" sz="2800" i="1">
                        <a:latin typeface="Cambria Math" panose="02040503050406030204" pitchFamily="18" charset="0"/>
                        <a:ea typeface="Cambria Math" panose="02040503050406030204" pitchFamily="18" charset="0"/>
                      </a:rPr>
                      <m:t> </m:t>
                    </m:r>
                  </m:oMath>
                </a14:m>
                <a:endParaRPr lang="en-US" sz="2800" dirty="0"/>
              </a:p>
              <a:p>
                <a:pPr marL="742950" lvl="1" indent="-285750">
                  <a:buFont typeface="Arial" panose="020B0604020202020204" pitchFamily="34" charset="0"/>
                  <a:buChar char="•"/>
                </a:pPr>
                <a:r>
                  <a:rPr lang="en-US" sz="2800" dirty="0"/>
                  <a:t>Lower </a:t>
                </a:r>
                <a14:m>
                  <m:oMath xmlns:m="http://schemas.openxmlformats.org/officeDocument/2006/math">
                    <m:r>
                      <a:rPr lang="en-US" sz="2800" i="1">
                        <a:latin typeface="Cambria Math" panose="02040503050406030204" pitchFamily="18" charset="0"/>
                      </a:rPr>
                      <m:t>𝑟</m:t>
                    </m:r>
                    <m:r>
                      <a:rPr lang="en-US" sz="2800" i="1">
                        <a:latin typeface="Cambria Math" panose="02040503050406030204" pitchFamily="18" charset="0"/>
                        <a:ea typeface="Cambria Math" panose="02040503050406030204" pitchFamily="18" charset="0"/>
                      </a:rPr>
                      <m:t>⟶</m:t>
                    </m:r>
                    <m:r>
                      <a:rPr lang="en-US" sz="2800" i="1">
                        <a:latin typeface="Cambria Math" panose="02040503050406030204" pitchFamily="18" charset="0"/>
                        <a:ea typeface="Cambria Math" panose="02040503050406030204" pitchFamily="18" charset="0"/>
                      </a:rPr>
                      <m:t>𝑚𝑜𝑟𝑒</m:t>
                    </m:r>
                    <m:r>
                      <a:rPr lang="en-US" sz="2800" i="1">
                        <a:latin typeface="Cambria Math" panose="02040503050406030204" pitchFamily="18" charset="0"/>
                        <a:ea typeface="Cambria Math" panose="02040503050406030204" pitchFamily="18" charset="0"/>
                      </a:rPr>
                      <m:t> </m:t>
                    </m:r>
                    <m:r>
                      <a:rPr lang="en-US" sz="2800" i="1">
                        <a:latin typeface="Cambria Math" panose="02040503050406030204" pitchFamily="18" charset="0"/>
                        <a:ea typeface="Cambria Math" panose="02040503050406030204" pitchFamily="18" charset="0"/>
                      </a:rPr>
                      <m:t>𝑎𝑝𝑝𝑟𝑜𝑥𝑖𝑚𝑎𝑡𝑒</m:t>
                    </m:r>
                  </m:oMath>
                </a14:m>
                <a:endParaRPr lang="en-US" sz="2800" dirty="0"/>
              </a:p>
              <a:p>
                <a:pPr marL="742950" lvl="1" indent="-285750">
                  <a:buFont typeface="Arial" panose="020B0604020202020204" pitchFamily="34" charset="0"/>
                  <a:buChar char="•"/>
                </a:pPr>
                <a:r>
                  <a:rPr lang="en-US" sz="2800" dirty="0"/>
                  <a:t>Lower </a:t>
                </a:r>
                <a14:m>
                  <m:oMath xmlns:m="http://schemas.openxmlformats.org/officeDocument/2006/math">
                    <m:r>
                      <a:rPr lang="en-US" sz="2800" i="1">
                        <a:latin typeface="Cambria Math" panose="02040503050406030204" pitchFamily="18" charset="0"/>
                      </a:rPr>
                      <m:t>𝑘</m:t>
                    </m:r>
                    <m:r>
                      <a:rPr lang="en-US" sz="2800" i="1">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𝑑𝑖𝑠𝑐𝑜𝑛𝑛𝑒𝑐𝑡𝑠</m:t>
                    </m:r>
                    <m:r>
                      <a:rPr lang="en-US" sz="2800" b="0" i="1" smtClean="0">
                        <a:latin typeface="Cambria Math" panose="02040503050406030204" pitchFamily="18" charset="0"/>
                        <a:ea typeface="Cambria Math" panose="02040503050406030204" pitchFamily="18" charset="0"/>
                      </a:rPr>
                      <m:t> </m:t>
                    </m:r>
                    <m:r>
                      <a:rPr lang="en-US" sz="2800" b="0" i="1" smtClean="0">
                        <a:latin typeface="Cambria Math" panose="02040503050406030204" pitchFamily="18" charset="0"/>
                        <a:ea typeface="Cambria Math" panose="02040503050406030204" pitchFamily="18" charset="0"/>
                      </a:rPr>
                      <m:t>𝑔𝑟𝑎𝑝h</m:t>
                    </m:r>
                  </m:oMath>
                </a14:m>
                <a:endParaRPr lang="en-US" sz="2800" dirty="0"/>
              </a:p>
            </p:txBody>
          </p:sp>
        </mc:Choice>
        <mc:Fallback xmlns="">
          <p:sp>
            <p:nvSpPr>
              <p:cNvPr id="6" name="TextBox 5">
                <a:extLst>
                  <a:ext uri="{FF2B5EF4-FFF2-40B4-BE49-F238E27FC236}">
                    <a16:creationId xmlns:a16="http://schemas.microsoft.com/office/drawing/2014/main" id="{82F104C8-939D-17AC-9595-D23F88C334CA}"/>
                  </a:ext>
                </a:extLst>
              </p:cNvPr>
              <p:cNvSpPr txBox="1">
                <a:spLocks noRot="1" noChangeAspect="1" noMove="1" noResize="1" noEditPoints="1" noAdjustHandles="1" noChangeArrowheads="1" noChangeShapeType="1" noTextEdit="1"/>
              </p:cNvSpPr>
              <p:nvPr/>
            </p:nvSpPr>
            <p:spPr>
              <a:xfrm>
                <a:off x="396498" y="1709893"/>
                <a:ext cx="5851902" cy="3970318"/>
              </a:xfrm>
              <a:prstGeom prst="rect">
                <a:avLst/>
              </a:prstGeom>
              <a:blipFill>
                <a:blip r:embed="rId3"/>
                <a:stretch>
                  <a:fillRect l="-1875" t="-1380" b="-3374"/>
                </a:stretch>
              </a:blipFill>
            </p:spPr>
            <p:txBody>
              <a:bodyPr/>
              <a:lstStyle/>
              <a:p>
                <a:r>
                  <a:rPr lang="en-US">
                    <a:noFill/>
                  </a:rPr>
                  <a:t> </a:t>
                </a:r>
              </a:p>
            </p:txBody>
          </p:sp>
        </mc:Fallback>
      </mc:AlternateContent>
      <p:pic>
        <p:nvPicPr>
          <p:cNvPr id="7" name="Picture 6">
            <a:extLst>
              <a:ext uri="{FF2B5EF4-FFF2-40B4-BE49-F238E27FC236}">
                <a16:creationId xmlns:a16="http://schemas.microsoft.com/office/drawing/2014/main" id="{297319D1-4DCF-AFF0-425A-78BBDE86D563}"/>
              </a:ext>
            </a:extLst>
          </p:cNvPr>
          <p:cNvPicPr>
            <a:picLocks noChangeAspect="1"/>
          </p:cNvPicPr>
          <p:nvPr/>
        </p:nvPicPr>
        <p:blipFill>
          <a:blip r:embed="rId4"/>
          <a:stretch>
            <a:fillRect/>
          </a:stretch>
        </p:blipFill>
        <p:spPr>
          <a:xfrm>
            <a:off x="6405349" y="1319284"/>
            <a:ext cx="5225962" cy="5477301"/>
          </a:xfrm>
          <a:prstGeom prst="rect">
            <a:avLst/>
          </a:prstGeom>
        </p:spPr>
      </p:pic>
    </p:spTree>
    <p:extLst>
      <p:ext uri="{BB962C8B-B14F-4D97-AF65-F5344CB8AC3E}">
        <p14:creationId xmlns:p14="http://schemas.microsoft.com/office/powerpoint/2010/main" val="3992599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E1C15D-FF73-4393-A9E9-9025B85C8F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2FCEA4-DC27-7894-D38A-1403A36F4BEA}"/>
              </a:ext>
            </a:extLst>
          </p:cNvPr>
          <p:cNvSpPr>
            <a:spLocks noGrp="1"/>
          </p:cNvSpPr>
          <p:nvPr>
            <p:ph type="title"/>
          </p:nvPr>
        </p:nvSpPr>
        <p:spPr>
          <a:xfrm>
            <a:off x="831850" y="1709738"/>
            <a:ext cx="10515600" cy="2104337"/>
          </a:xfrm>
        </p:spPr>
        <p:txBody>
          <a:bodyPr/>
          <a:lstStyle/>
          <a:p>
            <a:pPr algn="ctr"/>
            <a:r>
              <a:rPr lang="en-US" b="1" dirty="0"/>
              <a:t>Summary</a:t>
            </a:r>
          </a:p>
        </p:txBody>
      </p:sp>
    </p:spTree>
    <p:extLst>
      <p:ext uri="{BB962C8B-B14F-4D97-AF65-F5344CB8AC3E}">
        <p14:creationId xmlns:p14="http://schemas.microsoft.com/office/powerpoint/2010/main" val="69278480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4200" y="221992"/>
            <a:ext cx="10515600" cy="530954"/>
          </a:xfrm>
        </p:spPr>
        <p:txBody>
          <a:bodyPr>
            <a:normAutofit fontScale="90000"/>
          </a:bodyPr>
          <a:lstStyle/>
          <a:p>
            <a:r>
              <a:rPr lang="en-US" dirty="0"/>
              <a:t>Summary</a:t>
            </a:r>
          </a:p>
        </p:txBody>
      </p:sp>
      <p:sp>
        <p:nvSpPr>
          <p:cNvPr id="3" name="Content Placeholder 2"/>
          <p:cNvSpPr>
            <a:spLocks noGrp="1"/>
          </p:cNvSpPr>
          <p:nvPr>
            <p:ph sz="quarter" idx="10"/>
          </p:nvPr>
        </p:nvSpPr>
        <p:spPr>
          <a:xfrm>
            <a:off x="333375" y="896079"/>
            <a:ext cx="11525250" cy="5290388"/>
          </a:xfrm>
        </p:spPr>
        <p:txBody>
          <a:bodyPr>
            <a:normAutofit/>
          </a:bodyPr>
          <a:lstStyle/>
          <a:p>
            <a:pPr marL="0" indent="0">
              <a:buNone/>
            </a:pPr>
            <a:r>
              <a:rPr lang="en-US" dirty="0">
                <a:latin typeface="+mn-lt"/>
              </a:rPr>
              <a:t>Key points for this lesson</a:t>
            </a:r>
          </a:p>
          <a:p>
            <a:r>
              <a:rPr lang="en-US" b="1" dirty="0">
                <a:latin typeface="+mn-lt"/>
              </a:rPr>
              <a:t>Distance metrics </a:t>
            </a:r>
            <a:r>
              <a:rPr lang="en-US" dirty="0">
                <a:latin typeface="+mn-lt"/>
              </a:rPr>
              <a:t>and </a:t>
            </a:r>
            <a:r>
              <a:rPr lang="en-US" b="1" dirty="0">
                <a:latin typeface="+mn-lt"/>
              </a:rPr>
              <a:t>similarity metrics</a:t>
            </a:r>
            <a:r>
              <a:rPr lang="en-US" dirty="0">
                <a:latin typeface="+mn-lt"/>
              </a:rPr>
              <a:t> are foundational for unsupervised learning</a:t>
            </a:r>
          </a:p>
          <a:p>
            <a:r>
              <a:rPr lang="en-US" dirty="0">
                <a:latin typeface="+mn-lt"/>
              </a:rPr>
              <a:t>Distance and similarity metrics map 2 multivariate (vector) values to a scalar  </a:t>
            </a:r>
          </a:p>
          <a:p>
            <a:r>
              <a:rPr lang="en-US" dirty="0">
                <a:latin typeface="+mn-lt"/>
              </a:rPr>
              <a:t>Distance metric must conform to the </a:t>
            </a:r>
            <a:r>
              <a:rPr lang="en-US" b="1" dirty="0">
                <a:latin typeface="+mn-lt"/>
              </a:rPr>
              <a:t>4 axioms</a:t>
            </a:r>
            <a:r>
              <a:rPr lang="en-US" dirty="0">
                <a:latin typeface="+mn-lt"/>
              </a:rPr>
              <a:t>!  </a:t>
            </a:r>
          </a:p>
          <a:p>
            <a:r>
              <a:rPr lang="en-US" dirty="0">
                <a:latin typeface="+mn-lt"/>
              </a:rPr>
              <a:t>Different distance and similarity metrics find different relationships in data</a:t>
            </a:r>
          </a:p>
          <a:p>
            <a:pPr lvl="1"/>
            <a:r>
              <a:rPr lang="en-US" dirty="0">
                <a:latin typeface="+mn-lt"/>
              </a:rPr>
              <a:t>There is no one best metric!</a:t>
            </a:r>
          </a:p>
          <a:p>
            <a:pPr lvl="1"/>
            <a:r>
              <a:rPr lang="en-US" dirty="0">
                <a:latin typeface="+mn-lt"/>
              </a:rPr>
              <a:t>In practice, try several </a:t>
            </a:r>
          </a:p>
          <a:p>
            <a:r>
              <a:rPr lang="en-US" dirty="0">
                <a:latin typeface="+mn-lt"/>
              </a:rPr>
              <a:t>Can transform from similarity to distance </a:t>
            </a:r>
          </a:p>
          <a:p>
            <a:r>
              <a:rPr lang="en-US" sz="2800" dirty="0">
                <a:latin typeface="+mn-lt"/>
              </a:rPr>
              <a:t>Use </a:t>
            </a:r>
            <a:r>
              <a:rPr lang="en-US" dirty="0">
                <a:latin typeface="+mn-lt"/>
              </a:rPr>
              <a:t>sparse graph representation to massively improve scalability</a:t>
            </a:r>
            <a:endParaRPr lang="en-US" sz="2800" dirty="0">
              <a:latin typeface="+mn-lt"/>
            </a:endParaRPr>
          </a:p>
          <a:p>
            <a:pPr lvl="1"/>
            <a:endParaRPr lang="en-US" dirty="0"/>
          </a:p>
        </p:txBody>
      </p:sp>
    </p:spTree>
    <p:extLst>
      <p:ext uri="{BB962C8B-B14F-4D97-AF65-F5344CB8AC3E}">
        <p14:creationId xmlns:p14="http://schemas.microsoft.com/office/powerpoint/2010/main" val="181425247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12115</TotalTime>
  <Words>3234</Words>
  <Application>Microsoft Office PowerPoint</Application>
  <PresentationFormat>Widescreen</PresentationFormat>
  <Paragraphs>557</Paragraphs>
  <Slides>49</Slides>
  <Notes>41</Notes>
  <HiddenSlides>3</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49</vt:i4>
      </vt:variant>
    </vt:vector>
  </HeadingPairs>
  <TitlesOfParts>
    <vt:vector size="57" baseType="lpstr">
      <vt:lpstr>Arial</vt:lpstr>
      <vt:lpstr>Calibri</vt:lpstr>
      <vt:lpstr>Calibri Light</vt:lpstr>
      <vt:lpstr>Cambria Math</vt:lpstr>
      <vt:lpstr>Segoe UI</vt:lpstr>
      <vt:lpstr>Segoe UI Light</vt:lpstr>
      <vt:lpstr>Symbol</vt:lpstr>
      <vt:lpstr>Office Theme</vt:lpstr>
      <vt:lpstr>CSCI E-96 Data Mining, Discovery and Exploration Distance and Similarity Measures</vt:lpstr>
      <vt:lpstr>Main topics in this course </vt:lpstr>
      <vt:lpstr>Measuring similarity and dissimilarity</vt:lpstr>
      <vt:lpstr>Measuring similarity and dissimilarity</vt:lpstr>
      <vt:lpstr>Measuring similarity and dissimilarity</vt:lpstr>
      <vt:lpstr>Properties of Distance Metrics</vt:lpstr>
      <vt:lpstr>Measuring distance or dissimilarity</vt:lpstr>
      <vt:lpstr>Measuring distance or dissimilarity</vt:lpstr>
      <vt:lpstr>Measuring distance or dissimilarity</vt:lpstr>
      <vt:lpstr>Measuring distance or dissimilarity</vt:lpstr>
      <vt:lpstr>Measuring distance or dissimilarity</vt:lpstr>
      <vt:lpstr>Basic Distance Metrics</vt:lpstr>
      <vt:lpstr>Measuring distance or dissimilarity</vt:lpstr>
      <vt:lpstr>Measuring distance or dissimilarity</vt:lpstr>
      <vt:lpstr>Measuring distance or dissimilarity</vt:lpstr>
      <vt:lpstr>Measuring distance or dissimilarity</vt:lpstr>
      <vt:lpstr>Measuring distance or dissimilarity</vt:lpstr>
      <vt:lpstr>Measuring distance or dissimilarity</vt:lpstr>
      <vt:lpstr>Measuring distance or dissimilarity</vt:lpstr>
      <vt:lpstr>Measuring distance or dissimilarity</vt:lpstr>
      <vt:lpstr>Measuring distance or dissimilarity</vt:lpstr>
      <vt:lpstr>Measuring distance or dissimilarity</vt:lpstr>
      <vt:lpstr>Measuring distance or dissimilarity</vt:lpstr>
      <vt:lpstr>Measuring distance or dissimilarity</vt:lpstr>
      <vt:lpstr>Measuring distance or dissimilarity</vt:lpstr>
      <vt:lpstr>Distance Metrics with Mixed Variable Types</vt:lpstr>
      <vt:lpstr>Measuring distance or dissimilarity</vt:lpstr>
      <vt:lpstr>Measuring distance or dissimilarity</vt:lpstr>
      <vt:lpstr>Measuring distance or dissimilarity</vt:lpstr>
      <vt:lpstr>Measuring distance or dissimilarity</vt:lpstr>
      <vt:lpstr>Measuring distance or dissimilarity</vt:lpstr>
      <vt:lpstr>Measuring distance or dissimilarity</vt:lpstr>
      <vt:lpstr>Similarity Metrics</vt:lpstr>
      <vt:lpstr>Measuring distance and similarity</vt:lpstr>
      <vt:lpstr>Measuring Similarity</vt:lpstr>
      <vt:lpstr>Measuring Similarity</vt:lpstr>
      <vt:lpstr>Measuring Similarity</vt:lpstr>
      <vt:lpstr>Measuring Similarity</vt:lpstr>
      <vt:lpstr>Measuring Similarity</vt:lpstr>
      <vt:lpstr>Relationship Between Similarity and Distance</vt:lpstr>
      <vt:lpstr>Relationship Between Distance and Similarity</vt:lpstr>
      <vt:lpstr>Scaling Distance and Similarity Metrics</vt:lpstr>
      <vt:lpstr>Scaling distance and similarity measures</vt:lpstr>
      <vt:lpstr>Massively scaling distance and similarity measures</vt:lpstr>
      <vt:lpstr>Massively scaling distance and similarity measures</vt:lpstr>
      <vt:lpstr>Scaling distance and similarity measures</vt:lpstr>
      <vt:lpstr>Scaling distance and similarity measures</vt:lpstr>
      <vt:lpstr>Summary</vt:lpstr>
      <vt:lpstr>Summary</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CSCI E-96 Data Mining, Discovery and Exploration Similarity Measres</dc:title>
  <dc:creator>Stephe Elston</dc:creator>
  <cp:lastModifiedBy>Stephen Elston</cp:lastModifiedBy>
  <cp:revision>280</cp:revision>
  <dcterms:created xsi:type="dcterms:W3CDTF">2021-06-01T18:04:30Z</dcterms:created>
  <dcterms:modified xsi:type="dcterms:W3CDTF">2026-06-16T14:45:16Z</dcterms:modified>
</cp:coreProperties>
</file>