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719" r:id="rId2"/>
    <p:sldId id="819" r:id="rId3"/>
    <p:sldId id="604" r:id="rId4"/>
    <p:sldId id="687" r:id="rId5"/>
    <p:sldId id="778" r:id="rId6"/>
    <p:sldId id="686" r:id="rId7"/>
    <p:sldId id="672" r:id="rId8"/>
    <p:sldId id="608" r:id="rId9"/>
    <p:sldId id="612" r:id="rId10"/>
    <p:sldId id="722" r:id="rId11"/>
    <p:sldId id="779" r:id="rId12"/>
    <p:sldId id="607" r:id="rId13"/>
    <p:sldId id="673" r:id="rId14"/>
    <p:sldId id="674" r:id="rId15"/>
    <p:sldId id="783" r:id="rId16"/>
    <p:sldId id="721" r:id="rId17"/>
    <p:sldId id="732" r:id="rId18"/>
    <p:sldId id="734" r:id="rId19"/>
    <p:sldId id="736" r:id="rId20"/>
    <p:sldId id="735" r:id="rId21"/>
    <p:sldId id="680" r:id="rId22"/>
    <p:sldId id="730" r:id="rId23"/>
    <p:sldId id="610" r:id="rId24"/>
    <p:sldId id="611" r:id="rId25"/>
    <p:sldId id="780" r:id="rId26"/>
    <p:sldId id="609" r:id="rId27"/>
    <p:sldId id="613" r:id="rId28"/>
    <p:sldId id="616" r:id="rId29"/>
    <p:sldId id="615" r:id="rId30"/>
    <p:sldId id="617" r:id="rId31"/>
    <p:sldId id="618" r:id="rId32"/>
    <p:sldId id="781" r:id="rId33"/>
    <p:sldId id="641" r:id="rId34"/>
    <p:sldId id="679" r:id="rId35"/>
    <p:sldId id="724" r:id="rId36"/>
    <p:sldId id="723" r:id="rId37"/>
    <p:sldId id="737" r:id="rId38"/>
    <p:sldId id="685" r:id="rId39"/>
    <p:sldId id="682" r:id="rId40"/>
    <p:sldId id="683" r:id="rId41"/>
    <p:sldId id="782" r:id="rId42"/>
    <p:sldId id="725" r:id="rId43"/>
    <p:sldId id="726" r:id="rId44"/>
    <p:sldId id="727" r:id="rId45"/>
    <p:sldId id="728" r:id="rId46"/>
    <p:sldId id="729" r:id="rId47"/>
    <p:sldId id="784" r:id="rId48"/>
    <p:sldId id="72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3" autoAdjust="0"/>
    <p:restoredTop sz="94660"/>
  </p:normalViewPr>
  <p:slideViewPr>
    <p:cSldViewPr snapToGrid="0">
      <p:cViewPr varScale="1">
        <p:scale>
          <a:sx n="77" d="100"/>
          <a:sy n="77" d="100"/>
        </p:scale>
        <p:origin x="247"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D534D1-5B48-49E9-A024-C5EAE54CADD0}"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EEBAC-B083-4D6F-9402-80E985106B02}" type="slidenum">
              <a:rPr lang="en-US" smtClean="0"/>
              <a:t>‹#›</a:t>
            </a:fld>
            <a:endParaRPr lang="en-US"/>
          </a:p>
        </p:txBody>
      </p:sp>
    </p:spTree>
    <p:extLst>
      <p:ext uri="{BB962C8B-B14F-4D97-AF65-F5344CB8AC3E}">
        <p14:creationId xmlns:p14="http://schemas.microsoft.com/office/powerpoint/2010/main" val="287882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a:t>
            </a:fld>
            <a:endParaRPr lang="en-US"/>
          </a:p>
        </p:txBody>
      </p:sp>
    </p:spTree>
    <p:extLst>
      <p:ext uri="{BB962C8B-B14F-4D97-AF65-F5344CB8AC3E}">
        <p14:creationId xmlns:p14="http://schemas.microsoft.com/office/powerpoint/2010/main" val="65526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a:t>
            </a:fld>
            <a:endParaRPr lang="en-US"/>
          </a:p>
        </p:txBody>
      </p:sp>
    </p:spTree>
    <p:extLst>
      <p:ext uri="{BB962C8B-B14F-4D97-AF65-F5344CB8AC3E}">
        <p14:creationId xmlns:p14="http://schemas.microsoft.com/office/powerpoint/2010/main" val="1129928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6</a:t>
            </a:fld>
            <a:endParaRPr lang="en-US"/>
          </a:p>
        </p:txBody>
      </p:sp>
    </p:spTree>
    <p:extLst>
      <p:ext uri="{BB962C8B-B14F-4D97-AF65-F5344CB8AC3E}">
        <p14:creationId xmlns:p14="http://schemas.microsoft.com/office/powerpoint/2010/main" val="1489001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7</a:t>
            </a:fld>
            <a:endParaRPr lang="en-US"/>
          </a:p>
        </p:txBody>
      </p:sp>
    </p:spTree>
    <p:extLst>
      <p:ext uri="{BB962C8B-B14F-4D97-AF65-F5344CB8AC3E}">
        <p14:creationId xmlns:p14="http://schemas.microsoft.com/office/powerpoint/2010/main" val="774251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8</a:t>
            </a:fld>
            <a:endParaRPr lang="en-US"/>
          </a:p>
        </p:txBody>
      </p:sp>
    </p:spTree>
    <p:extLst>
      <p:ext uri="{BB962C8B-B14F-4D97-AF65-F5344CB8AC3E}">
        <p14:creationId xmlns:p14="http://schemas.microsoft.com/office/powerpoint/2010/main" val="1829577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9</a:t>
            </a:fld>
            <a:endParaRPr lang="en-US"/>
          </a:p>
        </p:txBody>
      </p:sp>
    </p:spTree>
    <p:extLst>
      <p:ext uri="{BB962C8B-B14F-4D97-AF65-F5344CB8AC3E}">
        <p14:creationId xmlns:p14="http://schemas.microsoft.com/office/powerpoint/2010/main" val="275023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10</a:t>
            </a:fld>
            <a:endParaRPr lang="en-US"/>
          </a:p>
        </p:txBody>
      </p:sp>
    </p:spTree>
    <p:extLst>
      <p:ext uri="{BB962C8B-B14F-4D97-AF65-F5344CB8AC3E}">
        <p14:creationId xmlns:p14="http://schemas.microsoft.com/office/powerpoint/2010/main" val="2651730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12</a:t>
            </a:fld>
            <a:endParaRPr lang="en-US"/>
          </a:p>
        </p:txBody>
      </p:sp>
    </p:spTree>
    <p:extLst>
      <p:ext uri="{BB962C8B-B14F-4D97-AF65-F5344CB8AC3E}">
        <p14:creationId xmlns:p14="http://schemas.microsoft.com/office/powerpoint/2010/main" val="3519607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13</a:t>
            </a:fld>
            <a:endParaRPr lang="en-US"/>
          </a:p>
        </p:txBody>
      </p:sp>
    </p:spTree>
    <p:extLst>
      <p:ext uri="{BB962C8B-B14F-4D97-AF65-F5344CB8AC3E}">
        <p14:creationId xmlns:p14="http://schemas.microsoft.com/office/powerpoint/2010/main" val="3206964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14</a:t>
            </a:fld>
            <a:endParaRPr lang="en-US"/>
          </a:p>
        </p:txBody>
      </p:sp>
    </p:spTree>
    <p:extLst>
      <p:ext uri="{BB962C8B-B14F-4D97-AF65-F5344CB8AC3E}">
        <p14:creationId xmlns:p14="http://schemas.microsoft.com/office/powerpoint/2010/main" val="1942439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89892-C190-7F80-E633-2F0B93F3C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DC9374-452A-2F26-4391-D7ECF17EF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64D72-7AD7-307A-D8AC-AA5460C2A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824AC6-4BE7-1798-4C03-A5E1D907E8AD}"/>
              </a:ext>
            </a:extLst>
          </p:cNvPr>
          <p:cNvSpPr>
            <a:spLocks noGrp="1"/>
          </p:cNvSpPr>
          <p:nvPr>
            <p:ph type="sldNum" sz="quarter" idx="10"/>
          </p:nvPr>
        </p:nvSpPr>
        <p:spPr/>
        <p:txBody>
          <a:bodyPr/>
          <a:lstStyle/>
          <a:p>
            <a:fld id="{4CFD207A-07DF-40AD-A916-9872E089CE7A}" type="slidenum">
              <a:rPr lang="en-US" smtClean="0"/>
              <a:pPr/>
              <a:t>15</a:t>
            </a:fld>
            <a:endParaRPr lang="en-US"/>
          </a:p>
        </p:txBody>
      </p:sp>
    </p:spTree>
    <p:extLst>
      <p:ext uri="{BB962C8B-B14F-4D97-AF65-F5344CB8AC3E}">
        <p14:creationId xmlns:p14="http://schemas.microsoft.com/office/powerpoint/2010/main" val="1121013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16</a:t>
            </a:fld>
            <a:endParaRPr lang="en-US"/>
          </a:p>
        </p:txBody>
      </p:sp>
    </p:spTree>
    <p:extLst>
      <p:ext uri="{BB962C8B-B14F-4D97-AF65-F5344CB8AC3E}">
        <p14:creationId xmlns:p14="http://schemas.microsoft.com/office/powerpoint/2010/main" val="3875999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17</a:t>
            </a:fld>
            <a:endParaRPr lang="en-US"/>
          </a:p>
        </p:txBody>
      </p:sp>
    </p:spTree>
    <p:extLst>
      <p:ext uri="{BB962C8B-B14F-4D97-AF65-F5344CB8AC3E}">
        <p14:creationId xmlns:p14="http://schemas.microsoft.com/office/powerpoint/2010/main" val="810175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18</a:t>
            </a:fld>
            <a:endParaRPr lang="en-US"/>
          </a:p>
        </p:txBody>
      </p:sp>
    </p:spTree>
    <p:extLst>
      <p:ext uri="{BB962C8B-B14F-4D97-AF65-F5344CB8AC3E}">
        <p14:creationId xmlns:p14="http://schemas.microsoft.com/office/powerpoint/2010/main" val="20583457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19</a:t>
            </a:fld>
            <a:endParaRPr lang="en-US"/>
          </a:p>
        </p:txBody>
      </p:sp>
    </p:spTree>
    <p:extLst>
      <p:ext uri="{BB962C8B-B14F-4D97-AF65-F5344CB8AC3E}">
        <p14:creationId xmlns:p14="http://schemas.microsoft.com/office/powerpoint/2010/main" val="4008882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20</a:t>
            </a:fld>
            <a:endParaRPr lang="en-US"/>
          </a:p>
        </p:txBody>
      </p:sp>
    </p:spTree>
    <p:extLst>
      <p:ext uri="{BB962C8B-B14F-4D97-AF65-F5344CB8AC3E}">
        <p14:creationId xmlns:p14="http://schemas.microsoft.com/office/powerpoint/2010/main" val="1958100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21</a:t>
            </a:fld>
            <a:endParaRPr lang="en-US"/>
          </a:p>
        </p:txBody>
      </p:sp>
    </p:spTree>
    <p:extLst>
      <p:ext uri="{BB962C8B-B14F-4D97-AF65-F5344CB8AC3E}">
        <p14:creationId xmlns:p14="http://schemas.microsoft.com/office/powerpoint/2010/main" val="269515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D6AC-BBD5-0301-5EC0-682DF15FF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36AFC-AEBA-94F9-213E-59AA2F4FC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174B8-2DA8-0FF6-67B4-878A73B0E1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7531D-0D14-78C7-3AD8-1F582CCA33BF}"/>
              </a:ext>
            </a:extLst>
          </p:cNvPr>
          <p:cNvSpPr>
            <a:spLocks noGrp="1"/>
          </p:cNvSpPr>
          <p:nvPr>
            <p:ph type="sldNum" sz="quarter" idx="10"/>
          </p:nvPr>
        </p:nvSpPr>
        <p:spPr/>
        <p:txBody>
          <a:bodyPr/>
          <a:lstStyle/>
          <a:p>
            <a:fld id="{4CFD207A-07DF-40AD-A916-9872E089CE7A}" type="slidenum">
              <a:rPr lang="en-US" smtClean="0"/>
              <a:pPr/>
              <a:t>22</a:t>
            </a:fld>
            <a:endParaRPr lang="en-US"/>
          </a:p>
        </p:txBody>
      </p:sp>
    </p:spTree>
    <p:extLst>
      <p:ext uri="{BB962C8B-B14F-4D97-AF65-F5344CB8AC3E}">
        <p14:creationId xmlns:p14="http://schemas.microsoft.com/office/powerpoint/2010/main" val="41344446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23</a:t>
            </a:fld>
            <a:endParaRPr lang="en-US"/>
          </a:p>
        </p:txBody>
      </p:sp>
    </p:spTree>
    <p:extLst>
      <p:ext uri="{BB962C8B-B14F-4D97-AF65-F5344CB8AC3E}">
        <p14:creationId xmlns:p14="http://schemas.microsoft.com/office/powerpoint/2010/main" val="489536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24</a:t>
            </a:fld>
            <a:endParaRPr lang="en-US"/>
          </a:p>
        </p:txBody>
      </p:sp>
    </p:spTree>
    <p:extLst>
      <p:ext uri="{BB962C8B-B14F-4D97-AF65-F5344CB8AC3E}">
        <p14:creationId xmlns:p14="http://schemas.microsoft.com/office/powerpoint/2010/main" val="243420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26</a:t>
            </a:fld>
            <a:endParaRPr lang="en-US"/>
          </a:p>
        </p:txBody>
      </p:sp>
    </p:spTree>
    <p:extLst>
      <p:ext uri="{BB962C8B-B14F-4D97-AF65-F5344CB8AC3E}">
        <p14:creationId xmlns:p14="http://schemas.microsoft.com/office/powerpoint/2010/main" val="3682425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27</a:t>
            </a:fld>
            <a:endParaRPr lang="en-US"/>
          </a:p>
        </p:txBody>
      </p:sp>
    </p:spTree>
    <p:extLst>
      <p:ext uri="{BB962C8B-B14F-4D97-AF65-F5344CB8AC3E}">
        <p14:creationId xmlns:p14="http://schemas.microsoft.com/office/powerpoint/2010/main" val="1090722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28</a:t>
            </a:fld>
            <a:endParaRPr lang="en-US"/>
          </a:p>
        </p:txBody>
      </p:sp>
    </p:spTree>
    <p:extLst>
      <p:ext uri="{BB962C8B-B14F-4D97-AF65-F5344CB8AC3E}">
        <p14:creationId xmlns:p14="http://schemas.microsoft.com/office/powerpoint/2010/main" val="28755157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29</a:t>
            </a:fld>
            <a:endParaRPr lang="en-US"/>
          </a:p>
        </p:txBody>
      </p:sp>
    </p:spTree>
    <p:extLst>
      <p:ext uri="{BB962C8B-B14F-4D97-AF65-F5344CB8AC3E}">
        <p14:creationId xmlns:p14="http://schemas.microsoft.com/office/powerpoint/2010/main" val="4065866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30</a:t>
            </a:fld>
            <a:endParaRPr lang="en-US"/>
          </a:p>
        </p:txBody>
      </p:sp>
    </p:spTree>
    <p:extLst>
      <p:ext uri="{BB962C8B-B14F-4D97-AF65-F5344CB8AC3E}">
        <p14:creationId xmlns:p14="http://schemas.microsoft.com/office/powerpoint/2010/main" val="35750190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31</a:t>
            </a:fld>
            <a:endParaRPr lang="en-US"/>
          </a:p>
        </p:txBody>
      </p:sp>
    </p:spTree>
    <p:extLst>
      <p:ext uri="{BB962C8B-B14F-4D97-AF65-F5344CB8AC3E}">
        <p14:creationId xmlns:p14="http://schemas.microsoft.com/office/powerpoint/2010/main" val="2305027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33</a:t>
            </a:fld>
            <a:endParaRPr lang="en-US"/>
          </a:p>
        </p:txBody>
      </p:sp>
    </p:spTree>
    <p:extLst>
      <p:ext uri="{BB962C8B-B14F-4D97-AF65-F5344CB8AC3E}">
        <p14:creationId xmlns:p14="http://schemas.microsoft.com/office/powerpoint/2010/main" val="29950256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34</a:t>
            </a:fld>
            <a:endParaRPr lang="en-US"/>
          </a:p>
        </p:txBody>
      </p:sp>
    </p:spTree>
    <p:extLst>
      <p:ext uri="{BB962C8B-B14F-4D97-AF65-F5344CB8AC3E}">
        <p14:creationId xmlns:p14="http://schemas.microsoft.com/office/powerpoint/2010/main" val="24009992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35</a:t>
            </a:fld>
            <a:endParaRPr lang="en-US"/>
          </a:p>
        </p:txBody>
      </p:sp>
    </p:spTree>
    <p:extLst>
      <p:ext uri="{BB962C8B-B14F-4D97-AF65-F5344CB8AC3E}">
        <p14:creationId xmlns:p14="http://schemas.microsoft.com/office/powerpoint/2010/main" val="2560398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36</a:t>
            </a:fld>
            <a:endParaRPr lang="en-US"/>
          </a:p>
        </p:txBody>
      </p:sp>
    </p:spTree>
    <p:extLst>
      <p:ext uri="{BB962C8B-B14F-4D97-AF65-F5344CB8AC3E}">
        <p14:creationId xmlns:p14="http://schemas.microsoft.com/office/powerpoint/2010/main" val="5557639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35AC6-D7C3-4A45-12C9-4F3BDB675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8A115-FD26-C36C-22EC-2D0DF1CE0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6CD3D-1DCD-A893-77AC-09CAEB36AF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E8AFF8-7FDB-815E-4024-E6FAB2B541FA}"/>
              </a:ext>
            </a:extLst>
          </p:cNvPr>
          <p:cNvSpPr>
            <a:spLocks noGrp="1"/>
          </p:cNvSpPr>
          <p:nvPr>
            <p:ph type="sldNum" sz="quarter" idx="10"/>
          </p:nvPr>
        </p:nvSpPr>
        <p:spPr/>
        <p:txBody>
          <a:bodyPr/>
          <a:lstStyle/>
          <a:p>
            <a:fld id="{4CFD207A-07DF-40AD-A916-9872E089CE7A}" type="slidenum">
              <a:rPr lang="en-US" smtClean="0"/>
              <a:pPr/>
              <a:t>37</a:t>
            </a:fld>
            <a:endParaRPr lang="en-US"/>
          </a:p>
        </p:txBody>
      </p:sp>
    </p:spTree>
    <p:extLst>
      <p:ext uri="{BB962C8B-B14F-4D97-AF65-F5344CB8AC3E}">
        <p14:creationId xmlns:p14="http://schemas.microsoft.com/office/powerpoint/2010/main" val="46564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38</a:t>
            </a:fld>
            <a:endParaRPr lang="en-US"/>
          </a:p>
        </p:txBody>
      </p:sp>
    </p:spTree>
    <p:extLst>
      <p:ext uri="{BB962C8B-B14F-4D97-AF65-F5344CB8AC3E}">
        <p14:creationId xmlns:p14="http://schemas.microsoft.com/office/powerpoint/2010/main" val="7448659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39</a:t>
            </a:fld>
            <a:endParaRPr lang="en-US"/>
          </a:p>
        </p:txBody>
      </p:sp>
    </p:spTree>
    <p:extLst>
      <p:ext uri="{BB962C8B-B14F-4D97-AF65-F5344CB8AC3E}">
        <p14:creationId xmlns:p14="http://schemas.microsoft.com/office/powerpoint/2010/main" val="193740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40</a:t>
            </a:fld>
            <a:endParaRPr lang="en-US"/>
          </a:p>
        </p:txBody>
      </p:sp>
    </p:spTree>
    <p:extLst>
      <p:ext uri="{BB962C8B-B14F-4D97-AF65-F5344CB8AC3E}">
        <p14:creationId xmlns:p14="http://schemas.microsoft.com/office/powerpoint/2010/main" val="1817750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42</a:t>
            </a:fld>
            <a:endParaRPr lang="en-US"/>
          </a:p>
        </p:txBody>
      </p:sp>
    </p:spTree>
    <p:extLst>
      <p:ext uri="{BB962C8B-B14F-4D97-AF65-F5344CB8AC3E}">
        <p14:creationId xmlns:p14="http://schemas.microsoft.com/office/powerpoint/2010/main" val="40191565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43</a:t>
            </a:fld>
            <a:endParaRPr lang="en-US"/>
          </a:p>
        </p:txBody>
      </p:sp>
    </p:spTree>
    <p:extLst>
      <p:ext uri="{BB962C8B-B14F-4D97-AF65-F5344CB8AC3E}">
        <p14:creationId xmlns:p14="http://schemas.microsoft.com/office/powerpoint/2010/main" val="37317180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44</a:t>
            </a:fld>
            <a:endParaRPr lang="en-US"/>
          </a:p>
        </p:txBody>
      </p:sp>
    </p:spTree>
    <p:extLst>
      <p:ext uri="{BB962C8B-B14F-4D97-AF65-F5344CB8AC3E}">
        <p14:creationId xmlns:p14="http://schemas.microsoft.com/office/powerpoint/2010/main" val="17818837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45</a:t>
            </a:fld>
            <a:endParaRPr lang="en-US"/>
          </a:p>
        </p:txBody>
      </p:sp>
    </p:spTree>
    <p:extLst>
      <p:ext uri="{BB962C8B-B14F-4D97-AF65-F5344CB8AC3E}">
        <p14:creationId xmlns:p14="http://schemas.microsoft.com/office/powerpoint/2010/main" val="36311505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46</a:t>
            </a:fld>
            <a:endParaRPr lang="en-US"/>
          </a:p>
        </p:txBody>
      </p:sp>
    </p:spTree>
    <p:extLst>
      <p:ext uri="{BB962C8B-B14F-4D97-AF65-F5344CB8AC3E}">
        <p14:creationId xmlns:p14="http://schemas.microsoft.com/office/powerpoint/2010/main" val="1395235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D207A-07DF-40AD-A916-9872E089CE7A}" type="slidenum">
              <a:rPr lang="en-US" smtClean="0"/>
              <a:pPr/>
              <a:t>48</a:t>
            </a:fld>
            <a:endParaRPr lang="en-US"/>
          </a:p>
        </p:txBody>
      </p:sp>
    </p:spTree>
    <p:extLst>
      <p:ext uri="{BB962C8B-B14F-4D97-AF65-F5344CB8AC3E}">
        <p14:creationId xmlns:p14="http://schemas.microsoft.com/office/powerpoint/2010/main" val="1415537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BF2D-41FA-4DC4-ACC3-8DBE09B5CD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13E280-A648-496F-85AA-9A66AAFBBE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BCF1F5B-8D44-4C83-9847-9551BDB9F97E}"/>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331C3EC5-9432-4A66-9E64-E003554DE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4260A7-E873-4AE3-A514-E4BB65FC705B}"/>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3739388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7F54C-82AC-4275-8221-D46FC26677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BB4F01-9014-47D8-8412-C244B62E11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5CB737-AC34-448C-98C8-898605FAE4DA}"/>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DA7AE056-A155-42C1-99FF-436668779E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504B6-2335-4095-8B32-5F546DC69426}"/>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4280123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E2810-4E61-4DB3-B18D-C9651617E1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A02EFD-6306-4EE5-A93E-C3B3D39772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F6911E-21ED-48DB-87D1-BAEBD3DE5EAC}"/>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4FF8AC4B-FA15-4C3B-8886-15F84DD59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126E0-E09D-46FC-99D1-733DF58D67F8}"/>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3626427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5468-6E3C-464D-A6F9-9A5E61BD9E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FE0FFA-BA3D-4026-B5EE-95A00E43F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C18753-9280-4B68-B1BA-6C5B41A53A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FAF946-8BD2-4E05-B886-1FBA90C04FE2}"/>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6" name="Footer Placeholder 5">
            <a:extLst>
              <a:ext uri="{FF2B5EF4-FFF2-40B4-BE49-F238E27FC236}">
                <a16:creationId xmlns:a16="http://schemas.microsoft.com/office/drawing/2014/main" id="{C68ECCFF-AF08-450A-8E24-1D39015489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357094-F2F0-4A8D-A5C3-D80BC46D67AC}"/>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000685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D42C-20FB-433D-B2FA-15722CF5DC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D6BDB4-437B-4186-8704-EDB6B55F03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AE20E-37E7-4857-AB8D-67948CF372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763DCC-87D5-46CD-B027-BA49CC6B1B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433A01-0D20-4787-9FA8-283275AB48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A574D2-843D-4F2D-AF16-E7E1F35B2558}"/>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8" name="Footer Placeholder 7">
            <a:extLst>
              <a:ext uri="{FF2B5EF4-FFF2-40B4-BE49-F238E27FC236}">
                <a16:creationId xmlns:a16="http://schemas.microsoft.com/office/drawing/2014/main" id="{E0E64638-A973-4BE2-AA0D-66B04C9B3F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06A5EE-6F5E-4133-B608-A36D2C049298}"/>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15702419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A0394-55C9-4C4A-93DB-AAA9493A59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02A156-2986-4ABD-88EB-80463BB880BD}"/>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4" name="Footer Placeholder 3">
            <a:extLst>
              <a:ext uri="{FF2B5EF4-FFF2-40B4-BE49-F238E27FC236}">
                <a16:creationId xmlns:a16="http://schemas.microsoft.com/office/drawing/2014/main" id="{49E26ACC-44A1-415B-AB92-2445AC79E1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A5FF18-7690-4BEF-A85B-1A8FDA4300D1}"/>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445700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F4E047-CF1F-417C-929D-18F84456776C}"/>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3" name="Footer Placeholder 2">
            <a:extLst>
              <a:ext uri="{FF2B5EF4-FFF2-40B4-BE49-F238E27FC236}">
                <a16:creationId xmlns:a16="http://schemas.microsoft.com/office/drawing/2014/main" id="{AAAA4F07-AD23-4E5E-9D5E-A87F2D58CE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353E95-DB56-411B-BBAF-EB0EAFEE3F3A}"/>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708769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955A-B592-4DB6-A7B5-B68170C51B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851CCC-97B2-4BF2-8369-40860ECB31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1F55B1-BF41-4C84-B04F-06D900AC3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BFF8CC-17EE-455F-8D16-116AB1736CE6}"/>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6" name="Footer Placeholder 5">
            <a:extLst>
              <a:ext uri="{FF2B5EF4-FFF2-40B4-BE49-F238E27FC236}">
                <a16:creationId xmlns:a16="http://schemas.microsoft.com/office/drawing/2014/main" id="{23DBF062-FCFC-4AB6-9E1B-1BFB8D9BF4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17FCE-EFD7-4175-A763-32BF3DBC6F0D}"/>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4915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9326B-82FA-4368-92A0-C51E5CC7E2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304CE4-5C9C-4E2A-9970-F159A60B7E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C66A65-F884-4AEB-B19D-2497ADCFC0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7EAC10-F420-471E-84BC-C7B24E229345}"/>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6" name="Footer Placeholder 5">
            <a:extLst>
              <a:ext uri="{FF2B5EF4-FFF2-40B4-BE49-F238E27FC236}">
                <a16:creationId xmlns:a16="http://schemas.microsoft.com/office/drawing/2014/main" id="{2517FE1D-5DF8-4727-A7F1-8BCA4EDE0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22EEE-ACB0-49BB-9812-5ADB795B7FC5}"/>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56966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79D8-3828-4F5E-A0BB-AE8F18A2DC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B49175-8BA9-4D53-9A50-7147572795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669A9-F519-4FA9-87F2-1A347FB6E161}"/>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6B68528B-FA2D-4D43-8A7A-88991C0E1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2180F-7D0D-482B-8460-366B45705009}"/>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47856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92452-B6BA-4A34-9679-D34A2491E7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89B900-A9C9-4E80-B0A6-A832725EC2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58F2A1-3E26-417B-A42B-3427FF814199}"/>
              </a:ext>
            </a:extLst>
          </p:cNvPr>
          <p:cNvSpPr>
            <a:spLocks noGrp="1"/>
          </p:cNvSpPr>
          <p:nvPr>
            <p:ph type="dt" sz="half" idx="10"/>
          </p:nvPr>
        </p:nvSpPr>
        <p:spPr/>
        <p:txBody>
          <a:body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BCB67A0C-4E40-41D0-87DD-C9D859600A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10001-2CEE-4F16-93B6-4F0DBBE73594}"/>
              </a:ext>
            </a:extLst>
          </p:cNvPr>
          <p:cNvSpPr>
            <a:spLocks noGrp="1"/>
          </p:cNvSpPr>
          <p:nvPr>
            <p:ph type="sldNum" sz="quarter" idx="12"/>
          </p:nvPr>
        </p:nvSpPr>
        <p:spPr/>
        <p:txBody>
          <a:bodyPr/>
          <a:lstStyle/>
          <a:p>
            <a:fld id="{CAA66CA4-86AD-483A-BC4E-558825227675}" type="slidenum">
              <a:rPr lang="en-US" smtClean="0"/>
              <a:t>‹#›</a:t>
            </a:fld>
            <a:endParaRPr lang="en-US"/>
          </a:p>
        </p:txBody>
      </p:sp>
    </p:spTree>
    <p:extLst>
      <p:ext uri="{BB962C8B-B14F-4D97-AF65-F5344CB8AC3E}">
        <p14:creationId xmlns:p14="http://schemas.microsoft.com/office/powerpoint/2010/main" val="2936563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latin typeface="Segoe UI" panose="020B0502040204020203" pitchFamily="34" charset="0"/>
                <a:cs typeface="Segoe UI" panose="020B0502040204020203" pitchFamily="34" charset="0"/>
              </a:defRPr>
            </a:lvl1pPr>
          </a:lstStyle>
          <a:p>
            <a:r>
              <a:rPr lang="en-US" dirty="0"/>
              <a:t>Click to edit Master title style</a:t>
            </a:r>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a:defRPr>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9854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FB1D0-F1BF-42CA-83CA-B3568E5EFC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813485-E4D3-4F57-A46D-C56DED0FC0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6A6D78-2DED-4113-B1CF-35F3181329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183D5-83EE-4A48-BB2E-1FC30CD8E44A}" type="datetimeFigureOut">
              <a:rPr lang="en-US" smtClean="0"/>
              <a:t>6/21/2026</a:t>
            </a:fld>
            <a:endParaRPr lang="en-US"/>
          </a:p>
        </p:txBody>
      </p:sp>
      <p:sp>
        <p:nvSpPr>
          <p:cNvPr id="5" name="Footer Placeholder 4">
            <a:extLst>
              <a:ext uri="{FF2B5EF4-FFF2-40B4-BE49-F238E27FC236}">
                <a16:creationId xmlns:a16="http://schemas.microsoft.com/office/drawing/2014/main" id="{4EA7174D-3533-4CD4-AD63-7B08E04028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60482C-E75C-4391-BC8F-CC4721087A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A66CA4-86AD-483A-BC4E-558825227675}" type="slidenum">
              <a:rPr lang="en-US" smtClean="0"/>
              <a:t>‹#›</a:t>
            </a:fld>
            <a:endParaRPr lang="en-US"/>
          </a:p>
        </p:txBody>
      </p:sp>
    </p:spTree>
    <p:extLst>
      <p:ext uri="{BB962C8B-B14F-4D97-AF65-F5344CB8AC3E}">
        <p14:creationId xmlns:p14="http://schemas.microsoft.com/office/powerpoint/2010/main" val="3954621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Mahalanobis_distance"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71.png"/><Relationship Id="rId4" Type="http://schemas.openxmlformats.org/officeDocument/2006/relationships/hyperlink" Target="https://www.statisticshowto.com/mahalanobis-distanc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hyperlink" Target="https://eecs.csuohio.edu/~sschung/CIS660/MahalanobisDistance.pdf"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hyperlink" Target="https://eecs.csuohio.edu/~sschung/CIS660/MahalanobisDistance.pdf"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eecs.csuohio.edu/~sschung/CIS660/MahalanobisDistance.pdf"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hyperlink" Target="https://en.wikipedia.org/wiki/Levenshtein_distance"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Hamming_distance"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1.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Kendall_rank_correlation_coefficient" TargetMode="External"/><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161.png"/><Relationship Id="rId4" Type="http://schemas.openxmlformats.org/officeDocument/2006/relationships/hyperlink" Target="https://en.wikipedia.org/wiki/Spearman%27s_rank_correlation_coefficient"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170.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hyperlink" Target="https://en.wikipedia.org/wiki/Jaccard_index" TargetMode="External"/><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140.png"/></Relationships>
</file>

<file path=ppt/slides/_rels/slide3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AD34-FE4D-4A41-82A2-223615631262}"/>
              </a:ext>
            </a:extLst>
          </p:cNvPr>
          <p:cNvSpPr>
            <a:spLocks noGrp="1"/>
          </p:cNvSpPr>
          <p:nvPr>
            <p:ph type="ctrTitle"/>
          </p:nvPr>
        </p:nvSpPr>
        <p:spPr>
          <a:xfrm>
            <a:off x="1295400" y="1636650"/>
            <a:ext cx="9601200" cy="2387600"/>
          </a:xfrm>
        </p:spPr>
        <p:txBody>
          <a:bodyPr>
            <a:normAutofit fontScale="90000"/>
          </a:bodyPr>
          <a:lstStyle/>
          <a:p>
            <a:r>
              <a:rPr lang="en-US" dirty="0">
                <a:latin typeface="+mn-lt"/>
              </a:rPr>
              <a:t>CSCI E-96</a:t>
            </a:r>
            <a:br>
              <a:rPr lang="en-US" dirty="0">
                <a:latin typeface="+mn-lt"/>
              </a:rPr>
            </a:br>
            <a:r>
              <a:rPr lang="en-US" dirty="0">
                <a:latin typeface="+mn-lt"/>
              </a:rPr>
              <a:t>Data Mining, Discovery and Exploration</a:t>
            </a:r>
            <a:br>
              <a:rPr lang="en-US" dirty="0">
                <a:latin typeface="+mn-lt"/>
              </a:rPr>
            </a:br>
            <a:r>
              <a:rPr lang="en-US" dirty="0">
                <a:latin typeface="+mn-lt"/>
              </a:rPr>
              <a:t>Distance and Similarity Measures</a:t>
            </a:r>
          </a:p>
        </p:txBody>
      </p:sp>
      <p:sp>
        <p:nvSpPr>
          <p:cNvPr id="3" name="Subtitle 2">
            <a:extLst>
              <a:ext uri="{FF2B5EF4-FFF2-40B4-BE49-F238E27FC236}">
                <a16:creationId xmlns:a16="http://schemas.microsoft.com/office/drawing/2014/main" id="{B25A855A-A2B4-41D5-81C1-CAA6D45AA9D5}"/>
              </a:ext>
            </a:extLst>
          </p:cNvPr>
          <p:cNvSpPr>
            <a:spLocks noGrp="1"/>
          </p:cNvSpPr>
          <p:nvPr>
            <p:ph type="subTitle" idx="1"/>
          </p:nvPr>
        </p:nvSpPr>
        <p:spPr>
          <a:xfrm>
            <a:off x="1524000" y="4115222"/>
            <a:ext cx="9144000" cy="494102"/>
          </a:xfrm>
        </p:spPr>
        <p:txBody>
          <a:bodyPr/>
          <a:lstStyle/>
          <a:p>
            <a:r>
              <a:rPr lang="en-US" dirty="0"/>
              <a:t>Steve Elston</a:t>
            </a:r>
          </a:p>
          <a:p>
            <a:endParaRPr lang="en-US" dirty="0"/>
          </a:p>
        </p:txBody>
      </p:sp>
      <p:pic>
        <p:nvPicPr>
          <p:cNvPr id="1026" name="Picture 2" descr="Image result for harvard extension school logo">
            <a:extLst>
              <a:ext uri="{FF2B5EF4-FFF2-40B4-BE49-F238E27FC236}">
                <a16:creationId xmlns:a16="http://schemas.microsoft.com/office/drawing/2014/main" id="{0512F5AD-ED64-4E88-80AB-F8D75DDF2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7158" y="4791269"/>
            <a:ext cx="3333750" cy="1371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3F2317F-F47E-4078-8A9E-272A9AB83B75}"/>
              </a:ext>
            </a:extLst>
          </p:cNvPr>
          <p:cNvSpPr txBox="1"/>
          <p:nvPr/>
        </p:nvSpPr>
        <p:spPr>
          <a:xfrm>
            <a:off x="3348567" y="6421967"/>
            <a:ext cx="5744633" cy="369332"/>
          </a:xfrm>
          <a:prstGeom prst="rect">
            <a:avLst/>
          </a:prstGeom>
          <a:noFill/>
        </p:spPr>
        <p:txBody>
          <a:bodyPr wrap="square" rtlCol="0">
            <a:spAutoFit/>
          </a:bodyPr>
          <a:lstStyle/>
          <a:p>
            <a:pPr algn="ctr"/>
            <a:r>
              <a:rPr lang="en-US" sz="1100" dirty="0"/>
              <a:t>Copyright 2021, 2022, 2023, 2024, 2025 Stephen F Elston. All rights reserved</a:t>
            </a:r>
            <a:r>
              <a:rPr lang="en-US" dirty="0"/>
              <a:t>.</a:t>
            </a:r>
          </a:p>
        </p:txBody>
      </p:sp>
    </p:spTree>
    <p:extLst>
      <p:ext uri="{BB962C8B-B14F-4D97-AF65-F5344CB8AC3E}">
        <p14:creationId xmlns:p14="http://schemas.microsoft.com/office/powerpoint/2010/main" val="177883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9242-6F04-0255-B6E4-003EE805C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0B4EF-F7E3-7E82-AE6D-66E8ED303FDB}"/>
              </a:ext>
            </a:extLst>
          </p:cNvPr>
          <p:cNvSpPr>
            <a:spLocks noGrp="1"/>
          </p:cNvSpPr>
          <p:nvPr>
            <p:ph type="title"/>
          </p:nvPr>
        </p:nvSpPr>
        <p:spPr>
          <a:xfrm>
            <a:off x="916187" y="249623"/>
            <a:ext cx="10515600" cy="662230"/>
          </a:xfrm>
        </p:spPr>
        <p:txBody>
          <a:bodyPr>
            <a:normAutofit fontScale="90000"/>
          </a:bodyPr>
          <a:lstStyle/>
          <a:p>
            <a:r>
              <a:rPr lang="en-US" sz="4900" dirty="0">
                <a:latin typeface="+mn-lt"/>
              </a:rPr>
              <a:t>Main topics in this course</a:t>
            </a:r>
            <a:br>
              <a:rPr lang="en-US" sz="4000" dirty="0">
                <a:latin typeface="+mn-lt"/>
              </a:rPr>
            </a:br>
            <a:endParaRPr lang="en-US" sz="4000" dirty="0">
              <a:latin typeface="+mn-lt"/>
            </a:endParaRPr>
          </a:p>
        </p:txBody>
      </p:sp>
      <p:sp>
        <p:nvSpPr>
          <p:cNvPr id="3" name="Left Brace 2">
            <a:extLst>
              <a:ext uri="{FF2B5EF4-FFF2-40B4-BE49-F238E27FC236}">
                <a16:creationId xmlns:a16="http://schemas.microsoft.com/office/drawing/2014/main" id="{B43E0B5E-B811-4BBC-CEDF-97FC2AAC1766}"/>
              </a:ext>
            </a:extLst>
          </p:cNvPr>
          <p:cNvSpPr/>
          <p:nvPr/>
        </p:nvSpPr>
        <p:spPr>
          <a:xfrm>
            <a:off x="756889" y="1964356"/>
            <a:ext cx="225209" cy="127326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7BB0425-4708-2E61-70FB-876C788A79E2}"/>
              </a:ext>
            </a:extLst>
          </p:cNvPr>
          <p:cNvSpPr txBox="1"/>
          <p:nvPr/>
        </p:nvSpPr>
        <p:spPr>
          <a:xfrm rot="16200000">
            <a:off x="-238228" y="2251765"/>
            <a:ext cx="1571596" cy="400110"/>
          </a:xfrm>
          <a:prstGeom prst="rect">
            <a:avLst/>
          </a:prstGeom>
          <a:noFill/>
        </p:spPr>
        <p:txBody>
          <a:bodyPr wrap="square" rtlCol="0">
            <a:spAutoFit/>
          </a:bodyPr>
          <a:lstStyle/>
          <a:p>
            <a:pPr algn="ctr"/>
            <a:r>
              <a:rPr lang="en-US" sz="2000" dirty="0"/>
              <a:t>Foundations </a:t>
            </a:r>
          </a:p>
        </p:txBody>
      </p:sp>
      <p:sp>
        <p:nvSpPr>
          <p:cNvPr id="5" name="Rectangle 4">
            <a:extLst>
              <a:ext uri="{FF2B5EF4-FFF2-40B4-BE49-F238E27FC236}">
                <a16:creationId xmlns:a16="http://schemas.microsoft.com/office/drawing/2014/main" id="{DAA42CDB-2EBC-28B2-6456-04829EC7EF48}"/>
              </a:ext>
            </a:extLst>
          </p:cNvPr>
          <p:cNvSpPr/>
          <p:nvPr/>
        </p:nvSpPr>
        <p:spPr>
          <a:xfrm>
            <a:off x="1259812" y="1983695"/>
            <a:ext cx="1951346" cy="125392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 Hashing and K-V pair management </a:t>
            </a:r>
          </a:p>
        </p:txBody>
      </p:sp>
      <p:sp>
        <p:nvSpPr>
          <p:cNvPr id="6" name="Rectangle 5">
            <a:extLst>
              <a:ext uri="{FF2B5EF4-FFF2-40B4-BE49-F238E27FC236}">
                <a16:creationId xmlns:a16="http://schemas.microsoft.com/office/drawing/2014/main" id="{F5C7F060-78DB-AC42-6BFD-05BD50198440}"/>
              </a:ext>
            </a:extLst>
          </p:cNvPr>
          <p:cNvSpPr/>
          <p:nvPr/>
        </p:nvSpPr>
        <p:spPr>
          <a:xfrm>
            <a:off x="3740233" y="2021536"/>
            <a:ext cx="2157426" cy="11782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Distance and Similarity Metrics</a:t>
            </a:r>
          </a:p>
        </p:txBody>
      </p:sp>
      <p:sp>
        <p:nvSpPr>
          <p:cNvPr id="7" name="Rectangle 6">
            <a:extLst>
              <a:ext uri="{FF2B5EF4-FFF2-40B4-BE49-F238E27FC236}">
                <a16:creationId xmlns:a16="http://schemas.microsoft.com/office/drawing/2014/main" id="{F20B3888-4A09-E889-C7DE-5ECE32C17693}"/>
              </a:ext>
            </a:extLst>
          </p:cNvPr>
          <p:cNvSpPr/>
          <p:nvPr/>
        </p:nvSpPr>
        <p:spPr>
          <a:xfrm>
            <a:off x="6408020" y="2037908"/>
            <a:ext cx="2058805" cy="1213337"/>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Graph Algorithms</a:t>
            </a:r>
          </a:p>
        </p:txBody>
      </p:sp>
      <p:sp>
        <p:nvSpPr>
          <p:cNvPr id="8" name="Rectangle 7">
            <a:extLst>
              <a:ext uri="{FF2B5EF4-FFF2-40B4-BE49-F238E27FC236}">
                <a16:creationId xmlns:a16="http://schemas.microsoft.com/office/drawing/2014/main" id="{A234FC6E-068F-82BA-D948-0872902BF117}"/>
              </a:ext>
            </a:extLst>
          </p:cNvPr>
          <p:cNvSpPr/>
          <p:nvPr/>
        </p:nvSpPr>
        <p:spPr>
          <a:xfrm>
            <a:off x="1215334" y="3591320"/>
            <a:ext cx="2085982" cy="107424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Dimensionality Reduction</a:t>
            </a:r>
          </a:p>
        </p:txBody>
      </p:sp>
      <p:sp>
        <p:nvSpPr>
          <p:cNvPr id="10" name="Left Brace 9">
            <a:extLst>
              <a:ext uri="{FF2B5EF4-FFF2-40B4-BE49-F238E27FC236}">
                <a16:creationId xmlns:a16="http://schemas.microsoft.com/office/drawing/2014/main" id="{6B807C0C-B6B7-55FC-4A73-937C1A517C09}"/>
              </a:ext>
            </a:extLst>
          </p:cNvPr>
          <p:cNvSpPr/>
          <p:nvPr/>
        </p:nvSpPr>
        <p:spPr>
          <a:xfrm>
            <a:off x="865089" y="3571535"/>
            <a:ext cx="172578" cy="109402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CD0513D5-3561-EC84-E71B-4706879A90A1}"/>
              </a:ext>
            </a:extLst>
          </p:cNvPr>
          <p:cNvSpPr txBox="1"/>
          <p:nvPr/>
        </p:nvSpPr>
        <p:spPr>
          <a:xfrm rot="16200000">
            <a:off x="-286998" y="3724841"/>
            <a:ext cx="1571596" cy="707886"/>
          </a:xfrm>
          <a:prstGeom prst="rect">
            <a:avLst/>
          </a:prstGeom>
          <a:noFill/>
        </p:spPr>
        <p:txBody>
          <a:bodyPr wrap="square" rtlCol="0">
            <a:spAutoFit/>
          </a:bodyPr>
          <a:lstStyle/>
          <a:p>
            <a:pPr algn="ctr"/>
            <a:r>
              <a:rPr lang="en-US" sz="2000" dirty="0"/>
              <a:t>Core Algorithms</a:t>
            </a:r>
          </a:p>
        </p:txBody>
      </p:sp>
      <p:sp>
        <p:nvSpPr>
          <p:cNvPr id="12" name="Rectangle 11">
            <a:extLst>
              <a:ext uri="{FF2B5EF4-FFF2-40B4-BE49-F238E27FC236}">
                <a16:creationId xmlns:a16="http://schemas.microsoft.com/office/drawing/2014/main" id="{B042D63B-E913-3364-5865-54C574ED22CD}"/>
              </a:ext>
            </a:extLst>
          </p:cNvPr>
          <p:cNvSpPr/>
          <p:nvPr/>
        </p:nvSpPr>
        <p:spPr>
          <a:xfrm>
            <a:off x="1280175" y="5154275"/>
            <a:ext cx="1961804" cy="126402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 Social Network Analysis</a:t>
            </a:r>
          </a:p>
        </p:txBody>
      </p:sp>
      <p:sp>
        <p:nvSpPr>
          <p:cNvPr id="14" name="Left Brace 13">
            <a:extLst>
              <a:ext uri="{FF2B5EF4-FFF2-40B4-BE49-F238E27FC236}">
                <a16:creationId xmlns:a16="http://schemas.microsoft.com/office/drawing/2014/main" id="{35E5DEDA-5FFD-FC06-5888-EB758D78C155}"/>
              </a:ext>
            </a:extLst>
          </p:cNvPr>
          <p:cNvSpPr/>
          <p:nvPr/>
        </p:nvSpPr>
        <p:spPr>
          <a:xfrm>
            <a:off x="858563" y="5154275"/>
            <a:ext cx="164275" cy="126402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061D0C7-FA6D-00D7-CF2A-B875D7CF029B}"/>
              </a:ext>
            </a:extLst>
          </p:cNvPr>
          <p:cNvSpPr txBox="1"/>
          <p:nvPr/>
        </p:nvSpPr>
        <p:spPr>
          <a:xfrm rot="16200000">
            <a:off x="-322189" y="5405146"/>
            <a:ext cx="1571596" cy="707886"/>
          </a:xfrm>
          <a:prstGeom prst="rect">
            <a:avLst/>
          </a:prstGeom>
          <a:noFill/>
        </p:spPr>
        <p:txBody>
          <a:bodyPr wrap="square" rtlCol="0">
            <a:spAutoFit/>
          </a:bodyPr>
          <a:lstStyle/>
          <a:p>
            <a:pPr algn="ctr"/>
            <a:r>
              <a:rPr lang="en-US" sz="2000" dirty="0"/>
              <a:t>Taks </a:t>
            </a:r>
            <a:r>
              <a:rPr lang="en-US" sz="2000"/>
              <a:t>Speific </a:t>
            </a:r>
            <a:r>
              <a:rPr lang="en-US" sz="2000" dirty="0"/>
              <a:t>Algorithms</a:t>
            </a:r>
          </a:p>
        </p:txBody>
      </p:sp>
      <p:sp>
        <p:nvSpPr>
          <p:cNvPr id="16" name="Rectangle 15">
            <a:extLst>
              <a:ext uri="{FF2B5EF4-FFF2-40B4-BE49-F238E27FC236}">
                <a16:creationId xmlns:a16="http://schemas.microsoft.com/office/drawing/2014/main" id="{8BCB2792-FBF9-D76F-A378-7E6596D54E0F}"/>
              </a:ext>
            </a:extLst>
          </p:cNvPr>
          <p:cNvSpPr/>
          <p:nvPr/>
        </p:nvSpPr>
        <p:spPr>
          <a:xfrm>
            <a:off x="3811677" y="3631085"/>
            <a:ext cx="2085982" cy="109402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 Similarity Search and NN Algorithms</a:t>
            </a:r>
          </a:p>
        </p:txBody>
      </p:sp>
      <p:sp>
        <p:nvSpPr>
          <p:cNvPr id="17" name="Rectangle 16">
            <a:extLst>
              <a:ext uri="{FF2B5EF4-FFF2-40B4-BE49-F238E27FC236}">
                <a16:creationId xmlns:a16="http://schemas.microsoft.com/office/drawing/2014/main" id="{9A8CAD2D-EC71-A5F3-683F-41BF65DE958F}"/>
              </a:ext>
            </a:extLst>
          </p:cNvPr>
          <p:cNvSpPr/>
          <p:nvPr/>
        </p:nvSpPr>
        <p:spPr>
          <a:xfrm>
            <a:off x="6408020" y="3640978"/>
            <a:ext cx="2038966" cy="1123564"/>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 Online Algorithms</a:t>
            </a:r>
          </a:p>
        </p:txBody>
      </p:sp>
      <p:sp>
        <p:nvSpPr>
          <p:cNvPr id="18" name="Rectangle 17">
            <a:extLst>
              <a:ext uri="{FF2B5EF4-FFF2-40B4-BE49-F238E27FC236}">
                <a16:creationId xmlns:a16="http://schemas.microsoft.com/office/drawing/2014/main" id="{67EB3589-9BBE-D38D-C09A-C7A36757F4E1}"/>
              </a:ext>
            </a:extLst>
          </p:cNvPr>
          <p:cNvSpPr/>
          <p:nvPr/>
        </p:nvSpPr>
        <p:spPr>
          <a:xfrm>
            <a:off x="6408020" y="5172609"/>
            <a:ext cx="2038966" cy="126280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8. Clustering Algorithms</a:t>
            </a:r>
          </a:p>
        </p:txBody>
      </p:sp>
      <p:sp>
        <p:nvSpPr>
          <p:cNvPr id="20" name="Rectangle 19">
            <a:extLst>
              <a:ext uri="{FF2B5EF4-FFF2-40B4-BE49-F238E27FC236}">
                <a16:creationId xmlns:a16="http://schemas.microsoft.com/office/drawing/2014/main" id="{5C5EBFDB-140B-9B88-CE63-77419A11C6E4}"/>
              </a:ext>
            </a:extLst>
          </p:cNvPr>
          <p:cNvSpPr/>
          <p:nvPr/>
        </p:nvSpPr>
        <p:spPr>
          <a:xfrm>
            <a:off x="8832447" y="5179257"/>
            <a:ext cx="2016833"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 Recommender  Algorithms</a:t>
            </a:r>
          </a:p>
        </p:txBody>
      </p:sp>
      <p:sp>
        <p:nvSpPr>
          <p:cNvPr id="21" name="Rectangle 20">
            <a:extLst>
              <a:ext uri="{FF2B5EF4-FFF2-40B4-BE49-F238E27FC236}">
                <a16:creationId xmlns:a16="http://schemas.microsoft.com/office/drawing/2014/main" id="{69AB1FD0-27FA-3784-41E8-6432B45E080D}"/>
              </a:ext>
            </a:extLst>
          </p:cNvPr>
          <p:cNvSpPr/>
          <p:nvPr/>
        </p:nvSpPr>
        <p:spPr>
          <a:xfrm>
            <a:off x="3760595" y="5172609"/>
            <a:ext cx="2085981" cy="124568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6. Web/Document ranking and search</a:t>
            </a:r>
          </a:p>
        </p:txBody>
      </p:sp>
      <p:sp>
        <p:nvSpPr>
          <p:cNvPr id="22" name="Content Placeholder 2">
            <a:extLst>
              <a:ext uri="{FF2B5EF4-FFF2-40B4-BE49-F238E27FC236}">
                <a16:creationId xmlns:a16="http://schemas.microsoft.com/office/drawing/2014/main" id="{302608D4-DE73-B603-CD44-1D4BB221F2DE}"/>
              </a:ext>
            </a:extLst>
          </p:cNvPr>
          <p:cNvSpPr txBox="1">
            <a:spLocks/>
          </p:cNvSpPr>
          <p:nvPr/>
        </p:nvSpPr>
        <p:spPr>
          <a:xfrm>
            <a:off x="865089" y="797597"/>
            <a:ext cx="10515600" cy="85057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Data minging </a:t>
            </a:r>
            <a:r>
              <a:rPr lang="en-US" dirty="0"/>
              <a:t>algorithms are built on the foundation of distance and similarity measures  </a:t>
            </a:r>
          </a:p>
        </p:txBody>
      </p:sp>
    </p:spTree>
    <p:extLst>
      <p:ext uri="{BB962C8B-B14F-4D97-AF65-F5344CB8AC3E}">
        <p14:creationId xmlns:p14="http://schemas.microsoft.com/office/powerpoint/2010/main" val="581234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 and dissimilarity</a:t>
            </a:r>
          </a:p>
        </p:txBody>
      </p:sp>
      <p:sp>
        <p:nvSpPr>
          <p:cNvPr id="3" name="Content Placeholder 2"/>
          <p:cNvSpPr>
            <a:spLocks noGrp="1"/>
          </p:cNvSpPr>
          <p:nvPr>
            <p:ph sz="quarter" idx="10"/>
          </p:nvPr>
        </p:nvSpPr>
        <p:spPr>
          <a:xfrm>
            <a:off x="333375" y="896079"/>
            <a:ext cx="11525250" cy="5290388"/>
          </a:xfrm>
        </p:spPr>
        <p:txBody>
          <a:bodyPr>
            <a:normAutofit fontScale="92500" lnSpcReduction="10000"/>
          </a:bodyPr>
          <a:lstStyle/>
          <a:p>
            <a:pPr marL="0" indent="0">
              <a:buNone/>
            </a:pPr>
            <a:r>
              <a:rPr lang="en-US" dirty="0">
                <a:latin typeface="+mn-lt"/>
              </a:rPr>
              <a:t>Many data mining algorithms require unsupervised searching for the </a:t>
            </a:r>
            <a:r>
              <a:rPr lang="en-US" b="1" dirty="0">
                <a:latin typeface="+mn-lt"/>
              </a:rPr>
              <a:t>most similar or dissimilar cases</a:t>
            </a:r>
          </a:p>
          <a:p>
            <a:r>
              <a:rPr lang="en-US" dirty="0">
                <a:latin typeface="+mn-lt"/>
              </a:rPr>
              <a:t>Cluster models  </a:t>
            </a:r>
          </a:p>
          <a:p>
            <a:r>
              <a:rPr lang="en-US" dirty="0">
                <a:latin typeface="+mn-lt"/>
              </a:rPr>
              <a:t>Nearest neighbor graph algorithms   </a:t>
            </a:r>
          </a:p>
          <a:p>
            <a:r>
              <a:rPr lang="en-US" dirty="0">
                <a:latin typeface="+mn-lt"/>
              </a:rPr>
              <a:t>Recommender systems   </a:t>
            </a:r>
          </a:p>
          <a:p>
            <a:r>
              <a:rPr lang="en-US" dirty="0">
                <a:latin typeface="+mn-lt"/>
              </a:rPr>
              <a:t>Dimensionality reduction </a:t>
            </a:r>
          </a:p>
          <a:p>
            <a:r>
              <a:rPr lang="en-US" dirty="0">
                <a:latin typeface="+mn-lt"/>
              </a:rPr>
              <a:t>Document and image search</a:t>
            </a:r>
          </a:p>
          <a:p>
            <a:r>
              <a:rPr lang="en-US" dirty="0">
                <a:latin typeface="+mn-lt"/>
              </a:rPr>
              <a:t>Discovering similar mRNA sequences </a:t>
            </a:r>
          </a:p>
          <a:p>
            <a:r>
              <a:rPr lang="en-US" dirty="0">
                <a:latin typeface="+mn-lt"/>
              </a:rPr>
              <a:t>Finding the most similar sensor streams </a:t>
            </a:r>
          </a:p>
          <a:p>
            <a:r>
              <a:rPr lang="en-US" dirty="0">
                <a:latin typeface="+mn-lt"/>
              </a:rPr>
              <a:t>Retrieval augmented generation (RAG)</a:t>
            </a:r>
          </a:p>
          <a:p>
            <a:r>
              <a:rPr lang="en-US" dirty="0" err="1">
                <a:latin typeface="+mn-lt"/>
              </a:rPr>
              <a:t>Etc</a:t>
            </a:r>
            <a:r>
              <a:rPr lang="en-US" dirty="0">
                <a:latin typeface="+mn-lt"/>
              </a:rPr>
              <a:t>…     </a:t>
            </a:r>
          </a:p>
          <a:p>
            <a:endParaRPr lang="en-US" dirty="0">
              <a:latin typeface="+mn-lt"/>
            </a:endParaRPr>
          </a:p>
          <a:p>
            <a:endParaRPr lang="en-US" sz="2800" dirty="0">
              <a:latin typeface="+mn-lt"/>
            </a:endParaRPr>
          </a:p>
          <a:p>
            <a:pPr lvl="1"/>
            <a:endParaRPr lang="en-US" dirty="0"/>
          </a:p>
        </p:txBody>
      </p:sp>
    </p:spTree>
    <p:extLst>
      <p:ext uri="{BB962C8B-B14F-4D97-AF65-F5344CB8AC3E}">
        <p14:creationId xmlns:p14="http://schemas.microsoft.com/office/powerpoint/2010/main" val="9265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 and dissimilarity</a:t>
            </a:r>
          </a:p>
        </p:txBody>
      </p:sp>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Measuring similarity and dissimilarity is fundamental to data mining</a:t>
            </a:r>
          </a:p>
          <a:p>
            <a:r>
              <a:rPr lang="en-US" dirty="0">
                <a:latin typeface="+mn-lt"/>
              </a:rPr>
              <a:t>Distance and similarity measures are the </a:t>
            </a:r>
            <a:r>
              <a:rPr lang="en-US" b="1" dirty="0">
                <a:latin typeface="+mn-lt"/>
              </a:rPr>
              <a:t>foundation of unsupervised learning</a:t>
            </a:r>
          </a:p>
          <a:p>
            <a:r>
              <a:rPr lang="en-US" dirty="0">
                <a:latin typeface="+mn-lt"/>
              </a:rPr>
              <a:t>A wide range of metrics used in data mining</a:t>
            </a:r>
          </a:p>
          <a:p>
            <a:r>
              <a:rPr lang="en-US" dirty="0">
                <a:latin typeface="+mn-lt"/>
              </a:rPr>
              <a:t>The metrics used must fit the nature of the data and the analysis </a:t>
            </a:r>
          </a:p>
          <a:p>
            <a:pPr lvl="1"/>
            <a:r>
              <a:rPr lang="en-US" dirty="0">
                <a:latin typeface="+mn-lt"/>
              </a:rPr>
              <a:t>Binary data</a:t>
            </a:r>
          </a:p>
          <a:p>
            <a:pPr lvl="1"/>
            <a:r>
              <a:rPr lang="en-US" dirty="0">
                <a:latin typeface="+mn-lt"/>
              </a:rPr>
              <a:t>Text strings</a:t>
            </a:r>
          </a:p>
          <a:p>
            <a:pPr lvl="1"/>
            <a:r>
              <a:rPr lang="en-US" dirty="0">
                <a:latin typeface="+mn-lt"/>
              </a:rPr>
              <a:t>Numeric data</a:t>
            </a:r>
          </a:p>
          <a:p>
            <a:pPr lvl="1"/>
            <a:r>
              <a:rPr lang="en-US" dirty="0">
                <a:latin typeface="+mn-lt"/>
              </a:rPr>
              <a:t>Ordinal data; e.g. rankings and ratings </a:t>
            </a:r>
          </a:p>
          <a:p>
            <a:pPr lvl="1"/>
            <a:r>
              <a:rPr lang="en-US" dirty="0">
                <a:latin typeface="+mn-lt"/>
              </a:rPr>
              <a:t>Unordered categorical data</a:t>
            </a:r>
          </a:p>
          <a:p>
            <a:r>
              <a:rPr lang="en-US" b="1" dirty="0">
                <a:latin typeface="+mn-lt"/>
              </a:rPr>
              <a:t>There is no one best metric!</a:t>
            </a:r>
          </a:p>
          <a:p>
            <a:endParaRPr lang="en-US" sz="2800" dirty="0">
              <a:latin typeface="+mn-lt"/>
            </a:endParaRPr>
          </a:p>
          <a:p>
            <a:pPr lvl="1"/>
            <a:endParaRPr lang="en-US" dirty="0"/>
          </a:p>
        </p:txBody>
      </p:sp>
    </p:spTree>
    <p:extLst>
      <p:ext uri="{BB962C8B-B14F-4D97-AF65-F5344CB8AC3E}">
        <p14:creationId xmlns:p14="http://schemas.microsoft.com/office/powerpoint/2010/main" val="31234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5853-3F71-2F6B-5E06-87812B26D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469B-973B-CC90-9785-C2ABFBCC7E17}"/>
              </a:ext>
            </a:extLst>
          </p:cNvPr>
          <p:cNvSpPr>
            <a:spLocks noGrp="1"/>
          </p:cNvSpPr>
          <p:nvPr>
            <p:ph type="title"/>
          </p:nvPr>
        </p:nvSpPr>
        <p:spPr>
          <a:xfrm>
            <a:off x="831850" y="1709738"/>
            <a:ext cx="10515600" cy="2104337"/>
          </a:xfrm>
        </p:spPr>
        <p:txBody>
          <a:bodyPr/>
          <a:lstStyle/>
          <a:p>
            <a:pPr algn="ctr"/>
            <a:r>
              <a:rPr lang="en-US" b="1" dirty="0"/>
              <a:t>Properties of Distance Metrics</a:t>
            </a:r>
          </a:p>
        </p:txBody>
      </p:sp>
    </p:spTree>
    <p:extLst>
      <p:ext uri="{BB962C8B-B14F-4D97-AF65-F5344CB8AC3E}">
        <p14:creationId xmlns:p14="http://schemas.microsoft.com/office/powerpoint/2010/main" val="3928595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Relationships between variables in a dataset are often based on </a:t>
                </a:r>
                <a:r>
                  <a:rPr lang="en-US" b="1" dirty="0">
                    <a:latin typeface="+mn-lt"/>
                  </a:rPr>
                  <a:t>dissimilarity</a:t>
                </a:r>
                <a:r>
                  <a:rPr lang="en-US" dirty="0">
                    <a:latin typeface="+mn-lt"/>
                  </a:rPr>
                  <a:t> using a </a:t>
                </a:r>
                <a:r>
                  <a:rPr lang="en-US" b="1" dirty="0">
                    <a:latin typeface="+mn-lt"/>
                  </a:rPr>
                  <a:t>distance metric</a:t>
                </a:r>
                <a:endParaRPr lang="en-US" sz="2800" b="1" dirty="0">
                  <a:latin typeface="+mn-lt"/>
                </a:endParaRPr>
              </a:p>
              <a:p>
                <a:r>
                  <a:rPr lang="en-US" sz="2800" dirty="0">
                    <a:latin typeface="+mn-lt"/>
                  </a:rPr>
                  <a:t>The variables or observations </a:t>
                </a:r>
                <a:r>
                  <a:rPr lang="en-US" dirty="0">
                    <a:latin typeface="+mn-lt"/>
                  </a:rPr>
                  <a:t>are </a:t>
                </a:r>
                <a:r>
                  <a:rPr lang="en-US" b="1" dirty="0">
                    <a:latin typeface="+mn-lt"/>
                  </a:rPr>
                  <a:t>vector valued</a:t>
                </a:r>
              </a:p>
              <a:p>
                <a:r>
                  <a:rPr lang="en-US" dirty="0">
                    <a:latin typeface="+mn-lt"/>
                  </a:rPr>
                  <a:t>Distance and similarity are </a:t>
                </a:r>
                <a:r>
                  <a:rPr lang="en-US" b="1" dirty="0">
                    <a:latin typeface="+mn-lt"/>
                  </a:rPr>
                  <a:t>scalar values </a:t>
                </a:r>
              </a:p>
              <a:p>
                <a:r>
                  <a:rPr lang="en-US" sz="3200" dirty="0">
                    <a:latin typeface="+mn-lt"/>
                  </a:rPr>
                  <a:t>A distance (similarity) metric, </a:t>
                </a:r>
                <a14:m>
                  <m:oMath xmlns:m="http://schemas.openxmlformats.org/officeDocument/2006/math">
                    <m:r>
                      <a:rPr lang="en-US" sz="3200" i="1">
                        <a:latin typeface="Cambria Math" panose="02040503050406030204" pitchFamily="18" charset="0"/>
                        <a:ea typeface="Cambria Math" panose="02040503050406030204" pitchFamily="18" charset="0"/>
                      </a:rPr>
                      <m:t>𝐷</m:t>
                    </m:r>
                  </m:oMath>
                </a14:m>
                <a:r>
                  <a:rPr lang="en-US" sz="3200" dirty="0">
                    <a:latin typeface="+mn-lt"/>
                  </a:rPr>
                  <a:t>, </a:t>
                </a:r>
                <a:r>
                  <a:rPr lang="en-US" sz="3200" b="1" dirty="0">
                    <a:latin typeface="+mn-lt"/>
                  </a:rPr>
                  <a:t>maps two vector valued variables,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𝑗</m:t>
                        </m:r>
                      </m:sub>
                    </m:sSub>
                  </m:oMath>
                </a14:m>
                <a:r>
                  <a:rPr lang="en-US" sz="3200" dirty="0">
                    <a:latin typeface="+mn-lt"/>
                  </a:rPr>
                  <a:t>, to a </a:t>
                </a:r>
                <a:r>
                  <a:rPr lang="en-US" sz="3200" b="1" dirty="0">
                    <a:latin typeface="+mn-lt"/>
                  </a:rPr>
                  <a:t>real valued scalar</a:t>
                </a:r>
                <a:r>
                  <a:rPr lang="en-US" sz="3200" dirty="0">
                    <a:latin typeface="+mn-lt"/>
                  </a:rPr>
                  <a:t>, </a:t>
                </a:r>
                <a14:m>
                  <m:oMath xmlns:m="http://schemas.openxmlformats.org/officeDocument/2006/math">
                    <m:r>
                      <a:rPr lang="en-US" sz="3200" i="1">
                        <a:latin typeface="Cambria Math" panose="02040503050406030204" pitchFamily="18" charset="0"/>
                        <a:ea typeface="Cambria Math" panose="02040503050406030204" pitchFamily="18" charset="0"/>
                      </a:rPr>
                      <m:t>𝑠</m:t>
                    </m:r>
                  </m:oMath>
                </a14:m>
                <a:endParaRPr lang="en-US" sz="3200" b="1"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ea typeface="Cambria Math" panose="02040503050406030204" pitchFamily="18" charset="0"/>
                        </a:rPr>
                        <m:t>𝐷</m:t>
                      </m:r>
                      <m:r>
                        <a:rPr lang="en-US" sz="3200" b="0" i="1" smtClean="0">
                          <a:latin typeface="Cambria Math" panose="02040503050406030204" pitchFamily="18" charset="0"/>
                          <a:ea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𝑖</m:t>
                          </m:r>
                        </m:sub>
                      </m:sSub>
                      <m:r>
                        <a:rPr lang="en-US" sz="3200" i="1">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𝑗</m:t>
                          </m:r>
                        </m:sub>
                      </m:sSub>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𝑠</m:t>
                      </m:r>
                    </m:oMath>
                  </m:oMathPara>
                </a14:m>
                <a:endParaRPr lang="en-US" sz="3200" b="1" dirty="0">
                  <a:latin typeface="+mn-lt"/>
                </a:endParaRPr>
              </a:p>
              <a:p>
                <a:pPr marL="0" indent="0">
                  <a:buNone/>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𝑠</m:t>
                      </m:r>
                      <m:r>
                        <a:rPr lang="en-US" sz="3200" b="0" i="1" smtClean="0">
                          <a:latin typeface="Cambria Math" panose="02040503050406030204" pitchFamily="18" charset="0"/>
                          <a:ea typeface="Cambria Math" panose="02040503050406030204" pitchFamily="18" charset="0"/>
                        </a:rPr>
                        <m:t>∈</m:t>
                      </m:r>
                      <m:sSup>
                        <m:sSupPr>
                          <m:ctrlPr>
                            <a:rPr lang="en-US" sz="320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𝑅</m:t>
                          </m:r>
                        </m:e>
                        <m:sup>
                          <m:r>
                            <a:rPr lang="en-US" sz="3200" b="0" i="1" smtClean="0">
                              <a:latin typeface="Cambria Math" panose="02040503050406030204" pitchFamily="18" charset="0"/>
                              <a:ea typeface="Cambria Math" panose="02040503050406030204" pitchFamily="18" charset="0"/>
                            </a:rPr>
                            <m:t> </m:t>
                          </m:r>
                        </m:sup>
                      </m:sSup>
                      <m:r>
                        <a:rPr lang="en-US" sz="3200" b="0" i="1" smtClean="0">
                          <a:latin typeface="Cambria Math" panose="02040503050406030204" pitchFamily="18" charset="0"/>
                          <a:ea typeface="Cambria Math" panose="02040503050406030204" pitchFamily="18" charset="0"/>
                        </a:rPr>
                        <m:t>,   </m:t>
                      </m:r>
                      <m:sSub>
                        <m:sSubPr>
                          <m:ctrlPr>
                            <a:rPr lang="en-US" sz="3200" i="1">
                              <a:latin typeface="Cambria Math" panose="02040503050406030204" pitchFamily="18" charset="0"/>
                            </a:rPr>
                          </m:ctrlPr>
                        </m:sSubPr>
                        <m:e>
                          <m:r>
                            <a:rPr lang="en-US" sz="3200" b="0" i="1">
                              <a:latin typeface="Cambria Math" panose="02040503050406030204" pitchFamily="18" charset="0"/>
                            </a:rPr>
                            <m:t>𝑥</m:t>
                          </m:r>
                        </m:e>
                        <m:sub>
                          <m:r>
                            <a:rPr lang="en-US" sz="3200" b="0" i="1">
                              <a:latin typeface="Cambria Math" panose="02040503050406030204" pitchFamily="18" charset="0"/>
                            </a:rPr>
                            <m:t>𝑖</m:t>
                          </m:r>
                        </m:sub>
                      </m:sSub>
                      <m:r>
                        <a:rPr lang="en-US" sz="3200" b="0" i="1">
                          <a:latin typeface="Cambria Math" panose="02040503050406030204" pitchFamily="18" charset="0"/>
                        </a:rPr>
                        <m:t>,</m:t>
                      </m:r>
                      <m:sSub>
                        <m:sSubPr>
                          <m:ctrlPr>
                            <a:rPr lang="en-US" sz="3200" i="1">
                              <a:latin typeface="Cambria Math" panose="02040503050406030204" pitchFamily="18" charset="0"/>
                            </a:rPr>
                          </m:ctrlPr>
                        </m:sSubPr>
                        <m:e>
                          <m:r>
                            <a:rPr lang="en-US" sz="3200" b="0" i="1">
                              <a:latin typeface="Cambria Math" panose="02040503050406030204" pitchFamily="18" charset="0"/>
                            </a:rPr>
                            <m:t>𝑥</m:t>
                          </m:r>
                        </m:e>
                        <m:sub>
                          <m:r>
                            <a:rPr lang="en-US" sz="3200" b="0" i="1">
                              <a:latin typeface="Cambria Math" panose="02040503050406030204" pitchFamily="18" charset="0"/>
                            </a:rPr>
                            <m:t>𝑗</m:t>
                          </m:r>
                        </m:sub>
                      </m:sSub>
                      <m:r>
                        <a:rPr lang="en-US" sz="3200" i="1">
                          <a:latin typeface="Cambria Math" panose="02040503050406030204" pitchFamily="18" charset="0"/>
                          <a:ea typeface="Cambria Math" panose="02040503050406030204" pitchFamily="18" charset="0"/>
                        </a:rPr>
                        <m:t>∈</m:t>
                      </m:r>
                      <m:sSup>
                        <m:sSupPr>
                          <m:ctrlPr>
                            <a:rPr lang="en-US" sz="320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𝑅</m:t>
                          </m:r>
                        </m:e>
                        <m:sup>
                          <m:r>
                            <a:rPr lang="en-US" sz="3200" b="0" i="1" smtClean="0">
                              <a:latin typeface="Cambria Math" panose="02040503050406030204" pitchFamily="18" charset="0"/>
                              <a:ea typeface="Cambria Math" panose="02040503050406030204" pitchFamily="18" charset="0"/>
                            </a:rPr>
                            <m:t>𝑛</m:t>
                          </m:r>
                        </m:sup>
                      </m:sSup>
                    </m:oMath>
                  </m:oMathPara>
                </a14:m>
                <a:endParaRPr lang="en-US" sz="32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290388"/>
              </a:xfrm>
              <a:blipFill>
                <a:blip r:embed="rId3"/>
                <a:stretch>
                  <a:fillRect l="-1217" t="-1959"/>
                </a:stretch>
              </a:blipFill>
            </p:spPr>
            <p:txBody>
              <a:bodyPr/>
              <a:lstStyle/>
              <a:p>
                <a:r>
                  <a:rPr lang="en-US">
                    <a:noFill/>
                  </a:rPr>
                  <a:t> </a:t>
                </a:r>
              </a:p>
            </p:txBody>
          </p:sp>
        </mc:Fallback>
      </mc:AlternateContent>
    </p:spTree>
    <p:extLst>
      <p:ext uri="{BB962C8B-B14F-4D97-AF65-F5344CB8AC3E}">
        <p14:creationId xmlns:p14="http://schemas.microsoft.com/office/powerpoint/2010/main" val="3008515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Distance metrics between two points, </a:t>
                </a:r>
                <a14:m>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latin typeface="+mn-lt"/>
                  </a:rPr>
                  <a:t>, must conform to these </a:t>
                </a:r>
                <a:r>
                  <a:rPr lang="en-US" b="1" dirty="0">
                    <a:latin typeface="+mn-lt"/>
                  </a:rPr>
                  <a:t>4 axioms</a:t>
                </a:r>
                <a:r>
                  <a:rPr lang="en-US" dirty="0">
                    <a:latin typeface="+mn-lt"/>
                  </a:rPr>
                  <a:t>:</a:t>
                </a:r>
              </a:p>
              <a:p>
                <a:pPr marL="514350" indent="-514350">
                  <a:buFont typeface="+mj-lt"/>
                  <a:buAutoNum type="arabicPeriod"/>
                </a:pPr>
                <a:r>
                  <a:rPr lang="en-US" dirty="0">
                    <a:latin typeface="+mn-lt"/>
                    <a:ea typeface="Cambria Math" panose="02040503050406030204" pitchFamily="18" charset="0"/>
                  </a:rPr>
                  <a:t>Distances are </a:t>
                </a:r>
                <a:r>
                  <a:rPr lang="en-US" b="1" dirty="0">
                    <a:latin typeface="+mn-lt"/>
                    <a:ea typeface="Cambria Math" panose="02040503050406030204" pitchFamily="18" charset="0"/>
                  </a:rPr>
                  <a:t>nonnegative</a:t>
                </a:r>
                <a:r>
                  <a:rPr lang="en-US" dirty="0">
                    <a:latin typeface="+mn-lt"/>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≥0</m:t>
                      </m:r>
                    </m:oMath>
                  </m:oMathPara>
                </a14:m>
                <a:endParaRPr lang="en-US" dirty="0">
                  <a:latin typeface="+mn-lt"/>
                  <a:ea typeface="Cambria Math" panose="02040503050406030204" pitchFamily="18" charset="0"/>
                </a:endParaRPr>
              </a:p>
              <a:p>
                <a:pPr marL="514350" indent="-514350">
                  <a:buFont typeface="+mj-lt"/>
                  <a:buAutoNum type="arabicPeriod" startAt="2"/>
                </a:pPr>
                <a:r>
                  <a:rPr lang="en-US" sz="2800" b="0" dirty="0">
                    <a:latin typeface="+mn-lt"/>
                    <a:ea typeface="Cambria Math" panose="02040503050406030204" pitchFamily="18" charset="0"/>
                  </a:rPr>
                  <a:t>Distances are </a:t>
                </a:r>
                <a:r>
                  <a:rPr lang="en-US" b="1" dirty="0">
                    <a:latin typeface="+mn-lt"/>
                    <a:ea typeface="Cambria Math" panose="02040503050406030204" pitchFamily="18" charset="0"/>
                  </a:rPr>
                  <a:t>only 0</a:t>
                </a:r>
                <a:r>
                  <a:rPr lang="en-US" sz="2800" b="1" dirty="0">
                    <a:latin typeface="+mn-lt"/>
                    <a:ea typeface="Cambria Math" panose="02040503050406030204" pitchFamily="18" charset="0"/>
                  </a:rPr>
                  <a:t> between a point and itself </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=0 </m:t>
                      </m:r>
                      <m:r>
                        <a:rPr lang="en-US" sz="2800" b="0" i="1" smtClean="0">
                          <a:latin typeface="Cambria Math" panose="02040503050406030204" pitchFamily="18" charset="0"/>
                          <a:ea typeface="Cambria Math" panose="02040503050406030204" pitchFamily="18" charset="0"/>
                        </a:rPr>
                        <m:t>𝑖𝑓𝑓</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oMath>
                  </m:oMathPara>
                </a14:m>
                <a:endParaRPr lang="en-US" sz="2800" b="0" dirty="0">
                  <a:latin typeface="+mn-lt"/>
                  <a:ea typeface="Cambria Math" panose="02040503050406030204" pitchFamily="18" charset="0"/>
                </a:endParaRPr>
              </a:p>
              <a:p>
                <a:pPr marL="514350" indent="-514350">
                  <a:buFont typeface="+mj-lt"/>
                  <a:buAutoNum type="arabicPeriod" startAt="3"/>
                </a:pPr>
                <a:r>
                  <a:rPr lang="en-US" dirty="0">
                    <a:latin typeface="+mn-lt"/>
                    <a:ea typeface="Cambria Math" panose="02040503050406030204" pitchFamily="18" charset="0"/>
                  </a:rPr>
                  <a:t>Distances are </a:t>
                </a:r>
                <a:r>
                  <a:rPr lang="en-US" b="1" dirty="0">
                    <a:latin typeface="+mn-lt"/>
                    <a:ea typeface="Cambria Math" panose="02040503050406030204" pitchFamily="18" charset="0"/>
                  </a:rPr>
                  <a:t>symmetric</a:t>
                </a:r>
                <a:r>
                  <a:rPr lang="en-US" dirty="0">
                    <a:latin typeface="+mn-lt"/>
                    <a:ea typeface="Cambria Math" panose="02040503050406030204" pitchFamily="18" charset="0"/>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oMath>
                  </m:oMathPara>
                </a14:m>
                <a:endParaRPr lang="en-US" dirty="0">
                  <a:latin typeface="+mn-lt"/>
                  <a:ea typeface="Cambria Math" panose="02040503050406030204" pitchFamily="18" charset="0"/>
                </a:endParaRPr>
              </a:p>
              <a:p>
                <a:pPr marL="514350" indent="-514350">
                  <a:buFont typeface="+mj-lt"/>
                  <a:buAutoNum type="arabicPeriod" startAt="4"/>
                </a:pPr>
                <a:r>
                  <a:rPr lang="en-US" sz="2800" b="0" dirty="0">
                    <a:latin typeface="+mn-lt"/>
                    <a:ea typeface="Cambria Math" panose="02040503050406030204" pitchFamily="18" charset="0"/>
                  </a:rPr>
                  <a:t>Distances must follow the </a:t>
                </a:r>
                <a:r>
                  <a:rPr lang="en-US" sz="2800" b="1" dirty="0">
                    <a:latin typeface="+mn-lt"/>
                    <a:ea typeface="Cambria Math" panose="02040503050406030204" pitchFamily="18" charset="0"/>
                  </a:rPr>
                  <a:t>triangle inequality </a:t>
                </a:r>
                <a:r>
                  <a:rPr lang="en-US" sz="2800" b="0" dirty="0">
                    <a:latin typeface="+mn-lt"/>
                    <a:ea typeface="Cambria Math" panose="02040503050406030204" pitchFamily="18" charset="0"/>
                  </a:rPr>
                  <a:t>(no shortcuts!)  </a:t>
                </a:r>
              </a:p>
              <a:p>
                <a:pPr marL="0" indent="0">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𝑧</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𝑧</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  ∀ </m:t>
                      </m:r>
                      <m:r>
                        <a:rPr lang="en-US" sz="2800" b="0" i="1" smtClean="0">
                          <a:latin typeface="Cambria Math" panose="02040503050406030204" pitchFamily="18" charset="0"/>
                          <a:ea typeface="Cambria Math" panose="02040503050406030204" pitchFamily="18" charset="0"/>
                        </a:rPr>
                        <m:t>𝑝𝑜𝑖𝑛𝑡𝑠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𝑧</m:t>
                      </m:r>
                    </m:oMath>
                  </m:oMathPara>
                </a14:m>
                <a:endParaRPr lang="en-US" sz="2800" b="0" dirty="0">
                  <a:latin typeface="+mn-lt"/>
                  <a:ea typeface="Cambria Math" panose="02040503050406030204" pitchFamily="18" charset="0"/>
                </a:endParaRPr>
              </a:p>
              <a:p>
                <a:endParaRPr lang="en-US" sz="2800" dirty="0">
                  <a:latin typeface="+mn-lt"/>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290388"/>
              </a:xfrm>
              <a:blipFill>
                <a:blip r:embed="rId3"/>
                <a:stretch>
                  <a:fillRect l="-1111" t="-1959"/>
                </a:stretch>
              </a:blipFill>
            </p:spPr>
            <p:txBody>
              <a:bodyPr/>
              <a:lstStyle/>
              <a:p>
                <a:r>
                  <a:rPr lang="en-US">
                    <a:noFill/>
                  </a:rPr>
                  <a:t> </a:t>
                </a:r>
              </a:p>
            </p:txBody>
          </p:sp>
        </mc:Fallback>
      </mc:AlternateContent>
    </p:spTree>
    <p:extLst>
      <p:ext uri="{BB962C8B-B14F-4D97-AF65-F5344CB8AC3E}">
        <p14:creationId xmlns:p14="http://schemas.microsoft.com/office/powerpoint/2010/main" val="401029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900312"/>
                <a:ext cx="11525250" cy="5290388"/>
              </a:xfrm>
            </p:spPr>
            <p:txBody>
              <a:bodyPr>
                <a:normAutofit/>
              </a:bodyPr>
              <a:lstStyle/>
              <a:p>
                <a:pPr marL="0" indent="0">
                  <a:buNone/>
                </a:pPr>
                <a:r>
                  <a:rPr lang="en-US" dirty="0">
                    <a:latin typeface="+mn-lt"/>
                  </a:rPr>
                  <a:t>Structure in data arises from </a:t>
                </a:r>
                <a:r>
                  <a:rPr lang="en-US" b="1" dirty="0">
                    <a:latin typeface="+mn-lt"/>
                  </a:rPr>
                  <a:t>dissimilarity</a:t>
                </a:r>
                <a:r>
                  <a:rPr lang="en-US" dirty="0">
                    <a:latin typeface="+mn-lt"/>
                  </a:rPr>
                  <a:t> measured by some </a:t>
                </a:r>
                <a:r>
                  <a:rPr lang="en-US" b="1" dirty="0">
                    <a:latin typeface="+mn-lt"/>
                  </a:rPr>
                  <a:t>distance metric</a:t>
                </a:r>
                <a:endParaRPr lang="en-US" sz="2800" b="1" dirty="0">
                  <a:latin typeface="+mn-lt"/>
                </a:endParaRPr>
              </a:p>
              <a:p>
                <a:r>
                  <a:rPr lang="en-US" sz="2800" dirty="0">
                    <a:latin typeface="+mn-lt"/>
                  </a:rPr>
                  <a:t>How do we organize dissimilarity (similarity) values? </a:t>
                </a:r>
              </a:p>
              <a:p>
                <a:r>
                  <a:rPr lang="en-US" dirty="0">
                    <a:latin typeface="+mn-lt"/>
                  </a:rPr>
                  <a:t>Create a </a:t>
                </a:r>
                <a:r>
                  <a:rPr lang="en-US" b="1" dirty="0">
                    <a:latin typeface="+mn-lt"/>
                  </a:rPr>
                  <a:t>dissimilarity matrix </a:t>
                </a:r>
                <a:r>
                  <a:rPr lang="en-US" dirty="0">
                    <a:latin typeface="+mn-lt"/>
                  </a:rPr>
                  <a:t>of the distances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i="1">
                                    <a:latin typeface="Cambria Math" panose="02040503050406030204" pitchFamily="18" charset="0"/>
                                  </a:rPr>
                                  <m:t>⋮</m:t>
                                </m:r>
                                <m:r>
                                  <a:rPr lang="en-US" b="0" i="1" smtClean="0">
                                    <a:latin typeface="Cambria Math" panose="02040503050406030204" pitchFamily="18" charset="0"/>
                                  </a:rPr>
                                  <m:t>                 </m:t>
                                </m:r>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900312"/>
                <a:ext cx="11525250" cy="5290388"/>
              </a:xfrm>
              <a:blipFill>
                <a:blip r:embed="rId3"/>
                <a:stretch>
                  <a:fillRect l="-1111" t="-1959" r="-1693"/>
                </a:stretch>
              </a:blipFill>
            </p:spPr>
            <p:txBody>
              <a:bodyPr/>
              <a:lstStyle/>
              <a:p>
                <a:r>
                  <a:rPr lang="en-US">
                    <a:noFill/>
                  </a:rPr>
                  <a:t> </a:t>
                </a:r>
              </a:p>
            </p:txBody>
          </p:sp>
        </mc:Fallback>
      </mc:AlternateContent>
    </p:spTree>
    <p:extLst>
      <p:ext uri="{BB962C8B-B14F-4D97-AF65-F5344CB8AC3E}">
        <p14:creationId xmlns:p14="http://schemas.microsoft.com/office/powerpoint/2010/main" val="234879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lnSpcReduction="10000"/>
              </a:bodyPr>
              <a:lstStyle/>
              <a:p>
                <a:pPr marL="0" indent="0">
                  <a:buNone/>
                </a:pPr>
                <a:r>
                  <a:rPr lang="en-US" dirty="0">
                    <a:latin typeface="+mn-lt"/>
                  </a:rPr>
                  <a:t>A dissimilarity matrix contains the distances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Dissimilarity matrix is symmetric, </a:t>
                </a:r>
                <a14:m>
                  <m:oMath xmlns:m="http://schemas.openxmlformats.org/officeDocument/2006/math">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m:rPr>
                        <m:brk m:alnAt="7"/>
                      </m:rPr>
                      <a:rPr lang="en-US" i="1">
                        <a:latin typeface="Cambria Math" panose="02040503050406030204" pitchFamily="18" charset="0"/>
                      </a:rPr>
                      <m:t>𝑑</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e>
                    </m:d>
                  </m:oMath>
                </a14:m>
                <a:endParaRPr lang="en-US" dirty="0">
                  <a:latin typeface="+mn-lt"/>
                </a:endParaRPr>
              </a:p>
              <a:p>
                <a:r>
                  <a:rPr lang="en-US" dirty="0">
                    <a:latin typeface="+mn-lt"/>
                  </a:rPr>
                  <a:t>The diagonal elements of the dissimilarity matrix are all 0, there is no dissimilarity</a:t>
                </a:r>
              </a:p>
              <a:p>
                <a:r>
                  <a:rPr lang="en-US" dirty="0">
                    <a:latin typeface="+mn-lt"/>
                  </a:rPr>
                  <a:t>Similarity matrix is the inverse of dissimilarity matrix    </a:t>
                </a:r>
              </a:p>
              <a:p>
                <a:pPr lvl="1"/>
                <a:r>
                  <a:rPr lang="en-US" dirty="0">
                    <a:latin typeface="+mn-lt"/>
                  </a:rPr>
                  <a:t>Symmetric</a:t>
                </a:r>
              </a:p>
              <a:p>
                <a:pPr lvl="1"/>
                <a:r>
                  <a:rPr lang="en-US" dirty="0">
                    <a:latin typeface="+mn-lt"/>
                  </a:rPr>
                  <a:t>All 1s on the diagonal   </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2539" b="-1104"/>
                </a:stretch>
              </a:blipFill>
            </p:spPr>
            <p:txBody>
              <a:bodyPr/>
              <a:lstStyle/>
              <a:p>
                <a:r>
                  <a:rPr lang="en-US">
                    <a:noFill/>
                  </a:rPr>
                  <a:t> </a:t>
                </a:r>
              </a:p>
            </p:txBody>
          </p:sp>
        </mc:Fallback>
      </mc:AlternateContent>
    </p:spTree>
    <p:extLst>
      <p:ext uri="{BB962C8B-B14F-4D97-AF65-F5344CB8AC3E}">
        <p14:creationId xmlns:p14="http://schemas.microsoft.com/office/powerpoint/2010/main" val="235019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Only need to store upper (or lower) triangular elements of array  </a:t>
                </a:r>
              </a:p>
              <a:p>
                <a:r>
                  <a:rPr lang="en-US" dirty="0">
                    <a:latin typeface="+mn-lt"/>
                  </a:rPr>
                  <a:t>Is a </a:t>
                </a:r>
                <a:r>
                  <a:rPr lang="en-US" b="1" dirty="0">
                    <a:latin typeface="+mn-lt"/>
                  </a:rPr>
                  <a:t>dense and memory intensive representation</a:t>
                </a:r>
                <a:r>
                  <a:rPr lang="en-US" dirty="0">
                    <a:latin typeface="+mn-lt"/>
                  </a:rPr>
                  <a:t> requiring </a:t>
                </a:r>
                <a14:m>
                  <m:oMath xmlns:m="http://schemas.openxmlformats.org/officeDocument/2006/math">
                    <m:r>
                      <a:rPr lang="en-US" b="1" i="1">
                        <a:latin typeface="Cambria Math" panose="02040503050406030204" pitchFamily="18" charset="0"/>
                      </a:rPr>
                      <m:t>𝑶</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e>
                    </m:d>
                  </m:oMath>
                </a14:m>
                <a:r>
                  <a:rPr lang="en-US" b="1" dirty="0">
                    <a:latin typeface="+mn-lt"/>
                  </a:rPr>
                  <a:t>  </a:t>
                </a:r>
                <a:r>
                  <a:rPr lang="en-US" dirty="0">
                    <a:latin typeface="+mn-lt"/>
                  </a:rPr>
                  <a:t>memory</a:t>
                </a:r>
              </a:p>
              <a:p>
                <a:pPr marL="0" indent="0">
                  <a:buNone/>
                </a:pPr>
                <a:endParaRPr lang="en-US"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153386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72CC-21A1-D54E-D475-EFA6405D9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45793-B39C-CE61-D1B0-1E4A2293A0BF}"/>
              </a:ext>
            </a:extLst>
          </p:cNvPr>
          <p:cNvSpPr>
            <a:spLocks noGrp="1"/>
          </p:cNvSpPr>
          <p:nvPr>
            <p:ph type="title"/>
          </p:nvPr>
        </p:nvSpPr>
        <p:spPr>
          <a:xfrm>
            <a:off x="831850" y="1709738"/>
            <a:ext cx="10515600" cy="2104337"/>
          </a:xfrm>
        </p:spPr>
        <p:txBody>
          <a:bodyPr/>
          <a:lstStyle/>
          <a:p>
            <a:pPr algn="ctr"/>
            <a:r>
              <a:rPr lang="en-US" b="1" dirty="0"/>
              <a:t>Basic Distance Metrics</a:t>
            </a:r>
          </a:p>
        </p:txBody>
      </p:sp>
    </p:spTree>
    <p:extLst>
      <p:ext uri="{BB962C8B-B14F-4D97-AF65-F5344CB8AC3E}">
        <p14:creationId xmlns:p14="http://schemas.microsoft.com/office/powerpoint/2010/main" val="301603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dissimilarity can be computed for numeric variables with p dimensions</a:t>
                </a:r>
              </a:p>
              <a:p>
                <a:r>
                  <a:rPr lang="en-US" b="1" dirty="0">
                    <a:latin typeface="+mn-lt"/>
                  </a:rPr>
                  <a:t>Euclidian distance, (L2</a:t>
                </a:r>
                <a:r>
                  <a:rPr lang="en-US" dirty="0">
                    <a:latin typeface="+mn-lt"/>
                  </a:rPr>
                  <a:t>)</a:t>
                </a: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𝑑</m:t>
                          </m:r>
                        </m:e>
                        <m:sub>
                          <m:r>
                            <a:rPr lang="en-US" b="0" i="1" dirty="0" smtClean="0">
                              <a:latin typeface="Cambria Math" panose="02040503050406030204" pitchFamily="18" charset="0"/>
                            </a:rPr>
                            <m:t>𝐿</m:t>
                          </m:r>
                          <m:r>
                            <a:rPr lang="en-US" b="0" i="1" dirty="0"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r>
                                    <a:rPr lang="en-US" i="1" smtClean="0">
                                      <a:latin typeface="Cambria Math" panose="02040503050406030204" pitchFamily="18" charset="0"/>
                                    </a:rPr>
                                    <m:t> </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i="1">
                                          <a:latin typeface="Cambria Math" panose="02040503050406030204" pitchFamily="18" charset="0"/>
                                        </a:rPr>
                                        <m:t>′</m:t>
                                      </m:r>
                                    </m:e>
                                    <m:sub>
                                      <m:r>
                                        <a:rPr lang="en-US" b="0" i="1" smtClean="0">
                                          <a:latin typeface="Cambria Math" panose="02040503050406030204" pitchFamily="18" charset="0"/>
                                        </a:rPr>
                                        <m:t> </m:t>
                                      </m:r>
                                    </m:sub>
                                  </m:sSub>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e>
                              </m:nary>
                            </m:e>
                          </m:d>
                        </m:e>
                        <m:sup>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dirty="0">
                  <a:latin typeface="+mn-lt"/>
                </a:endParaRPr>
              </a:p>
              <a:p>
                <a:r>
                  <a:rPr lang="en-US" b="1" dirty="0">
                    <a:latin typeface="+mn-lt"/>
                  </a:rPr>
                  <a:t>Absolute distance</a:t>
                </a:r>
                <a:r>
                  <a:rPr lang="en-US" dirty="0">
                    <a:latin typeface="+mn-lt"/>
                  </a:rPr>
                  <a:t> or </a:t>
                </a:r>
                <a:r>
                  <a:rPr lang="en-US" b="1" dirty="0">
                    <a:latin typeface="+mn-lt"/>
                  </a:rPr>
                  <a:t>Manhattan distance (L1)</a:t>
                </a:r>
              </a:p>
              <a:p>
                <a:pPr marL="0" indent="0">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𝐿</m:t>
                          </m:r>
                          <m:r>
                            <a:rPr lang="en-US" b="0" i="1" dirty="0" smtClean="0">
                              <a:latin typeface="Cambria Math" panose="02040503050406030204" pitchFamily="18" charset="0"/>
                            </a:rPr>
                            <m:t>1</m:t>
                          </m:r>
                        </m:sub>
                      </m:sSub>
                      <m:r>
                        <a:rPr lang="en-US" i="1" dirty="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i="1">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e>
                                <m:sub>
                                  <m:r>
                                    <a:rPr lang="en-US" b="0" i="1" smtClean="0">
                                      <a:latin typeface="Cambria Math" panose="02040503050406030204" pitchFamily="18" charset="0"/>
                                    </a:rPr>
                                    <m:t> </m:t>
                                  </m:r>
                                </m:sub>
                              </m:sSub>
                            </m:e>
                          </m:d>
                        </m:e>
                      </m:nary>
                    </m:oMath>
                  </m:oMathPara>
                </a14:m>
                <a:endParaRPr lang="en-US" dirty="0">
                  <a:latin typeface="+mn-lt"/>
                </a:endParaRPr>
              </a:p>
              <a:p>
                <a:r>
                  <a:rPr lang="en-US" b="1" dirty="0">
                    <a:latin typeface="+mn-lt"/>
                  </a:rPr>
                  <a:t>Max</a:t>
                </a:r>
                <a:r>
                  <a:rPr lang="en-US" dirty="0">
                    <a:latin typeface="+mn-lt"/>
                  </a:rPr>
                  <a:t>; or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𝑳</m:t>
                        </m:r>
                      </m:e>
                      <m:sub>
                        <m:r>
                          <a:rPr lang="en-US" b="1" i="1" smtClean="0">
                            <a:latin typeface="Cambria Math" panose="02040503050406030204" pitchFamily="18" charset="0"/>
                            <a:ea typeface="Cambria Math" panose="02040503050406030204" pitchFamily="18" charset="0"/>
                          </a:rPr>
                          <m:t>∞</m:t>
                        </m:r>
                      </m:sub>
                    </m:sSub>
                  </m:oMath>
                </a14:m>
                <a:r>
                  <a:rPr lang="en-US" dirty="0">
                    <a:latin typeface="+mn-lt"/>
                  </a:rPr>
                  <a:t> norm</a:t>
                </a:r>
                <a:endParaRPr lang="en-US" b="1" dirty="0"/>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𝑑</m:t>
                          </m:r>
                        </m:e>
                        <m:sub>
                          <m:r>
                            <a:rPr lang="en-US" b="0" i="1" dirty="0" smtClean="0">
                              <a:latin typeface="Cambria Math" panose="02040503050406030204" pitchFamily="18" charset="0"/>
                            </a:rPr>
                            <m:t>𝐿</m:t>
                          </m:r>
                          <m:r>
                            <a:rPr lang="en-US" b="0" i="1" dirty="0" smtClean="0">
                              <a:latin typeface="Cambria Math" panose="02040503050406030204" pitchFamily="18" charset="0"/>
                              <a:ea typeface="Cambria Math" panose="02040503050406030204" pitchFamily="18" charset="0"/>
                            </a:rPr>
                            <m:t>∞</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𝑖</m:t>
                              </m:r>
                            </m:lim>
                          </m:limLow>
                          <m:r>
                            <a:rPr lang="en-US" b="0" i="1" smtClean="0">
                              <a:latin typeface="Cambria Math" panose="02040503050406030204" pitchFamily="18" charset="0"/>
                            </a:rPr>
                            <m:t> </m:t>
                          </m:r>
                        </m:fName>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e>
                                <m:sub>
                                  <m:r>
                                    <a:rPr lang="en-US" b="0" i="1" smtClean="0">
                                      <a:latin typeface="Cambria Math" panose="02040503050406030204" pitchFamily="18" charset="0"/>
                                    </a:rPr>
                                    <m:t> </m:t>
                                  </m:r>
                                </m:sub>
                              </m:sSub>
                            </m:e>
                          </m:d>
                        </m:e>
                      </m:func>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317"/>
                </a:stretch>
              </a:blipFill>
            </p:spPr>
            <p:txBody>
              <a:bodyPr/>
              <a:lstStyle/>
              <a:p>
                <a:r>
                  <a:rPr lang="en-US">
                    <a:noFill/>
                  </a:rPr>
                  <a:t> </a:t>
                </a:r>
              </a:p>
            </p:txBody>
          </p:sp>
        </mc:Fallback>
      </mc:AlternateContent>
    </p:spTree>
    <p:extLst>
      <p:ext uri="{BB962C8B-B14F-4D97-AF65-F5344CB8AC3E}">
        <p14:creationId xmlns:p14="http://schemas.microsoft.com/office/powerpoint/2010/main" val="3966244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fontScale="85000" lnSpcReduction="10000"/>
              </a:bodyPr>
              <a:lstStyle/>
              <a:p>
                <a:pPr marL="0" indent="0">
                  <a:buNone/>
                </a:pPr>
                <a:r>
                  <a:rPr lang="en-US" dirty="0">
                    <a:latin typeface="+mn-lt"/>
                  </a:rPr>
                  <a:t>Square root of the sum of squares is the Euclidian distance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 </m:t>
                                      </m:r>
                                    </m:sup>
                                  </m:sSub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847" t="-7063"/>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6416298" y="2752880"/>
                <a:ext cx="5584552" cy="2397579"/>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distance between them? </a:t>
                </a:r>
              </a:p>
              <a:p>
                <a:pPr marL="285750" indent="-285750">
                  <a:buFont typeface="Arial" panose="020B0604020202020204" pitchFamily="34" charset="0"/>
                  <a:buChar char="•"/>
                </a:pPr>
                <a:r>
                  <a:rPr lang="en-US" sz="2400" dirty="0"/>
                  <a:t>Sum of squares</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𝑆𝑆</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sup>
                              <m:r>
                                <a:rPr lang="en-US" sz="2400" b="0" i="1" smtClean="0">
                                  <a:latin typeface="Cambria Math" panose="02040503050406030204" pitchFamily="18" charset="0"/>
                                </a:rPr>
                                <m:t>2</m:t>
                              </m:r>
                            </m:sup>
                          </m:sSup>
                        </m:e>
                      </m:d>
                      <m:r>
                        <a:rPr lang="en-US" sz="2400" b="0" i="1" smtClean="0">
                          <a:latin typeface="Cambria Math" panose="02040503050406030204" pitchFamily="18" charset="0"/>
                        </a:rPr>
                        <m:t>=8</m:t>
                      </m:r>
                    </m:oMath>
                  </m:oMathPara>
                </a14:m>
                <a:endParaRPr lang="en-US" sz="2400" dirty="0"/>
              </a:p>
              <a:p>
                <a:pPr marL="285750" indent="-285750">
                  <a:buFont typeface="Arial" panose="020B0604020202020204" pitchFamily="34" charset="0"/>
                  <a:buChar char="•"/>
                </a:pPr>
                <a:r>
                  <a:rPr lang="en-US" sz="2400" dirty="0"/>
                  <a:t>Euclidian Norm  </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𝐸</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𝑆𝑆</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e>
                        <m:sup>
                          <m:r>
                            <a:rPr lang="en-US" sz="2400" b="0" i="1" smtClean="0">
                              <a:latin typeface="Cambria Math" panose="02040503050406030204" pitchFamily="18" charset="0"/>
                            </a:rPr>
                            <m:t>1/2</m:t>
                          </m:r>
                        </m:sup>
                      </m:sSup>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8</m:t>
                          </m:r>
                        </m:e>
                      </m:rad>
                      <m:r>
                        <a:rPr lang="en-US" sz="2400" b="0" i="1" smtClean="0">
                          <a:latin typeface="Cambria Math" panose="02040503050406030204" pitchFamily="18" charset="0"/>
                        </a:rPr>
                        <m:t>=2.83</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6416298" y="2752880"/>
                <a:ext cx="5584552" cy="2397579"/>
              </a:xfrm>
              <a:prstGeom prst="rect">
                <a:avLst/>
              </a:prstGeom>
              <a:blipFill>
                <a:blip r:embed="rId4"/>
                <a:stretch>
                  <a:fillRect l="-1528" t="-2036"/>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stCxn id="13" idx="0"/>
            <a:endCxn id="12" idx="2"/>
          </p:cNvCxnSpPr>
          <p:nvPr/>
        </p:nvCxnSpPr>
        <p:spPr>
          <a:xfrm flipV="1">
            <a:off x="3405313" y="3533437"/>
            <a:ext cx="1817852" cy="1630635"/>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5066A27-03ED-4C91-9E71-890ECF17A18B}"/>
              </a:ext>
            </a:extLst>
          </p:cNvPr>
          <p:cNvSpPr txBox="1"/>
          <p:nvPr/>
        </p:nvSpPr>
        <p:spPr>
          <a:xfrm>
            <a:off x="6382015" y="5164072"/>
            <a:ext cx="5584552"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t>Euclidian Norm is ‘crow-flies’ distance </a:t>
            </a:r>
          </a:p>
        </p:txBody>
      </p:sp>
    </p:spTree>
    <p:extLst>
      <p:ext uri="{BB962C8B-B14F-4D97-AF65-F5344CB8AC3E}">
        <p14:creationId xmlns:p14="http://schemas.microsoft.com/office/powerpoint/2010/main" val="1288535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Manhattan Norm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𝑝</m:t>
                          </m:r>
                        </m:sup>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e>
                      </m:nary>
                    </m:oMath>
                  </m:oMathPara>
                </a14:m>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6416298" y="2752880"/>
                <a:ext cx="5584552"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distance between them? </a:t>
                </a:r>
              </a:p>
              <a:p>
                <a:pPr marL="285750" indent="-285750">
                  <a:buFont typeface="Arial" panose="020B0604020202020204" pitchFamily="34" charset="0"/>
                  <a:buChar char="•"/>
                </a:pPr>
                <a:r>
                  <a:rPr lang="en-US" sz="2400" dirty="0"/>
                  <a:t>Manhattan Norm</a:t>
                </a: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𝑀</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e>
                      </m:d>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d>
                      <m:r>
                        <a:rPr lang="en-US" sz="2400" b="0" i="1" smtClean="0">
                          <a:latin typeface="Cambria Math" panose="02040503050406030204" pitchFamily="18" charset="0"/>
                        </a:rPr>
                        <m:t>=4</m:t>
                      </m:r>
                    </m:oMath>
                  </m:oMathPara>
                </a14:m>
                <a:endParaRPr lang="en-US" sz="2400" dirty="0"/>
              </a:p>
              <a:p>
                <a:pPr marL="342900" indent="-342900">
                  <a:buFont typeface="Arial" panose="020B0604020202020204" pitchFamily="34" charset="0"/>
                  <a:buChar char="•"/>
                </a:pPr>
                <a:r>
                  <a:rPr lang="en-US" sz="2400" dirty="0"/>
                  <a:t>Manhattan distance is distance traveled on a grid</a:t>
                </a:r>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6416298" y="2752880"/>
                <a:ext cx="5584552" cy="2308324"/>
              </a:xfrm>
              <a:prstGeom prst="rect">
                <a:avLst/>
              </a:prstGeom>
              <a:blipFill>
                <a:blip r:embed="rId4"/>
                <a:stretch>
                  <a:fillRect l="-1528" t="-2116" r="-109" b="-5291"/>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stCxn id="13" idx="3"/>
          </p:cNvCxnSpPr>
          <p:nvPr/>
        </p:nvCxnSpPr>
        <p:spPr>
          <a:xfrm>
            <a:off x="3505758" y="5268510"/>
            <a:ext cx="1691340" cy="0"/>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2"/>
          </p:cNvCxnSpPr>
          <p:nvPr/>
        </p:nvCxnSpPr>
        <p:spPr>
          <a:xfrm flipV="1">
            <a:off x="5197098" y="3533437"/>
            <a:ext cx="26067" cy="1735073"/>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604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D9FF-E41C-E876-3C19-0764AE051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FDD4C-C176-D7CD-2E76-2AEA555C7620}"/>
              </a:ext>
            </a:extLst>
          </p:cNvPr>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D412EDD-2044-629B-DB79-22304786837F}"/>
                  </a:ext>
                </a:extLst>
              </p:cNvPr>
              <p:cNvSpPr>
                <a:spLocks noGrp="1"/>
              </p:cNvSpPr>
              <p:nvPr>
                <p:ph sz="quarter" idx="10"/>
              </p:nvPr>
            </p:nvSpPr>
            <p:spPr>
              <a:xfrm>
                <a:off x="333375" y="896079"/>
                <a:ext cx="11525250" cy="1639303"/>
              </a:xfrm>
            </p:spPr>
            <p:txBody>
              <a:bodyPr>
                <a:normAutofit/>
              </a:bodyPr>
              <a:lstStyle/>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ea typeface="Cambria Math" panose="02040503050406030204" pitchFamily="18" charset="0"/>
                          </a:rPr>
                          <m:t>∞</m:t>
                        </m:r>
                      </m:sub>
                    </m:sSub>
                  </m:oMath>
                </a14:m>
                <a:r>
                  <a:rPr lang="en-US" dirty="0">
                    <a:latin typeface="+mn-lt"/>
                  </a:rPr>
                  <a:t> Norm</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unc>
                        <m:funcPr>
                          <m:ctrlPr>
                            <a:rPr lang="en-US" i="1" smtClean="0">
                              <a:latin typeface="Cambria Math" panose="02040503050406030204" pitchFamily="18" charset="0"/>
                            </a:rPr>
                          </m:ctrlPr>
                        </m:funcPr>
                        <m:fName>
                          <m:sSub>
                            <m:sSubPr>
                              <m:ctrlPr>
                                <a:rPr lang="en-US" i="1" smtClean="0">
                                  <a:latin typeface="Cambria Math" panose="02040503050406030204" pitchFamily="18" charset="0"/>
                                </a:rPr>
                              </m:ctrlPr>
                            </m:sSubPr>
                            <m:e>
                              <m:r>
                                <a:rPr lang="en-US" b="0" i="1" smtClean="0">
                                  <a:latin typeface="Cambria Math" panose="02040503050406030204" pitchFamily="18" charset="0"/>
                                </a:rPr>
                                <m:t>𝑚𝑎𝑥</m:t>
                              </m:r>
                            </m:e>
                            <m:sub>
                              <m:r>
                                <a:rPr lang="en-US" b="0" i="1" smtClean="0">
                                  <a:latin typeface="Cambria Math" panose="02040503050406030204" pitchFamily="18" charset="0"/>
                                </a:rPr>
                                <m:t>𝑖</m:t>
                              </m:r>
                            </m:sub>
                          </m:sSub>
                        </m:fName>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e>
                      </m:func>
                    </m:oMath>
                  </m:oMathPara>
                </a14:m>
                <a:endParaRPr lang="en-US" dirty="0">
                  <a:latin typeface="+mn-lt"/>
                </a:endParaRPr>
              </a:p>
              <a:p>
                <a:endParaRPr lang="en-US" dirty="0">
                  <a:latin typeface="+mn-lt"/>
                </a:endParaRPr>
              </a:p>
            </p:txBody>
          </p:sp>
        </mc:Choice>
        <mc:Fallback xmlns="">
          <p:sp>
            <p:nvSpPr>
              <p:cNvPr id="3" name="Content Placeholder 2">
                <a:extLst>
                  <a:ext uri="{FF2B5EF4-FFF2-40B4-BE49-F238E27FC236}">
                    <a16:creationId xmlns:a16="http://schemas.microsoft.com/office/drawing/2014/main" id="{5D412EDD-2044-629B-DB79-22304786837F}"/>
                  </a:ext>
                </a:extLst>
              </p:cNvPr>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8339C03-A116-9DB5-E137-9FFB4D245DA3}"/>
              </a:ext>
            </a:extLst>
          </p:cNvPr>
          <p:cNvCxnSpPr/>
          <p:nvPr/>
        </p:nvCxnSpPr>
        <p:spPr>
          <a:xfrm>
            <a:off x="1563920" y="5896166"/>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E2F073A-5749-91B1-9B14-4D5AB7B7610A}"/>
              </a:ext>
            </a:extLst>
          </p:cNvPr>
          <p:cNvCxnSpPr>
            <a:cxnSpLocks/>
          </p:cNvCxnSpPr>
          <p:nvPr/>
        </p:nvCxnSpPr>
        <p:spPr>
          <a:xfrm flipV="1">
            <a:off x="1563920" y="2512370"/>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E95F523-4F3A-9F8B-88E3-5B5DBB4FFEB3}"/>
              </a:ext>
            </a:extLst>
          </p:cNvPr>
          <p:cNvSpPr txBox="1"/>
          <p:nvPr/>
        </p:nvSpPr>
        <p:spPr>
          <a:xfrm>
            <a:off x="3713018" y="5896166"/>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2428E4AA-5DFE-DF14-8E4C-E84B9274BF2E}"/>
              </a:ext>
            </a:extLst>
          </p:cNvPr>
          <p:cNvSpPr txBox="1"/>
          <p:nvPr/>
        </p:nvSpPr>
        <p:spPr>
          <a:xfrm>
            <a:off x="1044374" y="3887257"/>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727E22DA-4180-C382-0150-1D93647F5866}"/>
              </a:ext>
            </a:extLst>
          </p:cNvPr>
          <p:cNvSpPr/>
          <p:nvPr/>
        </p:nvSpPr>
        <p:spPr>
          <a:xfrm>
            <a:off x="5122720" y="332456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54B5728A-87F6-16C5-0D2F-95B70FC2BB9B}"/>
              </a:ext>
            </a:extLst>
          </p:cNvPr>
          <p:cNvSpPr/>
          <p:nvPr/>
        </p:nvSpPr>
        <p:spPr>
          <a:xfrm>
            <a:off x="3304868" y="5164072"/>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E0600A1-2D63-4A1F-746F-562EDE0C7B08}"/>
              </a:ext>
            </a:extLst>
          </p:cNvPr>
          <p:cNvSpPr txBox="1"/>
          <p:nvPr/>
        </p:nvSpPr>
        <p:spPr>
          <a:xfrm>
            <a:off x="3017709" y="5345466"/>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AE42490E-41D4-87A4-914C-A521FFF7EF03}"/>
              </a:ext>
            </a:extLst>
          </p:cNvPr>
          <p:cNvSpPr txBox="1"/>
          <p:nvPr/>
        </p:nvSpPr>
        <p:spPr>
          <a:xfrm>
            <a:off x="5337699" y="3157229"/>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D6FA2A4-CFCD-5C9F-F4CA-37EAF5892DF8}"/>
                  </a:ext>
                </a:extLst>
              </p:cNvPr>
              <p:cNvSpPr txBox="1"/>
              <p:nvPr/>
            </p:nvSpPr>
            <p:spPr>
              <a:xfrm>
                <a:off x="6416298" y="2752880"/>
                <a:ext cx="5584552" cy="1938992"/>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maximum distance along any axis? </a:t>
                </a: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i="1" smtClean="0">
                            <a:latin typeface="Cambria Math" panose="02040503050406030204" pitchFamily="18" charset="0"/>
                            <a:ea typeface="Cambria Math" panose="02040503050406030204" pitchFamily="18" charset="0"/>
                          </a:rPr>
                          <m:t>∞</m:t>
                        </m:r>
                      </m:sub>
                    </m:sSub>
                  </m:oMath>
                </a14:m>
                <a:r>
                  <a:rPr lang="en-US" sz="2400" dirty="0"/>
                  <a:t> Norm</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𝑚𝑎𝑥</m:t>
                          </m:r>
                        </m:e>
                        <m:sub>
                          <m:r>
                            <a:rPr lang="en-US" sz="2400" i="1">
                              <a:latin typeface="Cambria Math" panose="02040503050406030204" pitchFamily="18" charset="0"/>
                            </a:rPr>
                            <m:t>𝑖</m:t>
                          </m:r>
                        </m:sub>
                      </m:sSub>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2−4</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1−3</m:t>
                              </m:r>
                            </m:e>
                          </m:d>
                        </m:e>
                      </m:d>
                      <m:r>
                        <a:rPr lang="en-US" sz="2400" b="0" i="1" smtClean="0">
                          <a:latin typeface="Cambria Math" panose="02040503050406030204" pitchFamily="18" charset="0"/>
                        </a:rPr>
                        <m:t>=2</m:t>
                      </m:r>
                    </m:oMath>
                  </m:oMathPara>
                </a14:m>
                <a:endParaRPr lang="en-US" sz="2400" dirty="0"/>
              </a:p>
            </p:txBody>
          </p:sp>
        </mc:Choice>
        <mc:Fallback xmlns="">
          <p:sp>
            <p:nvSpPr>
              <p:cNvPr id="17" name="TextBox 16">
                <a:extLst>
                  <a:ext uri="{FF2B5EF4-FFF2-40B4-BE49-F238E27FC236}">
                    <a16:creationId xmlns:a16="http://schemas.microsoft.com/office/drawing/2014/main" id="{CD6FA2A4-CFCD-5C9F-F4CA-37EAF5892DF8}"/>
                  </a:ext>
                </a:extLst>
              </p:cNvPr>
              <p:cNvSpPr txBox="1">
                <a:spLocks noRot="1" noChangeAspect="1" noMove="1" noResize="1" noEditPoints="1" noAdjustHandles="1" noChangeArrowheads="1" noChangeShapeType="1" noTextEdit="1"/>
              </p:cNvSpPr>
              <p:nvPr/>
            </p:nvSpPr>
            <p:spPr>
              <a:xfrm>
                <a:off x="6416298" y="2752880"/>
                <a:ext cx="5584552" cy="1938992"/>
              </a:xfrm>
              <a:prstGeom prst="rect">
                <a:avLst/>
              </a:prstGeom>
              <a:blipFill>
                <a:blip r:embed="rId4"/>
                <a:stretch>
                  <a:fillRect l="-1528" t="-2516" r="-2074"/>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E46B6FC-3E25-9C31-0671-D6F0F28ABAD7}"/>
              </a:ext>
            </a:extLst>
          </p:cNvPr>
          <p:cNvCxnSpPr>
            <a:cxnSpLocks/>
            <a:stCxn id="13" idx="3"/>
          </p:cNvCxnSpPr>
          <p:nvPr/>
        </p:nvCxnSpPr>
        <p:spPr>
          <a:xfrm>
            <a:off x="3505758" y="5268510"/>
            <a:ext cx="1691340" cy="0"/>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F26D40A-41A5-6AED-303D-BEBC0FAD5744}"/>
              </a:ext>
            </a:extLst>
          </p:cNvPr>
          <p:cNvCxnSpPr>
            <a:cxnSpLocks/>
            <a:endCxn id="12" idx="2"/>
          </p:cNvCxnSpPr>
          <p:nvPr/>
        </p:nvCxnSpPr>
        <p:spPr>
          <a:xfrm flipV="1">
            <a:off x="5197098" y="3533437"/>
            <a:ext cx="26067" cy="1735073"/>
          </a:xfrm>
          <a:prstGeom prst="straightConnector1">
            <a:avLst/>
          </a:prstGeom>
          <a:ln w="444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86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Different metrics for numeric dissimilarity can be computed for numeric variables in p dimensions</a:t>
                </a:r>
              </a:p>
              <a:p>
                <a:r>
                  <a:rPr lang="en-US" b="1" dirty="0" err="1">
                    <a:latin typeface="+mn-lt"/>
                    <a:hlinkClick r:id="rId3"/>
                  </a:rPr>
                  <a:t>Mahalanobis</a:t>
                </a:r>
                <a:r>
                  <a:rPr lang="en-US" b="1" dirty="0">
                    <a:latin typeface="+mn-lt"/>
                    <a:hlinkClick r:id="rId3"/>
                  </a:rPr>
                  <a:t> Distance </a:t>
                </a:r>
                <a:r>
                  <a:rPr lang="en-US" dirty="0">
                    <a:latin typeface="+mn-lt"/>
                  </a:rPr>
                  <a:t>(standardized Euclidean distance) is useful in cases with dependency (correlation) between variables  </a:t>
                </a:r>
              </a:p>
              <a:p>
                <a:r>
                  <a:rPr lang="en-US" dirty="0">
                    <a:latin typeface="+mn-lt"/>
                  </a:rPr>
                  <a:t>Technically is a ‘pseudo-distance’ metric since works in transformed space  </a:t>
                </a:r>
              </a:p>
              <a:p>
                <a:r>
                  <a:rPr lang="en-US" b="1" dirty="0" err="1">
                    <a:latin typeface="+mn-lt"/>
                  </a:rPr>
                  <a:t>Mahalanobis</a:t>
                </a:r>
                <a:r>
                  <a:rPr lang="en-US" b="1" dirty="0">
                    <a:latin typeface="+mn-lt"/>
                  </a:rPr>
                  <a:t> Distance </a:t>
                </a:r>
                <a:r>
                  <a:rPr lang="en-US" dirty="0">
                    <a:latin typeface="+mn-lt"/>
                  </a:rPr>
                  <a:t>between two points (vectors) </a:t>
                </a:r>
                <a:endParaRPr lang="en-US" dirty="0"/>
              </a:p>
              <a:p>
                <a:pPr marL="0" indent="0">
                  <a:buNone/>
                </a:pPr>
                <a:r>
                  <a:rPr lang="en-US" dirty="0"/>
                  <a:t>				</a:t>
                </a: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rad>
                  </m:oMath>
                </a14:m>
                <a:endParaRPr lang="en-US" dirty="0"/>
              </a:p>
              <a:p>
                <a:pPr marL="0" indent="0">
                  <a:buNone/>
                </a:pPr>
                <a:r>
                  <a:rPr lang="en-US" sz="2400" dirty="0">
                    <a:latin typeface="+mn-lt"/>
                  </a:rPr>
                  <a:t>Where,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b="0" i="1" smtClean="0">
                            <a:latin typeface="Cambria Math" panose="02040503050406030204" pitchFamily="18" charset="0"/>
                          </a:rPr>
                          <m:t> </m:t>
                        </m:r>
                      </m:sup>
                    </m:sSup>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𝑇</m:t>
                        </m:r>
                      </m:sup>
                    </m:sSup>
                  </m:oMath>
                </a14:m>
                <a:r>
                  <a:rPr lang="en-US" sz="2400" dirty="0">
                    <a:latin typeface="+mn-lt"/>
                  </a:rPr>
                  <a:t> is the empirical covariance estimate </a:t>
                </a:r>
              </a:p>
              <a:p>
                <a:r>
                  <a:rPr lang="en-US" dirty="0">
                    <a:latin typeface="+mn-lt"/>
                  </a:rPr>
                  <a:t>How can we interpret the </a:t>
                </a:r>
                <a:r>
                  <a:rPr lang="en-US" dirty="0" err="1">
                    <a:latin typeface="+mn-lt"/>
                  </a:rPr>
                  <a:t>Mahalanobis</a:t>
                </a:r>
                <a:r>
                  <a:rPr lang="en-US" dirty="0">
                    <a:latin typeface="+mn-lt"/>
                  </a:rPr>
                  <a:t> distance?   </a:t>
                </a:r>
              </a:p>
              <a:p>
                <a:pPr marL="0" indent="0">
                  <a:buNone/>
                </a:pPr>
                <a:endParaRPr lang="en-US" sz="2400">
                  <a:latin typeface="+mn-lt"/>
                </a:endParaRPr>
              </a:p>
              <a:p>
                <a:pPr marL="0" indent="0">
                  <a:buNone/>
                </a:pPr>
                <a:r>
                  <a:rPr lang="en-US" sz="2400">
                    <a:latin typeface="+mn-lt"/>
                  </a:rPr>
                  <a:t>You </a:t>
                </a:r>
                <a:r>
                  <a:rPr lang="en-US" sz="2400" dirty="0">
                    <a:latin typeface="+mn-lt"/>
                  </a:rPr>
                  <a:t>can find an alternative explanation in </a:t>
                </a:r>
                <a:r>
                  <a:rPr lang="en-US" sz="2400" dirty="0">
                    <a:latin typeface="+mn-lt"/>
                    <a:hlinkClick r:id="rId4"/>
                  </a:rPr>
                  <a:t>Statistics How To</a:t>
                </a:r>
                <a:endParaRPr lang="en-US" sz="2400"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5"/>
                <a:stretch>
                  <a:fillRect l="-1111" t="-2460"/>
                </a:stretch>
              </a:blipFill>
            </p:spPr>
            <p:txBody>
              <a:bodyPr/>
              <a:lstStyle/>
              <a:p>
                <a:r>
                  <a:rPr lang="en-US">
                    <a:noFill/>
                  </a:rPr>
                  <a:t> </a:t>
                </a:r>
              </a:p>
            </p:txBody>
          </p:sp>
        </mc:Fallback>
      </mc:AlternateContent>
    </p:spTree>
    <p:extLst>
      <p:ext uri="{BB962C8B-B14F-4D97-AF65-F5344CB8AC3E}">
        <p14:creationId xmlns:p14="http://schemas.microsoft.com/office/powerpoint/2010/main" val="4220097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numeric dissimilarity can be computed for numeric variables in p dimensions</a:t>
                </a:r>
              </a:p>
              <a:p>
                <a:r>
                  <a:rPr lang="en-US" b="1" dirty="0" err="1">
                    <a:latin typeface="+mn-lt"/>
                  </a:rPr>
                  <a:t>Mahalanobis</a:t>
                </a:r>
                <a:r>
                  <a:rPr lang="en-US" b="1" dirty="0">
                    <a:latin typeface="+mn-lt"/>
                  </a:rPr>
                  <a:t> Distance </a:t>
                </a:r>
                <a:r>
                  <a:rPr lang="en-US" dirty="0">
                    <a:latin typeface="+mn-lt"/>
                  </a:rPr>
                  <a:t>between two points (vectors) </a:t>
                </a:r>
                <a:endParaRPr lang="en-US" dirty="0"/>
              </a:p>
              <a:p>
                <a:pPr marL="0" indent="0">
                  <a:buNone/>
                </a:pPr>
                <a:r>
                  <a:rPr lang="en-US" dirty="0"/>
                  <a:t>				</a:t>
                </a:r>
                <a14:m>
                  <m:oMath xmlns:m="http://schemas.openxmlformats.org/officeDocument/2006/math">
                    <m:r>
                      <a:rPr lang="en-US">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d>
                              <m:dPr>
                                <m:ctrlPr>
                                  <a:rPr lang="en-US" i="1" smtClean="0">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sup>
                            <m:r>
                              <a:rPr lang="en-US" i="1">
                                <a:latin typeface="Cambria Math" panose="02040503050406030204" pitchFamily="18" charset="0"/>
                              </a:rPr>
                              <m:t>𝑇</m:t>
                            </m:r>
                          </m:sup>
                        </m:sSup>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e>
                    </m:rad>
                  </m:oMath>
                </a14:m>
                <a:endParaRPr lang="en-US" dirty="0"/>
              </a:p>
              <a:p>
                <a:pPr marL="0" indent="0">
                  <a:buNone/>
                </a:pPr>
                <a:r>
                  <a:rPr lang="en-US" sz="2400" dirty="0">
                    <a:latin typeface="+mn-lt"/>
                  </a:rPr>
                  <a:t>Where,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b="0" i="1" smtClean="0">
                            <a:latin typeface="Cambria Math" panose="02040503050406030204" pitchFamily="18" charset="0"/>
                          </a:rPr>
                          <m:t> </m:t>
                        </m:r>
                      </m:sup>
                    </m:sSup>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𝑛</m:t>
                        </m:r>
                      </m:den>
                    </m:f>
                    <m:r>
                      <a:rPr lang="en-US" sz="2400" b="0" i="1" smtClean="0">
                        <a:latin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r>
                          <a:rPr lang="en-US" sz="2400" b="0" i="1" smtClean="0">
                            <a:latin typeface="Cambria Math" panose="02040503050406030204" pitchFamily="18" charset="0"/>
                          </a:rPr>
                          <m:t>′</m:t>
                        </m:r>
                      </m:e>
                      <m:sup>
                        <m:r>
                          <a:rPr lang="en-US" sz="2400" b="0" i="1" smtClean="0">
                            <a:latin typeface="Cambria Math" panose="02040503050406030204" pitchFamily="18" charset="0"/>
                          </a:rPr>
                          <m:t>𝑇</m:t>
                        </m:r>
                      </m:sup>
                    </m:sSup>
                  </m:oMath>
                </a14:m>
                <a:r>
                  <a:rPr lang="en-US" sz="2400" dirty="0">
                    <a:latin typeface="+mn-lt"/>
                  </a:rPr>
                  <a:t> is the empirical covariance estimate </a:t>
                </a:r>
              </a:p>
              <a:p>
                <a:r>
                  <a:rPr lang="en-US" dirty="0">
                    <a:latin typeface="+mn-lt"/>
                  </a:rPr>
                  <a:t>Inverse covariance,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−1</m:t>
                        </m:r>
                      </m:sup>
                    </m:sSup>
                  </m:oMath>
                </a14:m>
                <a:r>
                  <a:rPr lang="en-US" dirty="0">
                    <a:latin typeface="+mn-lt"/>
                  </a:rPr>
                  <a:t>, transforms elliptical Normal distribution to spherical distribution</a:t>
                </a:r>
              </a:p>
              <a:p>
                <a:r>
                  <a:rPr lang="en-US" dirty="0">
                    <a:latin typeface="+mn-lt"/>
                  </a:rPr>
                  <a:t>Transformed space is </a:t>
                </a:r>
                <a:r>
                  <a:rPr lang="en-US" b="1" dirty="0">
                    <a:latin typeface="+mn-lt"/>
                  </a:rPr>
                  <a:t>orthogonal</a:t>
                </a:r>
                <a:r>
                  <a:rPr lang="en-US" dirty="0">
                    <a:latin typeface="+mn-lt"/>
                  </a:rPr>
                  <a:t>  </a:t>
                </a:r>
              </a:p>
              <a:p>
                <a:r>
                  <a:rPr lang="en-US" dirty="0" err="1">
                    <a:latin typeface="+mn-lt"/>
                  </a:rPr>
                  <a:t>Mahalanobis</a:t>
                </a:r>
                <a:r>
                  <a:rPr lang="en-US" dirty="0">
                    <a:latin typeface="+mn-lt"/>
                  </a:rPr>
                  <a:t> distance is measured in the transformed space </a:t>
                </a:r>
              </a:p>
              <a:p>
                <a:r>
                  <a:rPr lang="en-US" dirty="0" err="1">
                    <a:latin typeface="+mn-lt"/>
                  </a:rPr>
                  <a:t>Mahalanobis</a:t>
                </a:r>
                <a:r>
                  <a:rPr lang="en-US" dirty="0">
                    <a:latin typeface="+mn-lt"/>
                  </a:rPr>
                  <a:t> distance is </a:t>
                </a:r>
                <a:r>
                  <a:rPr lang="en-US" b="1" dirty="0">
                    <a:latin typeface="+mn-lt"/>
                  </a:rPr>
                  <a:t>scale invariant </a:t>
                </a:r>
                <a:r>
                  <a:rPr lang="en-US" dirty="0">
                    <a:latin typeface="+mn-lt"/>
                  </a:rPr>
                  <a:t>and </a:t>
                </a:r>
                <a:r>
                  <a:rPr lang="en-US" b="1" dirty="0">
                    <a:latin typeface="+mn-lt"/>
                  </a:rPr>
                  <a:t>unitless</a:t>
                </a:r>
              </a:p>
              <a:p>
                <a:endParaRPr lang="en-US" dirty="0">
                  <a:latin typeface="+mn-lt"/>
                </a:endParaRPr>
              </a:p>
              <a:p>
                <a:endParaRPr lang="en-US" dirty="0">
                  <a:latin typeface="+mn-lt"/>
                </a:endParaRP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1587"/>
                </a:stretch>
              </a:blipFill>
            </p:spPr>
            <p:txBody>
              <a:bodyPr/>
              <a:lstStyle/>
              <a:p>
                <a:r>
                  <a:rPr lang="en-US">
                    <a:noFill/>
                  </a:rPr>
                  <a:t> </a:t>
                </a:r>
              </a:p>
            </p:txBody>
          </p:sp>
        </mc:Fallback>
      </mc:AlternateContent>
    </p:spTree>
    <p:extLst>
      <p:ext uri="{BB962C8B-B14F-4D97-AF65-F5344CB8AC3E}">
        <p14:creationId xmlns:p14="http://schemas.microsoft.com/office/powerpoint/2010/main" val="2887582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2030969"/>
          </a:xfrm>
        </p:spPr>
        <p:txBody>
          <a:bodyPr>
            <a:normAutofit/>
          </a:bodyPr>
          <a:lstStyle/>
          <a:p>
            <a:pPr marL="0" indent="0">
              <a:buNone/>
            </a:pPr>
            <a:r>
              <a:rPr lang="en-US" dirty="0">
                <a:latin typeface="+mn-lt"/>
              </a:rPr>
              <a:t>Different metrics for numeric dissimilarity can be computed for numeric variables in p dimensions</a:t>
            </a:r>
          </a:p>
          <a:p>
            <a:r>
              <a:rPr lang="en-US" dirty="0">
                <a:latin typeface="+mn-lt"/>
              </a:rPr>
              <a:t>Example: start with some 2-dimensional observations  </a:t>
            </a:r>
          </a:p>
          <a:p>
            <a:r>
              <a:rPr lang="en-US" dirty="0">
                <a:latin typeface="+mn-lt"/>
              </a:rPr>
              <a:t>Variables are correlated</a:t>
            </a:r>
          </a:p>
          <a:p>
            <a:pPr marL="0" indent="0">
              <a:buNone/>
            </a:pPr>
            <a:endParaRPr lang="en-US" dirty="0">
              <a:latin typeface="+mn-lt"/>
            </a:endParaRPr>
          </a:p>
        </p:txBody>
      </p:sp>
      <p:pic>
        <p:nvPicPr>
          <p:cNvPr id="5" name="Picture 4">
            <a:extLst>
              <a:ext uri="{FF2B5EF4-FFF2-40B4-BE49-F238E27FC236}">
                <a16:creationId xmlns:a16="http://schemas.microsoft.com/office/drawing/2014/main" id="{BE4F6007-5EB8-0DD6-9E7A-06BEDDDD5E67}"/>
              </a:ext>
            </a:extLst>
          </p:cNvPr>
          <p:cNvPicPr>
            <a:picLocks noChangeAspect="1"/>
          </p:cNvPicPr>
          <p:nvPr/>
        </p:nvPicPr>
        <p:blipFill>
          <a:blip r:embed="rId3"/>
          <a:stretch>
            <a:fillRect/>
          </a:stretch>
        </p:blipFill>
        <p:spPr>
          <a:xfrm>
            <a:off x="2346476" y="2883745"/>
            <a:ext cx="5330661" cy="3415454"/>
          </a:xfrm>
          <a:prstGeom prst="rect">
            <a:avLst/>
          </a:prstGeom>
        </p:spPr>
      </p:pic>
      <p:sp>
        <p:nvSpPr>
          <p:cNvPr id="6" name="TextBox 5">
            <a:extLst>
              <a:ext uri="{FF2B5EF4-FFF2-40B4-BE49-F238E27FC236}">
                <a16:creationId xmlns:a16="http://schemas.microsoft.com/office/drawing/2014/main" id="{FE173562-5ECA-4FF9-B3FD-3958B8698064}"/>
              </a:ext>
            </a:extLst>
          </p:cNvPr>
          <p:cNvSpPr txBox="1"/>
          <p:nvPr/>
        </p:nvSpPr>
        <p:spPr>
          <a:xfrm>
            <a:off x="2762553" y="6328231"/>
            <a:ext cx="5597676" cy="307777"/>
          </a:xfrm>
          <a:prstGeom prst="rect">
            <a:avLst/>
          </a:prstGeom>
          <a:noFill/>
        </p:spPr>
        <p:txBody>
          <a:bodyPr wrap="square" rtlCol="0">
            <a:spAutoFit/>
          </a:bodyPr>
          <a:lstStyle/>
          <a:p>
            <a:r>
              <a:rPr lang="en-US" sz="1400" dirty="0"/>
              <a:t>Source, </a:t>
            </a:r>
            <a:r>
              <a:rPr lang="en-US" sz="1400" dirty="0">
                <a:hlinkClick r:id="rId4"/>
              </a:rPr>
              <a:t>lecture notes by Dr. Sunnie S. Chung </a:t>
            </a:r>
            <a:endParaRPr lang="en-US" sz="1400" dirty="0"/>
          </a:p>
        </p:txBody>
      </p:sp>
    </p:spTree>
    <p:extLst>
      <p:ext uri="{BB962C8B-B14F-4D97-AF65-F5344CB8AC3E}">
        <p14:creationId xmlns:p14="http://schemas.microsoft.com/office/powerpoint/2010/main" val="2905895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2799471"/>
              </a:xfrm>
            </p:spPr>
            <p:txBody>
              <a:bodyPr>
                <a:normAutofit/>
              </a:bodyPr>
              <a:lstStyle/>
              <a:p>
                <a:pPr marL="0" indent="0">
                  <a:buNone/>
                </a:pPr>
                <a:r>
                  <a:rPr lang="en-US" dirty="0">
                    <a:latin typeface="+mn-lt"/>
                  </a:rPr>
                  <a:t>Different metrics for numeric dissimilarity can be computed for numeric variables in p dimensions</a:t>
                </a:r>
              </a:p>
              <a:p>
                <a:r>
                  <a:rPr lang="en-US" dirty="0">
                    <a:latin typeface="+mn-lt"/>
                  </a:rPr>
                  <a:t>Example: start with some 2-dimensional observations  </a:t>
                </a:r>
              </a:p>
              <a:p>
                <a:r>
                  <a:rPr lang="en-US" dirty="0">
                    <a:latin typeface="+mn-lt"/>
                  </a:rPr>
                  <a:t>Principle axis of data ellipse does not align with variable axes </a:t>
                </a:r>
              </a:p>
              <a:p>
                <a:r>
                  <a:rPr lang="en-US" dirty="0">
                    <a:latin typeface="+mn-lt"/>
                  </a:rPr>
                  <a:t>Principle axis is defined by the eigenvectors of the covariance, </a:t>
                </a:r>
                <a14:m>
                  <m:oMath xmlns:m="http://schemas.openxmlformats.org/officeDocument/2006/math">
                    <m:r>
                      <a:rPr lang="en-US" sz="2800" i="1" smtClean="0">
                        <a:latin typeface="Cambria Math" panose="02040503050406030204" pitchFamily="18" charset="0"/>
                      </a:rPr>
                      <m:t>𝑆</m:t>
                    </m:r>
                  </m:oMath>
                </a14:m>
                <a:r>
                  <a:rPr lang="en-US" dirty="0">
                    <a:latin typeface="+mn-lt"/>
                  </a:rPr>
                  <a:t> </a:t>
                </a: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2799471"/>
              </a:xfrm>
              <a:blipFill>
                <a:blip r:embed="rId3"/>
                <a:stretch>
                  <a:fillRect l="-1111" t="-3704"/>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E173562-5ECA-4FF9-B3FD-3958B8698064}"/>
              </a:ext>
            </a:extLst>
          </p:cNvPr>
          <p:cNvSpPr txBox="1"/>
          <p:nvPr/>
        </p:nvSpPr>
        <p:spPr>
          <a:xfrm>
            <a:off x="2786743" y="6482119"/>
            <a:ext cx="5597676" cy="307777"/>
          </a:xfrm>
          <a:prstGeom prst="rect">
            <a:avLst/>
          </a:prstGeom>
          <a:noFill/>
        </p:spPr>
        <p:txBody>
          <a:bodyPr wrap="square" rtlCol="0">
            <a:spAutoFit/>
          </a:bodyPr>
          <a:lstStyle/>
          <a:p>
            <a:r>
              <a:rPr lang="en-US" sz="1400" dirty="0"/>
              <a:t>Source, </a:t>
            </a:r>
            <a:r>
              <a:rPr lang="en-US" sz="1400" dirty="0">
                <a:hlinkClick r:id="rId4"/>
              </a:rPr>
              <a:t>lecture notes by Dr. Sunnie S. Chung </a:t>
            </a:r>
            <a:endParaRPr lang="en-US" sz="1400" dirty="0"/>
          </a:p>
        </p:txBody>
      </p:sp>
      <p:pic>
        <p:nvPicPr>
          <p:cNvPr id="7" name="Picture 6">
            <a:extLst>
              <a:ext uri="{FF2B5EF4-FFF2-40B4-BE49-F238E27FC236}">
                <a16:creationId xmlns:a16="http://schemas.microsoft.com/office/drawing/2014/main" id="{74C8EBC8-C970-710A-8E32-0E1BC9839188}"/>
              </a:ext>
            </a:extLst>
          </p:cNvPr>
          <p:cNvPicPr>
            <a:picLocks noChangeAspect="1"/>
          </p:cNvPicPr>
          <p:nvPr/>
        </p:nvPicPr>
        <p:blipFill>
          <a:blip r:embed="rId5"/>
          <a:stretch>
            <a:fillRect/>
          </a:stretch>
        </p:blipFill>
        <p:spPr>
          <a:xfrm>
            <a:off x="1819123" y="3539515"/>
            <a:ext cx="5796039" cy="2942604"/>
          </a:xfrm>
          <a:prstGeom prst="rect">
            <a:avLst/>
          </a:prstGeom>
        </p:spPr>
      </p:pic>
    </p:spTree>
    <p:extLst>
      <p:ext uri="{BB962C8B-B14F-4D97-AF65-F5344CB8AC3E}">
        <p14:creationId xmlns:p14="http://schemas.microsoft.com/office/powerpoint/2010/main" val="1338430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898854"/>
          </a:xfrm>
        </p:spPr>
        <p:txBody>
          <a:bodyPr>
            <a:normAutofit/>
          </a:bodyPr>
          <a:lstStyle/>
          <a:p>
            <a:pPr marL="0" indent="0">
              <a:buNone/>
            </a:pPr>
            <a:r>
              <a:rPr lang="en-US" dirty="0">
                <a:latin typeface="+mn-lt"/>
              </a:rPr>
              <a:t>Different metrics for numeric dissimilarity can be computed for numeric variables in p dimensions</a:t>
            </a:r>
            <a:endParaRPr lang="en-US" dirty="0"/>
          </a:p>
          <a:p>
            <a:endParaRPr lang="en-US" dirty="0">
              <a:latin typeface="+mn-lt"/>
            </a:endParaRPr>
          </a:p>
          <a:p>
            <a:endParaRPr lang="en-US" dirty="0">
              <a:latin typeface="+mn-lt"/>
            </a:endParaRPr>
          </a:p>
          <a:p>
            <a:pPr marL="0" indent="0">
              <a:buNone/>
            </a:pPr>
            <a:endParaRPr lang="en-US" dirty="0">
              <a:latin typeface="+mn-lt"/>
            </a:endParaRPr>
          </a:p>
        </p:txBody>
      </p:sp>
      <p:sp>
        <p:nvSpPr>
          <p:cNvPr id="4" name="TextBox 3">
            <a:extLst>
              <a:ext uri="{FF2B5EF4-FFF2-40B4-BE49-F238E27FC236}">
                <a16:creationId xmlns:a16="http://schemas.microsoft.com/office/drawing/2014/main" id="{00AFC55A-5F3E-3E43-C555-5C84A59D99AF}"/>
              </a:ext>
            </a:extLst>
          </p:cNvPr>
          <p:cNvSpPr txBox="1"/>
          <p:nvPr/>
        </p:nvSpPr>
        <p:spPr>
          <a:xfrm>
            <a:off x="7571620" y="6377214"/>
            <a:ext cx="4287005" cy="307777"/>
          </a:xfrm>
          <a:prstGeom prst="rect">
            <a:avLst/>
          </a:prstGeom>
          <a:noFill/>
        </p:spPr>
        <p:txBody>
          <a:bodyPr wrap="square" rtlCol="0">
            <a:spAutoFit/>
          </a:bodyPr>
          <a:lstStyle/>
          <a:p>
            <a:r>
              <a:rPr lang="en-US" sz="1400" dirty="0"/>
              <a:t>Source, </a:t>
            </a:r>
            <a:r>
              <a:rPr lang="en-US" sz="1400" dirty="0">
                <a:hlinkClick r:id="rId3"/>
              </a:rPr>
              <a:t>lecture notes by Dr. Sunnie S. Chung </a:t>
            </a:r>
            <a:endParaRPr lang="en-US" sz="1400" dirty="0"/>
          </a:p>
        </p:txBody>
      </p:sp>
      <p:pic>
        <p:nvPicPr>
          <p:cNvPr id="6" name="Picture 5">
            <a:extLst>
              <a:ext uri="{FF2B5EF4-FFF2-40B4-BE49-F238E27FC236}">
                <a16:creationId xmlns:a16="http://schemas.microsoft.com/office/drawing/2014/main" id="{89F09EC5-A545-502D-DC3F-2C6486EC7DD0}"/>
              </a:ext>
            </a:extLst>
          </p:cNvPr>
          <p:cNvPicPr>
            <a:picLocks noChangeAspect="1"/>
          </p:cNvPicPr>
          <p:nvPr/>
        </p:nvPicPr>
        <p:blipFill>
          <a:blip r:embed="rId4"/>
          <a:stretch>
            <a:fillRect/>
          </a:stretch>
        </p:blipFill>
        <p:spPr>
          <a:xfrm>
            <a:off x="6728579" y="1601997"/>
            <a:ext cx="4708677" cy="4598145"/>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73410E4D-0493-DFF6-FCAA-9DEA90442FA3}"/>
                  </a:ext>
                </a:extLst>
              </p:cNvPr>
              <p:cNvSpPr txBox="1">
                <a:spLocks/>
              </p:cNvSpPr>
              <p:nvPr/>
            </p:nvSpPr>
            <p:spPr>
              <a:xfrm>
                <a:off x="476098" y="1907828"/>
                <a:ext cx="5653769" cy="28147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400"/>
                  </a:spcBef>
                  <a:buFont typeface="Arial" panose="020B0604020202020204" pitchFamily="34" charset="0"/>
                  <a:buChar char="•"/>
                  <a:defRPr sz="2800" b="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n-lt"/>
                  </a:rPr>
                  <a:t>Apply inverse covariance,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rPr>
                          <m:t>𝑆</m:t>
                        </m:r>
                      </m:e>
                      <m:sup>
                        <m:r>
                          <a:rPr lang="en-US" i="1" smtClean="0">
                            <a:latin typeface="Cambria Math" panose="02040503050406030204" pitchFamily="18" charset="0"/>
                          </a:rPr>
                          <m:t>−1</m:t>
                        </m:r>
                      </m:sup>
                    </m:sSup>
                    <m:r>
                      <a:rPr lang="en-US" i="1" smtClean="0">
                        <a:latin typeface="Cambria Math" panose="02040503050406030204" pitchFamily="18" charset="0"/>
                      </a:rPr>
                      <m:t>,</m:t>
                    </m:r>
                  </m:oMath>
                </a14:m>
                <a:r>
                  <a:rPr lang="en-US" dirty="0">
                    <a:latin typeface="+mn-lt"/>
                  </a:rPr>
                  <a:t>  transformation </a:t>
                </a:r>
              </a:p>
              <a:p>
                <a:r>
                  <a:rPr lang="en-US" dirty="0">
                    <a:latin typeface="+mn-lt"/>
                  </a:rPr>
                  <a:t>Distances between two points are now </a:t>
                </a:r>
                <a:r>
                  <a:rPr lang="en-US" dirty="0" err="1">
                    <a:latin typeface="+mn-lt"/>
                  </a:rPr>
                  <a:t>Mahalanobis</a:t>
                </a:r>
                <a:r>
                  <a:rPr lang="en-US" dirty="0">
                    <a:latin typeface="+mn-lt"/>
                  </a:rPr>
                  <a:t> distances</a:t>
                </a:r>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𝑑</m:t>
                      </m:r>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sSup>
                            <m:sSupPr>
                              <m:ctrlPr>
                                <a:rPr lang="en-US" sz="2400" i="1" smtClean="0">
                                  <a:latin typeface="Cambria Math" panose="02040503050406030204" pitchFamily="18" charset="0"/>
                                </a:rPr>
                              </m:ctrlPr>
                            </m:sSupPr>
                            <m:e>
                              <m:r>
                                <a:rPr lang="en-US" sz="2400" i="1" smtClean="0">
                                  <a:latin typeface="Cambria Math" panose="02040503050406030204" pitchFamily="18" charset="0"/>
                                </a:rPr>
                                <m:t>𝑥</m:t>
                              </m:r>
                            </m:e>
                            <m:sup>
                              <m:r>
                                <a:rPr lang="en-US" sz="2400" i="1" smtClean="0">
                                  <a:latin typeface="Cambria Math" panose="02040503050406030204" pitchFamily="18" charset="0"/>
                                </a:rPr>
                                <m:t>′</m:t>
                              </m:r>
                            </m:sup>
                          </m:sSup>
                        </m:e>
                      </m: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d>
                                <m:dPr>
                                  <m:ctrlPr>
                                    <a:rPr lang="en-US" sz="2400" i="1" smtClean="0">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e>
                              </m:d>
                            </m:e>
                            <m:sup>
                              <m:r>
                                <a:rPr lang="en-US" sz="2400" i="1">
                                  <a:latin typeface="Cambria Math" panose="02040503050406030204" pitchFamily="18" charset="0"/>
                                </a:rPr>
                                <m:t>𝑇</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−1</m:t>
                              </m:r>
                            </m:sup>
                          </m:sSup>
                          <m:d>
                            <m:dPr>
                              <m:ctrlPr>
                                <a:rPr lang="en-US" sz="2400" i="1">
                                  <a:latin typeface="Cambria Math" panose="02040503050406030204" pitchFamily="18" charset="0"/>
                                </a:rPr>
                              </m:ctrlPr>
                            </m:dPr>
                            <m:e>
                              <m:r>
                                <a:rPr lang="en-US" sz="2400" i="1">
                                  <a:latin typeface="Cambria Math" panose="02040503050406030204" pitchFamily="18" charset="0"/>
                                </a:rPr>
                                <m:t>𝑥</m:t>
                              </m:r>
                              <m:r>
                                <a:rPr lang="en-US" sz="2400" i="1">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e>
                          </m:d>
                        </m:e>
                      </m:rad>
                    </m:oMath>
                  </m:oMathPara>
                </a14:m>
                <a:endParaRPr lang="en-US" sz="2400" dirty="0"/>
              </a:p>
              <a:p>
                <a:endParaRPr lang="en-US" dirty="0">
                  <a:latin typeface="+mn-lt"/>
                </a:endParaRPr>
              </a:p>
              <a:p>
                <a:endParaRPr lang="en-US" dirty="0">
                  <a:latin typeface="+mn-lt"/>
                </a:endParaRPr>
              </a:p>
              <a:p>
                <a:pPr marL="0" indent="0">
                  <a:buFont typeface="Arial" panose="020B0604020202020204" pitchFamily="34" charset="0"/>
                  <a:buNone/>
                </a:pPr>
                <a:endParaRPr lang="en-US" dirty="0">
                  <a:latin typeface="+mn-lt"/>
                </a:endParaRPr>
              </a:p>
            </p:txBody>
          </p:sp>
        </mc:Choice>
        <mc:Fallback xmlns="">
          <p:sp>
            <p:nvSpPr>
              <p:cNvPr id="7" name="Content Placeholder 2">
                <a:extLst>
                  <a:ext uri="{FF2B5EF4-FFF2-40B4-BE49-F238E27FC236}">
                    <a16:creationId xmlns:a16="http://schemas.microsoft.com/office/drawing/2014/main" id="{73410E4D-0493-DFF6-FCAA-9DEA90442FA3}"/>
                  </a:ext>
                </a:extLst>
              </p:cNvPr>
              <p:cNvSpPr txBox="1">
                <a:spLocks noRot="1" noChangeAspect="1" noMove="1" noResize="1" noEditPoints="1" noAdjustHandles="1" noChangeArrowheads="1" noChangeShapeType="1" noTextEdit="1"/>
              </p:cNvSpPr>
              <p:nvPr/>
            </p:nvSpPr>
            <p:spPr>
              <a:xfrm>
                <a:off x="476098" y="1907828"/>
                <a:ext cx="5653769" cy="2814740"/>
              </a:xfrm>
              <a:prstGeom prst="rect">
                <a:avLst/>
              </a:prstGeom>
              <a:blipFill>
                <a:blip r:embed="rId5"/>
                <a:stretch>
                  <a:fillRect l="-1940" t="-3680"/>
                </a:stretch>
              </a:blipFill>
            </p:spPr>
            <p:txBody>
              <a:bodyPr/>
              <a:lstStyle/>
              <a:p>
                <a:r>
                  <a:rPr lang="en-US">
                    <a:noFill/>
                  </a:rPr>
                  <a:t> </a:t>
                </a:r>
              </a:p>
            </p:txBody>
          </p:sp>
        </mc:Fallback>
      </mc:AlternateContent>
    </p:spTree>
    <p:extLst>
      <p:ext uri="{BB962C8B-B14F-4D97-AF65-F5344CB8AC3E}">
        <p14:creationId xmlns:p14="http://schemas.microsoft.com/office/powerpoint/2010/main" val="2686472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b="1" dirty="0">
                    <a:latin typeface="+mn-lt"/>
                  </a:rPr>
                  <a:t>Edit Distance</a:t>
                </a:r>
                <a:r>
                  <a:rPr lang="en-US" dirty="0">
                    <a:latin typeface="+mn-lt"/>
                  </a:rPr>
                  <a:t>: the number of edit operations required to </a:t>
                </a:r>
              </a:p>
              <a:p>
                <a:r>
                  <a:rPr lang="en-US" dirty="0">
                    <a:latin typeface="+mn-lt"/>
                  </a:rPr>
                  <a:t>Example: Consider two character vectors, strings:   </a:t>
                </a:r>
                <a:r>
                  <a:rPr lang="en-US" sz="2400" dirty="0">
                    <a:latin typeface="+mn-lt"/>
                  </a:rPr>
                  <a:t> </a:t>
                </a:r>
              </a:p>
              <a:p>
                <a:pPr marL="457200" lvl="1" indent="0">
                  <a:buNone/>
                </a:pPr>
                <a:r>
                  <a:rPr lang="en-US" dirty="0">
                    <a:latin typeface="+mn-lt"/>
                  </a:rPr>
                  <a:t>				x = </a:t>
                </a:r>
                <a:r>
                  <a:rPr lang="en-US" dirty="0" err="1">
                    <a:latin typeface="+mn-lt"/>
                  </a:rPr>
                  <a:t>thisismy</a:t>
                </a:r>
                <a:r>
                  <a:rPr lang="en-US" dirty="0" err="1">
                    <a:solidFill>
                      <a:srgbClr val="C00000"/>
                    </a:solidFill>
                    <a:latin typeface="+mn-lt"/>
                  </a:rPr>
                  <a:t>olddog</a:t>
                </a:r>
                <a:endParaRPr lang="en-US" dirty="0">
                  <a:solidFill>
                    <a:srgbClr val="C00000"/>
                  </a:solidFill>
                  <a:latin typeface="+mn-lt"/>
                </a:endParaRPr>
              </a:p>
              <a:p>
                <a:pPr marL="457200" lvl="1" indent="0">
                  <a:buNone/>
                </a:pPr>
                <a:r>
                  <a:rPr lang="en-US" dirty="0">
                    <a:latin typeface="+mn-lt"/>
                  </a:rPr>
                  <a:t>				x’ = </a:t>
                </a:r>
                <a:r>
                  <a:rPr lang="en-US" dirty="0" err="1">
                    <a:latin typeface="+mn-lt"/>
                  </a:rPr>
                  <a:t>thisismy</a:t>
                </a:r>
                <a:r>
                  <a:rPr lang="en-US" dirty="0" err="1">
                    <a:solidFill>
                      <a:srgbClr val="C00000"/>
                    </a:solidFill>
                    <a:latin typeface="+mn-lt"/>
                  </a:rPr>
                  <a:t>cat</a:t>
                </a:r>
                <a:endParaRPr lang="en-US" dirty="0">
                  <a:solidFill>
                    <a:srgbClr val="C00000"/>
                  </a:solidFill>
                  <a:latin typeface="+mn-lt"/>
                </a:endParaRPr>
              </a:p>
              <a:p>
                <a:pPr marL="457200" lvl="1" indent="0">
                  <a:buNone/>
                </a:pPr>
                <a:r>
                  <a:rPr lang="en-US" dirty="0">
                    <a:latin typeface="+mn-lt"/>
                  </a:rPr>
                  <a:t>Changes required to have same characters in both strings:   </a:t>
                </a:r>
              </a:p>
              <a:p>
                <a:pPr marL="457200" lvl="1" indent="0">
                  <a:buNone/>
                </a:pPr>
                <a:r>
                  <a:rPr lang="en-US" dirty="0">
                    <a:latin typeface="+mn-lt"/>
                  </a:rPr>
                  <a:t>				3 – deletes, o, l, d</a:t>
                </a:r>
              </a:p>
              <a:p>
                <a:pPr marL="457200" lvl="1" indent="0">
                  <a:buNone/>
                </a:pPr>
                <a:r>
                  <a:rPr lang="en-US" dirty="0">
                    <a:latin typeface="+mn-lt"/>
                  </a:rPr>
                  <a:t>                                               3 – changes, c, a, t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latin typeface="+mn-lt"/>
                  </a:rPr>
                  <a:t> d, o, g</a:t>
                </a:r>
              </a:p>
              <a:p>
                <a:pPr marL="457200" lvl="1" indent="0">
                  <a:buNone/>
                </a:pPr>
                <a:r>
                  <a:rPr lang="en-US" dirty="0">
                    <a:latin typeface="+mn-lt"/>
                  </a:rPr>
                  <a:t>				edit distance </a:t>
                </a:r>
                <a14:m>
                  <m:oMath xmlns:m="http://schemas.openxmlformats.org/officeDocument/2006/math">
                    <m:r>
                      <a:rPr lang="en-US" b="0" i="1" smtClean="0">
                        <a:latin typeface="Cambria Math" panose="02040503050406030204" pitchFamily="18" charset="0"/>
                      </a:rPr>
                      <m:t>=3+3=6</m:t>
                    </m:r>
                  </m:oMath>
                </a14:m>
                <a:endParaRPr lang="en-US" dirty="0">
                  <a:latin typeface="+mn-lt"/>
                </a:endParaRPr>
              </a:p>
              <a:p>
                <a:r>
                  <a:rPr lang="en-US" dirty="0">
                    <a:latin typeface="+mn-lt"/>
                  </a:rPr>
                  <a:t>Many edit distance metrics can be applied:  </a:t>
                </a:r>
              </a:p>
              <a:p>
                <a:pPr lvl="1"/>
                <a:r>
                  <a:rPr lang="en-US" dirty="0">
                    <a:latin typeface="+mn-lt"/>
                  </a:rPr>
                  <a:t>Hamming distance </a:t>
                </a:r>
              </a:p>
              <a:p>
                <a:pPr lvl="1"/>
                <a:r>
                  <a:rPr lang="en-US" dirty="0" err="1">
                    <a:latin typeface="+mn-lt"/>
                    <a:hlinkClick r:id="rId3"/>
                  </a:rPr>
                  <a:t>Levenshtein</a:t>
                </a:r>
                <a:r>
                  <a:rPr lang="en-US" dirty="0">
                    <a:latin typeface="+mn-lt"/>
                    <a:hlinkClick r:id="rId3"/>
                  </a:rPr>
                  <a:t> distance</a:t>
                </a:r>
                <a:r>
                  <a:rPr lang="en-US" dirty="0">
                    <a:latin typeface="+mn-lt"/>
                  </a:rPr>
                  <a:t>   </a:t>
                </a:r>
              </a:p>
              <a:p>
                <a:pPr lvl="1"/>
                <a:r>
                  <a:rPr lang="en-US" dirty="0">
                    <a:latin typeface="+mn-lt"/>
                  </a:rPr>
                  <a:t>Longest common sequence</a:t>
                </a:r>
              </a:p>
              <a:p>
                <a:pPr lvl="1"/>
                <a:r>
                  <a:rPr lang="en-US" dirty="0">
                    <a:latin typeface="+mn-lt"/>
                  </a:rPr>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3526936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CAA5A-3FE0-F3FB-06AC-A7661F9486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71D76-016C-3FB5-A8FE-9FC3410DCC0B}"/>
              </a:ext>
            </a:extLst>
          </p:cNvPr>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27BFAB-84EF-2B31-8402-AFD79DB40099}"/>
                  </a:ext>
                </a:extLst>
              </p:cNvPr>
              <p:cNvSpPr>
                <a:spLocks noGrp="1"/>
              </p:cNvSpPr>
              <p:nvPr>
                <p:ph sz="quarter" idx="10"/>
              </p:nvPr>
            </p:nvSpPr>
            <p:spPr>
              <a:xfrm>
                <a:off x="333375" y="896079"/>
                <a:ext cx="11525250" cy="5698998"/>
              </a:xfrm>
            </p:spPr>
            <p:txBody>
              <a:bodyPr>
                <a:normAutofit/>
              </a:bodyPr>
              <a:lstStyle/>
              <a:p>
                <a:pPr marL="0" indent="0">
                  <a:buNone/>
                </a:pPr>
                <a:r>
                  <a:rPr lang="en-US" b="1" dirty="0">
                    <a:latin typeface="+mn-lt"/>
                    <a:hlinkClick r:id="rId3"/>
                  </a:rPr>
                  <a:t>Hamming Distance</a:t>
                </a:r>
                <a:r>
                  <a:rPr lang="en-US" dirty="0">
                    <a:latin typeface="+mn-lt"/>
                  </a:rPr>
                  <a:t>: the number of components in which two vectors differ   </a:t>
                </a:r>
              </a:p>
              <a:p>
                <a:r>
                  <a:rPr lang="en-US" dirty="0">
                    <a:latin typeface="+mn-lt"/>
                  </a:rPr>
                  <a:t>Example: Consider two binary vectors:   </a:t>
                </a:r>
              </a:p>
              <a:p>
                <a:pPr marL="457200" lvl="1" indent="0">
                  <a:buNone/>
                </a:pPr>
                <a:r>
                  <a:rPr lang="en-US" dirty="0">
                    <a:latin typeface="+mn-lt"/>
                  </a:rPr>
                  <a:t> x =  0 1 1 </a:t>
                </a:r>
                <a:r>
                  <a:rPr lang="en-US" dirty="0">
                    <a:solidFill>
                      <a:srgbClr val="C00000"/>
                    </a:solidFill>
                    <a:latin typeface="+mn-lt"/>
                  </a:rPr>
                  <a:t>0</a:t>
                </a:r>
                <a:r>
                  <a:rPr lang="en-US" dirty="0">
                    <a:latin typeface="+mn-lt"/>
                  </a:rPr>
                  <a:t> 0 0 </a:t>
                </a:r>
                <a:r>
                  <a:rPr lang="en-US" dirty="0">
                    <a:solidFill>
                      <a:srgbClr val="C00000"/>
                    </a:solidFill>
                    <a:latin typeface="+mn-lt"/>
                  </a:rPr>
                  <a:t>1</a:t>
                </a:r>
                <a:r>
                  <a:rPr lang="en-US" dirty="0">
                    <a:latin typeface="+mn-lt"/>
                  </a:rPr>
                  <a:t> 0 1 0 1</a:t>
                </a:r>
              </a:p>
              <a:p>
                <a:pPr marL="457200" lvl="1" indent="0">
                  <a:buNone/>
                </a:pPr>
                <a:r>
                  <a:rPr lang="en-US" dirty="0">
                    <a:latin typeface="+mn-lt"/>
                  </a:rPr>
                  <a:t> x’ = 0 1 1 </a:t>
                </a:r>
                <a:r>
                  <a:rPr lang="en-US" dirty="0">
                    <a:solidFill>
                      <a:srgbClr val="C00000"/>
                    </a:solidFill>
                    <a:latin typeface="+mn-lt"/>
                  </a:rPr>
                  <a:t>1</a:t>
                </a:r>
                <a:r>
                  <a:rPr lang="en-US" dirty="0">
                    <a:latin typeface="+mn-lt"/>
                  </a:rPr>
                  <a:t> 0 0 </a:t>
                </a:r>
                <a:r>
                  <a:rPr lang="en-US" dirty="0">
                    <a:solidFill>
                      <a:srgbClr val="C00000"/>
                    </a:solidFill>
                    <a:latin typeface="+mn-lt"/>
                  </a:rPr>
                  <a:t>0</a:t>
                </a:r>
                <a:r>
                  <a:rPr lang="en-US" dirty="0">
                    <a:latin typeface="+mn-lt"/>
                  </a:rPr>
                  <a:t> 0 1 0 1</a:t>
                </a:r>
              </a:p>
              <a:p>
                <a:pPr marL="457200" lvl="1" indent="0">
                  <a:buNone/>
                </a:pPr>
                <a:r>
                  <a:rPr lang="en-US" dirty="0">
                    <a:latin typeface="+mn-lt"/>
                  </a:rPr>
                  <a:t>Hamming distance,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𝐻</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=2</m:t>
                    </m:r>
                  </m:oMath>
                </a14:m>
                <a:endParaRPr lang="en-US" dirty="0">
                  <a:latin typeface="+mn-lt"/>
                </a:endParaRPr>
              </a:p>
              <a:p>
                <a:r>
                  <a:rPr lang="en-US" dirty="0">
                    <a:latin typeface="+mn-lt"/>
                  </a:rPr>
                  <a:t>Example: Consider two strings:  </a:t>
                </a:r>
              </a:p>
              <a:p>
                <a:pPr marL="457200" lvl="1" indent="0">
                  <a:buNone/>
                </a:pPr>
                <a:r>
                  <a:rPr lang="en-US" dirty="0">
                    <a:latin typeface="+mn-lt"/>
                  </a:rPr>
                  <a:t>x = </a:t>
                </a:r>
                <a:r>
                  <a:rPr lang="en-US" dirty="0" err="1">
                    <a:latin typeface="+mn-lt"/>
                  </a:rPr>
                  <a:t>thisismy</a:t>
                </a:r>
                <a:r>
                  <a:rPr lang="en-US" dirty="0" err="1">
                    <a:solidFill>
                      <a:srgbClr val="C00000"/>
                    </a:solidFill>
                    <a:latin typeface="+mn-lt"/>
                  </a:rPr>
                  <a:t>dog</a:t>
                </a:r>
                <a:endParaRPr lang="en-US" dirty="0">
                  <a:solidFill>
                    <a:srgbClr val="C00000"/>
                  </a:solidFill>
                  <a:latin typeface="+mn-lt"/>
                </a:endParaRPr>
              </a:p>
              <a:p>
                <a:pPr marL="457200" lvl="1" indent="0">
                  <a:buNone/>
                </a:pPr>
                <a:r>
                  <a:rPr lang="en-US" dirty="0">
                    <a:latin typeface="+mn-lt"/>
                  </a:rPr>
                  <a:t>x’ = </a:t>
                </a:r>
                <a:r>
                  <a:rPr lang="en-US" dirty="0" err="1">
                    <a:latin typeface="+mn-lt"/>
                  </a:rPr>
                  <a:t>thisismy</a:t>
                </a:r>
                <a:r>
                  <a:rPr lang="en-US" dirty="0" err="1">
                    <a:solidFill>
                      <a:srgbClr val="C00000"/>
                    </a:solidFill>
                    <a:latin typeface="+mn-lt"/>
                  </a:rPr>
                  <a:t>cat</a:t>
                </a:r>
                <a:endParaRPr lang="en-US" dirty="0">
                  <a:latin typeface="+mn-lt"/>
                </a:endParaRPr>
              </a:p>
              <a:p>
                <a:pPr marL="457200" lvl="1" indent="0">
                  <a:buNone/>
                </a:pPr>
                <a:r>
                  <a:rPr lang="en-US" dirty="0">
                    <a:latin typeface="+mn-lt"/>
                  </a:rPr>
                  <a:t>Hamming distance</a:t>
                </a:r>
                <a:r>
                  <a:rPr lang="en-US" sz="2000"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𝐻</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=3</m:t>
                    </m:r>
                  </m:oMath>
                </a14:m>
                <a:r>
                  <a:rPr lang="en-US" dirty="0">
                    <a:latin typeface="+mn-lt"/>
                  </a:rPr>
                  <a:t> </a:t>
                </a:r>
              </a:p>
              <a:p>
                <a:r>
                  <a:rPr lang="en-US" dirty="0">
                    <a:latin typeface="+mn-lt"/>
                  </a:rPr>
                  <a:t>Hamming distance only defined for vectors of equal length</a:t>
                </a:r>
              </a:p>
            </p:txBody>
          </p:sp>
        </mc:Choice>
        <mc:Fallback xmlns="">
          <p:sp>
            <p:nvSpPr>
              <p:cNvPr id="3" name="Content Placeholder 2">
                <a:extLst>
                  <a:ext uri="{FF2B5EF4-FFF2-40B4-BE49-F238E27FC236}">
                    <a16:creationId xmlns:a16="http://schemas.microsoft.com/office/drawing/2014/main" id="{C327BFAB-84EF-2B31-8402-AFD79DB40099}"/>
                  </a:ext>
                </a:extLst>
              </p:cNvPr>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61414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Different metrics for numeric distance can be computed for numeric variables in p dimensions</a:t>
                </a:r>
              </a:p>
              <a:p>
                <a:r>
                  <a:rPr lang="en-US" dirty="0">
                    <a:latin typeface="+mn-lt"/>
                  </a:rPr>
                  <a:t>Do all p dimensions matter equally in determining dissimilarity? </a:t>
                </a:r>
              </a:p>
              <a:p>
                <a:r>
                  <a:rPr lang="en-US" dirty="0">
                    <a:latin typeface="+mn-lt"/>
                  </a:rPr>
                  <a:t>No!</a:t>
                </a:r>
              </a:p>
              <a:p>
                <a:r>
                  <a:rPr lang="en-US" dirty="0">
                    <a:latin typeface="+mn-lt"/>
                  </a:rPr>
                  <a:t>The weights, </a:t>
                </a:r>
                <a:r>
                  <a:rPr lang="en-US" i="1" dirty="0" err="1">
                    <a:latin typeface="+mn-lt"/>
                  </a:rPr>
                  <a:t>w</a:t>
                </a:r>
                <a:r>
                  <a:rPr lang="en-US" i="1" baseline="-25000" dirty="0" err="1">
                    <a:latin typeface="+mn-lt"/>
                  </a:rPr>
                  <a:t>i</a:t>
                </a:r>
                <a:r>
                  <a:rPr lang="en-US" dirty="0">
                    <a:latin typeface="+mn-lt"/>
                  </a:rPr>
                  <a:t>, can be set for the dimensions of the attributes</a:t>
                </a:r>
              </a:p>
              <a:p>
                <a:pPr lvl="1"/>
                <a:r>
                  <a:rPr lang="en-US" dirty="0">
                    <a:latin typeface="+mn-lt"/>
                  </a:rPr>
                  <a:t>Weights must add to 1.0: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=1.0</m:t>
                        </m:r>
                      </m:e>
                    </m:nary>
                  </m:oMath>
                </a14:m>
                <a:r>
                  <a:rPr lang="en-US" dirty="0">
                    <a:latin typeface="+mn-lt"/>
                  </a:rPr>
                  <a:t> </a:t>
                </a:r>
              </a:p>
              <a:p>
                <a:r>
                  <a:rPr lang="en-US" dirty="0">
                    <a:latin typeface="+mn-lt"/>
                  </a:rPr>
                  <a:t>Why use weights?</a:t>
                </a:r>
              </a:p>
              <a:p>
                <a:pPr lvl="1"/>
                <a:r>
                  <a:rPr lang="en-US" dirty="0">
                    <a:latin typeface="+mn-lt"/>
                  </a:rPr>
                  <a:t>Attributes (dimensions) may not have equal importance</a:t>
                </a:r>
              </a:p>
              <a:p>
                <a:pPr lvl="1"/>
                <a:r>
                  <a:rPr lang="en-US" dirty="0">
                    <a:latin typeface="+mn-lt"/>
                  </a:rPr>
                  <a:t>Example; do the distance I have to walk and the calories of my take-out order have the same importance in selecting where I get my food? </a:t>
                </a:r>
              </a:p>
              <a:p>
                <a:pPr lvl="1"/>
                <a:r>
                  <a:rPr lang="en-US" dirty="0">
                    <a:latin typeface="+mn-lt"/>
                  </a:rPr>
                  <a:t>Perhaps, the calories matter more to me in determining dissimilarity between restaurants?</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r="-476"/>
                </a:stretch>
              </a:blipFill>
            </p:spPr>
            <p:txBody>
              <a:bodyPr/>
              <a:lstStyle/>
              <a:p>
                <a:r>
                  <a:rPr lang="en-US">
                    <a:noFill/>
                  </a:rPr>
                  <a:t> </a:t>
                </a:r>
              </a:p>
            </p:txBody>
          </p:sp>
        </mc:Fallback>
      </mc:AlternateContent>
    </p:spTree>
    <p:extLst>
      <p:ext uri="{BB962C8B-B14F-4D97-AF65-F5344CB8AC3E}">
        <p14:creationId xmlns:p14="http://schemas.microsoft.com/office/powerpoint/2010/main" val="271935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Different metrics for numeric distance can be computed for numeric variables in p dimensions</a:t>
                </a:r>
              </a:p>
              <a:p>
                <a:r>
                  <a:rPr lang="en-US" dirty="0">
                    <a:latin typeface="+mn-lt"/>
                  </a:rPr>
                  <a:t>Numeric variable generally standardized before performing unsupervised learning</a:t>
                </a:r>
              </a:p>
              <a:p>
                <a:r>
                  <a:rPr lang="en-US" dirty="0">
                    <a:latin typeface="+mn-lt"/>
                  </a:rPr>
                  <a:t>Like most ML algorithms, the importance of a variable should not be determined by the numeric range</a:t>
                </a:r>
              </a:p>
              <a:p>
                <a:r>
                  <a:rPr lang="en-US" dirty="0">
                    <a:latin typeface="+mn-lt"/>
                  </a:rPr>
                  <a:t>A useful default is to set the weights, </a:t>
                </a:r>
                <a:r>
                  <a:rPr lang="en-US" i="1" dirty="0" err="1">
                    <a:latin typeface="+mn-lt"/>
                  </a:rPr>
                  <a:t>w</a:t>
                </a:r>
                <a:r>
                  <a:rPr lang="en-US" i="1" baseline="-25000" dirty="0" err="1">
                    <a:latin typeface="+mn-lt"/>
                  </a:rPr>
                  <a:t>i</a:t>
                </a:r>
                <a:r>
                  <a:rPr lang="en-US" dirty="0">
                    <a:latin typeface="+mn-lt"/>
                  </a:rPr>
                  <a:t>, to standardize the variance of </a:t>
                </a:r>
                <a:r>
                  <a:rPr lang="en-US" i="1" dirty="0">
                    <a:latin typeface="+mn-lt"/>
                  </a:rPr>
                  <a:t>p </a:t>
                </a:r>
                <a:r>
                  <a:rPr lang="en-US" dirty="0">
                    <a:latin typeface="+mn-lt"/>
                  </a:rPr>
                  <a:t>variables with </a:t>
                </a:r>
                <a14:m>
                  <m:oMath xmlns:m="http://schemas.openxmlformats.org/officeDocument/2006/math">
                    <m:r>
                      <a:rPr lang="en-US" b="0" i="1" smtClean="0">
                        <a:latin typeface="Cambria Math" panose="02040503050406030204" pitchFamily="18" charset="0"/>
                      </a:rPr>
                      <m:t>𝑛</m:t>
                    </m:r>
                  </m:oMath>
                </a14:m>
                <a:r>
                  <a:rPr lang="en-US" dirty="0">
                    <a:latin typeface="+mn-lt"/>
                  </a:rPr>
                  <a:t> samples </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𝑖</m:t>
                              </m:r>
                            </m:sub>
                            <m:sup>
                              <m:r>
                                <a:rPr lang="en-US" b="0" i="1" smtClean="0">
                                  <a:latin typeface="Cambria Math" panose="02040503050406030204" pitchFamily="18" charset="0"/>
                                </a:rPr>
                                <m:t>2</m:t>
                              </m:r>
                            </m:sup>
                          </m:sSubSup>
                        </m:den>
                      </m:f>
                      <m:r>
                        <a:rPr lang="en-US" b="0" i="1" smtClean="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p>
                                  <m:d>
                                    <m:dPr>
                                      <m:ctrlPr>
                                        <a:rPr lang="en-US" b="0" i="1" smtClean="0">
                                          <a:latin typeface="Cambria Math" panose="02040503050406030204" pitchFamily="18" charset="0"/>
                                        </a:rPr>
                                      </m:ctrlPr>
                                    </m:dPr>
                                    <m:e>
                                      <m:r>
                                        <a:rPr lang="en-US" b="0" i="1" smtClean="0">
                                          <a:latin typeface="Cambria Math" panose="02040503050406030204" pitchFamily="18" charset="0"/>
                                        </a:rPr>
                                        <m:t>𝑖</m:t>
                                      </m:r>
                                    </m:e>
                                  </m:d>
                                </m:sup>
                              </m:sSup>
                            </m:e>
                            <m:sub>
                              <m:r>
                                <a:rPr lang="en-US" b="0" i="1" smtClean="0">
                                  <a:latin typeface="Cambria Math" panose="02040503050406030204" pitchFamily="18" charset="0"/>
                                </a:rPr>
                                <m:t> </m:t>
                              </m:r>
                            </m:sub>
                          </m:sSub>
                          <m:r>
                            <a:rPr lang="en-US" b="0" i="1" smtClean="0">
                              <a:latin typeface="Cambria Math" panose="02040503050406030204" pitchFamily="18" charset="0"/>
                            </a:rPr>
                            <m:t>,  </m:t>
                          </m:r>
                          <m:r>
                            <a:rPr lang="en-US" b="0" i="1" smtClean="0">
                              <a:latin typeface="Cambria Math" panose="02040503050406030204" pitchFamily="18" charset="0"/>
                            </a:rPr>
                            <m:t>𝑟</m:t>
                          </m:r>
                          <m:r>
                            <a:rPr lang="en-US" b="0" i="1" smtClean="0">
                              <a:latin typeface="Cambria Math" panose="02040503050406030204" pitchFamily="18" charset="0"/>
                            </a:rPr>
                            <m:t>=</m:t>
                          </m:r>
                        </m:e>
                      </m:nary>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𝑖</m:t>
                              </m:r>
                            </m:sub>
                            <m:sup>
                              <m:r>
                                <a:rPr lang="en-US" i="1">
                                  <a:latin typeface="Cambria Math" panose="02040503050406030204" pitchFamily="18" charset="0"/>
                                </a:rPr>
                                <m:t>2</m:t>
                              </m:r>
                            </m:sup>
                          </m:sSubSup>
                        </m:e>
                      </m:nary>
                    </m:oMath>
                  </m:oMathPara>
                </a14:m>
                <a:endParaRPr lang="en-US" dirty="0">
                  <a:latin typeface="+mn-lt"/>
                </a:endParaRPr>
              </a:p>
              <a:p>
                <a:pPr marL="914400" lvl="2" indent="0">
                  <a:buNone/>
                </a:pPr>
                <a14:m>
                  <m:oMath xmlns:m="http://schemas.openxmlformats.org/officeDocument/2006/math">
                    <m:r>
                      <a:rPr lang="en-US" sz="2400" i="1">
                        <a:latin typeface="Cambria Math" panose="02040503050406030204" pitchFamily="18" charset="0"/>
                      </a:rPr>
                      <m:t>𝑟</m:t>
                    </m:r>
                  </m:oMath>
                </a14:m>
                <a:r>
                  <a:rPr lang="en-US" sz="2400" dirty="0">
                    <a:latin typeface="+mn-lt"/>
                  </a:rPr>
                  <a:t> is an optional normalization to ensure the weights sum to 1.0 </a:t>
                </a:r>
              </a:p>
              <a:p>
                <a:r>
                  <a:rPr lang="en-US" dirty="0">
                    <a:latin typeface="+mn-lt"/>
                  </a:rPr>
                  <a:t>Or, set weights to have meaning from the problem</a:t>
                </a:r>
              </a:p>
              <a:p>
                <a:pPr lvl="1"/>
                <a:r>
                  <a:rPr lang="en-US" dirty="0">
                    <a:latin typeface="+mn-lt"/>
                  </a:rPr>
                  <a:t>Requires domain knowledge</a:t>
                </a:r>
              </a:p>
              <a:p>
                <a:pPr marL="0" indent="0">
                  <a:buNone/>
                </a:pPr>
                <a:endParaRPr lang="en-US" dirty="0">
                  <a:latin typeface="+mn-lt"/>
                </a:endParaRPr>
              </a:p>
              <a:p>
                <a:pPr lvl="1"/>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2460" r="-476" b="-2246"/>
                </a:stretch>
              </a:blipFill>
            </p:spPr>
            <p:txBody>
              <a:bodyPr/>
              <a:lstStyle/>
              <a:p>
                <a:r>
                  <a:rPr lang="en-US">
                    <a:noFill/>
                  </a:rPr>
                  <a:t> </a:t>
                </a:r>
              </a:p>
            </p:txBody>
          </p:sp>
        </mc:Fallback>
      </mc:AlternateContent>
    </p:spTree>
    <p:extLst>
      <p:ext uri="{BB962C8B-B14F-4D97-AF65-F5344CB8AC3E}">
        <p14:creationId xmlns:p14="http://schemas.microsoft.com/office/powerpoint/2010/main" val="52061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C5BD-B3A3-C99F-0887-002DA20A2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A6821-C427-2AF4-FA24-400A92C0ADF2}"/>
              </a:ext>
            </a:extLst>
          </p:cNvPr>
          <p:cNvSpPr>
            <a:spLocks noGrp="1"/>
          </p:cNvSpPr>
          <p:nvPr>
            <p:ph type="title"/>
          </p:nvPr>
        </p:nvSpPr>
        <p:spPr>
          <a:xfrm>
            <a:off x="831850" y="1709738"/>
            <a:ext cx="10515600" cy="2104337"/>
          </a:xfrm>
        </p:spPr>
        <p:txBody>
          <a:bodyPr/>
          <a:lstStyle/>
          <a:p>
            <a:pPr algn="ctr"/>
            <a:r>
              <a:rPr lang="en-US" b="1" dirty="0"/>
              <a:t>Distance Metrics with Mixed Variable Types</a:t>
            </a:r>
          </a:p>
        </p:txBody>
      </p:sp>
    </p:spTree>
    <p:extLst>
      <p:ext uri="{BB962C8B-B14F-4D97-AF65-F5344CB8AC3E}">
        <p14:creationId xmlns:p14="http://schemas.microsoft.com/office/powerpoint/2010/main" val="2837834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can we express dissimilarity metrics for </a:t>
                </a:r>
                <a:r>
                  <a:rPr lang="en-US" b="1" dirty="0">
                    <a:latin typeface="+mn-lt"/>
                  </a:rPr>
                  <a:t>ordinal variables</a:t>
                </a:r>
                <a:r>
                  <a:rPr lang="en-US" dirty="0">
                    <a:latin typeface="+mn-lt"/>
                  </a:rPr>
                  <a:t>? </a:t>
                </a:r>
              </a:p>
              <a:p>
                <a:pPr lvl="1"/>
                <a:r>
                  <a:rPr lang="en-US" dirty="0">
                    <a:latin typeface="+mn-lt"/>
                  </a:rPr>
                  <a:t>Star ratings, e.g. 1 to 5 stars</a:t>
                </a:r>
              </a:p>
              <a:p>
                <a:pPr lvl="1"/>
                <a:r>
                  <a:rPr lang="en-US" dirty="0">
                    <a:latin typeface="+mn-lt"/>
                  </a:rPr>
                  <a:t>Dollar range, $, $$, $$$, $$$$</a:t>
                </a:r>
              </a:p>
              <a:p>
                <a:r>
                  <a:rPr lang="en-US" dirty="0">
                    <a:latin typeface="+mn-lt"/>
                  </a:rPr>
                  <a:t>Base </a:t>
                </a:r>
                <a:r>
                  <a:rPr lang="en-US" b="1" dirty="0">
                    <a:latin typeface="+mn-lt"/>
                  </a:rPr>
                  <a:t>ordinal dissimilarity </a:t>
                </a:r>
                <a:r>
                  <a:rPr lang="en-US" dirty="0">
                    <a:latin typeface="+mn-lt"/>
                  </a:rPr>
                  <a:t>on </a:t>
                </a:r>
                <a:r>
                  <a:rPr lang="en-US" b="1" dirty="0">
                    <a:latin typeface="+mn-lt"/>
                  </a:rPr>
                  <a:t>rank</a:t>
                </a:r>
                <a:r>
                  <a:rPr lang="en-US" dirty="0">
                    <a:latin typeface="+mn-lt"/>
                  </a:rPr>
                  <a:t> </a:t>
                </a:r>
                <a:r>
                  <a:rPr lang="en-US" b="1" dirty="0">
                    <a:latin typeface="+mn-lt"/>
                  </a:rPr>
                  <a:t>differences</a:t>
                </a:r>
              </a:p>
              <a:p>
                <a:pPr lvl="1"/>
                <a:r>
                  <a:rPr lang="en-US" dirty="0">
                    <a:latin typeface="+mn-lt"/>
                  </a:rPr>
                  <a:t>Let 1 star = 1, 2 star = 2, 3 star = 3, 4 star = 4, and 5 star = 5</a:t>
                </a:r>
              </a:p>
              <a:p>
                <a:pPr lvl="1"/>
                <a:r>
                  <a:rPr lang="en-US" dirty="0">
                    <a:latin typeface="+mn-lt"/>
                  </a:rPr>
                  <a:t>The distance between a 2 star and 4 star restaurant is 2</a:t>
                </a:r>
              </a:p>
              <a:p>
                <a:r>
                  <a:rPr lang="en-US" dirty="0">
                    <a:latin typeface="+mn-lt"/>
                  </a:rPr>
                  <a:t>Or in normalized form with </a:t>
                </a:r>
                <a:r>
                  <a:rPr lang="en-US" i="1" dirty="0">
                    <a:latin typeface="+mn-lt"/>
                  </a:rPr>
                  <a:t>M  </a:t>
                </a:r>
                <a:r>
                  <a:rPr lang="en-US" dirty="0">
                    <a:latin typeface="+mn-lt"/>
                  </a:rPr>
                  <a:t>possible levels, and ranks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oMath>
                </a14:m>
                <a:r>
                  <a:rPr lang="en-US" dirty="0">
                    <a:latin typeface="+mn-lt"/>
                  </a:rPr>
                  <a:t>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b="0" i="1" smtClean="0">
                                  <a:latin typeface="Cambria Math" panose="02040503050406030204" pitchFamily="18" charset="0"/>
                                </a:rPr>
                                <m:t>′</m:t>
                              </m:r>
                            </m:e>
                            <m:sub>
                              <m:r>
                                <a:rPr lang="en-US" i="1">
                                  <a:latin typeface="Cambria Math" panose="02040503050406030204" pitchFamily="18" charset="0"/>
                                </a:rPr>
                                <m:t>𝑖</m:t>
                              </m:r>
                            </m:sub>
                          </m:sSub>
                        </m:e>
                      </m:d>
                      <m:r>
                        <a:rPr lang="en-US" b="0" i="0"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r>
                                    <a:rPr lang="en-US" i="1">
                                      <a:latin typeface="Cambria Math" panose="02040503050406030204" pitchFamily="18" charset="0"/>
                                    </a:rPr>
                                    <m:t>′</m:t>
                                  </m:r>
                                </m:e>
                                <m:sub>
                                  <m:r>
                                    <a:rPr lang="en-US" i="1">
                                      <a:latin typeface="Cambria Math" panose="02040503050406030204" pitchFamily="18" charset="0"/>
                                    </a:rPr>
                                    <m:t>𝑖</m:t>
                                  </m:r>
                                </m:sub>
                              </m:sSub>
                            </m:e>
                          </m:d>
                        </m:num>
                        <m:den>
                          <m:r>
                            <a:rPr lang="en-US" b="0" i="1" smtClean="0">
                              <a:latin typeface="Cambria Math" panose="02040503050406030204" pitchFamily="18" charset="0"/>
                            </a:rPr>
                            <m:t>𝑀</m:t>
                          </m:r>
                          <m:r>
                            <a:rPr lang="en-US" b="0" i="1" smtClean="0">
                              <a:latin typeface="Cambria Math" panose="02040503050406030204" pitchFamily="18" charset="0"/>
                            </a:rPr>
                            <m:t>−1</m:t>
                          </m:r>
                        </m:den>
                      </m:f>
                    </m:oMath>
                  </m:oMathPara>
                </a14:m>
                <a:endParaRPr lang="en-US" b="0" dirty="0">
                  <a:latin typeface="+mn-lt"/>
                </a:endParaRPr>
              </a:p>
              <a:p>
                <a:r>
                  <a:rPr lang="en-US" dirty="0">
                    <a:latin typeface="+mn-lt"/>
                  </a:rPr>
                  <a:t>On a 5-star scale, the dissimilarity between a 3 star and 5 star restaurant:</a:t>
                </a: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3−5</m:t>
                              </m:r>
                            </m:e>
                          </m:d>
                        </m:num>
                        <m:den>
                          <m:r>
                            <a:rPr lang="en-US" b="0" i="1" smtClean="0">
                              <a:latin typeface="Cambria Math" panose="02040503050406030204" pitchFamily="18" charset="0"/>
                            </a:rPr>
                            <m:t>4</m:t>
                          </m:r>
                        </m:den>
                      </m:f>
                      <m:r>
                        <a:rPr lang="en-US" b="0" i="0" smtClean="0">
                          <a:latin typeface="Cambria Math" panose="02040503050406030204" pitchFamily="18" charset="0"/>
                        </a:rPr>
                        <m:t>=0.5</m:t>
                      </m:r>
                    </m:oMath>
                  </m:oMathPara>
                </a14:m>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349950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can we express dissimilarity metrics for </a:t>
            </a:r>
            <a:r>
              <a:rPr lang="en-US" b="1" dirty="0">
                <a:latin typeface="+mn-lt"/>
              </a:rPr>
              <a:t>unordered categorical variables</a:t>
            </a:r>
            <a:r>
              <a:rPr lang="en-US" dirty="0">
                <a:latin typeface="+mn-lt"/>
              </a:rPr>
              <a:t>? </a:t>
            </a:r>
          </a:p>
          <a:p>
            <a:r>
              <a:rPr lang="en-US" dirty="0">
                <a:latin typeface="+mn-lt"/>
              </a:rPr>
              <a:t>Use a coding scheme</a:t>
            </a:r>
          </a:p>
          <a:p>
            <a:pPr lvl="1"/>
            <a:r>
              <a:rPr lang="en-US" sz="2800" dirty="0">
                <a:latin typeface="+mn-lt"/>
              </a:rPr>
              <a:t>e.g. a binary scheme, 1 if different categories, 0 if the same</a:t>
            </a:r>
          </a:p>
          <a:p>
            <a:pPr lvl="1"/>
            <a:r>
              <a:rPr lang="en-US" sz="2800" dirty="0">
                <a:latin typeface="+mn-lt"/>
              </a:rPr>
              <a:t>Optionally, normalize</a:t>
            </a:r>
          </a:p>
          <a:p>
            <a:pPr lvl="1"/>
            <a:r>
              <a:rPr lang="en-US" sz="2800" dirty="0">
                <a:latin typeface="+mn-lt"/>
              </a:rPr>
              <a:t>e.g., normalize by dividing by number of categories</a:t>
            </a:r>
          </a:p>
          <a:p>
            <a:r>
              <a:rPr lang="en-US" dirty="0">
                <a:latin typeface="+mn-lt"/>
              </a:rPr>
              <a:t>Example; restaurant type with 5 choices:</a:t>
            </a:r>
          </a:p>
          <a:p>
            <a:pPr lvl="1"/>
            <a:r>
              <a:rPr lang="en-US" sz="2800" dirty="0">
                <a:latin typeface="+mn-lt"/>
              </a:rPr>
              <a:t>Vegetarian, Thai, Mexican, Pizza, Burgers</a:t>
            </a:r>
          </a:p>
          <a:p>
            <a:pPr lvl="1"/>
            <a:r>
              <a:rPr lang="en-US" sz="2800" dirty="0">
                <a:latin typeface="+mn-lt"/>
              </a:rPr>
              <a:t>Distance Vegetarian to Burgers = 1/5 = 0.2</a:t>
            </a:r>
          </a:p>
          <a:p>
            <a:pPr lvl="1"/>
            <a:r>
              <a:rPr lang="en-US" sz="2800" dirty="0">
                <a:latin typeface="+mn-lt"/>
              </a:rPr>
              <a:t>Distance Burgers to Burgers = 0</a:t>
            </a:r>
          </a:p>
          <a:p>
            <a:r>
              <a:rPr lang="en-US" dirty="0">
                <a:latin typeface="+mn-lt"/>
              </a:rPr>
              <a:t>Can have more complex scheme if required</a:t>
            </a:r>
          </a:p>
        </p:txBody>
      </p:sp>
    </p:spTree>
    <p:extLst>
      <p:ext uri="{BB962C8B-B14F-4D97-AF65-F5344CB8AC3E}">
        <p14:creationId xmlns:p14="http://schemas.microsoft.com/office/powerpoint/2010/main" val="132559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Can we combine dissimilarities of different types of variables</a:t>
            </a:r>
          </a:p>
          <a:p>
            <a:r>
              <a:rPr lang="en-US" dirty="0">
                <a:latin typeface="+mn-lt"/>
              </a:rPr>
              <a:t>Yes, but with carefully!</a:t>
            </a:r>
          </a:p>
          <a:p>
            <a:r>
              <a:rPr lang="en-US" dirty="0">
                <a:latin typeface="+mn-lt"/>
              </a:rPr>
              <a:t>Scaling important, or some variable types dominate as a result of coding</a:t>
            </a:r>
          </a:p>
          <a:p>
            <a:pPr lvl="1"/>
            <a:r>
              <a:rPr lang="en-US" dirty="0">
                <a:latin typeface="+mn-lt"/>
              </a:rPr>
              <a:t>The numeric range of values must be similar</a:t>
            </a:r>
          </a:p>
          <a:p>
            <a:pPr lvl="1"/>
            <a:r>
              <a:rPr lang="en-US" dirty="0">
                <a:latin typeface="+mn-lt"/>
              </a:rPr>
              <a:t>e.g. We do not want ordinal variables to dominate numeric and categorical</a:t>
            </a:r>
          </a:p>
          <a:p>
            <a:r>
              <a:rPr lang="en-US" dirty="0">
                <a:latin typeface="+mn-lt"/>
              </a:rPr>
              <a:t>But, weighting is problem dependent!</a:t>
            </a:r>
          </a:p>
          <a:p>
            <a:pPr lvl="1"/>
            <a:r>
              <a:rPr lang="en-US" dirty="0">
                <a:latin typeface="+mn-lt"/>
              </a:rPr>
              <a:t>Unfortunately, no simple procedure for correct weighting</a:t>
            </a:r>
          </a:p>
          <a:p>
            <a:pPr lvl="1"/>
            <a:r>
              <a:rPr lang="en-US" dirty="0">
                <a:latin typeface="+mn-lt"/>
              </a:rPr>
              <a:t>Do I care more about the (ordinal) star rating or calories of the meal (numeric) when choosing a restaurant? </a:t>
            </a:r>
          </a:p>
          <a:p>
            <a:pPr lvl="1"/>
            <a:endParaRPr lang="en-US" dirty="0">
              <a:latin typeface="+mn-lt"/>
            </a:endParaRPr>
          </a:p>
          <a:p>
            <a:pPr marL="0" indent="0">
              <a:buNone/>
            </a:pPr>
            <a:r>
              <a:rPr lang="en-US" sz="2400" i="1" dirty="0">
                <a:latin typeface="+mn-lt"/>
              </a:rPr>
              <a:t>Important Note: There is some controversy around methodology for combining distance metrics of different data types. Some textbooks and theoreticians say combining types should never be done. Pragmatists realize we must do something, even if questionable. </a:t>
            </a:r>
          </a:p>
        </p:txBody>
      </p:sp>
    </p:spTree>
    <p:extLst>
      <p:ext uri="{BB962C8B-B14F-4D97-AF65-F5344CB8AC3E}">
        <p14:creationId xmlns:p14="http://schemas.microsoft.com/office/powerpoint/2010/main" val="221694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292100" y="937010"/>
            <a:ext cx="11983041" cy="5698998"/>
          </a:xfrm>
        </p:spPr>
        <p:txBody>
          <a:bodyPr>
            <a:normAutofit/>
          </a:bodyPr>
          <a:lstStyle/>
          <a:p>
            <a:r>
              <a:rPr lang="en-US" dirty="0">
                <a:latin typeface="+mn-lt"/>
              </a:rPr>
              <a:t>An example of computing dissimilarity between restaurants</a:t>
            </a:r>
          </a:p>
          <a:p>
            <a:endParaRPr lang="en-US" dirty="0">
              <a:latin typeface="+mn-lt"/>
            </a:endParaRPr>
          </a:p>
          <a:p>
            <a:endParaRPr lang="en-US" dirty="0">
              <a:latin typeface="+mn-lt"/>
            </a:endParaRPr>
          </a:p>
          <a:p>
            <a:endParaRPr lang="en-US" dirty="0">
              <a:latin typeface="+mn-lt"/>
            </a:endParaRPr>
          </a:p>
          <a:p>
            <a:pPr marL="0" indent="0">
              <a:buNone/>
            </a:pPr>
            <a:endParaRPr lang="en-US" dirty="0">
              <a:latin typeface="+mn-lt"/>
            </a:endParaRPr>
          </a:p>
          <a:p>
            <a:endParaRPr lang="en-US" dirty="0">
              <a:latin typeface="+mn-lt"/>
            </a:endParaRPr>
          </a:p>
          <a:p>
            <a:r>
              <a:rPr lang="en-US" dirty="0">
                <a:latin typeface="+mn-lt"/>
              </a:rPr>
              <a:t>Absolute dissimilarity between R1 and R4, a Mexican and vegetarian restaurant</a:t>
            </a:r>
          </a:p>
          <a:p>
            <a:pPr marL="0" indent="0">
              <a:buNone/>
            </a:pPr>
            <a:r>
              <a:rPr lang="en-US" sz="2400" dirty="0">
                <a:latin typeface="+mn-lt"/>
              </a:rPr>
              <a:t>[¼ + |0.8-0.3| + |0.7-0.1| + |3-1|/2 + |5-4|/4]/5 = [0.25 + 0.5 + 0.6 + 0.5 + 0.25]/5 = </a:t>
            </a:r>
            <a:r>
              <a:rPr lang="en-US" sz="2400" b="1" dirty="0">
                <a:latin typeface="+mn-lt"/>
              </a:rPr>
              <a:t>0.42</a:t>
            </a:r>
          </a:p>
          <a:p>
            <a:r>
              <a:rPr lang="en-US" dirty="0">
                <a:latin typeface="+mn-lt"/>
              </a:rPr>
              <a:t>Absolute dissimilarity between R2 and R3, two pizza places</a:t>
            </a:r>
          </a:p>
          <a:p>
            <a:pPr marL="0" indent="0">
              <a:buNone/>
            </a:pPr>
            <a:r>
              <a:rPr lang="en-US" sz="2400" dirty="0">
                <a:latin typeface="+mn-lt"/>
              </a:rPr>
              <a:t>[0 + |0.9-0.8| + |0.6-0.4| + |2-3|/2 + |4-3|/4]/5 = [0 + 0.1 + 0.2 + 0.5 + 0.25]/5 = </a:t>
            </a:r>
            <a:r>
              <a:rPr lang="en-US" sz="2400" b="1" dirty="0">
                <a:latin typeface="+mn-lt"/>
              </a:rPr>
              <a:t>0.21</a:t>
            </a:r>
          </a:p>
          <a:p>
            <a:endParaRPr lang="en-US" dirty="0">
              <a:latin typeface="+mn-lt"/>
            </a:endParaRPr>
          </a:p>
          <a:p>
            <a:pPr marL="0" indent="0">
              <a:buNone/>
            </a:pPr>
            <a:endParaRPr lang="en-US" dirty="0">
              <a:latin typeface="+mn-lt"/>
            </a:endParaRPr>
          </a:p>
        </p:txBody>
      </p:sp>
      <p:graphicFrame>
        <p:nvGraphicFramePr>
          <p:cNvPr id="5" name="Table 5">
            <a:extLst>
              <a:ext uri="{FF2B5EF4-FFF2-40B4-BE49-F238E27FC236}">
                <a16:creationId xmlns:a16="http://schemas.microsoft.com/office/drawing/2014/main" id="{B4474478-5A96-4835-8FDF-520632B5D493}"/>
              </a:ext>
            </a:extLst>
          </p:cNvPr>
          <p:cNvGraphicFramePr>
            <a:graphicFrameLocks noGrp="1"/>
          </p:cNvGraphicFramePr>
          <p:nvPr/>
        </p:nvGraphicFramePr>
        <p:xfrm>
          <a:off x="584200" y="1432300"/>
          <a:ext cx="11398842" cy="2743200"/>
        </p:xfrm>
        <a:graphic>
          <a:graphicData uri="http://schemas.openxmlformats.org/drawingml/2006/table">
            <a:tbl>
              <a:tblPr firstRow="1" bandRow="1">
                <a:tableStyleId>{5C22544A-7EE6-4342-B048-85BDC9FD1C3A}</a:tableStyleId>
              </a:tblPr>
              <a:tblGrid>
                <a:gridCol w="1862218">
                  <a:extLst>
                    <a:ext uri="{9D8B030D-6E8A-4147-A177-3AD203B41FA5}">
                      <a16:colId xmlns:a16="http://schemas.microsoft.com/office/drawing/2014/main" val="615816892"/>
                    </a:ext>
                  </a:extLst>
                </a:gridCol>
                <a:gridCol w="2128434">
                  <a:extLst>
                    <a:ext uri="{9D8B030D-6E8A-4147-A177-3AD203B41FA5}">
                      <a16:colId xmlns:a16="http://schemas.microsoft.com/office/drawing/2014/main" val="3425097927"/>
                    </a:ext>
                  </a:extLst>
                </a:gridCol>
                <a:gridCol w="1779453">
                  <a:extLst>
                    <a:ext uri="{9D8B030D-6E8A-4147-A177-3AD203B41FA5}">
                      <a16:colId xmlns:a16="http://schemas.microsoft.com/office/drawing/2014/main" val="1337615558"/>
                    </a:ext>
                  </a:extLst>
                </a:gridCol>
                <a:gridCol w="1829123">
                  <a:extLst>
                    <a:ext uri="{9D8B030D-6E8A-4147-A177-3AD203B41FA5}">
                      <a16:colId xmlns:a16="http://schemas.microsoft.com/office/drawing/2014/main" val="3418966473"/>
                    </a:ext>
                  </a:extLst>
                </a:gridCol>
                <a:gridCol w="1899807">
                  <a:extLst>
                    <a:ext uri="{9D8B030D-6E8A-4147-A177-3AD203B41FA5}">
                      <a16:colId xmlns:a16="http://schemas.microsoft.com/office/drawing/2014/main" val="3211043608"/>
                    </a:ext>
                  </a:extLst>
                </a:gridCol>
                <a:gridCol w="1899807">
                  <a:extLst>
                    <a:ext uri="{9D8B030D-6E8A-4147-A177-3AD203B41FA5}">
                      <a16:colId xmlns:a16="http://schemas.microsoft.com/office/drawing/2014/main" val="21232086"/>
                    </a:ext>
                  </a:extLst>
                </a:gridCol>
              </a:tblGrid>
              <a:tr h="456554">
                <a:tc>
                  <a:txBody>
                    <a:bodyPr/>
                    <a:lstStyle/>
                    <a:p>
                      <a:pPr algn="ctr"/>
                      <a:r>
                        <a:rPr lang="en-US" sz="2400" dirty="0">
                          <a:solidFill>
                            <a:schemeClr val="tx1"/>
                          </a:solidFill>
                        </a:rPr>
                        <a:t>Restaurant</a:t>
                      </a:r>
                    </a:p>
                  </a:txBody>
                  <a:tcPr/>
                </a:tc>
                <a:tc>
                  <a:txBody>
                    <a:bodyPr/>
                    <a:lstStyle/>
                    <a:p>
                      <a:pPr algn="ctr"/>
                      <a:r>
                        <a:rPr lang="en-US" sz="2400" dirty="0">
                          <a:solidFill>
                            <a:schemeClr val="tx1"/>
                          </a:solidFill>
                        </a:rPr>
                        <a:t>Type</a:t>
                      </a:r>
                    </a:p>
                  </a:txBody>
                  <a:tcPr/>
                </a:tc>
                <a:tc>
                  <a:txBody>
                    <a:bodyPr/>
                    <a:lstStyle/>
                    <a:p>
                      <a:pPr algn="ctr"/>
                      <a:r>
                        <a:rPr lang="en-US" sz="2400" dirty="0">
                          <a:solidFill>
                            <a:schemeClr val="tx1"/>
                          </a:solidFill>
                        </a:rPr>
                        <a:t>Calories</a:t>
                      </a:r>
                    </a:p>
                  </a:txBody>
                  <a:tcPr/>
                </a:tc>
                <a:tc>
                  <a:txBody>
                    <a:bodyPr/>
                    <a:lstStyle/>
                    <a:p>
                      <a:pPr algn="ctr"/>
                      <a:r>
                        <a:rPr lang="en-US" sz="2400" dirty="0">
                          <a:solidFill>
                            <a:schemeClr val="tx1"/>
                          </a:solidFill>
                        </a:rPr>
                        <a:t>Distance</a:t>
                      </a:r>
                    </a:p>
                  </a:txBody>
                  <a:tcPr/>
                </a:tc>
                <a:tc>
                  <a:txBody>
                    <a:bodyPr/>
                    <a:lstStyle/>
                    <a:p>
                      <a:pPr algn="ctr"/>
                      <a:r>
                        <a:rPr lang="en-US" sz="2400" dirty="0">
                          <a:solidFill>
                            <a:schemeClr val="tx1"/>
                          </a:solidFill>
                        </a:rPr>
                        <a:t>Price Range</a:t>
                      </a:r>
                    </a:p>
                  </a:txBody>
                  <a:tcPr/>
                </a:tc>
                <a:tc>
                  <a:txBody>
                    <a:bodyPr/>
                    <a:lstStyle/>
                    <a:p>
                      <a:pPr algn="ctr"/>
                      <a:r>
                        <a:rPr lang="en-US" sz="2400" dirty="0">
                          <a:solidFill>
                            <a:schemeClr val="tx1"/>
                          </a:solidFill>
                        </a:rPr>
                        <a:t>Stars</a:t>
                      </a:r>
                    </a:p>
                  </a:txBody>
                  <a:tcPr/>
                </a:tc>
                <a:extLst>
                  <a:ext uri="{0D108BD9-81ED-4DB2-BD59-A6C34878D82A}">
                    <a16:rowId xmlns:a16="http://schemas.microsoft.com/office/drawing/2014/main" val="2955699150"/>
                  </a:ext>
                </a:extLst>
              </a:tr>
              <a:tr h="456554">
                <a:tc>
                  <a:txBody>
                    <a:bodyPr/>
                    <a:lstStyle/>
                    <a:p>
                      <a:r>
                        <a:rPr lang="en-US" sz="2400" dirty="0">
                          <a:solidFill>
                            <a:schemeClr val="tx1"/>
                          </a:solidFill>
                        </a:rPr>
                        <a:t>R1</a:t>
                      </a:r>
                    </a:p>
                  </a:txBody>
                  <a:tcPr/>
                </a:tc>
                <a:tc>
                  <a:txBody>
                    <a:bodyPr/>
                    <a:lstStyle/>
                    <a:p>
                      <a:r>
                        <a:rPr lang="en-US" sz="2400" dirty="0">
                          <a:solidFill>
                            <a:schemeClr val="tx1"/>
                          </a:solidFill>
                        </a:rPr>
                        <a:t>Mexican</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0.1</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4269495456"/>
                  </a:ext>
                </a:extLst>
              </a:tr>
              <a:tr h="456554">
                <a:tc>
                  <a:txBody>
                    <a:bodyPr/>
                    <a:lstStyle/>
                    <a:p>
                      <a:r>
                        <a:rPr lang="en-US" sz="2400" dirty="0">
                          <a:solidFill>
                            <a:schemeClr val="tx1"/>
                          </a:solidFill>
                        </a:rPr>
                        <a:t>R2</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0.9</a:t>
                      </a:r>
                    </a:p>
                  </a:txBody>
                  <a:tcPr/>
                </a:tc>
                <a:tc>
                  <a:txBody>
                    <a:bodyPr/>
                    <a:lstStyle/>
                    <a:p>
                      <a:pPr algn="r"/>
                      <a:r>
                        <a:rPr lang="en-US" sz="2400" dirty="0">
                          <a:solidFill>
                            <a:schemeClr val="tx1"/>
                          </a:solidFill>
                        </a:rPr>
                        <a:t>0.4</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3</a:t>
                      </a:r>
                    </a:p>
                  </a:txBody>
                  <a:tcPr/>
                </a:tc>
                <a:extLst>
                  <a:ext uri="{0D108BD9-81ED-4DB2-BD59-A6C34878D82A}">
                    <a16:rowId xmlns:a16="http://schemas.microsoft.com/office/drawing/2014/main" val="90568364"/>
                  </a:ext>
                </a:extLst>
              </a:tr>
              <a:tr h="456554">
                <a:tc>
                  <a:txBody>
                    <a:bodyPr/>
                    <a:lstStyle/>
                    <a:p>
                      <a:r>
                        <a:rPr lang="en-US" sz="2400" dirty="0">
                          <a:solidFill>
                            <a:schemeClr val="tx1"/>
                          </a:solidFill>
                        </a:rPr>
                        <a:t>R3</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114072735"/>
                  </a:ext>
                </a:extLst>
              </a:tr>
              <a:tr h="456554">
                <a:tc>
                  <a:txBody>
                    <a:bodyPr/>
                    <a:lstStyle/>
                    <a:p>
                      <a:r>
                        <a:rPr lang="en-US" sz="2400" dirty="0">
                          <a:solidFill>
                            <a:schemeClr val="tx1"/>
                          </a:solidFill>
                        </a:rPr>
                        <a:t>R4</a:t>
                      </a:r>
                    </a:p>
                  </a:txBody>
                  <a:tcPr/>
                </a:tc>
                <a:tc>
                  <a:txBody>
                    <a:bodyPr/>
                    <a:lstStyle/>
                    <a:p>
                      <a:r>
                        <a:rPr lang="en-US" sz="2400" dirty="0">
                          <a:solidFill>
                            <a:schemeClr val="tx1"/>
                          </a:solidFill>
                        </a:rPr>
                        <a:t>Vegetarian</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0.7</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5</a:t>
                      </a:r>
                    </a:p>
                  </a:txBody>
                  <a:tcPr/>
                </a:tc>
                <a:extLst>
                  <a:ext uri="{0D108BD9-81ED-4DB2-BD59-A6C34878D82A}">
                    <a16:rowId xmlns:a16="http://schemas.microsoft.com/office/drawing/2014/main" val="4286174170"/>
                  </a:ext>
                </a:extLst>
              </a:tr>
              <a:tr h="456554">
                <a:tc>
                  <a:txBody>
                    <a:bodyPr/>
                    <a:lstStyle/>
                    <a:p>
                      <a:r>
                        <a:rPr lang="en-US" sz="2400" dirty="0">
                          <a:solidFill>
                            <a:schemeClr val="tx1"/>
                          </a:solidFill>
                        </a:rPr>
                        <a:t>R5</a:t>
                      </a:r>
                    </a:p>
                  </a:txBody>
                  <a:tcPr/>
                </a:tc>
                <a:tc>
                  <a:txBody>
                    <a:bodyPr/>
                    <a:lstStyle/>
                    <a:p>
                      <a:r>
                        <a:rPr lang="en-US" sz="2400" dirty="0">
                          <a:solidFill>
                            <a:schemeClr val="tx1"/>
                          </a:solidFill>
                        </a:rPr>
                        <a:t>Thai</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363109214"/>
                  </a:ext>
                </a:extLst>
              </a:tr>
            </a:tbl>
          </a:graphicData>
        </a:graphic>
      </p:graphicFrame>
    </p:spTree>
    <p:extLst>
      <p:ext uri="{BB962C8B-B14F-4D97-AF65-F5344CB8AC3E}">
        <p14:creationId xmlns:p14="http://schemas.microsoft.com/office/powerpoint/2010/main" val="318024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p:sp>
        <p:nvSpPr>
          <p:cNvPr id="3" name="Content Placeholder 2"/>
          <p:cNvSpPr>
            <a:spLocks noGrp="1"/>
          </p:cNvSpPr>
          <p:nvPr>
            <p:ph sz="quarter" idx="10"/>
          </p:nvPr>
        </p:nvSpPr>
        <p:spPr>
          <a:xfrm>
            <a:off x="208958" y="896079"/>
            <a:ext cx="11983041" cy="5698998"/>
          </a:xfrm>
        </p:spPr>
        <p:txBody>
          <a:bodyPr>
            <a:normAutofit/>
          </a:bodyPr>
          <a:lstStyle/>
          <a:p>
            <a:r>
              <a:rPr lang="en-US" dirty="0">
                <a:latin typeface="+mn-lt"/>
              </a:rPr>
              <a:t>Another example of computing dissimilarity between restaurants</a:t>
            </a:r>
          </a:p>
          <a:p>
            <a:endParaRPr lang="en-US" dirty="0">
              <a:latin typeface="+mn-lt"/>
            </a:endParaRPr>
          </a:p>
          <a:p>
            <a:endParaRPr lang="en-US" dirty="0">
              <a:latin typeface="+mn-lt"/>
            </a:endParaRPr>
          </a:p>
          <a:p>
            <a:endParaRPr lang="en-US" dirty="0">
              <a:latin typeface="+mn-lt"/>
            </a:endParaRPr>
          </a:p>
          <a:p>
            <a:pPr marL="0" indent="0">
              <a:buNone/>
            </a:pPr>
            <a:endParaRPr lang="en-US" dirty="0">
              <a:latin typeface="+mn-lt"/>
            </a:endParaRPr>
          </a:p>
          <a:p>
            <a:endParaRPr lang="en-US" dirty="0">
              <a:latin typeface="+mn-lt"/>
            </a:endParaRPr>
          </a:p>
          <a:p>
            <a:r>
              <a:rPr lang="en-US" dirty="0">
                <a:latin typeface="+mn-lt"/>
              </a:rPr>
              <a:t>Squared dissimilarity between R1 and R4, a Mexican and vegetarian restaurant</a:t>
            </a:r>
          </a:p>
          <a:p>
            <a:pPr marL="0" indent="0">
              <a:buNone/>
            </a:pPr>
            <a:r>
              <a:rPr lang="en-US" sz="2400" dirty="0">
                <a:latin typeface="+mn-lt"/>
              </a:rPr>
              <a:t>[0.25</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+ 0.6</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+ 0.25</a:t>
            </a:r>
            <a:r>
              <a:rPr lang="en-US" sz="2400" baseline="30000" dirty="0">
                <a:latin typeface="+mn-lt"/>
              </a:rPr>
              <a:t>2</a:t>
            </a:r>
            <a:r>
              <a:rPr lang="en-US" sz="2400" dirty="0">
                <a:latin typeface="+mn-lt"/>
              </a:rPr>
              <a:t>]/5 = [0.125 + 0.25 + 0.36 + 0.25+ 0.125]/5 = </a:t>
            </a:r>
            <a:r>
              <a:rPr lang="en-US" sz="2400" b="1" dirty="0">
                <a:latin typeface="+mn-lt"/>
              </a:rPr>
              <a:t>0.22</a:t>
            </a:r>
          </a:p>
          <a:p>
            <a:r>
              <a:rPr lang="en-US" dirty="0">
                <a:latin typeface="+mn-lt"/>
              </a:rPr>
              <a:t>Squared dissimilarity between R2 and R3, two pizza places</a:t>
            </a:r>
          </a:p>
          <a:p>
            <a:pPr marL="0" indent="0">
              <a:buNone/>
            </a:pPr>
            <a:r>
              <a:rPr lang="en-US" sz="2400" dirty="0">
                <a:latin typeface="+mn-lt"/>
              </a:rPr>
              <a:t>[0 + 0.1</a:t>
            </a:r>
            <a:r>
              <a:rPr lang="en-US" sz="2400" baseline="30000" dirty="0">
                <a:latin typeface="+mn-lt"/>
              </a:rPr>
              <a:t>2</a:t>
            </a:r>
            <a:r>
              <a:rPr lang="en-US" sz="2400" dirty="0">
                <a:latin typeface="+mn-lt"/>
              </a:rPr>
              <a:t> + 0.2</a:t>
            </a:r>
            <a:r>
              <a:rPr lang="en-US" sz="2400" baseline="30000" dirty="0">
                <a:latin typeface="+mn-lt"/>
              </a:rPr>
              <a:t>2</a:t>
            </a:r>
            <a:r>
              <a:rPr lang="en-US" sz="2400" dirty="0">
                <a:latin typeface="+mn-lt"/>
              </a:rPr>
              <a:t> + 0.5</a:t>
            </a:r>
            <a:r>
              <a:rPr lang="en-US" sz="2400" baseline="30000" dirty="0">
                <a:latin typeface="+mn-lt"/>
              </a:rPr>
              <a:t>2</a:t>
            </a:r>
            <a:r>
              <a:rPr lang="en-US" sz="2400" dirty="0">
                <a:latin typeface="+mn-lt"/>
              </a:rPr>
              <a:t> + 0.25</a:t>
            </a:r>
            <a:r>
              <a:rPr lang="en-US" sz="2400" baseline="30000" dirty="0">
                <a:latin typeface="+mn-lt"/>
              </a:rPr>
              <a:t>2</a:t>
            </a:r>
            <a:r>
              <a:rPr lang="en-US" sz="2400" dirty="0">
                <a:latin typeface="+mn-lt"/>
              </a:rPr>
              <a:t>]/5 = [0 + 0.01 + 0.04 + 0.25 + 0.125]/5 = </a:t>
            </a:r>
            <a:r>
              <a:rPr lang="en-US" sz="2400" b="1" dirty="0">
                <a:latin typeface="+mn-lt"/>
              </a:rPr>
              <a:t>0.085</a:t>
            </a:r>
          </a:p>
          <a:p>
            <a:endParaRPr lang="en-US" dirty="0">
              <a:latin typeface="+mn-lt"/>
            </a:endParaRPr>
          </a:p>
          <a:p>
            <a:pPr marL="0" indent="0">
              <a:buNone/>
            </a:pPr>
            <a:endParaRPr lang="en-US" dirty="0">
              <a:latin typeface="+mn-lt"/>
            </a:endParaRPr>
          </a:p>
        </p:txBody>
      </p:sp>
      <p:graphicFrame>
        <p:nvGraphicFramePr>
          <p:cNvPr id="5" name="Table 5">
            <a:extLst>
              <a:ext uri="{FF2B5EF4-FFF2-40B4-BE49-F238E27FC236}">
                <a16:creationId xmlns:a16="http://schemas.microsoft.com/office/drawing/2014/main" id="{B4474478-5A96-4835-8FDF-520632B5D493}"/>
              </a:ext>
            </a:extLst>
          </p:cNvPr>
          <p:cNvGraphicFramePr>
            <a:graphicFrameLocks noGrp="1"/>
          </p:cNvGraphicFramePr>
          <p:nvPr/>
        </p:nvGraphicFramePr>
        <p:xfrm>
          <a:off x="584200" y="1432300"/>
          <a:ext cx="11398842" cy="2743200"/>
        </p:xfrm>
        <a:graphic>
          <a:graphicData uri="http://schemas.openxmlformats.org/drawingml/2006/table">
            <a:tbl>
              <a:tblPr firstRow="1" bandRow="1">
                <a:tableStyleId>{5C22544A-7EE6-4342-B048-85BDC9FD1C3A}</a:tableStyleId>
              </a:tblPr>
              <a:tblGrid>
                <a:gridCol w="1862218">
                  <a:extLst>
                    <a:ext uri="{9D8B030D-6E8A-4147-A177-3AD203B41FA5}">
                      <a16:colId xmlns:a16="http://schemas.microsoft.com/office/drawing/2014/main" val="615816892"/>
                    </a:ext>
                  </a:extLst>
                </a:gridCol>
                <a:gridCol w="2128434">
                  <a:extLst>
                    <a:ext uri="{9D8B030D-6E8A-4147-A177-3AD203B41FA5}">
                      <a16:colId xmlns:a16="http://schemas.microsoft.com/office/drawing/2014/main" val="3425097927"/>
                    </a:ext>
                  </a:extLst>
                </a:gridCol>
                <a:gridCol w="1779453">
                  <a:extLst>
                    <a:ext uri="{9D8B030D-6E8A-4147-A177-3AD203B41FA5}">
                      <a16:colId xmlns:a16="http://schemas.microsoft.com/office/drawing/2014/main" val="1337615558"/>
                    </a:ext>
                  </a:extLst>
                </a:gridCol>
                <a:gridCol w="1829123">
                  <a:extLst>
                    <a:ext uri="{9D8B030D-6E8A-4147-A177-3AD203B41FA5}">
                      <a16:colId xmlns:a16="http://schemas.microsoft.com/office/drawing/2014/main" val="3418966473"/>
                    </a:ext>
                  </a:extLst>
                </a:gridCol>
                <a:gridCol w="1899807">
                  <a:extLst>
                    <a:ext uri="{9D8B030D-6E8A-4147-A177-3AD203B41FA5}">
                      <a16:colId xmlns:a16="http://schemas.microsoft.com/office/drawing/2014/main" val="3211043608"/>
                    </a:ext>
                  </a:extLst>
                </a:gridCol>
                <a:gridCol w="1899807">
                  <a:extLst>
                    <a:ext uri="{9D8B030D-6E8A-4147-A177-3AD203B41FA5}">
                      <a16:colId xmlns:a16="http://schemas.microsoft.com/office/drawing/2014/main" val="21232086"/>
                    </a:ext>
                  </a:extLst>
                </a:gridCol>
              </a:tblGrid>
              <a:tr h="456554">
                <a:tc>
                  <a:txBody>
                    <a:bodyPr/>
                    <a:lstStyle/>
                    <a:p>
                      <a:pPr algn="ctr"/>
                      <a:r>
                        <a:rPr lang="en-US" sz="2400" dirty="0">
                          <a:solidFill>
                            <a:schemeClr val="tx1"/>
                          </a:solidFill>
                        </a:rPr>
                        <a:t>Restaurant</a:t>
                      </a:r>
                    </a:p>
                  </a:txBody>
                  <a:tcPr/>
                </a:tc>
                <a:tc>
                  <a:txBody>
                    <a:bodyPr/>
                    <a:lstStyle/>
                    <a:p>
                      <a:pPr algn="ctr"/>
                      <a:r>
                        <a:rPr lang="en-US" sz="2400" dirty="0">
                          <a:solidFill>
                            <a:schemeClr val="tx1"/>
                          </a:solidFill>
                        </a:rPr>
                        <a:t>Type</a:t>
                      </a:r>
                    </a:p>
                  </a:txBody>
                  <a:tcPr/>
                </a:tc>
                <a:tc>
                  <a:txBody>
                    <a:bodyPr/>
                    <a:lstStyle/>
                    <a:p>
                      <a:pPr algn="ctr"/>
                      <a:r>
                        <a:rPr lang="en-US" sz="2400" dirty="0">
                          <a:solidFill>
                            <a:schemeClr val="tx1"/>
                          </a:solidFill>
                        </a:rPr>
                        <a:t>Calories</a:t>
                      </a:r>
                    </a:p>
                  </a:txBody>
                  <a:tcPr/>
                </a:tc>
                <a:tc>
                  <a:txBody>
                    <a:bodyPr/>
                    <a:lstStyle/>
                    <a:p>
                      <a:pPr algn="ctr"/>
                      <a:r>
                        <a:rPr lang="en-US" sz="2400" dirty="0">
                          <a:solidFill>
                            <a:schemeClr val="tx1"/>
                          </a:solidFill>
                        </a:rPr>
                        <a:t>Distance</a:t>
                      </a:r>
                    </a:p>
                  </a:txBody>
                  <a:tcPr/>
                </a:tc>
                <a:tc>
                  <a:txBody>
                    <a:bodyPr/>
                    <a:lstStyle/>
                    <a:p>
                      <a:pPr algn="ctr"/>
                      <a:r>
                        <a:rPr lang="en-US" sz="2400" dirty="0">
                          <a:solidFill>
                            <a:schemeClr val="tx1"/>
                          </a:solidFill>
                        </a:rPr>
                        <a:t>Price Range</a:t>
                      </a:r>
                    </a:p>
                  </a:txBody>
                  <a:tcPr/>
                </a:tc>
                <a:tc>
                  <a:txBody>
                    <a:bodyPr/>
                    <a:lstStyle/>
                    <a:p>
                      <a:pPr algn="ctr"/>
                      <a:r>
                        <a:rPr lang="en-US" sz="2400" dirty="0">
                          <a:solidFill>
                            <a:schemeClr val="tx1"/>
                          </a:solidFill>
                        </a:rPr>
                        <a:t>Stars</a:t>
                      </a:r>
                    </a:p>
                  </a:txBody>
                  <a:tcPr/>
                </a:tc>
                <a:extLst>
                  <a:ext uri="{0D108BD9-81ED-4DB2-BD59-A6C34878D82A}">
                    <a16:rowId xmlns:a16="http://schemas.microsoft.com/office/drawing/2014/main" val="2955699150"/>
                  </a:ext>
                </a:extLst>
              </a:tr>
              <a:tr h="456554">
                <a:tc>
                  <a:txBody>
                    <a:bodyPr/>
                    <a:lstStyle/>
                    <a:p>
                      <a:r>
                        <a:rPr lang="en-US" sz="2400" dirty="0">
                          <a:solidFill>
                            <a:schemeClr val="tx1"/>
                          </a:solidFill>
                        </a:rPr>
                        <a:t>R1</a:t>
                      </a:r>
                    </a:p>
                  </a:txBody>
                  <a:tcPr/>
                </a:tc>
                <a:tc>
                  <a:txBody>
                    <a:bodyPr/>
                    <a:lstStyle/>
                    <a:p>
                      <a:r>
                        <a:rPr lang="en-US" sz="2400" dirty="0">
                          <a:solidFill>
                            <a:schemeClr val="tx1"/>
                          </a:solidFill>
                        </a:rPr>
                        <a:t>Mexican</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0.1</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4269495456"/>
                  </a:ext>
                </a:extLst>
              </a:tr>
              <a:tr h="456554">
                <a:tc>
                  <a:txBody>
                    <a:bodyPr/>
                    <a:lstStyle/>
                    <a:p>
                      <a:r>
                        <a:rPr lang="en-US" sz="2400" dirty="0">
                          <a:solidFill>
                            <a:schemeClr val="tx1"/>
                          </a:solidFill>
                        </a:rPr>
                        <a:t>R2</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0.9</a:t>
                      </a:r>
                    </a:p>
                  </a:txBody>
                  <a:tcPr/>
                </a:tc>
                <a:tc>
                  <a:txBody>
                    <a:bodyPr/>
                    <a:lstStyle/>
                    <a:p>
                      <a:pPr algn="r"/>
                      <a:r>
                        <a:rPr lang="en-US" sz="2400" dirty="0">
                          <a:solidFill>
                            <a:schemeClr val="tx1"/>
                          </a:solidFill>
                        </a:rPr>
                        <a:t>0.4</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3</a:t>
                      </a:r>
                    </a:p>
                  </a:txBody>
                  <a:tcPr/>
                </a:tc>
                <a:extLst>
                  <a:ext uri="{0D108BD9-81ED-4DB2-BD59-A6C34878D82A}">
                    <a16:rowId xmlns:a16="http://schemas.microsoft.com/office/drawing/2014/main" val="90568364"/>
                  </a:ext>
                </a:extLst>
              </a:tr>
              <a:tr h="456554">
                <a:tc>
                  <a:txBody>
                    <a:bodyPr/>
                    <a:lstStyle/>
                    <a:p>
                      <a:r>
                        <a:rPr lang="en-US" sz="2400" dirty="0">
                          <a:solidFill>
                            <a:schemeClr val="tx1"/>
                          </a:solidFill>
                        </a:rPr>
                        <a:t>R3</a:t>
                      </a:r>
                    </a:p>
                  </a:txBody>
                  <a:tcPr/>
                </a:tc>
                <a:tc>
                  <a:txBody>
                    <a:bodyPr/>
                    <a:lstStyle/>
                    <a:p>
                      <a:r>
                        <a:rPr lang="en-US" sz="2400" dirty="0">
                          <a:solidFill>
                            <a:schemeClr val="tx1"/>
                          </a:solidFill>
                        </a:rPr>
                        <a:t>Pizza</a:t>
                      </a:r>
                    </a:p>
                  </a:txBody>
                  <a:tcPr/>
                </a:tc>
                <a:tc>
                  <a:txBody>
                    <a:bodyPr/>
                    <a:lstStyle/>
                    <a:p>
                      <a:pPr algn="r"/>
                      <a:r>
                        <a:rPr lang="en-US" sz="2400" dirty="0">
                          <a:solidFill>
                            <a:schemeClr val="tx1"/>
                          </a:solidFill>
                        </a:rPr>
                        <a:t>0.8</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114072735"/>
                  </a:ext>
                </a:extLst>
              </a:tr>
              <a:tr h="456554">
                <a:tc>
                  <a:txBody>
                    <a:bodyPr/>
                    <a:lstStyle/>
                    <a:p>
                      <a:r>
                        <a:rPr lang="en-US" sz="2400" dirty="0">
                          <a:solidFill>
                            <a:schemeClr val="tx1"/>
                          </a:solidFill>
                        </a:rPr>
                        <a:t>R4</a:t>
                      </a:r>
                    </a:p>
                  </a:txBody>
                  <a:tcPr/>
                </a:tc>
                <a:tc>
                  <a:txBody>
                    <a:bodyPr/>
                    <a:lstStyle/>
                    <a:p>
                      <a:r>
                        <a:rPr lang="en-US" sz="2400" dirty="0">
                          <a:solidFill>
                            <a:schemeClr val="tx1"/>
                          </a:solidFill>
                        </a:rPr>
                        <a:t>Vegetarian</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0.7</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5</a:t>
                      </a:r>
                    </a:p>
                  </a:txBody>
                  <a:tcPr/>
                </a:tc>
                <a:extLst>
                  <a:ext uri="{0D108BD9-81ED-4DB2-BD59-A6C34878D82A}">
                    <a16:rowId xmlns:a16="http://schemas.microsoft.com/office/drawing/2014/main" val="4286174170"/>
                  </a:ext>
                </a:extLst>
              </a:tr>
              <a:tr h="456554">
                <a:tc>
                  <a:txBody>
                    <a:bodyPr/>
                    <a:lstStyle/>
                    <a:p>
                      <a:r>
                        <a:rPr lang="en-US" sz="2400" dirty="0">
                          <a:solidFill>
                            <a:schemeClr val="tx1"/>
                          </a:solidFill>
                        </a:rPr>
                        <a:t>R5</a:t>
                      </a:r>
                    </a:p>
                  </a:txBody>
                  <a:tcPr/>
                </a:tc>
                <a:tc>
                  <a:txBody>
                    <a:bodyPr/>
                    <a:lstStyle/>
                    <a:p>
                      <a:r>
                        <a:rPr lang="en-US" sz="2400" dirty="0">
                          <a:solidFill>
                            <a:schemeClr val="tx1"/>
                          </a:solidFill>
                        </a:rPr>
                        <a:t>Thai</a:t>
                      </a:r>
                    </a:p>
                  </a:txBody>
                  <a:tcPr/>
                </a:tc>
                <a:tc>
                  <a:txBody>
                    <a:bodyPr/>
                    <a:lstStyle/>
                    <a:p>
                      <a:pPr algn="r"/>
                      <a:r>
                        <a:rPr lang="en-US" sz="2400" dirty="0">
                          <a:solidFill>
                            <a:schemeClr val="tx1"/>
                          </a:solidFill>
                        </a:rPr>
                        <a:t>0.6</a:t>
                      </a:r>
                    </a:p>
                  </a:txBody>
                  <a:tcPr/>
                </a:tc>
                <a:tc>
                  <a:txBody>
                    <a:bodyPr/>
                    <a:lstStyle/>
                    <a:p>
                      <a:pPr algn="r"/>
                      <a:r>
                        <a:rPr lang="en-US" sz="2400" dirty="0">
                          <a:solidFill>
                            <a:schemeClr val="tx1"/>
                          </a:solidFill>
                        </a:rPr>
                        <a:t>0.3</a:t>
                      </a:r>
                    </a:p>
                  </a:txBody>
                  <a:tcPr/>
                </a:tc>
                <a:tc>
                  <a:txBody>
                    <a:bodyPr/>
                    <a:lstStyle/>
                    <a:p>
                      <a:pPr algn="r"/>
                      <a:r>
                        <a:rPr lang="en-US" sz="2400" dirty="0">
                          <a:solidFill>
                            <a:schemeClr val="tx1"/>
                          </a:solidFill>
                        </a:rPr>
                        <a:t>$$</a:t>
                      </a:r>
                    </a:p>
                  </a:txBody>
                  <a:tcPr/>
                </a:tc>
                <a:tc>
                  <a:txBody>
                    <a:bodyPr/>
                    <a:lstStyle/>
                    <a:p>
                      <a:pPr algn="r"/>
                      <a:r>
                        <a:rPr lang="en-US" sz="2400" dirty="0">
                          <a:solidFill>
                            <a:schemeClr val="tx1"/>
                          </a:solidFill>
                        </a:rPr>
                        <a:t>4</a:t>
                      </a:r>
                    </a:p>
                  </a:txBody>
                  <a:tcPr/>
                </a:tc>
                <a:extLst>
                  <a:ext uri="{0D108BD9-81ED-4DB2-BD59-A6C34878D82A}">
                    <a16:rowId xmlns:a16="http://schemas.microsoft.com/office/drawing/2014/main" val="2363109214"/>
                  </a:ext>
                </a:extLst>
              </a:tr>
            </a:tbl>
          </a:graphicData>
        </a:graphic>
      </p:graphicFrame>
    </p:spTree>
    <p:extLst>
      <p:ext uri="{BB962C8B-B14F-4D97-AF65-F5344CB8AC3E}">
        <p14:creationId xmlns:p14="http://schemas.microsoft.com/office/powerpoint/2010/main" val="124206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or dissimilarity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How much do different metrics matter?</a:t>
                </a:r>
              </a:p>
              <a:p>
                <a:r>
                  <a:rPr lang="en-US" dirty="0">
                    <a:latin typeface="+mn-lt"/>
                  </a:rPr>
                  <a:t>A lot!</a:t>
                </a:r>
              </a:p>
              <a:p>
                <a:r>
                  <a:rPr lang="en-US" dirty="0">
                    <a:latin typeface="+mn-lt"/>
                  </a:rPr>
                  <a:t>Compare dissimilarity metrics between the restaurants</a:t>
                </a:r>
              </a:p>
              <a:p>
                <a:endParaRPr lang="en-US" dirty="0">
                  <a:latin typeface="+mn-lt"/>
                </a:endParaRPr>
              </a:p>
              <a:p>
                <a:endParaRPr lang="en-US" dirty="0">
                  <a:latin typeface="+mn-lt"/>
                </a:endParaRPr>
              </a:p>
              <a:p>
                <a:endParaRPr lang="en-US" dirty="0">
                  <a:latin typeface="+mn-lt"/>
                </a:endParaRPr>
              </a:p>
              <a:p>
                <a:r>
                  <a:rPr lang="en-US" dirty="0">
                    <a:latin typeface="+mn-lt"/>
                  </a:rPr>
                  <a:t>Manhattan distance,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oMath>
                </a14:m>
                <a:r>
                  <a:rPr lang="en-US" dirty="0">
                    <a:latin typeface="+mn-lt"/>
                  </a:rPr>
                  <a:t>, less sensitive to extreme differences </a:t>
                </a:r>
              </a:p>
              <a:p>
                <a:pPr marL="457200" lvl="1"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0.42</m:t>
                          </m:r>
                        </m:num>
                        <m:den>
                          <m:r>
                            <a:rPr lang="en-US" b="0" i="1" smtClean="0">
                              <a:latin typeface="Cambria Math" panose="02040503050406030204" pitchFamily="18" charset="0"/>
                            </a:rPr>
                            <m:t>0.21</m:t>
                          </m:r>
                        </m:den>
                      </m:f>
                      <m:r>
                        <a:rPr lang="en-US" b="0" i="1" smtClean="0">
                          <a:latin typeface="Cambria Math" panose="02040503050406030204" pitchFamily="18" charset="0"/>
                        </a:rPr>
                        <m:t>=2.0</m:t>
                      </m:r>
                    </m:oMath>
                  </m:oMathPara>
                </a14:m>
                <a:endParaRPr lang="en-US" dirty="0">
                  <a:latin typeface="+mn-lt"/>
                </a:endParaRPr>
              </a:p>
              <a:p>
                <a:r>
                  <a:rPr lang="en-US" dirty="0">
                    <a:latin typeface="+mn-lt"/>
                  </a:rPr>
                  <a:t>The Euclidean,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oMath>
                </a14:m>
                <a:r>
                  <a:rPr lang="en-US" dirty="0">
                    <a:latin typeface="+mn-lt"/>
                  </a:rPr>
                  <a:t>, distance emphasizes larger differences in feature values  </a:t>
                </a:r>
              </a:p>
              <a:p>
                <a:pPr marL="457200" lvl="1"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0.22</m:t>
                          </m:r>
                        </m:num>
                        <m:den>
                          <m:r>
                            <a:rPr lang="en-US" i="1">
                              <a:latin typeface="Cambria Math" panose="02040503050406030204" pitchFamily="18" charset="0"/>
                            </a:rPr>
                            <m:t>0.085</m:t>
                          </m:r>
                        </m:den>
                      </m:f>
                      <m:r>
                        <a:rPr lang="en-US" i="1">
                          <a:latin typeface="Cambria Math" panose="02040503050406030204" pitchFamily="18" charset="0"/>
                        </a:rPr>
                        <m:t>=2.6</m:t>
                      </m:r>
                    </m:oMath>
                  </m:oMathPara>
                </a14:m>
                <a:endParaRPr lang="en-US" dirty="0"/>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1CB42A7F-F831-4FC9-A747-7D416F91ED9D}"/>
              </a:ext>
            </a:extLst>
          </p:cNvPr>
          <p:cNvGraphicFramePr>
            <a:graphicFrameLocks noGrp="1"/>
          </p:cNvGraphicFramePr>
          <p:nvPr>
            <p:extLst>
              <p:ext uri="{D42A27DB-BD31-4B8C-83A1-F6EECF244321}">
                <p14:modId xmlns:p14="http://schemas.microsoft.com/office/powerpoint/2010/main" val="1696918281"/>
              </p:ext>
            </p:extLst>
          </p:nvPr>
        </p:nvGraphicFramePr>
        <p:xfrm>
          <a:off x="709478" y="2588217"/>
          <a:ext cx="9638223" cy="1416441"/>
        </p:xfrm>
        <a:graphic>
          <a:graphicData uri="http://schemas.openxmlformats.org/drawingml/2006/table">
            <a:tbl>
              <a:tblPr firstRow="1" bandRow="1">
                <a:tableStyleId>{5C22544A-7EE6-4342-B048-85BDC9FD1C3A}</a:tableStyleId>
              </a:tblPr>
              <a:tblGrid>
                <a:gridCol w="3212741">
                  <a:extLst>
                    <a:ext uri="{9D8B030D-6E8A-4147-A177-3AD203B41FA5}">
                      <a16:colId xmlns:a16="http://schemas.microsoft.com/office/drawing/2014/main" val="4235277372"/>
                    </a:ext>
                  </a:extLst>
                </a:gridCol>
                <a:gridCol w="3212741">
                  <a:extLst>
                    <a:ext uri="{9D8B030D-6E8A-4147-A177-3AD203B41FA5}">
                      <a16:colId xmlns:a16="http://schemas.microsoft.com/office/drawing/2014/main" val="2417895486"/>
                    </a:ext>
                  </a:extLst>
                </a:gridCol>
                <a:gridCol w="3212741">
                  <a:extLst>
                    <a:ext uri="{9D8B030D-6E8A-4147-A177-3AD203B41FA5}">
                      <a16:colId xmlns:a16="http://schemas.microsoft.com/office/drawing/2014/main" val="747759040"/>
                    </a:ext>
                  </a:extLst>
                </a:gridCol>
              </a:tblGrid>
              <a:tr h="472147">
                <a:tc>
                  <a:txBody>
                    <a:bodyPr/>
                    <a:lstStyle/>
                    <a:p>
                      <a:endParaRPr lang="en-US" sz="2400" dirty="0">
                        <a:solidFill>
                          <a:schemeClr val="tx1"/>
                        </a:solidFill>
                      </a:endParaRPr>
                    </a:p>
                  </a:txBody>
                  <a:tcPr/>
                </a:tc>
                <a:tc>
                  <a:txBody>
                    <a:bodyPr/>
                    <a:lstStyle/>
                    <a:p>
                      <a:pPr algn="ctr"/>
                      <a:r>
                        <a:rPr lang="en-US" sz="2400" dirty="0">
                          <a:solidFill>
                            <a:schemeClr val="tx1"/>
                          </a:solidFill>
                        </a:rPr>
                        <a:t>Mexican – Vegetarian</a:t>
                      </a:r>
                    </a:p>
                  </a:txBody>
                  <a:tcPr/>
                </a:tc>
                <a:tc>
                  <a:txBody>
                    <a:bodyPr/>
                    <a:lstStyle/>
                    <a:p>
                      <a:pPr algn="ctr"/>
                      <a:r>
                        <a:rPr lang="en-US" sz="2400" dirty="0">
                          <a:solidFill>
                            <a:schemeClr val="tx1"/>
                          </a:solidFill>
                        </a:rPr>
                        <a:t>2 Pizza Places</a:t>
                      </a:r>
                    </a:p>
                  </a:txBody>
                  <a:tcPr/>
                </a:tc>
                <a:extLst>
                  <a:ext uri="{0D108BD9-81ED-4DB2-BD59-A6C34878D82A}">
                    <a16:rowId xmlns:a16="http://schemas.microsoft.com/office/drawing/2014/main" val="634146937"/>
                  </a:ext>
                </a:extLst>
              </a:tr>
              <a:tr h="472147">
                <a:tc>
                  <a:txBody>
                    <a:bodyPr/>
                    <a:lstStyle/>
                    <a:p>
                      <a:r>
                        <a:rPr lang="en-US" sz="2400" b="1" dirty="0">
                          <a:solidFill>
                            <a:schemeClr val="tx1"/>
                          </a:solidFill>
                        </a:rPr>
                        <a:t>Absolute distance</a:t>
                      </a:r>
                    </a:p>
                  </a:txBody>
                  <a:tcPr/>
                </a:tc>
                <a:tc>
                  <a:txBody>
                    <a:bodyPr/>
                    <a:lstStyle/>
                    <a:p>
                      <a:pPr algn="r"/>
                      <a:r>
                        <a:rPr lang="en-US" sz="2400" dirty="0">
                          <a:solidFill>
                            <a:schemeClr val="tx1"/>
                          </a:solidFill>
                        </a:rPr>
                        <a:t>0.42</a:t>
                      </a:r>
                    </a:p>
                  </a:txBody>
                  <a:tcPr/>
                </a:tc>
                <a:tc>
                  <a:txBody>
                    <a:bodyPr/>
                    <a:lstStyle/>
                    <a:p>
                      <a:pPr algn="r"/>
                      <a:r>
                        <a:rPr lang="en-US" sz="2400" dirty="0">
                          <a:solidFill>
                            <a:schemeClr val="tx1"/>
                          </a:solidFill>
                        </a:rPr>
                        <a:t>0.21</a:t>
                      </a:r>
                    </a:p>
                  </a:txBody>
                  <a:tcPr/>
                </a:tc>
                <a:extLst>
                  <a:ext uri="{0D108BD9-81ED-4DB2-BD59-A6C34878D82A}">
                    <a16:rowId xmlns:a16="http://schemas.microsoft.com/office/drawing/2014/main" val="1267392511"/>
                  </a:ext>
                </a:extLst>
              </a:tr>
              <a:tr h="472147">
                <a:tc>
                  <a:txBody>
                    <a:bodyPr/>
                    <a:lstStyle/>
                    <a:p>
                      <a:r>
                        <a:rPr lang="en-US" sz="2400" b="1" dirty="0">
                          <a:solidFill>
                            <a:schemeClr val="tx1"/>
                          </a:solidFill>
                        </a:rPr>
                        <a:t>Euclidean distance</a:t>
                      </a:r>
                    </a:p>
                  </a:txBody>
                  <a:tcPr/>
                </a:tc>
                <a:tc>
                  <a:txBody>
                    <a:bodyPr/>
                    <a:lstStyle/>
                    <a:p>
                      <a:pPr algn="r"/>
                      <a:r>
                        <a:rPr lang="en-US" sz="2400" dirty="0">
                          <a:solidFill>
                            <a:schemeClr val="tx1"/>
                          </a:solidFill>
                        </a:rPr>
                        <a:t>0.22</a:t>
                      </a:r>
                    </a:p>
                  </a:txBody>
                  <a:tcPr/>
                </a:tc>
                <a:tc>
                  <a:txBody>
                    <a:bodyPr/>
                    <a:lstStyle/>
                    <a:p>
                      <a:pPr algn="r"/>
                      <a:r>
                        <a:rPr lang="en-US" sz="2400" dirty="0">
                          <a:solidFill>
                            <a:schemeClr val="tx1"/>
                          </a:solidFill>
                        </a:rPr>
                        <a:t>0.085</a:t>
                      </a:r>
                    </a:p>
                  </a:txBody>
                  <a:tcPr/>
                </a:tc>
                <a:extLst>
                  <a:ext uri="{0D108BD9-81ED-4DB2-BD59-A6C34878D82A}">
                    <a16:rowId xmlns:a16="http://schemas.microsoft.com/office/drawing/2014/main" val="4269338162"/>
                  </a:ext>
                </a:extLst>
              </a:tr>
            </a:tbl>
          </a:graphicData>
        </a:graphic>
      </p:graphicFrame>
    </p:spTree>
    <p:extLst>
      <p:ext uri="{BB962C8B-B14F-4D97-AF65-F5344CB8AC3E}">
        <p14:creationId xmlns:p14="http://schemas.microsoft.com/office/powerpoint/2010/main" val="316345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28F5-5F65-F174-2A1A-90A413740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04B82-BDCC-AFBB-B6F0-5B82CE6979F0}"/>
              </a:ext>
            </a:extLst>
          </p:cNvPr>
          <p:cNvSpPr>
            <a:spLocks noGrp="1"/>
          </p:cNvSpPr>
          <p:nvPr>
            <p:ph type="title"/>
          </p:nvPr>
        </p:nvSpPr>
        <p:spPr>
          <a:xfrm>
            <a:off x="831850" y="1709738"/>
            <a:ext cx="10515600" cy="2104337"/>
          </a:xfrm>
        </p:spPr>
        <p:txBody>
          <a:bodyPr/>
          <a:lstStyle/>
          <a:p>
            <a:pPr algn="ctr"/>
            <a:r>
              <a:rPr lang="en-US" b="1" dirty="0"/>
              <a:t>Similarity Metrics</a:t>
            </a:r>
          </a:p>
        </p:txBody>
      </p:sp>
    </p:spTree>
    <p:extLst>
      <p:ext uri="{BB962C8B-B14F-4D97-AF65-F5344CB8AC3E}">
        <p14:creationId xmlns:p14="http://schemas.microsoft.com/office/powerpoint/2010/main" val="4056472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distance and similarity</a:t>
            </a:r>
          </a:p>
        </p:txBody>
      </p:sp>
      <p:sp>
        <p:nvSpPr>
          <p:cNvPr id="3" name="Content Placeholder 2"/>
          <p:cNvSpPr>
            <a:spLocks noGrp="1"/>
          </p:cNvSpPr>
          <p:nvPr>
            <p:ph sz="quarter" idx="10"/>
          </p:nvPr>
        </p:nvSpPr>
        <p:spPr>
          <a:xfrm>
            <a:off x="333375" y="896079"/>
            <a:ext cx="11525250" cy="5698998"/>
          </a:xfrm>
        </p:spPr>
        <p:txBody>
          <a:bodyPr>
            <a:normAutofit lnSpcReduction="10000"/>
          </a:bodyPr>
          <a:lstStyle/>
          <a:p>
            <a:pPr marL="0" indent="0">
              <a:buNone/>
            </a:pPr>
            <a:r>
              <a:rPr lang="en-US" dirty="0">
                <a:latin typeface="+mn-lt"/>
              </a:rPr>
              <a:t>Do we always work with dissimilarity?</a:t>
            </a:r>
          </a:p>
          <a:p>
            <a:r>
              <a:rPr lang="en-US" dirty="0">
                <a:latin typeface="+mn-lt"/>
              </a:rPr>
              <a:t>No! </a:t>
            </a:r>
          </a:p>
          <a:p>
            <a:r>
              <a:rPr lang="en-US" dirty="0">
                <a:latin typeface="+mn-lt"/>
              </a:rPr>
              <a:t>We often work with measures of </a:t>
            </a:r>
            <a:r>
              <a:rPr lang="en-US" b="1" dirty="0">
                <a:latin typeface="+mn-lt"/>
              </a:rPr>
              <a:t>similarity</a:t>
            </a:r>
          </a:p>
          <a:p>
            <a:r>
              <a:rPr lang="en-US" dirty="0">
                <a:latin typeface="+mn-lt"/>
              </a:rPr>
              <a:t>The closer points are in a space (smaller distance) the more similar they are</a:t>
            </a:r>
          </a:p>
          <a:p>
            <a:r>
              <a:rPr lang="en-US" dirty="0">
                <a:latin typeface="+mn-lt"/>
              </a:rPr>
              <a:t>In many cases, similarity measures can be transformed to dissimilarity </a:t>
            </a:r>
            <a:endParaRPr lang="en-US" b="1" dirty="0">
              <a:latin typeface="+mn-lt"/>
            </a:endParaRPr>
          </a:p>
          <a:p>
            <a:r>
              <a:rPr lang="en-US" dirty="0">
                <a:latin typeface="+mn-lt"/>
              </a:rPr>
              <a:t>For data with positive and negative coding similarity must be in the range [-1,1]</a:t>
            </a:r>
          </a:p>
          <a:p>
            <a:pPr lvl="1"/>
            <a:r>
              <a:rPr lang="en-US" dirty="0">
                <a:latin typeface="+mn-lt"/>
              </a:rPr>
              <a:t>Similarity = 1, maximum similarity, points are at the same location in the space</a:t>
            </a:r>
          </a:p>
          <a:p>
            <a:pPr lvl="1"/>
            <a:r>
              <a:rPr lang="en-US" dirty="0">
                <a:latin typeface="+mn-lt"/>
              </a:rPr>
              <a:t>Similarity = 0, points are </a:t>
            </a:r>
            <a:r>
              <a:rPr lang="en-US" b="1" dirty="0">
                <a:latin typeface="+mn-lt"/>
              </a:rPr>
              <a:t>orthogonal</a:t>
            </a:r>
            <a:r>
              <a:rPr lang="en-US" dirty="0">
                <a:latin typeface="+mn-lt"/>
              </a:rPr>
              <a:t> in the space, no similarity</a:t>
            </a:r>
          </a:p>
          <a:p>
            <a:pPr lvl="1"/>
            <a:r>
              <a:rPr lang="en-US" dirty="0">
                <a:latin typeface="+mn-lt"/>
              </a:rPr>
              <a:t>Similarity = -1, minimum similarity, points have completely opposite coding </a:t>
            </a:r>
          </a:p>
          <a:p>
            <a:r>
              <a:rPr lang="en-US" dirty="0">
                <a:latin typeface="+mn-lt"/>
              </a:rPr>
              <a:t>For non-negative data similarity in range [0,1] </a:t>
            </a:r>
          </a:p>
          <a:p>
            <a:pPr lvl="1"/>
            <a:r>
              <a:rPr lang="en-US" dirty="0">
                <a:latin typeface="+mn-lt"/>
              </a:rPr>
              <a:t>Example, binary data</a:t>
            </a:r>
          </a:p>
        </p:txBody>
      </p:sp>
    </p:spTree>
    <p:extLst>
      <p:ext uri="{BB962C8B-B14F-4D97-AF65-F5344CB8AC3E}">
        <p14:creationId xmlns:p14="http://schemas.microsoft.com/office/powerpoint/2010/main" val="224563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1159932"/>
                <a:ext cx="11525250" cy="5363577"/>
              </a:xfrm>
            </p:spPr>
            <p:txBody>
              <a:bodyPr>
                <a:normAutofit/>
              </a:bodyPr>
              <a:lstStyle/>
              <a:p>
                <a:pPr marL="0" indent="0">
                  <a:buNone/>
                </a:pPr>
                <a:r>
                  <a:rPr lang="en-US" dirty="0">
                    <a:latin typeface="+mn-lt"/>
                  </a:rPr>
                  <a:t>Different metrics for similarity can be computed for numeric variables in p dimensions</a:t>
                </a:r>
              </a:p>
              <a:p>
                <a:r>
                  <a:rPr lang="en-US" b="1" dirty="0">
                    <a:latin typeface="+mn-lt"/>
                  </a:rPr>
                  <a:t>Pearson correlation</a:t>
                </a:r>
                <a:r>
                  <a:rPr lang="en-US" dirty="0">
                    <a:latin typeface="+mn-lt"/>
                  </a:rPr>
                  <a:t>, for two vectors of values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latin typeface="+mn-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f>
                        <m:fPr>
                          <m:ctrlPr>
                            <a:rPr lang="en-US" b="0" i="1" smtClean="0">
                              <a:latin typeface="Cambria Math" panose="02040503050406030204" pitchFamily="18" charset="0"/>
                            </a:rPr>
                          </m:ctrlPr>
                        </m:fPr>
                        <m:num>
                          <m:r>
                            <a:rPr lang="en-US" b="0" i="1" smtClean="0">
                              <a:latin typeface="Cambria Math" panose="02040503050406030204" pitchFamily="18" charset="0"/>
                            </a:rPr>
                            <m:t>𝐶𝑜𝑣</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e>
                          </m:rad>
                        </m:den>
                      </m:f>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𝑥</m:t>
                              </m:r>
                            </m:e>
                          </m:acc>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a:latin typeface="Cambria Math" panose="02040503050406030204" pitchFamily="18" charset="0"/>
                                </a:rPr>
                                <m:t>(</m:t>
                              </m:r>
                              <m:r>
                                <a:rPr lang="en-US" b="0" i="1" dirty="0" smtClean="0">
                                  <a:latin typeface="Cambria Math" panose="02040503050406030204" pitchFamily="18" charset="0"/>
                                </a:rPr>
                                <m:t>𝑥</m:t>
                              </m:r>
                              <m:r>
                                <a:rPr lang="en-US" b="0" i="1" dirty="0" smtClean="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b="0" i="1" dirty="0" smtClean="0">
                                  <a:latin typeface="Cambria Math" panose="02040503050406030204" pitchFamily="18" charset="0"/>
                                </a:rPr>
                                <m:t>′)</m:t>
                              </m:r>
                            </m:e>
                            <m:sup>
                              <m:r>
                                <a:rPr lang="en-US" b="0" i="1" dirty="0" smtClean="0">
                                  <a:latin typeface="Cambria Math" panose="02040503050406030204" pitchFamily="18" charset="0"/>
                                </a:rPr>
                                <m:t>𝑇</m:t>
                              </m:r>
                            </m:sup>
                          </m:sSup>
                        </m:num>
                        <m:den>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rad>
                        </m:den>
                      </m:f>
                      <m:r>
                        <a:rPr lang="en-US" b="0" i="1" smtClean="0">
                          <a:latin typeface="Cambria Math" panose="02040503050406030204" pitchFamily="18" charset="0"/>
                        </a:rPr>
                        <m:t> </m:t>
                      </m:r>
                    </m:oMath>
                  </m:oMathPara>
                </a14:m>
                <a:endParaRPr lang="en-US" dirty="0">
                  <a:latin typeface="+mn-lt"/>
                </a:endParaRPr>
              </a:p>
              <a:p>
                <a:r>
                  <a:rPr lang="en-US" dirty="0">
                    <a:latin typeface="+mn-lt"/>
                  </a:rPr>
                  <a:t>Range of [-1,1]</a:t>
                </a:r>
              </a:p>
              <a:p>
                <a:r>
                  <a:rPr lang="en-US" dirty="0">
                    <a:latin typeface="+mn-lt"/>
                  </a:rPr>
                  <a:t>Other correlation measures of similarity, e.g. </a:t>
                </a:r>
                <a:r>
                  <a:rPr lang="en-US" b="1" dirty="0">
                    <a:latin typeface="+mn-lt"/>
                  </a:rPr>
                  <a:t>rank-based</a:t>
                </a:r>
                <a:r>
                  <a:rPr lang="en-US" dirty="0">
                    <a:latin typeface="+mn-lt"/>
                  </a:rPr>
                  <a:t> measures </a:t>
                </a:r>
              </a:p>
              <a:p>
                <a:pPr lvl="1"/>
                <a:r>
                  <a:rPr lang="en-US" b="1" dirty="0">
                    <a:latin typeface="+mn-lt"/>
                    <a:hlinkClick r:id="rId3"/>
                  </a:rPr>
                  <a:t>Kendal</a:t>
                </a:r>
                <a:r>
                  <a:rPr lang="en-US" dirty="0">
                    <a:latin typeface="+mn-lt"/>
                  </a:rPr>
                  <a:t>, </a:t>
                </a:r>
                <a:r>
                  <a:rPr lang="en-US" b="1" dirty="0">
                    <a:latin typeface="+mn-lt"/>
                    <a:hlinkClick r:id="rId4"/>
                  </a:rPr>
                  <a:t>Spearman</a:t>
                </a:r>
                <a:r>
                  <a:rPr lang="en-US" dirty="0">
                    <a:latin typeface="+mn-lt"/>
                  </a:rPr>
                  <a:t>, are rank correlations, more robust than Pearson</a:t>
                </a:r>
              </a:p>
              <a:p>
                <a:pPr lvl="1"/>
                <a:r>
                  <a:rPr lang="en-US" dirty="0">
                    <a:latin typeface="+mn-lt"/>
                  </a:rPr>
                  <a:t>Often better choices for data mining </a:t>
                </a: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1159932"/>
                <a:ext cx="11525250" cy="5363577"/>
              </a:xfrm>
              <a:blipFill>
                <a:blip r:embed="rId5"/>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151124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a:t>Measuring Similarity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Cosine Similarity</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b="0" i="0" smtClean="0">
                              <a:latin typeface="Cambria Math" panose="02040503050406030204" pitchFamily="18" charset="0"/>
                            </a:rPr>
                            <m:t>d</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x</m:t>
                                  </m:r>
                                </m:e>
                                <m:sup>
                                  <m:r>
                                    <a:rPr lang="en-US" b="0" i="0" smtClean="0">
                                      <a:latin typeface="Cambria Math" panose="02040503050406030204" pitchFamily="18" charset="0"/>
                                    </a:rPr>
                                    <m:t>′</m:t>
                                  </m:r>
                                </m:sup>
                              </m:sSup>
                            </m:e>
                          </m:d>
                          <m:r>
                            <a:rPr lang="en-US" b="0" i="0" smtClean="0">
                              <a:latin typeface="Cambria Math" panose="02040503050406030204" pitchFamily="18" charset="0"/>
                            </a:rPr>
                            <m:t>=</m:t>
                          </m:r>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e>
                      </m:func>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num>
                        <m:den>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d>
                        </m:den>
                      </m:f>
                    </m:oMath>
                  </m:oMathPara>
                </a14:m>
                <a:endParaRPr lang="en-US" dirty="0"/>
              </a:p>
              <a:p>
                <a:pPr marL="0" indent="0">
                  <a:buNone/>
                </a:pPr>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758008" y="5961921"/>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758008" y="2578125"/>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2907106" y="5961921"/>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238462" y="3953012"/>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4316808" y="339031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2498956" y="522982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2211797" y="5411221"/>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4531787" y="3222984"/>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5591892" y="2768378"/>
                <a:ext cx="6445125" cy="2268121"/>
              </a:xfrm>
              <a:prstGeom prst="rect">
                <a:avLst/>
              </a:prstGeom>
              <a:noFill/>
            </p:spPr>
            <p:txBody>
              <a:bodyPr wrap="square" rtlCol="0">
                <a:spAutoFit/>
              </a:bodyPr>
              <a:lstStyle/>
              <a:p>
                <a:pPr marL="285750" indent="-285750">
                  <a:buFont typeface="Arial" panose="020B0604020202020204" pitchFamily="34" charset="0"/>
                  <a:buChar char="•"/>
                </a:pPr>
                <a:r>
                  <a:rPr lang="en-US" sz="2400" dirty="0"/>
                  <a:t>Points at (2,1) and (4,3)</a:t>
                </a:r>
              </a:p>
              <a:p>
                <a:pPr marL="285750" indent="-285750">
                  <a:buFont typeface="Arial" panose="020B0604020202020204" pitchFamily="34" charset="0"/>
                  <a:buChar char="•"/>
                </a:pPr>
                <a:r>
                  <a:rPr lang="en-US" sz="2400" dirty="0"/>
                  <a:t>What is the similarity? </a:t>
                </a:r>
              </a:p>
              <a:p>
                <a:pPr marL="285750" indent="-285750">
                  <a:buFont typeface="Arial" panose="020B0604020202020204" pitchFamily="34" charset="0"/>
                  <a:buChar char="•"/>
                </a:pPr>
                <a:r>
                  <a:rPr lang="en-US" sz="2400" dirty="0"/>
                  <a:t>Cosine similarity</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𝑐𝑜𝑠</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box>
                        <m:boxPr>
                          <m:ctrlPr>
                            <a:rPr lang="en-US" sz="2400" b="0" i="1" smtClean="0">
                              <a:latin typeface="Cambria Math" panose="02040503050406030204" pitchFamily="18" charset="0"/>
                            </a:rPr>
                          </m:ctrlPr>
                        </m:boxPr>
                        <m:e>
                          <m:argPr>
                            <m:argSz m:val="-1"/>
                          </m:argP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2∗4 +1∗3</m:t>
                              </m:r>
                            </m:num>
                            <m:den>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m:t>
                                          </m:r>
                                        </m:e>
                                        <m:sup>
                                          <m:r>
                                            <a:rPr lang="en-US" sz="2400" b="0" i="1" smtClean="0">
                                              <a:latin typeface="Cambria Math" panose="02040503050406030204" pitchFamily="18" charset="0"/>
                                            </a:rPr>
                                            <m:t>2</m:t>
                                          </m:r>
                                        </m:sup>
                                      </m:sSup>
                                    </m:e>
                                  </m:d>
                                </m:e>
                                <m:sup>
                                  <m:r>
                                    <a:rPr lang="en-US" sz="2400" b="0" i="1" smtClean="0">
                                      <a:latin typeface="Cambria Math" panose="02040503050406030204" pitchFamily="18" charset="0"/>
                                    </a:rPr>
                                    <m:t>1/2</m:t>
                                  </m:r>
                                </m:sup>
                              </m:sSup>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4</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3</m:t>
                                          </m:r>
                                        </m:e>
                                        <m:sup>
                                          <m:r>
                                            <a:rPr lang="en-US" sz="2400" b="0" i="1" smtClean="0">
                                              <a:latin typeface="Cambria Math" panose="02040503050406030204" pitchFamily="18" charset="0"/>
                                            </a:rPr>
                                            <m:t>2</m:t>
                                          </m:r>
                                        </m:sup>
                                      </m:sSup>
                                    </m:e>
                                  </m:d>
                                </m:e>
                                <m:sup>
                                  <m:r>
                                    <a:rPr lang="en-US" sz="2400" b="0" i="1" smtClean="0">
                                      <a:latin typeface="Cambria Math" panose="02040503050406030204" pitchFamily="18" charset="0"/>
                                    </a:rPr>
                                    <m:t>1/2</m:t>
                                  </m:r>
                                </m:sup>
                              </m:sSup>
                            </m:den>
                          </m:f>
                        </m:e>
                      </m:box>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5</m:t>
                              </m:r>
                            </m:e>
                            <m:sup>
                              <m:r>
                                <a:rPr lang="en-US" sz="2400" b="0" i="1" smtClean="0">
                                  <a:latin typeface="Cambria Math" panose="02040503050406030204" pitchFamily="18" charset="0"/>
                                </a:rPr>
                                <m:t>1/2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25</m:t>
                              </m:r>
                            </m:e>
                            <m:sup>
                              <m:r>
                                <a:rPr lang="en-US" sz="2400" b="0" i="1" smtClean="0">
                                  <a:latin typeface="Cambria Math" panose="02040503050406030204" pitchFamily="18" charset="0"/>
                                </a:rPr>
                                <m:t>1/2</m:t>
                              </m:r>
                            </m:sup>
                          </m:sSup>
                        </m:den>
                      </m:f>
                      <m:r>
                        <a:rPr lang="en-US" sz="2400" b="0" i="1" smtClean="0">
                          <a:latin typeface="Cambria Math" panose="02040503050406030204" pitchFamily="18" charset="0"/>
                        </a:rPr>
                        <m:t>=0.984</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5591892" y="2768378"/>
                <a:ext cx="6445125" cy="2268121"/>
              </a:xfrm>
              <a:prstGeom prst="rect">
                <a:avLst/>
              </a:prstGeom>
              <a:blipFill>
                <a:blip r:embed="rId4"/>
                <a:stretch>
                  <a:fillRect l="-1229" t="-2151"/>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endCxn id="13" idx="1"/>
          </p:cNvCxnSpPr>
          <p:nvPr/>
        </p:nvCxnSpPr>
        <p:spPr>
          <a:xfrm flipV="1">
            <a:off x="758008" y="5334265"/>
            <a:ext cx="1740948" cy="627656"/>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1"/>
          </p:cNvCxnSpPr>
          <p:nvPr/>
        </p:nvCxnSpPr>
        <p:spPr>
          <a:xfrm flipV="1">
            <a:off x="742126" y="3494755"/>
            <a:ext cx="3574682" cy="2467168"/>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C4F1A39-7311-4D97-9D1E-707E33AC61BC}"/>
              </a:ext>
            </a:extLst>
          </p:cNvPr>
          <p:cNvSpPr txBox="1"/>
          <p:nvPr/>
        </p:nvSpPr>
        <p:spPr>
          <a:xfrm>
            <a:off x="1850592" y="5051214"/>
            <a:ext cx="386032" cy="461665"/>
          </a:xfrm>
          <a:prstGeom prst="rect">
            <a:avLst/>
          </a:prstGeom>
          <a:noFill/>
        </p:spPr>
        <p:txBody>
          <a:bodyPr wrap="square" rtlCol="0">
            <a:spAutoFit/>
          </a:bodyPr>
          <a:lstStyle/>
          <a:p>
            <a:r>
              <a:rPr lang="en-US" sz="2400" dirty="0">
                <a:latin typeface="Symbol" panose="05050102010706020507" pitchFamily="18" charset="2"/>
              </a:rPr>
              <a:t>q</a:t>
            </a:r>
          </a:p>
        </p:txBody>
      </p:sp>
    </p:spTree>
    <p:extLst>
      <p:ext uri="{BB962C8B-B14F-4D97-AF65-F5344CB8AC3E}">
        <p14:creationId xmlns:p14="http://schemas.microsoft.com/office/powerpoint/2010/main" val="370852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a:t>Measuring Similarity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1639303"/>
              </a:xfrm>
            </p:spPr>
            <p:txBody>
              <a:bodyPr>
                <a:normAutofit/>
              </a:bodyPr>
              <a:lstStyle/>
              <a:p>
                <a:pPr marL="0" indent="0">
                  <a:buNone/>
                </a:pPr>
                <a:r>
                  <a:rPr lang="en-US" dirty="0">
                    <a:latin typeface="+mn-lt"/>
                  </a:rPr>
                  <a:t>Cosine Similarity</a:t>
                </a:r>
              </a:p>
              <a:p>
                <a:pPr marL="0" indent="0">
                  <a:buNone/>
                </a:pPr>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b="0" i="0" smtClean="0">
                              <a:latin typeface="Cambria Math" panose="02040503050406030204" pitchFamily="18" charset="0"/>
                            </a:rPr>
                            <m:t>d</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x</m:t>
                                  </m:r>
                                </m:e>
                                <m:sup>
                                  <m:r>
                                    <a:rPr lang="en-US" b="0" i="0" smtClean="0">
                                      <a:latin typeface="Cambria Math" panose="02040503050406030204" pitchFamily="18" charset="0"/>
                                    </a:rPr>
                                    <m:t>′</m:t>
                                  </m:r>
                                </m:sup>
                              </m:sSup>
                            </m:e>
                          </m:d>
                          <m:r>
                            <a:rPr lang="en-US" b="0" i="0" smtClean="0">
                              <a:latin typeface="Cambria Math" panose="02040503050406030204" pitchFamily="18" charset="0"/>
                            </a:rPr>
                            <m:t>=</m:t>
                          </m:r>
                          <m:r>
                            <m:rPr>
                              <m:sty m:val="p"/>
                            </m:rPr>
                            <a:rPr lang="en-US">
                              <a:latin typeface="Cambria Math" panose="02040503050406030204" pitchFamily="18" charset="0"/>
                            </a:rPr>
                            <m:t>cos</m:t>
                          </m:r>
                        </m:fName>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𝜃</m:t>
                                  </m:r>
                                </m:e>
                                <m:sub>
                                  <m:r>
                                    <a:rPr lang="en-US" i="1">
                                      <a:latin typeface="Cambria Math" panose="02040503050406030204" pitchFamily="18" charset="0"/>
                                    </a:rPr>
                                    <m:t>𝑖</m:t>
                                  </m:r>
                                </m:sub>
                              </m:sSub>
                            </m:e>
                          </m:d>
                        </m:e>
                      </m:func>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num>
                        <m:den>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d>
                        </m:den>
                      </m:f>
                    </m:oMath>
                  </m:oMathPara>
                </a14:m>
                <a:endParaRPr lang="en-US" dirty="0"/>
              </a:p>
              <a:p>
                <a:pPr marL="0" indent="0">
                  <a:buNone/>
                </a:pPr>
                <a:endParaRPr lang="en-US" dirty="0">
                  <a:latin typeface="+mn-lt"/>
                </a:endParaRPr>
              </a:p>
              <a:p>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1639303"/>
              </a:xfrm>
              <a:blipFill>
                <a:blip r:embed="rId3"/>
                <a:stretch>
                  <a:fillRect l="-1111" t="-6320"/>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DBC2410D-2843-43D4-8696-1D08665D8734}"/>
              </a:ext>
            </a:extLst>
          </p:cNvPr>
          <p:cNvCxnSpPr/>
          <p:nvPr/>
        </p:nvCxnSpPr>
        <p:spPr>
          <a:xfrm>
            <a:off x="758008" y="5961921"/>
            <a:ext cx="459783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F210B04-140B-48C3-AB42-D61C9037800A}"/>
              </a:ext>
            </a:extLst>
          </p:cNvPr>
          <p:cNvCxnSpPr>
            <a:cxnSpLocks/>
          </p:cNvCxnSpPr>
          <p:nvPr/>
        </p:nvCxnSpPr>
        <p:spPr>
          <a:xfrm flipV="1">
            <a:off x="758008" y="2578125"/>
            <a:ext cx="0" cy="33837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2B40F0C-6CA8-4E2B-9506-257938DB4E99}"/>
              </a:ext>
            </a:extLst>
          </p:cNvPr>
          <p:cNvSpPr txBox="1"/>
          <p:nvPr/>
        </p:nvSpPr>
        <p:spPr>
          <a:xfrm>
            <a:off x="2907106" y="5961921"/>
            <a:ext cx="503664" cy="523220"/>
          </a:xfrm>
          <a:prstGeom prst="rect">
            <a:avLst/>
          </a:prstGeom>
          <a:noFill/>
        </p:spPr>
        <p:txBody>
          <a:bodyPr wrap="none" rtlCol="0">
            <a:spAutoFit/>
          </a:bodyPr>
          <a:lstStyle/>
          <a:p>
            <a:r>
              <a:rPr lang="en-US" sz="2800" b="1" dirty="0"/>
              <a:t>X</a:t>
            </a:r>
            <a:r>
              <a:rPr lang="en-US" sz="2800" b="1" baseline="-25000" dirty="0"/>
              <a:t>1</a:t>
            </a:r>
          </a:p>
        </p:txBody>
      </p:sp>
      <p:sp>
        <p:nvSpPr>
          <p:cNvPr id="11" name="TextBox 10">
            <a:extLst>
              <a:ext uri="{FF2B5EF4-FFF2-40B4-BE49-F238E27FC236}">
                <a16:creationId xmlns:a16="http://schemas.microsoft.com/office/drawing/2014/main" id="{9793A1DA-70A2-4EC3-9CAF-5C65A92AE62B}"/>
              </a:ext>
            </a:extLst>
          </p:cNvPr>
          <p:cNvSpPr txBox="1"/>
          <p:nvPr/>
        </p:nvSpPr>
        <p:spPr>
          <a:xfrm>
            <a:off x="238462" y="3953012"/>
            <a:ext cx="503664" cy="523220"/>
          </a:xfrm>
          <a:prstGeom prst="rect">
            <a:avLst/>
          </a:prstGeom>
          <a:noFill/>
        </p:spPr>
        <p:txBody>
          <a:bodyPr wrap="none" rtlCol="0">
            <a:spAutoFit/>
          </a:bodyPr>
          <a:lstStyle/>
          <a:p>
            <a:r>
              <a:rPr lang="en-US" sz="2800" b="1" dirty="0"/>
              <a:t>X</a:t>
            </a:r>
            <a:r>
              <a:rPr lang="en-US" sz="2800" b="1" baseline="-25000" dirty="0"/>
              <a:t>2</a:t>
            </a:r>
          </a:p>
        </p:txBody>
      </p:sp>
      <p:sp>
        <p:nvSpPr>
          <p:cNvPr id="12" name="Cross 11">
            <a:extLst>
              <a:ext uri="{FF2B5EF4-FFF2-40B4-BE49-F238E27FC236}">
                <a16:creationId xmlns:a16="http://schemas.microsoft.com/office/drawing/2014/main" id="{B23426B5-5480-4DE4-9184-9876C2CB2517}"/>
              </a:ext>
            </a:extLst>
          </p:cNvPr>
          <p:cNvSpPr/>
          <p:nvPr/>
        </p:nvSpPr>
        <p:spPr>
          <a:xfrm>
            <a:off x="4316808" y="339031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12">
            <a:extLst>
              <a:ext uri="{FF2B5EF4-FFF2-40B4-BE49-F238E27FC236}">
                <a16:creationId xmlns:a16="http://schemas.microsoft.com/office/drawing/2014/main" id="{CD8CD439-2CC4-4431-AB63-0F32315F3BC5}"/>
              </a:ext>
            </a:extLst>
          </p:cNvPr>
          <p:cNvSpPr/>
          <p:nvPr/>
        </p:nvSpPr>
        <p:spPr>
          <a:xfrm>
            <a:off x="2498956" y="5229827"/>
            <a:ext cx="200890" cy="208875"/>
          </a:xfrm>
          <a:prstGeom prst="plu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0D27AE9-6F7D-46F4-B0C2-70E2F3CD488A}"/>
              </a:ext>
            </a:extLst>
          </p:cNvPr>
          <p:cNvSpPr txBox="1"/>
          <p:nvPr/>
        </p:nvSpPr>
        <p:spPr>
          <a:xfrm>
            <a:off x="2211797" y="5411221"/>
            <a:ext cx="845126" cy="461665"/>
          </a:xfrm>
          <a:prstGeom prst="rect">
            <a:avLst/>
          </a:prstGeom>
          <a:noFill/>
        </p:spPr>
        <p:txBody>
          <a:bodyPr wrap="square" rtlCol="0">
            <a:spAutoFit/>
          </a:bodyPr>
          <a:lstStyle/>
          <a:p>
            <a:r>
              <a:rPr lang="en-US" sz="2400" dirty="0"/>
              <a:t>(2,1)</a:t>
            </a:r>
          </a:p>
        </p:txBody>
      </p:sp>
      <p:sp>
        <p:nvSpPr>
          <p:cNvPr id="15" name="TextBox 14">
            <a:extLst>
              <a:ext uri="{FF2B5EF4-FFF2-40B4-BE49-F238E27FC236}">
                <a16:creationId xmlns:a16="http://schemas.microsoft.com/office/drawing/2014/main" id="{65800F31-6C70-4F71-B1DD-342BB67BF461}"/>
              </a:ext>
            </a:extLst>
          </p:cNvPr>
          <p:cNvSpPr txBox="1"/>
          <p:nvPr/>
        </p:nvSpPr>
        <p:spPr>
          <a:xfrm>
            <a:off x="4531787" y="3222984"/>
            <a:ext cx="845126" cy="461665"/>
          </a:xfrm>
          <a:prstGeom prst="rect">
            <a:avLst/>
          </a:prstGeom>
          <a:noFill/>
        </p:spPr>
        <p:txBody>
          <a:bodyPr wrap="square" rtlCol="0">
            <a:spAutoFit/>
          </a:bodyPr>
          <a:lstStyle/>
          <a:p>
            <a:r>
              <a:rPr lang="en-US" sz="2400" dirty="0"/>
              <a:t>(4,3)</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5FEAA3B-26B3-4998-B64A-7CACD68892A0}"/>
                  </a:ext>
                </a:extLst>
              </p:cNvPr>
              <p:cNvSpPr txBox="1"/>
              <p:nvPr/>
            </p:nvSpPr>
            <p:spPr>
              <a:xfrm>
                <a:off x="5591892" y="2768378"/>
                <a:ext cx="6445125" cy="2566600"/>
              </a:xfrm>
              <a:prstGeom prst="rect">
                <a:avLst/>
              </a:prstGeom>
              <a:noFill/>
            </p:spPr>
            <p:txBody>
              <a:bodyPr wrap="square" rtlCol="0">
                <a:spAutoFit/>
              </a:bodyPr>
              <a:lstStyle/>
              <a:p>
                <a:pPr marL="285750" indent="-285750">
                  <a:buFont typeface="Arial" panose="020B0604020202020204" pitchFamily="34" charset="0"/>
                  <a:buChar char="•"/>
                </a:pPr>
                <a:r>
                  <a:rPr lang="en-US" sz="2400" dirty="0"/>
                  <a:t>If vectors point in same direction </a:t>
                </a: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=0,</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e>
                      </m:func>
                      <m:r>
                        <a:rPr lang="en-US" sz="2400" b="0" i="1" smtClean="0">
                          <a:latin typeface="Cambria Math" panose="02040503050406030204" pitchFamily="18" charset="0"/>
                          <a:ea typeface="Cambria Math" panose="02040503050406030204" pitchFamily="18" charset="0"/>
                        </a:rPr>
                        <m:t>=1 </m:t>
                      </m:r>
                    </m:oMath>
                  </m:oMathPara>
                </a14:m>
                <a:endParaRPr lang="en-US" sz="2400" b="0" dirty="0">
                  <a:ea typeface="Cambria Math" panose="02040503050406030204" pitchFamily="18" charset="0"/>
                </a:endParaRPr>
              </a:p>
              <a:p>
                <a:pPr marL="285750" indent="-285750">
                  <a:buFont typeface="Arial" panose="020B0604020202020204" pitchFamily="34" charset="0"/>
                  <a:buChar char="•"/>
                </a:pPr>
                <a:r>
                  <a:rPr lang="en-US" sz="2400" dirty="0"/>
                  <a:t>If vectors point in opposite direction </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𝜃</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𝜃</m:t>
                              </m:r>
                            </m:e>
                          </m:d>
                        </m:e>
                      </m:func>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1 </m:t>
                      </m:r>
                    </m:oMath>
                  </m:oMathPara>
                </a14:m>
                <a:endParaRPr lang="en-US" sz="2400" dirty="0"/>
              </a:p>
              <a:p>
                <a:pPr marL="285750" indent="-285750">
                  <a:buFont typeface="Arial" panose="020B0604020202020204" pitchFamily="34" charset="0"/>
                  <a:buChar char="•"/>
                </a:pPr>
                <a:r>
                  <a:rPr lang="en-US" sz="2400" dirty="0"/>
                  <a:t>If vectors orthogonal</a:t>
                </a:r>
              </a:p>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 </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ea typeface="Cambria Math" panose="02040503050406030204" pitchFamily="18" charset="0"/>
                        </a:rPr>
                        <m:t>,</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cos</m:t>
                          </m:r>
                        </m:fName>
                        <m:e>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e>
                      </m:func>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17" name="TextBox 16">
                <a:extLst>
                  <a:ext uri="{FF2B5EF4-FFF2-40B4-BE49-F238E27FC236}">
                    <a16:creationId xmlns:a16="http://schemas.microsoft.com/office/drawing/2014/main" id="{65FEAA3B-26B3-4998-B64A-7CACD68892A0}"/>
                  </a:ext>
                </a:extLst>
              </p:cNvPr>
              <p:cNvSpPr txBox="1">
                <a:spLocks noRot="1" noChangeAspect="1" noMove="1" noResize="1" noEditPoints="1" noAdjustHandles="1" noChangeArrowheads="1" noChangeShapeType="1" noTextEdit="1"/>
              </p:cNvSpPr>
              <p:nvPr/>
            </p:nvSpPr>
            <p:spPr>
              <a:xfrm>
                <a:off x="5591892" y="2768378"/>
                <a:ext cx="6445125" cy="2566600"/>
              </a:xfrm>
              <a:prstGeom prst="rect">
                <a:avLst/>
              </a:prstGeom>
              <a:blipFill>
                <a:blip r:embed="rId4"/>
                <a:stretch>
                  <a:fillRect l="-1229" t="-1900"/>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2C19033-E180-48CB-8A3F-5E01D0B45E8B}"/>
              </a:ext>
            </a:extLst>
          </p:cNvPr>
          <p:cNvCxnSpPr>
            <a:cxnSpLocks/>
            <a:endCxn id="13" idx="1"/>
          </p:cNvCxnSpPr>
          <p:nvPr/>
        </p:nvCxnSpPr>
        <p:spPr>
          <a:xfrm flipV="1">
            <a:off x="758008" y="5334265"/>
            <a:ext cx="1740948" cy="627656"/>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C4470BD-1B84-4863-B51E-E05B61323441}"/>
              </a:ext>
            </a:extLst>
          </p:cNvPr>
          <p:cNvCxnSpPr>
            <a:cxnSpLocks/>
            <a:endCxn id="12" idx="1"/>
          </p:cNvCxnSpPr>
          <p:nvPr/>
        </p:nvCxnSpPr>
        <p:spPr>
          <a:xfrm flipV="1">
            <a:off x="742126" y="3494755"/>
            <a:ext cx="3574682" cy="2467168"/>
          </a:xfrm>
          <a:prstGeom prst="straightConnector1">
            <a:avLst/>
          </a:prstGeom>
          <a:ln w="444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BC4F1A39-7311-4D97-9D1E-707E33AC61BC}"/>
              </a:ext>
            </a:extLst>
          </p:cNvPr>
          <p:cNvSpPr txBox="1"/>
          <p:nvPr/>
        </p:nvSpPr>
        <p:spPr>
          <a:xfrm>
            <a:off x="1850592" y="5051214"/>
            <a:ext cx="386032" cy="461665"/>
          </a:xfrm>
          <a:prstGeom prst="rect">
            <a:avLst/>
          </a:prstGeom>
          <a:noFill/>
        </p:spPr>
        <p:txBody>
          <a:bodyPr wrap="square" rtlCol="0">
            <a:spAutoFit/>
          </a:bodyPr>
          <a:lstStyle/>
          <a:p>
            <a:r>
              <a:rPr lang="en-US" sz="2400" dirty="0">
                <a:latin typeface="Symbol" panose="05050102010706020507" pitchFamily="18" charset="2"/>
              </a:rPr>
              <a:t>q</a:t>
            </a:r>
          </a:p>
        </p:txBody>
      </p:sp>
    </p:spTree>
    <p:extLst>
      <p:ext uri="{BB962C8B-B14F-4D97-AF65-F5344CB8AC3E}">
        <p14:creationId xmlns:p14="http://schemas.microsoft.com/office/powerpoint/2010/main" val="301578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P spid="14" grpId="0"/>
      <p:bldP spid="15"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F10CD-2ACC-6B1E-9524-86AB2729D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051176-3A7B-4E9F-FB87-648BF47F1784}"/>
              </a:ext>
            </a:extLst>
          </p:cNvPr>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191FB6-AA30-982A-19DE-0E6AAD95EB9B}"/>
                  </a:ext>
                </a:extLst>
              </p:cNvPr>
              <p:cNvSpPr>
                <a:spLocks noGrp="1"/>
              </p:cNvSpPr>
              <p:nvPr>
                <p:ph sz="quarter" idx="10"/>
              </p:nvPr>
            </p:nvSpPr>
            <p:spPr>
              <a:xfrm>
                <a:off x="333375" y="1159932"/>
                <a:ext cx="11525250" cy="5363577"/>
              </a:xfrm>
            </p:spPr>
            <p:txBody>
              <a:bodyPr>
                <a:normAutofit/>
              </a:bodyPr>
              <a:lstStyle/>
              <a:p>
                <a:pPr marL="0" indent="0">
                  <a:buNone/>
                </a:pPr>
                <a:r>
                  <a:rPr lang="en-US" dirty="0">
                    <a:latin typeface="+mn-lt"/>
                  </a:rPr>
                  <a:t>Different metrics for similarity can be computed for numeric variables in p dimensions</a:t>
                </a:r>
              </a:p>
              <a:p>
                <a:r>
                  <a:rPr lang="en-US" b="1" dirty="0">
                    <a:latin typeface="+mn-lt"/>
                  </a:rPr>
                  <a:t>Dot product similarity</a:t>
                </a:r>
                <a:r>
                  <a:rPr lang="en-US" dirty="0">
                    <a:latin typeface="+mn-lt"/>
                  </a:rPr>
                  <a:t>, for two vectors of values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latin typeface="+mn-lt"/>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dirty="0" smtClean="0">
                          <a:latin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i="1" dirty="0">
                          <a:latin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b="0" i="1" dirty="0" smtClean="0">
                          <a:latin typeface="Cambria Math" panose="02040503050406030204" pitchFamily="18" charset="0"/>
                        </a:rPr>
                        <m:t>′</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r>
                            <a:rPr lang="en-US" b="0" i="1" dirty="0" smtClean="0">
                              <a:latin typeface="Cambria Math" panose="02040503050406030204" pitchFamily="18" charset="0"/>
                            </a:rPr>
                            <m:t>′</m:t>
                          </m:r>
                        </m:e>
                      </m:acc>
                      <m:r>
                        <a:rPr lang="en-US" i="1" dirty="0">
                          <a:latin typeface="Cambria Math" panose="02040503050406030204" pitchFamily="18" charset="0"/>
                        </a:rPr>
                        <m:t>)</m:t>
                      </m:r>
                      <m:r>
                        <a:rPr lang="en-US" b="0" i="0"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r>
                                <a:rPr lang="en-US" b="0" i="1" dirty="0" smtClean="0">
                                  <a:latin typeface="Cambria Math" panose="02040503050406030204" pitchFamily="18" charset="0"/>
                                </a:rPr>
                                <m:t>′</m:t>
                              </m:r>
                            </m:e>
                          </m:acc>
                          <m:r>
                            <a:rPr lang="en-US" i="1" dirty="0">
                              <a:latin typeface="Cambria Math" panose="02040503050406030204" pitchFamily="18" charset="0"/>
                            </a:rPr>
                            <m:t>)</m:t>
                          </m:r>
                        </m:e>
                        <m:sup>
                          <m:r>
                            <a:rPr lang="en-US" i="1" dirty="0">
                              <a:latin typeface="Cambria Math" panose="02040503050406030204" pitchFamily="18" charset="0"/>
                            </a:rPr>
                            <m:t>𝑇</m:t>
                          </m:r>
                        </m:sup>
                      </m:sSup>
                    </m:oMath>
                  </m:oMathPara>
                </a14:m>
                <a:endParaRPr lang="en-US" dirty="0">
                  <a:latin typeface="+mn-lt"/>
                </a:endParaRPr>
              </a:p>
              <a:p>
                <a:r>
                  <a:rPr lang="en-US" dirty="0">
                    <a:latin typeface="+mn-lt"/>
                  </a:rPr>
                  <a:t>Range is unbounded!</a:t>
                </a:r>
              </a:p>
              <a:p>
                <a:r>
                  <a:rPr lang="en-US" dirty="0">
                    <a:latin typeface="+mn-lt"/>
                  </a:rPr>
                  <a:t>If </a:t>
                </a:r>
                <a14:m>
                  <m:oMath xmlns:m="http://schemas.openxmlformats.org/officeDocument/2006/math">
                    <m:r>
                      <a:rPr lang="en-US" i="1" dirty="0">
                        <a:latin typeface="Cambria Math" panose="02040503050406030204" pitchFamily="18" charset="0"/>
                      </a:rPr>
                      <m:t>𝑥</m:t>
                    </m:r>
                  </m:oMath>
                </a14:m>
                <a:r>
                  <a:rPr lang="en-US" dirty="0">
                    <a:latin typeface="+mn-lt"/>
                  </a:rPr>
                  <a:t>, </a:t>
                </a:r>
                <a14:m>
                  <m:oMath xmlns:m="http://schemas.openxmlformats.org/officeDocument/2006/math">
                    <m:r>
                      <a:rPr lang="en-US" i="1" dirty="0">
                        <a:latin typeface="Cambria Math" panose="02040503050406030204" pitchFamily="18" charset="0"/>
                      </a:rPr>
                      <m:t>𝑥</m:t>
                    </m:r>
                    <m:r>
                      <a:rPr lang="en-US" b="0" i="1" dirty="0" smtClean="0">
                        <a:latin typeface="Cambria Math" panose="02040503050406030204" pitchFamily="18" charset="0"/>
                      </a:rPr>
                      <m:t>′</m:t>
                    </m:r>
                  </m:oMath>
                </a14:m>
                <a:r>
                  <a:rPr lang="en-US" dirty="0">
                    <a:latin typeface="+mn-lt"/>
                  </a:rPr>
                  <a:t> have unit Euclidean norm, is same as Pearson correlation</a:t>
                </a:r>
              </a:p>
              <a:p>
                <a:pPr lvl="1"/>
                <a:r>
                  <a:rPr lang="en-US" dirty="0">
                    <a:latin typeface="+mn-lt"/>
                  </a:rPr>
                  <a:t>Compute </a:t>
                </a:r>
                <a:r>
                  <a:rPr lang="en-US" b="1" dirty="0">
                    <a:latin typeface="+mn-lt"/>
                  </a:rPr>
                  <a:t>Pearson correlation </a:t>
                </a:r>
                <a:r>
                  <a:rPr lang="en-US" dirty="0">
                    <a:latin typeface="+mn-lt"/>
                  </a:rPr>
                  <a:t>by taking dot product of zero centered unit variance vectors </a:t>
                </a:r>
              </a:p>
              <a:p>
                <a:pPr marL="0" indent="0">
                  <a:buNone/>
                </a:pPr>
                <a:endParaRPr lang="en-US" dirty="0">
                  <a:latin typeface="+mn-lt"/>
                </a:endParaRPr>
              </a:p>
            </p:txBody>
          </p:sp>
        </mc:Choice>
        <mc:Fallback xmlns="">
          <p:sp>
            <p:nvSpPr>
              <p:cNvPr id="3" name="Content Placeholder 2">
                <a:extLst>
                  <a:ext uri="{FF2B5EF4-FFF2-40B4-BE49-F238E27FC236}">
                    <a16:creationId xmlns:a16="http://schemas.microsoft.com/office/drawing/2014/main" id="{85191FB6-AA30-982A-19DE-0E6AAD95EB9B}"/>
                  </a:ext>
                </a:extLst>
              </p:cNvPr>
              <p:cNvSpPr>
                <a:spLocks noGrp="1" noRot="1" noChangeAspect="1" noMove="1" noResize="1" noEditPoints="1" noAdjustHandles="1" noChangeArrowheads="1" noChangeShapeType="1" noTextEdit="1"/>
              </p:cNvSpPr>
              <p:nvPr>
                <p:ph sz="quarter" idx="10"/>
              </p:nvPr>
            </p:nvSpPr>
            <p:spPr>
              <a:xfrm>
                <a:off x="333375" y="1159932"/>
                <a:ext cx="11525250" cy="5363577"/>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13563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Measuring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fontScale="92500"/>
              </a:bodyPr>
              <a:lstStyle/>
              <a:p>
                <a:pPr marL="0" indent="0">
                  <a:buNone/>
                </a:pPr>
                <a:r>
                  <a:rPr lang="en-US" dirty="0">
                    <a:latin typeface="+mn-lt"/>
                  </a:rPr>
                  <a:t>Different metrics for similarity can be computed for discretely coded or numeric variables in p dimensions</a:t>
                </a:r>
              </a:p>
              <a:p>
                <a:r>
                  <a:rPr lang="en-US" b="1" dirty="0">
                    <a:latin typeface="+mn-lt"/>
                    <a:hlinkClick r:id="rId3"/>
                  </a:rPr>
                  <a:t>Jaccard Similarity</a:t>
                </a:r>
                <a:r>
                  <a:rPr lang="en-US" b="1" dirty="0">
                    <a:latin typeface="+mn-lt"/>
                  </a:rPr>
                  <a:t>:</a:t>
                </a:r>
                <a:r>
                  <a:rPr lang="en-US" dirty="0">
                    <a:latin typeface="+mn-lt"/>
                  </a:rPr>
                  <a:t> For discretely coded data</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𝐼𝑛𝑡𝑒𝑟𝑠𝑒𝑐𝑡𝑖𝑜𝑛</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num>
                        <m:den>
                          <m:r>
                            <a:rPr lang="en-US" b="0" i="1" smtClean="0">
                              <a:latin typeface="Cambria Math" panose="02040503050406030204" pitchFamily="18" charset="0"/>
                            </a:rPr>
                            <m:t>𝑆𝑖𝑧𝑒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𝑈𝑛𝑖𝑜𝑛</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m:t>
                              </m:r>
                            </m:sup>
                          </m:sSup>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den>
                      </m:f>
                    </m:oMath>
                  </m:oMathPara>
                </a14:m>
                <a:endParaRPr lang="en-US" b="0" dirty="0">
                  <a:latin typeface="+mn-lt"/>
                </a:endParaRPr>
              </a:p>
              <a:p>
                <a:r>
                  <a:rPr lang="en-US" dirty="0">
                    <a:latin typeface="+mn-lt"/>
                  </a:rPr>
                  <a:t>Jaccard similarity in range </a:t>
                </a:r>
                <a14:m>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0,1</m:t>
                        </m:r>
                      </m:e>
                    </m:d>
                  </m:oMath>
                </a14:m>
                <a:endParaRPr lang="en-US" dirty="0">
                  <a:latin typeface="+mn-lt"/>
                </a:endParaRPr>
              </a:p>
              <a:p>
                <a:r>
                  <a:rPr lang="en-US" dirty="0">
                    <a:latin typeface="+mn-lt"/>
                  </a:rPr>
                  <a:t>Example: consider the following character strings</a:t>
                </a:r>
                <a:r>
                  <a:rPr lang="en-US" sz="2400" dirty="0">
                    <a:latin typeface="+mn-lt"/>
                  </a:rPr>
                  <a:t>:      </a:t>
                </a:r>
              </a:p>
              <a:p>
                <a:pPr marL="457200" lvl="1" indent="0">
                  <a:buNone/>
                </a:pPr>
                <a:r>
                  <a:rPr lang="en-US" dirty="0">
                    <a:latin typeface="+mn-lt"/>
                  </a:rPr>
                  <a:t>				x = </a:t>
                </a:r>
                <a:r>
                  <a:rPr lang="en-US" dirty="0" err="1">
                    <a:latin typeface="+mn-lt"/>
                  </a:rPr>
                  <a:t>thisismy</a:t>
                </a:r>
                <a:r>
                  <a:rPr lang="en-US" dirty="0" err="1">
                    <a:solidFill>
                      <a:srgbClr val="C00000"/>
                    </a:solidFill>
                    <a:latin typeface="+mn-lt"/>
                  </a:rPr>
                  <a:t>olddog</a:t>
                </a:r>
                <a:endParaRPr lang="en-US" dirty="0">
                  <a:solidFill>
                    <a:srgbClr val="C00000"/>
                  </a:solidFill>
                  <a:latin typeface="+mn-lt"/>
                </a:endParaRPr>
              </a:p>
              <a:p>
                <a:pPr marL="457200" lvl="1" indent="0">
                  <a:buNone/>
                </a:pPr>
                <a:r>
                  <a:rPr lang="en-US" dirty="0">
                    <a:latin typeface="+mn-lt"/>
                  </a:rPr>
                  <a:t>				x’ = </a:t>
                </a:r>
                <a:r>
                  <a:rPr lang="en-US" dirty="0" err="1">
                    <a:latin typeface="+mn-lt"/>
                  </a:rPr>
                  <a:t>thisismy</a:t>
                </a:r>
                <a:r>
                  <a:rPr lang="en-US" dirty="0" err="1">
                    <a:solidFill>
                      <a:srgbClr val="C00000"/>
                    </a:solidFill>
                    <a:latin typeface="+mn-lt"/>
                  </a:rPr>
                  <a:t>cat</a:t>
                </a:r>
                <a:endParaRPr lang="en-US" dirty="0">
                  <a:solidFill>
                    <a:srgbClr val="C00000"/>
                  </a:solidFill>
                  <a:latin typeface="+mn-lt"/>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𝑡h𝑖𝑠𝑚𝑦</m:t>
                          </m:r>
                        </m:e>
                      </m:d>
                      <m:r>
                        <a:rPr lang="en-US" b="0" i="1" smtClean="0">
                          <a:latin typeface="Cambria Math" panose="02040503050406030204" pitchFamily="18" charset="0"/>
                        </a:rPr>
                        <m:t>=6</m:t>
                      </m:r>
                    </m:oMath>
                  </m:oMathPara>
                </a14:m>
                <a:endParaRPr lang="en-US" b="0" dirty="0">
                  <a:latin typeface="+mn-lt"/>
                </a:endParaRPr>
              </a:p>
              <a:p>
                <a:pPr marL="457200" lvl="1" indent="0">
                  <a:buNone/>
                </a:pPr>
                <a14:m>
                  <m:oMathPara xmlns:m="http://schemas.openxmlformats.org/officeDocument/2006/math">
                    <m:oMathParaPr>
                      <m:jc m:val="centerGroup"/>
                    </m:oMathParaPr>
                    <m:oMath xmlns:m="http://schemas.openxmlformats.org/officeDocument/2006/math">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𝑡h𝑖𝑠𝑚𝑦𝑜𝑙𝑑𝑔𝑐𝑎</m:t>
                          </m:r>
                        </m:e>
                      </m:d>
                      <m:r>
                        <a:rPr lang="en-US" b="0" i="1" smtClean="0">
                          <a:latin typeface="Cambria Math" panose="02040503050406030204" pitchFamily="18" charset="0"/>
                        </a:rPr>
                        <m:t>=12</m:t>
                      </m:r>
                    </m:oMath>
                  </m:oMathPara>
                </a14:m>
                <a:endParaRPr lang="en-US" b="0" dirty="0">
                  <a:latin typeface="+mn-lt"/>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𝐽𝑎𝑐𝑐𝑎𝑟𝑑</m:t>
                          </m:r>
                          <m:r>
                            <a:rPr lang="en-US" b="0" i="1" smtClean="0">
                              <a:latin typeface="Cambria Math" panose="02040503050406030204" pitchFamily="18" charset="0"/>
                            </a:rPr>
                            <m:t> </m:t>
                          </m:r>
                          <m:r>
                            <a:rPr lang="en-US" b="0" i="1" smtClean="0">
                              <a:latin typeface="Cambria Math" panose="02040503050406030204" pitchFamily="18" charset="0"/>
                            </a:rPr>
                            <m:t>𝑆𝑖𝑚𝑖𝑙𝑎𝑟𝑖𝑡𝑦</m:t>
                          </m:r>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𝐽</m:t>
                          </m:r>
                        </m:sub>
                      </m:sSub>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6</m:t>
                          </m:r>
                        </m:num>
                        <m:den>
                          <m:r>
                            <a:rPr lang="en-US" b="0" i="1" smtClean="0">
                              <a:latin typeface="Cambria Math" panose="02040503050406030204" pitchFamily="18" charset="0"/>
                              <a:ea typeface="Cambria Math" panose="02040503050406030204" pitchFamily="18" charset="0"/>
                            </a:rPr>
                            <m:t>12</m:t>
                          </m:r>
                        </m:den>
                      </m:f>
                      <m:r>
                        <a:rPr lang="en-US" b="0" i="1" smtClean="0">
                          <a:latin typeface="Cambria Math" panose="02040503050406030204" pitchFamily="18" charset="0"/>
                          <a:ea typeface="Cambria Math" panose="02040503050406030204" pitchFamily="18" charset="0"/>
                        </a:rPr>
                        <m:t>=0.5</m:t>
                      </m:r>
                    </m:oMath>
                  </m:oMathPara>
                </a14:m>
                <a:endParaRPr lang="en-US" dirty="0">
                  <a:latin typeface="+mn-lt"/>
                </a:endParaRPr>
              </a:p>
              <a:p>
                <a:r>
                  <a:rPr lang="en-US" dirty="0">
                    <a:latin typeface="+mn-lt"/>
                  </a:rPr>
                  <a:t>Jaccard similarity often used for data with many categories like natural languages</a:t>
                </a: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4"/>
                <a:stretch>
                  <a:fillRect l="-952" t="-1604" b="-1070"/>
                </a:stretch>
              </a:blipFill>
            </p:spPr>
            <p:txBody>
              <a:bodyPr/>
              <a:lstStyle/>
              <a:p>
                <a:r>
                  <a:rPr lang="en-US">
                    <a:noFill/>
                  </a:rPr>
                  <a:t> </a:t>
                </a:r>
              </a:p>
            </p:txBody>
          </p:sp>
        </mc:Fallback>
      </mc:AlternateContent>
    </p:spTree>
    <p:extLst>
      <p:ext uri="{BB962C8B-B14F-4D97-AF65-F5344CB8AC3E}">
        <p14:creationId xmlns:p14="http://schemas.microsoft.com/office/powerpoint/2010/main" val="236623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Relationship Between Similarity and Distance</a:t>
            </a:r>
          </a:p>
        </p:txBody>
      </p:sp>
      <p:sp>
        <p:nvSpPr>
          <p:cNvPr id="3" name="Content Placeholder 2"/>
          <p:cNvSpPr>
            <a:spLocks noGrp="1"/>
          </p:cNvSpPr>
          <p:nvPr>
            <p:ph sz="quarter" idx="10"/>
          </p:nvPr>
        </p:nvSpPr>
        <p:spPr>
          <a:xfrm>
            <a:off x="333375" y="896079"/>
            <a:ext cx="11525250" cy="2141761"/>
          </a:xfrm>
        </p:spPr>
        <p:txBody>
          <a:bodyPr>
            <a:normAutofit lnSpcReduction="10000"/>
          </a:bodyPr>
          <a:lstStyle/>
          <a:p>
            <a:pPr marL="0" indent="0">
              <a:buNone/>
            </a:pPr>
            <a:r>
              <a:rPr lang="en-US" dirty="0">
                <a:latin typeface="+mn-lt"/>
              </a:rPr>
              <a:t>Some similarity measures can be transformed to distance metrics</a:t>
            </a:r>
          </a:p>
          <a:p>
            <a:r>
              <a:rPr lang="en-US" dirty="0">
                <a:latin typeface="+mn-lt"/>
              </a:rPr>
              <a:t>Transform is an inverse function</a:t>
            </a:r>
          </a:p>
          <a:p>
            <a:r>
              <a:rPr lang="en-US" dirty="0">
                <a:latin typeface="+mn-lt"/>
              </a:rPr>
              <a:t>Resulting distance usually has limited range (limited support)</a:t>
            </a:r>
          </a:p>
          <a:p>
            <a:r>
              <a:rPr lang="en-US" dirty="0">
                <a:latin typeface="+mn-lt"/>
              </a:rPr>
              <a:t>Examples: </a:t>
            </a:r>
          </a:p>
          <a:p>
            <a:pPr marL="0" indent="0">
              <a:buNone/>
            </a:pPr>
            <a:endParaRPr lang="en-US" dirty="0">
              <a:latin typeface="+mn-lt"/>
            </a:endParaRPr>
          </a:p>
        </p:txBody>
      </p:sp>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34275F9A-F194-47E8-B6C7-A6ABC532CFA9}"/>
                  </a:ext>
                </a:extLst>
              </p:cNvPr>
              <p:cNvGraphicFramePr>
                <a:graphicFrameLocks noGrp="1"/>
              </p:cNvGraphicFramePr>
              <p:nvPr>
                <p:extLst>
                  <p:ext uri="{D42A27DB-BD31-4B8C-83A1-F6EECF244321}">
                    <p14:modId xmlns:p14="http://schemas.microsoft.com/office/powerpoint/2010/main" val="3884684090"/>
                  </p:ext>
                </p:extLst>
              </p:nvPr>
            </p:nvGraphicFramePr>
            <p:xfrm>
              <a:off x="127000" y="3244292"/>
              <a:ext cx="11938000" cy="3421444"/>
            </p:xfrm>
            <a:graphic>
              <a:graphicData uri="http://schemas.openxmlformats.org/drawingml/2006/table">
                <a:tbl>
                  <a:tblPr firstRow="1" bandRow="1">
                    <a:tableStyleId>{5C22544A-7EE6-4342-B048-85BDC9FD1C3A}</a:tableStyleId>
                  </a:tblPr>
                  <a:tblGrid>
                    <a:gridCol w="5704840">
                      <a:extLst>
                        <a:ext uri="{9D8B030D-6E8A-4147-A177-3AD203B41FA5}">
                          <a16:colId xmlns:a16="http://schemas.microsoft.com/office/drawing/2014/main" val="367994989"/>
                        </a:ext>
                      </a:extLst>
                    </a:gridCol>
                    <a:gridCol w="6233160">
                      <a:extLst>
                        <a:ext uri="{9D8B030D-6E8A-4147-A177-3AD203B41FA5}">
                          <a16:colId xmlns:a16="http://schemas.microsoft.com/office/drawing/2014/main" val="2940886102"/>
                        </a:ext>
                      </a:extLst>
                    </a:gridCol>
                  </a:tblGrid>
                  <a:tr h="370840">
                    <a:tc>
                      <a:txBody>
                        <a:bodyPr/>
                        <a:lstStyle/>
                        <a:p>
                          <a:pPr algn="ctr"/>
                          <a:r>
                            <a:rPr lang="en-US" sz="2800" dirty="0">
                              <a:solidFill>
                                <a:schemeClr val="tx1"/>
                              </a:solidFill>
                            </a:rPr>
                            <a:t>Similarity Measure</a:t>
                          </a:r>
                        </a:p>
                      </a:txBody>
                      <a:tcPr/>
                    </a:tc>
                    <a:tc>
                      <a:txBody>
                        <a:bodyPr/>
                        <a:lstStyle/>
                        <a:p>
                          <a:pPr algn="ctr"/>
                          <a:r>
                            <a:rPr lang="en-US" sz="2800" dirty="0">
                              <a:solidFill>
                                <a:schemeClr val="tx1"/>
                              </a:solidFill>
                            </a:rPr>
                            <a:t>Transform to Distance Metric</a:t>
                          </a:r>
                        </a:p>
                      </a:txBody>
                      <a:tcPr/>
                    </a:tc>
                    <a:extLst>
                      <a:ext uri="{0D108BD9-81ED-4DB2-BD59-A6C34878D82A}">
                        <a16:rowId xmlns:a16="http://schemas.microsoft.com/office/drawing/2014/main" val="391128024"/>
                      </a:ext>
                    </a:extLst>
                  </a:tr>
                  <a:tr h="370840">
                    <a:tc>
                      <a:txBody>
                        <a:bodyPr/>
                        <a:lstStyle/>
                        <a:p>
                          <a:r>
                            <a:rPr lang="en-US" sz="2800" dirty="0">
                              <a:solidFill>
                                <a:schemeClr val="tx1"/>
                              </a:solidFill>
                            </a:rPr>
                            <a:t>Pearson Correlation</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𝑃</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1</m:t>
                                    </m:r>
                                  </m:num>
                                  <m:den>
                                    <m:r>
                                      <a:rPr lang="en-US" sz="2800" b="0" i="1" smtClean="0">
                                        <a:solidFill>
                                          <a:schemeClr val="tx1"/>
                                        </a:solidFill>
                                        <a:latin typeface="Cambria Math" panose="02040503050406030204" pitchFamily="18" charset="0"/>
                                      </a:rPr>
                                      <m:t>2</m:t>
                                    </m:r>
                                  </m:den>
                                </m:f>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1 − </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𝑃</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e>
                                </m:d>
                              </m:oMath>
                            </m:oMathPara>
                          </a14:m>
                          <a:endParaRPr lang="en-US" sz="2800" dirty="0">
                            <a:solidFill>
                              <a:schemeClr val="tx1"/>
                            </a:solidFill>
                          </a:endParaRPr>
                        </a:p>
                      </a:txBody>
                      <a:tcPr/>
                    </a:tc>
                    <a:extLst>
                      <a:ext uri="{0D108BD9-81ED-4DB2-BD59-A6C34878D82A}">
                        <a16:rowId xmlns:a16="http://schemas.microsoft.com/office/drawing/2014/main" val="3941939117"/>
                      </a:ext>
                    </a:extLst>
                  </a:tr>
                  <a:tr h="370840">
                    <a:tc>
                      <a:txBody>
                        <a:bodyPr/>
                        <a:lstStyle/>
                        <a:p>
                          <a:r>
                            <a:rPr lang="en-US" sz="2800" dirty="0">
                              <a:solidFill>
                                <a:schemeClr val="tx1"/>
                              </a:solidFill>
                            </a:rPr>
                            <a:t>Jaccard Similarity</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𝐽</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=1 − </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𝐽</m:t>
                                    </m:r>
                                  </m:sub>
                                </m:sSub>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a:txBody>
                      <a:tcPr/>
                    </a:tc>
                    <a:extLst>
                      <a:ext uri="{0D108BD9-81ED-4DB2-BD59-A6C34878D82A}">
                        <a16:rowId xmlns:a16="http://schemas.microsoft.com/office/drawing/2014/main" val="518136395"/>
                      </a:ext>
                    </a:extLst>
                  </a:tr>
                  <a:tr h="370840">
                    <a:tc>
                      <a:txBody>
                        <a:bodyPr/>
                        <a:lstStyle/>
                        <a:p>
                          <a:r>
                            <a:rPr lang="en-US" sz="2800" dirty="0">
                              <a:solidFill>
                                <a:schemeClr val="tx1"/>
                              </a:solidFill>
                            </a:rPr>
                            <a:t>Hamming Similarity (</a:t>
                          </a:r>
                          <a14:m>
                            <m:oMath xmlns:m="http://schemas.openxmlformats.org/officeDocument/2006/math">
                              <m:r>
                                <a:rPr lang="en-US" sz="2800" b="0" i="1" smtClean="0">
                                  <a:solidFill>
                                    <a:schemeClr val="tx1"/>
                                  </a:solidFill>
                                  <a:latin typeface="Cambria Math" panose="02040503050406030204" pitchFamily="18" charset="0"/>
                                </a:rPr>
                                <m:t>𝑛</m:t>
                              </m:r>
                            </m:oMath>
                          </a14:m>
                          <a:r>
                            <a:rPr lang="en-US" sz="2800" dirty="0">
                              <a:solidFill>
                                <a:schemeClr val="tx1"/>
                              </a:solidFill>
                            </a:rPr>
                            <a:t> length string)</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h</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h</m:t>
                                    </m:r>
                                  </m:sub>
                                </m:sSub>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r>
                                  <a:rPr lang="en-US" sz="2800" b="0" i="1" smtClean="0">
                                    <a:solidFill>
                                      <a:schemeClr val="tx1"/>
                                    </a:solidFill>
                                    <a:latin typeface="Cambria Math" panose="02040503050406030204" pitchFamily="18" charset="0"/>
                                  </a:rPr>
                                  <m:t>)</m:t>
                                </m:r>
                              </m:oMath>
                            </m:oMathPara>
                          </a14:m>
                          <a:endParaRPr lang="en-US" sz="2800" dirty="0">
                            <a:solidFill>
                              <a:schemeClr val="tx1"/>
                            </a:solidFill>
                          </a:endParaRPr>
                        </a:p>
                      </a:txBody>
                      <a:tcPr/>
                    </a:tc>
                    <a:extLst>
                      <a:ext uri="{0D108BD9-81ED-4DB2-BD59-A6C34878D82A}">
                        <a16:rowId xmlns:a16="http://schemas.microsoft.com/office/drawing/2014/main" val="1091878639"/>
                      </a:ext>
                    </a:extLst>
                  </a:tr>
                  <a:tr h="370840">
                    <a:tc>
                      <a:txBody>
                        <a:bodyPr/>
                        <a:lstStyle/>
                        <a:p>
                          <a:r>
                            <a:rPr lang="en-US" sz="2800" dirty="0">
                              <a:solidFill>
                                <a:schemeClr val="tx1"/>
                              </a:solidFill>
                            </a:rPr>
                            <a:t>Cosine Similarity</a:t>
                          </a:r>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𝑑</m:t>
                                    </m:r>
                                  </m:e>
                                  <m:sub>
                                    <m:r>
                                      <a:rPr lang="en-US" sz="2800" b="0" i="1" smtClean="0">
                                        <a:solidFill>
                                          <a:schemeClr val="tx1"/>
                                        </a:solidFill>
                                        <a:latin typeface="Cambria Math" panose="02040503050406030204" pitchFamily="18" charset="0"/>
                                      </a:rPr>
                                      <m:t>𝑎𝑛𝑔𝑢𝑙𝑎𝑟</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 </m:t>
                                </m:r>
                                <m:f>
                                  <m:fPr>
                                    <m:ctrlPr>
                                      <a:rPr lang="en-US" sz="2800" b="0" i="1" smtClean="0">
                                        <a:solidFill>
                                          <a:schemeClr val="tx1"/>
                                        </a:solidFill>
                                        <a:latin typeface="Cambria Math" panose="02040503050406030204" pitchFamily="18" charset="0"/>
                                      </a:rPr>
                                    </m:ctrlPr>
                                  </m:fPr>
                                  <m:num>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𝑐𝑜𝑠</m:t>
                                        </m:r>
                                      </m:e>
                                      <m:sup>
                                        <m:r>
                                          <a:rPr lang="en-US" sz="2800" b="0" i="1" smtClean="0">
                                            <a:solidFill>
                                              <a:schemeClr val="tx1"/>
                                            </a:solidFill>
                                            <a:latin typeface="Cambria Math" panose="02040503050406030204" pitchFamily="18" charset="0"/>
                                          </a:rPr>
                                          <m:t>−1</m:t>
                                        </m:r>
                                      </m:sup>
                                    </m:sSup>
                                    <m:r>
                                      <a:rPr lang="en-US" sz="2800" b="0" i="1" smtClean="0">
                                        <a:solidFill>
                                          <a:schemeClr val="tx1"/>
                                        </a:solidFill>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𝑠</m:t>
                                        </m:r>
                                      </m:e>
                                      <m:sub>
                                        <m:r>
                                          <a:rPr lang="en-US" sz="2800" b="0" i="1" smtClean="0">
                                            <a:solidFill>
                                              <a:schemeClr val="tx1"/>
                                            </a:solidFill>
                                            <a:latin typeface="Cambria Math" panose="02040503050406030204" pitchFamily="18" charset="0"/>
                                          </a:rPr>
                                          <m:t>𝑐𝑜𝑠</m:t>
                                        </m:r>
                                      </m:sub>
                                    </m:sSub>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r>
                                          <a:rPr lang="en-US" sz="2800" b="0" i="1" smtClean="0">
                                            <a:solidFill>
                                              <a:schemeClr val="tx1"/>
                                            </a:solidFill>
                                            <a:latin typeface="Cambria Math" panose="02040503050406030204" pitchFamily="18" charset="0"/>
                                          </a:rPr>
                                          <m:t>,</m:t>
                                        </m:r>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𝑥</m:t>
                                            </m:r>
                                          </m:e>
                                          <m:sup>
                                            <m:r>
                                              <a:rPr lang="en-US" sz="2800" b="0" i="1" smtClean="0">
                                                <a:solidFill>
                                                  <a:schemeClr val="tx1"/>
                                                </a:solidFill>
                                                <a:latin typeface="Cambria Math" panose="02040503050406030204" pitchFamily="18" charset="0"/>
                                              </a:rPr>
                                              <m:t>′</m:t>
                                            </m:r>
                                          </m:sup>
                                        </m:sSup>
                                      </m:e>
                                    </m:d>
                                    <m:r>
                                      <a:rPr lang="en-US" sz="2800" b="0" i="1" smtClean="0">
                                        <a:solidFill>
                                          <a:schemeClr val="tx1"/>
                                        </a:solidFill>
                                        <a:latin typeface="Cambria Math" panose="02040503050406030204" pitchFamily="18" charset="0"/>
                                      </a:rPr>
                                      <m:t>)</m:t>
                                    </m:r>
                                  </m:num>
                                  <m:den>
                                    <m:r>
                                      <a:rPr lang="en-US" sz="2800" b="0" i="1" smtClean="0">
                                        <a:solidFill>
                                          <a:schemeClr val="tx1"/>
                                        </a:solidFill>
                                        <a:latin typeface="Cambria Math" panose="02040503050406030204" pitchFamily="18" charset="0"/>
                                        <a:ea typeface="Cambria Math" panose="02040503050406030204" pitchFamily="18" charset="0"/>
                                      </a:rPr>
                                      <m:t>𝜋</m:t>
                                    </m:r>
                                  </m:den>
                                </m:f>
                              </m:oMath>
                            </m:oMathPara>
                          </a14:m>
                          <a:endParaRPr lang="en-US" sz="2800" dirty="0">
                            <a:solidFill>
                              <a:schemeClr val="tx1"/>
                            </a:solidFill>
                          </a:endParaRPr>
                        </a:p>
                      </a:txBody>
                      <a:tcPr/>
                    </a:tc>
                    <a:extLst>
                      <a:ext uri="{0D108BD9-81ED-4DB2-BD59-A6C34878D82A}">
                        <a16:rowId xmlns:a16="http://schemas.microsoft.com/office/drawing/2014/main" val="3545086956"/>
                      </a:ext>
                    </a:extLst>
                  </a:tr>
                </a:tbl>
              </a:graphicData>
            </a:graphic>
          </p:graphicFrame>
        </mc:Choice>
        <mc:Fallback xmlns="">
          <p:graphicFrame>
            <p:nvGraphicFramePr>
              <p:cNvPr id="5" name="Table 5">
                <a:extLst>
                  <a:ext uri="{FF2B5EF4-FFF2-40B4-BE49-F238E27FC236}">
                    <a16:creationId xmlns:a16="http://schemas.microsoft.com/office/drawing/2014/main" id="{34275F9A-F194-47E8-B6C7-A6ABC532CFA9}"/>
                  </a:ext>
                </a:extLst>
              </p:cNvPr>
              <p:cNvGraphicFramePr>
                <a:graphicFrameLocks noGrp="1"/>
              </p:cNvGraphicFramePr>
              <p:nvPr>
                <p:extLst>
                  <p:ext uri="{D42A27DB-BD31-4B8C-83A1-F6EECF244321}">
                    <p14:modId xmlns:p14="http://schemas.microsoft.com/office/powerpoint/2010/main" val="3884684090"/>
                  </p:ext>
                </p:extLst>
              </p:nvPr>
            </p:nvGraphicFramePr>
            <p:xfrm>
              <a:off x="127000" y="3244292"/>
              <a:ext cx="11938000" cy="3421444"/>
            </p:xfrm>
            <a:graphic>
              <a:graphicData uri="http://schemas.openxmlformats.org/drawingml/2006/table">
                <a:tbl>
                  <a:tblPr firstRow="1" bandRow="1">
                    <a:tableStyleId>{5C22544A-7EE6-4342-B048-85BDC9FD1C3A}</a:tableStyleId>
                  </a:tblPr>
                  <a:tblGrid>
                    <a:gridCol w="5704840">
                      <a:extLst>
                        <a:ext uri="{9D8B030D-6E8A-4147-A177-3AD203B41FA5}">
                          <a16:colId xmlns:a16="http://schemas.microsoft.com/office/drawing/2014/main" val="367994989"/>
                        </a:ext>
                      </a:extLst>
                    </a:gridCol>
                    <a:gridCol w="6233160">
                      <a:extLst>
                        <a:ext uri="{9D8B030D-6E8A-4147-A177-3AD203B41FA5}">
                          <a16:colId xmlns:a16="http://schemas.microsoft.com/office/drawing/2014/main" val="2940886102"/>
                        </a:ext>
                      </a:extLst>
                    </a:gridCol>
                  </a:tblGrid>
                  <a:tr h="518160">
                    <a:tc>
                      <a:txBody>
                        <a:bodyPr/>
                        <a:lstStyle/>
                        <a:p>
                          <a:pPr algn="ctr"/>
                          <a:r>
                            <a:rPr lang="en-US" sz="2800" dirty="0">
                              <a:solidFill>
                                <a:schemeClr val="tx1"/>
                              </a:solidFill>
                            </a:rPr>
                            <a:t>Similarity Measure</a:t>
                          </a:r>
                        </a:p>
                      </a:txBody>
                      <a:tcPr/>
                    </a:tc>
                    <a:tc>
                      <a:txBody>
                        <a:bodyPr/>
                        <a:lstStyle/>
                        <a:p>
                          <a:pPr algn="ctr"/>
                          <a:r>
                            <a:rPr lang="en-US" sz="2800" dirty="0">
                              <a:solidFill>
                                <a:schemeClr val="tx1"/>
                              </a:solidFill>
                            </a:rPr>
                            <a:t>Transform to Distance Metric</a:t>
                          </a:r>
                        </a:p>
                      </a:txBody>
                      <a:tcPr/>
                    </a:tc>
                    <a:extLst>
                      <a:ext uri="{0D108BD9-81ED-4DB2-BD59-A6C34878D82A}">
                        <a16:rowId xmlns:a16="http://schemas.microsoft.com/office/drawing/2014/main" val="391128024"/>
                      </a:ext>
                    </a:extLst>
                  </a:tr>
                  <a:tr h="890270">
                    <a:tc>
                      <a:txBody>
                        <a:bodyPr/>
                        <a:lstStyle/>
                        <a:p>
                          <a:r>
                            <a:rPr lang="en-US" sz="2800" dirty="0">
                              <a:solidFill>
                                <a:schemeClr val="tx1"/>
                              </a:solidFill>
                            </a:rPr>
                            <a:t>Pearson Correlation</a:t>
                          </a:r>
                        </a:p>
                      </a:txBody>
                      <a:tcPr/>
                    </a:tc>
                    <a:tc>
                      <a:txBody>
                        <a:bodyPr/>
                        <a:lstStyle/>
                        <a:p>
                          <a:endParaRPr lang="en-US"/>
                        </a:p>
                      </a:txBody>
                      <a:tcPr>
                        <a:blipFill>
                          <a:blip r:embed="rId3"/>
                          <a:stretch>
                            <a:fillRect l="-91691" t="-64384" r="-391" b="-228082"/>
                          </a:stretch>
                        </a:blipFill>
                      </a:tcPr>
                    </a:tc>
                    <a:extLst>
                      <a:ext uri="{0D108BD9-81ED-4DB2-BD59-A6C34878D82A}">
                        <a16:rowId xmlns:a16="http://schemas.microsoft.com/office/drawing/2014/main" val="3941939117"/>
                      </a:ext>
                    </a:extLst>
                  </a:tr>
                  <a:tr h="548069">
                    <a:tc>
                      <a:txBody>
                        <a:bodyPr/>
                        <a:lstStyle/>
                        <a:p>
                          <a:r>
                            <a:rPr lang="en-US" sz="2800" dirty="0">
                              <a:solidFill>
                                <a:schemeClr val="tx1"/>
                              </a:solidFill>
                            </a:rPr>
                            <a:t>Jaccard Similarity</a:t>
                          </a:r>
                        </a:p>
                      </a:txBody>
                      <a:tcPr/>
                    </a:tc>
                    <a:tc>
                      <a:txBody>
                        <a:bodyPr/>
                        <a:lstStyle/>
                        <a:p>
                          <a:endParaRPr lang="en-US"/>
                        </a:p>
                      </a:txBody>
                      <a:tcPr>
                        <a:blipFill>
                          <a:blip r:embed="rId3"/>
                          <a:stretch>
                            <a:fillRect l="-91691" t="-266667" r="-391" b="-270000"/>
                          </a:stretch>
                        </a:blipFill>
                      </a:tcPr>
                    </a:tc>
                    <a:extLst>
                      <a:ext uri="{0D108BD9-81ED-4DB2-BD59-A6C34878D82A}">
                        <a16:rowId xmlns:a16="http://schemas.microsoft.com/office/drawing/2014/main" val="518136395"/>
                      </a:ext>
                    </a:extLst>
                  </a:tr>
                  <a:tr h="518160">
                    <a:tc>
                      <a:txBody>
                        <a:bodyPr/>
                        <a:lstStyle/>
                        <a:p>
                          <a:endParaRPr lang="en-US"/>
                        </a:p>
                      </a:txBody>
                      <a:tcPr>
                        <a:blipFill>
                          <a:blip r:embed="rId3"/>
                          <a:stretch>
                            <a:fillRect l="-107" t="-388235" r="-109605" b="-185882"/>
                          </a:stretch>
                        </a:blipFill>
                      </a:tcPr>
                    </a:tc>
                    <a:tc>
                      <a:txBody>
                        <a:bodyPr/>
                        <a:lstStyle/>
                        <a:p>
                          <a:endParaRPr lang="en-US"/>
                        </a:p>
                      </a:txBody>
                      <a:tcPr>
                        <a:blipFill>
                          <a:blip r:embed="rId3"/>
                          <a:stretch>
                            <a:fillRect l="-91691" t="-388235" r="-391" b="-185882"/>
                          </a:stretch>
                        </a:blipFill>
                      </a:tcPr>
                    </a:tc>
                    <a:extLst>
                      <a:ext uri="{0D108BD9-81ED-4DB2-BD59-A6C34878D82A}">
                        <a16:rowId xmlns:a16="http://schemas.microsoft.com/office/drawing/2014/main" val="1091878639"/>
                      </a:ext>
                    </a:extLst>
                  </a:tr>
                  <a:tr h="946785">
                    <a:tc>
                      <a:txBody>
                        <a:bodyPr/>
                        <a:lstStyle/>
                        <a:p>
                          <a:r>
                            <a:rPr lang="en-US" sz="2800" dirty="0">
                              <a:solidFill>
                                <a:schemeClr val="tx1"/>
                              </a:solidFill>
                            </a:rPr>
                            <a:t>Cosine Similarity</a:t>
                          </a:r>
                        </a:p>
                      </a:txBody>
                      <a:tcPr/>
                    </a:tc>
                    <a:tc>
                      <a:txBody>
                        <a:bodyPr/>
                        <a:lstStyle/>
                        <a:p>
                          <a:endParaRPr lang="en-US"/>
                        </a:p>
                      </a:txBody>
                      <a:tcPr>
                        <a:blipFill>
                          <a:blip r:embed="rId3"/>
                          <a:stretch>
                            <a:fillRect l="-91691" t="-266026" r="-391" b="-1282"/>
                          </a:stretch>
                        </a:blipFill>
                      </a:tcPr>
                    </a:tc>
                    <a:extLst>
                      <a:ext uri="{0D108BD9-81ED-4DB2-BD59-A6C34878D82A}">
                        <a16:rowId xmlns:a16="http://schemas.microsoft.com/office/drawing/2014/main" val="3545086956"/>
                      </a:ext>
                    </a:extLst>
                  </a:tr>
                </a:tbl>
              </a:graphicData>
            </a:graphic>
          </p:graphicFrame>
        </mc:Fallback>
      </mc:AlternateContent>
    </p:spTree>
    <p:extLst>
      <p:ext uri="{BB962C8B-B14F-4D97-AF65-F5344CB8AC3E}">
        <p14:creationId xmlns:p14="http://schemas.microsoft.com/office/powerpoint/2010/main" val="37525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Relationship Between Distance and Similarity</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9"/>
                <a:ext cx="11525250" cy="5698998"/>
              </a:xfrm>
            </p:spPr>
            <p:txBody>
              <a:bodyPr>
                <a:normAutofit/>
              </a:bodyPr>
              <a:lstStyle/>
              <a:p>
                <a:pPr marL="0" indent="0">
                  <a:buNone/>
                </a:pPr>
                <a:r>
                  <a:rPr lang="en-US" dirty="0">
                    <a:latin typeface="+mn-lt"/>
                  </a:rPr>
                  <a:t>In some cases distance measures can be transformed to similarity</a:t>
                </a:r>
              </a:p>
              <a:p>
                <a:r>
                  <a:rPr lang="en-US" dirty="0">
                    <a:latin typeface="+mn-lt"/>
                  </a:rPr>
                  <a:t>May not be a unique transformation   </a:t>
                </a:r>
              </a:p>
              <a:p>
                <a:r>
                  <a:rPr lang="en-US" dirty="0">
                    <a:latin typeface="+mn-lt"/>
                  </a:rPr>
                  <a:t>Similarity must be in proper range:  </a:t>
                </a:r>
              </a:p>
              <a:p>
                <a:pPr lvl="1"/>
                <a:r>
                  <a:rPr lang="en-US" dirty="0">
                    <a:latin typeface="+mn-lt"/>
                  </a:rPr>
                  <a:t>[-1,1]</a:t>
                </a:r>
              </a:p>
              <a:p>
                <a:pPr lvl="1"/>
                <a:r>
                  <a:rPr lang="en-US" dirty="0">
                    <a:latin typeface="+mn-lt"/>
                  </a:rPr>
                  <a:t>[0,1] </a:t>
                </a:r>
              </a:p>
              <a:p>
                <a:r>
                  <a:rPr lang="en-US" dirty="0">
                    <a:latin typeface="+mn-lt"/>
                  </a:rPr>
                  <a:t>Distance always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endParaRPr lang="en-US" dirty="0">
                  <a:latin typeface="+mn-lt"/>
                </a:endParaRPr>
              </a:p>
              <a:p>
                <a:r>
                  <a:rPr lang="en-US" dirty="0">
                    <a:latin typeface="+mn-lt"/>
                  </a:rPr>
                  <a:t>Examples </a:t>
                </a:r>
                <a:r>
                  <a:rPr lang="en-US">
                    <a:latin typeface="+mn-lt"/>
                  </a:rPr>
                  <a:t>of transformations for Euclidean metrics </a:t>
                </a:r>
                <a:r>
                  <a:rPr lang="en-US" dirty="0">
                    <a:latin typeface="+mn-lt"/>
                  </a:rPr>
                  <a:t>:  </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𝐸</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den>
                      </m:f>
                    </m:oMath>
                  </m:oMathPara>
                </a14:m>
                <a:endParaRPr lang="en-US" dirty="0"/>
              </a:p>
              <a:p>
                <a:pPr marL="0" indent="0">
                  <a:buNone/>
                </a:pPr>
                <a:endParaRPr lang="en-US" sz="120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r>
                                <a:rPr lang="en-US" i="1">
                                  <a:latin typeface="Cambria Math" panose="02040503050406030204" pitchFamily="18" charset="0"/>
                                </a:rPr>
                                <m:t>𝑒</m:t>
                              </m:r>
                            </m:e>
                            <m:sup>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𝐸</m:t>
                                  </m:r>
                                </m:sub>
                              </m:sSub>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sup>
                          </m:sSup>
                        </m:den>
                      </m:f>
                    </m:oMath>
                  </m:oMathPara>
                </a14:m>
                <a:endParaRPr lang="en-US" dirty="0"/>
              </a:p>
              <a:p>
                <a:pPr marL="0" indent="0">
                  <a:buNone/>
                </a:pPr>
                <a:endParaRPr lang="en-US" sz="2400" dirty="0">
                  <a:latin typeface="+mn-lt"/>
                </a:endParaRPr>
              </a:p>
              <a:p>
                <a:pPr marL="0" indent="0">
                  <a:buNone/>
                </a:pPr>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9"/>
                <a:ext cx="11525250" cy="5698998"/>
              </a:xfrm>
              <a:blipFill>
                <a:blip r:embed="rId3"/>
                <a:stretch>
                  <a:fillRect l="-1111" t="-1818"/>
                </a:stretch>
              </a:blipFill>
            </p:spPr>
            <p:txBody>
              <a:bodyPr/>
              <a:lstStyle/>
              <a:p>
                <a:r>
                  <a:rPr lang="en-US">
                    <a:noFill/>
                  </a:rPr>
                  <a:t> </a:t>
                </a:r>
              </a:p>
            </p:txBody>
          </p:sp>
        </mc:Fallback>
      </mc:AlternateContent>
    </p:spTree>
    <p:extLst>
      <p:ext uri="{BB962C8B-B14F-4D97-AF65-F5344CB8AC3E}">
        <p14:creationId xmlns:p14="http://schemas.microsoft.com/office/powerpoint/2010/main" val="400016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ECDF-814A-B2D1-F5F0-82FF12F07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266A1-0CB3-712B-C7AA-92B375DAF3B2}"/>
              </a:ext>
            </a:extLst>
          </p:cNvPr>
          <p:cNvSpPr>
            <a:spLocks noGrp="1"/>
          </p:cNvSpPr>
          <p:nvPr>
            <p:ph type="title"/>
          </p:nvPr>
        </p:nvSpPr>
        <p:spPr>
          <a:xfrm>
            <a:off x="831850" y="1709738"/>
            <a:ext cx="10515600" cy="2104337"/>
          </a:xfrm>
        </p:spPr>
        <p:txBody>
          <a:bodyPr/>
          <a:lstStyle/>
          <a:p>
            <a:pPr algn="ctr"/>
            <a:r>
              <a:rPr lang="en-US" b="1" dirty="0"/>
              <a:t>Scaling Distance and Similarity Metrics</a:t>
            </a:r>
          </a:p>
        </p:txBody>
      </p:sp>
    </p:spTree>
    <p:extLst>
      <p:ext uri="{BB962C8B-B14F-4D97-AF65-F5344CB8AC3E}">
        <p14:creationId xmlns:p14="http://schemas.microsoft.com/office/powerpoint/2010/main" val="4149067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p>
              <a:p>
                <a:endParaRPr lang="en-US" sz="2800" i="1" baseline="-25000" dirty="0">
                  <a:latin typeface="+mn-lt"/>
                </a:endParaRPr>
              </a:p>
              <a:p>
                <a:pPr marL="0" indent="0">
                  <a:buNone/>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D</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3"/>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𝑑</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m:rPr>
                                        <m:brk m:alnAt="7"/>
                                      </m:rP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m:rPr>
                                    <m:brk m:alnAt="7"/>
                                  </m:rPr>
                                  <a:rPr lang="en-US" i="1">
                                    <a:latin typeface="Cambria Math" panose="02040503050406030204" pitchFamily="18" charset="0"/>
                                  </a:rPr>
                                  <m:t>,</m:t>
                                </m:r>
                                <m:r>
                                  <a:rPr lang="en-US" b="0" i="1" smtClean="0">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r>
                              <m:e>
                                <m:r>
                                  <a:rPr lang="en-US" sz="2800" b="0" i="1" smtClean="0">
                                    <a:latin typeface="Cambria Math" panose="02040503050406030204" pitchFamily="18" charset="0"/>
                                  </a:rPr>
                                  <m:t>⋮</m:t>
                                </m:r>
                              </m:e>
                              <m:e>
                                <m:r>
                                  <a:rPr lang="en-US" sz="2800" b="0" i="1" smtClean="0">
                                    <a:latin typeface="Cambria Math" panose="02040503050406030204" pitchFamily="18" charset="0"/>
                                  </a:rPr>
                                  <m:t>⋱</m:t>
                                </m:r>
                              </m:e>
                              <m:e>
                                <m:r>
                                  <a:rPr lang="en-US" sz="2800" b="0" i="1" smtClean="0">
                                    <a:latin typeface="Cambria Math" panose="02040503050406030204" pitchFamily="18" charset="0"/>
                                  </a:rPr>
                                  <m:t>⋮</m:t>
                                </m:r>
                              </m:e>
                            </m:mr>
                            <m:mr>
                              <m:e>
                                <m:r>
                                  <m:rPr>
                                    <m:brk m:alnAt="7"/>
                                  </m:rPr>
                                  <a:rPr lang="en-US" i="1">
                                    <a:latin typeface="Cambria Math" panose="02040503050406030204" pitchFamily="18" charset="0"/>
                                  </a:rPr>
                                  <m:t>𝑑</m:t>
                                </m:r>
                                <m:d>
                                  <m:dPr>
                                    <m:ctrlPr>
                                      <a:rPr lang="en-US" i="1">
                                        <a:latin typeface="Cambria Math" panose="02040503050406030204" pitchFamily="18" charset="0"/>
                                      </a:rPr>
                                    </m:ctrlPr>
                                  </m:dPr>
                                  <m:e>
                                    <m:r>
                                      <a:rPr lang="en-US" b="0" i="1" smtClean="0">
                                        <a:latin typeface="Cambria Math" panose="02040503050406030204" pitchFamily="18" charset="0"/>
                                      </a:rPr>
                                      <m:t>𝑥</m:t>
                                    </m:r>
                                    <m:r>
                                      <m:rPr>
                                        <m:brk m:alnAt="7"/>
                                      </m:rPr>
                                      <a:rPr lang="en-US" b="0" i="1" baseline="-25000" smtClean="0">
                                        <a:latin typeface="Cambria Math" panose="02040503050406030204" pitchFamily="18" charset="0"/>
                                      </a:rPr>
                                      <m:t>𝑛</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m:rPr>
                                    <m:brk m:alnAt="7"/>
                                  </m:rPr>
                                  <a:rPr lang="en-US" b="0" i="1" smtClean="0">
                                    <a:latin typeface="Cambria Math" panose="02040503050406030204" pitchFamily="18" charset="0"/>
                                  </a:rPr>
                                  <m:t>,</m:t>
                                </m:r>
                                <m: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m:rPr>
                                    <m:brk m:alnAt="7"/>
                                  </m:rPr>
                                  <a:rPr lang="en-US" i="1">
                                    <a:latin typeface="Cambria Math" panose="02040503050406030204" pitchFamily="18" charset="0"/>
                                  </a:rPr>
                                  <m:t>)</m:t>
                                </m:r>
                              </m:e>
                              <m:e>
                                <m:r>
                                  <a:rPr lang="en-US" sz="2800" b="0" i="1" smtClean="0">
                                    <a:latin typeface="Cambria Math" panose="02040503050406030204" pitchFamily="18" charset="0"/>
                                  </a:rPr>
                                  <m:t>⋯</m:t>
                                </m:r>
                              </m:e>
                              <m:e>
                                <m:r>
                                  <m:rPr>
                                    <m:brk m:alnAt="7"/>
                                  </m:rPr>
                                  <a:rPr lang="en-US" i="1">
                                    <a:latin typeface="Cambria Math" panose="02040503050406030204" pitchFamily="18" charset="0"/>
                                  </a:rPr>
                                  <m:t>𝑑</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𝑛</m:t>
                                    </m:r>
                                  </m:sub>
                                </m:sSub>
                                <m:r>
                                  <m:rPr>
                                    <m:brk m:alnAt="7"/>
                                  </m:rPr>
                                  <a:rPr lang="en-US" i="1">
                                    <a:latin typeface="Cambria Math" panose="02040503050406030204" pitchFamily="18" charset="0"/>
                                  </a:rPr>
                                  <m:t>)</m:t>
                                </m:r>
                              </m:e>
                            </m:mr>
                          </m:m>
                        </m:e>
                      </m:d>
                    </m:oMath>
                  </m:oMathPara>
                </a14:m>
                <a:endParaRPr lang="en-US" sz="2800" dirty="0">
                  <a:latin typeface="+mn-lt"/>
                </a:endParaRPr>
              </a:p>
              <a:p>
                <a:pPr lvl="1"/>
                <a:endParaRPr lang="en-US" dirty="0"/>
              </a:p>
              <a:p>
                <a:r>
                  <a:rPr lang="en-US" dirty="0">
                    <a:latin typeface="+mn-lt"/>
                  </a:rPr>
                  <a:t>Only need to store upper (or lower) triangular elements of array  </a:t>
                </a:r>
              </a:p>
              <a:p>
                <a:r>
                  <a:rPr lang="en-US" dirty="0">
                    <a:latin typeface="+mn-lt"/>
                  </a:rPr>
                  <a:t>But, a dense </a:t>
                </a:r>
                <a:r>
                  <a:rPr lang="en-US" b="1" dirty="0">
                    <a:latin typeface="+mn-lt"/>
                  </a:rPr>
                  <a:t>computationally intensive </a:t>
                </a:r>
                <a:r>
                  <a:rPr lang="en-US" dirty="0">
                    <a:latin typeface="+mn-lt"/>
                  </a:rPr>
                  <a:t>and </a:t>
                </a:r>
                <a:r>
                  <a:rPr lang="en-US" b="1" dirty="0">
                    <a:latin typeface="+mn-lt"/>
                  </a:rPr>
                  <a:t>memory intensive representation:</a:t>
                </a:r>
                <a:r>
                  <a:rPr lang="en-US" dirty="0">
                    <a:latin typeface="+mn-lt"/>
                  </a:rPr>
                  <a:t> </a:t>
                </a:r>
                <a14:m>
                  <m:oMath xmlns:m="http://schemas.openxmlformats.org/officeDocument/2006/math">
                    <m:r>
                      <a:rPr lang="en-US" b="1" i="1">
                        <a:latin typeface="Cambria Math" panose="02040503050406030204" pitchFamily="18" charset="0"/>
                      </a:rPr>
                      <m:t>𝑶</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e>
                    </m:d>
                  </m:oMath>
                </a14:m>
                <a:endParaRPr lang="en-US"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167946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Autofit/>
          </a:bodyPr>
          <a:lstStyle/>
          <a:p>
            <a:r>
              <a:rPr lang="en-US" sz="3600" dirty="0"/>
              <a:t>Massively scaling distance and similarity measures</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endParaRPr lang="en-US" sz="2800" i="1" baseline="-25000" dirty="0">
                  <a:latin typeface="+mn-lt"/>
                </a:endParaRPr>
              </a:p>
              <a:p>
                <a:r>
                  <a:rPr lang="en-US" dirty="0">
                    <a:latin typeface="+mn-lt"/>
                  </a:rPr>
                  <a:t>a dense </a:t>
                </a:r>
                <a:r>
                  <a:rPr lang="en-US" b="1" dirty="0">
                    <a:latin typeface="+mn-lt"/>
                  </a:rPr>
                  <a:t>computationally intensive </a:t>
                </a:r>
                <a:r>
                  <a:rPr lang="en-US" dirty="0">
                    <a:latin typeface="+mn-lt"/>
                  </a:rPr>
                  <a:t>and </a:t>
                </a:r>
                <a:r>
                  <a:rPr lang="en-US" b="1" dirty="0">
                    <a:latin typeface="+mn-lt"/>
                  </a:rPr>
                  <a:t>memory intensive representation:</a:t>
                </a:r>
                <a:r>
                  <a:rPr lang="en-US" dirty="0">
                    <a:latin typeface="+mn-lt"/>
                  </a:rPr>
                  <a:t> </a:t>
                </a:r>
                <a14:m>
                  <m:oMath xmlns:m="http://schemas.openxmlformats.org/officeDocument/2006/math">
                    <m:r>
                      <a:rPr lang="en-US" b="1" i="1">
                        <a:latin typeface="Cambria Math" panose="02040503050406030204" pitchFamily="18" charset="0"/>
                      </a:rPr>
                      <m:t>𝑶</m:t>
                    </m:r>
                    <m:d>
                      <m:dPr>
                        <m:ctrlPr>
                          <a:rPr lang="en-US" b="1" i="1">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𝒏</m:t>
                            </m:r>
                          </m:e>
                          <m:sup>
                            <m:r>
                              <a:rPr lang="en-US" b="1" i="1" smtClean="0">
                                <a:latin typeface="Cambria Math" panose="02040503050406030204" pitchFamily="18" charset="0"/>
                              </a:rPr>
                              <m:t>𝟐</m:t>
                            </m:r>
                          </m:sup>
                        </m:sSup>
                      </m:e>
                    </m:d>
                    <m:r>
                      <a:rPr lang="en-US" b="1" i="1">
                        <a:latin typeface="Cambria Math" panose="02040503050406030204" pitchFamily="18" charset="0"/>
                      </a:rPr>
                      <m:t> </m:t>
                    </m:r>
                  </m:oMath>
                </a14:m>
                <a:endParaRPr lang="en-US" dirty="0">
                  <a:latin typeface="+mn-lt"/>
                </a:endParaRPr>
              </a:p>
              <a:p>
                <a:r>
                  <a:rPr lang="en-US" dirty="0">
                    <a:latin typeface="+mn-lt"/>
                  </a:rPr>
                  <a:t>How can we </a:t>
                </a:r>
                <a:r>
                  <a:rPr lang="en-US" b="1" dirty="0">
                    <a:latin typeface="+mn-lt"/>
                  </a:rPr>
                  <a:t>massively scale</a:t>
                </a:r>
                <a:r>
                  <a:rPr lang="en-US" dirty="0">
                    <a:latin typeface="+mn-lt"/>
                  </a:rPr>
                  <a:t>?    </a:t>
                </a:r>
              </a:p>
              <a:p>
                <a:r>
                  <a:rPr lang="en-US" b="1" dirty="0">
                    <a:latin typeface="+mn-lt"/>
                  </a:rPr>
                  <a:t>Use an approximate sparse graph representation!</a:t>
                </a:r>
              </a:p>
              <a:p>
                <a:r>
                  <a:rPr lang="en-US" dirty="0">
                    <a:latin typeface="+mn-lt"/>
                  </a:rPr>
                  <a:t>Compute distance or similarity metric along graph edges </a:t>
                </a:r>
              </a:p>
              <a:p>
                <a:pPr lvl="1"/>
                <a:r>
                  <a:rPr lang="en-US" dirty="0">
                    <a:latin typeface="+mn-lt"/>
                  </a:rPr>
                  <a:t>Only consider metric between </a:t>
                </a:r>
                <a:r>
                  <a:rPr lang="en-US" b="1" dirty="0">
                    <a:latin typeface="+mn-lt"/>
                  </a:rPr>
                  <a:t>nearest neighbors (NNs)</a:t>
                </a:r>
              </a:p>
              <a:p>
                <a:pPr lvl="1"/>
                <a:r>
                  <a:rPr lang="en-US" dirty="0">
                    <a:latin typeface="+mn-lt"/>
                  </a:rPr>
                  <a:t>Nearest neighbors are most important </a:t>
                </a:r>
              </a:p>
              <a:p>
                <a:pPr lvl="1"/>
                <a:r>
                  <a:rPr lang="en-US" dirty="0">
                    <a:latin typeface="+mn-lt"/>
                  </a:rPr>
                  <a:t>The nearest neighbor approximation </a:t>
                </a:r>
              </a:p>
              <a:p>
                <a:pPr marL="0" indent="0">
                  <a:buNone/>
                </a:pPr>
                <a:r>
                  <a:rPr lang="en-US" b="1" dirty="0">
                    <a:solidFill>
                      <a:srgbClr val="C00000"/>
                    </a:solidFill>
                    <a:latin typeface="+mn-lt"/>
                  </a:rPr>
                  <a:t>Don’t confuse this idea with clustering models! – No cluster assignment</a:t>
                </a:r>
              </a:p>
              <a:p>
                <a:pPr marL="0" indent="0">
                  <a:buNone/>
                </a:pPr>
                <a:endParaRPr lang="en-US" b="1" dirty="0">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sz="quarter" idx="10"/>
              </p:nvPr>
            </p:nvSpPr>
            <p:spPr>
              <a:xfrm>
                <a:off x="333375" y="896078"/>
                <a:ext cx="11525250" cy="5523771"/>
              </a:xfrm>
              <a:blipFill>
                <a:blip r:embed="rId3"/>
                <a:stretch>
                  <a:fillRect l="-1111" t="-1876" r="-370"/>
                </a:stretch>
              </a:blipFill>
            </p:spPr>
            <p:txBody>
              <a:bodyPr/>
              <a:lstStyle/>
              <a:p>
                <a:r>
                  <a:rPr lang="en-US">
                    <a:noFill/>
                  </a:rPr>
                  <a:t> </a:t>
                </a:r>
              </a:p>
            </p:txBody>
          </p:sp>
        </mc:Fallback>
      </mc:AlternateContent>
    </p:spTree>
    <p:extLst>
      <p:ext uri="{BB962C8B-B14F-4D97-AF65-F5344CB8AC3E}">
        <p14:creationId xmlns:p14="http://schemas.microsoft.com/office/powerpoint/2010/main" val="353821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Autofit/>
          </a:bodyPr>
          <a:lstStyle/>
          <a:p>
            <a:r>
              <a:rPr lang="en-US" sz="3600" dirty="0"/>
              <a:t>Massively scaling distance and similarity measures</a:t>
            </a:r>
          </a:p>
        </p:txBody>
      </p:sp>
      <p:sp>
        <p:nvSpPr>
          <p:cNvPr id="3" name="Content Placeholder 2"/>
          <p:cNvSpPr>
            <a:spLocks noGrp="1"/>
          </p:cNvSpPr>
          <p:nvPr>
            <p:ph sz="quarter" idx="10"/>
          </p:nvPr>
        </p:nvSpPr>
        <p:spPr>
          <a:xfrm>
            <a:off x="333375" y="896078"/>
            <a:ext cx="11525250" cy="5523771"/>
          </a:xfrm>
        </p:spPr>
        <p:txBody>
          <a:bodyPr>
            <a:normAutofit/>
          </a:bodyPr>
          <a:lstStyle/>
          <a:p>
            <a:pPr marL="0" indent="0">
              <a:buNone/>
            </a:pPr>
            <a:r>
              <a:rPr lang="en-US" dirty="0">
                <a:latin typeface="+mn-lt"/>
              </a:rPr>
              <a:t>A dissimilarity matrix contains the differences between each case </a:t>
            </a:r>
            <a:r>
              <a:rPr lang="en-US" i="1" dirty="0">
                <a:latin typeface="+mn-lt"/>
              </a:rPr>
              <a:t>x</a:t>
            </a:r>
            <a:r>
              <a:rPr lang="en-US" i="1" baseline="-25000" dirty="0">
                <a:latin typeface="+mn-lt"/>
              </a:rPr>
              <a:t>i</a:t>
            </a:r>
            <a:r>
              <a:rPr lang="en-US" dirty="0">
                <a:latin typeface="+mn-lt"/>
              </a:rPr>
              <a:t> and every other case </a:t>
            </a:r>
            <a:r>
              <a:rPr lang="en-US" i="1" dirty="0" err="1">
                <a:latin typeface="+mn-lt"/>
              </a:rPr>
              <a:t>x’</a:t>
            </a:r>
            <a:r>
              <a:rPr lang="en-US" i="1" baseline="-25000" dirty="0" err="1">
                <a:latin typeface="+mn-lt"/>
              </a:rPr>
              <a:t>i</a:t>
            </a:r>
            <a:r>
              <a:rPr lang="en-US" dirty="0">
                <a:latin typeface="+mn-lt"/>
              </a:rPr>
              <a:t>,</a:t>
            </a:r>
            <a:r>
              <a:rPr lang="en-US" i="1" dirty="0">
                <a:latin typeface="+mn-lt"/>
              </a:rPr>
              <a:t> d(x</a:t>
            </a:r>
            <a:r>
              <a:rPr lang="en-US" i="1" baseline="-25000" dirty="0">
                <a:latin typeface="+mn-lt"/>
              </a:rPr>
              <a:t>i</a:t>
            </a:r>
            <a:r>
              <a:rPr lang="en-US" i="1" dirty="0">
                <a:latin typeface="+mn-lt"/>
              </a:rPr>
              <a:t>, </a:t>
            </a:r>
            <a:r>
              <a:rPr lang="en-US" i="1" dirty="0" err="1">
                <a:latin typeface="+mn-lt"/>
              </a:rPr>
              <a:t>x’</a:t>
            </a:r>
            <a:r>
              <a:rPr lang="en-US" i="1" baseline="-25000" dirty="0" err="1">
                <a:latin typeface="+mn-lt"/>
              </a:rPr>
              <a:t>i</a:t>
            </a:r>
            <a:r>
              <a:rPr lang="en-US" i="1" dirty="0">
                <a:latin typeface="+mn-lt"/>
              </a:rPr>
              <a:t>)</a:t>
            </a:r>
            <a:endParaRPr lang="en-US" sz="2800" i="1" baseline="-25000" dirty="0">
              <a:latin typeface="+mn-lt"/>
            </a:endParaRPr>
          </a:p>
          <a:p>
            <a:r>
              <a:rPr lang="en-US" b="1" dirty="0">
                <a:latin typeface="+mn-lt"/>
              </a:rPr>
              <a:t>Sparse graph representation</a:t>
            </a:r>
            <a:r>
              <a:rPr lang="en-US" dirty="0">
                <a:latin typeface="+mn-lt"/>
              </a:rPr>
              <a:t> reduces computation and memory use    </a:t>
            </a:r>
          </a:p>
          <a:p>
            <a:r>
              <a:rPr lang="en-US" dirty="0">
                <a:latin typeface="+mn-lt"/>
              </a:rPr>
              <a:t>In many practical situations only need measure for closest neighbors   </a:t>
            </a:r>
          </a:p>
          <a:p>
            <a:pPr lvl="1"/>
            <a:r>
              <a:rPr lang="en-US" dirty="0">
                <a:latin typeface="+mn-lt"/>
              </a:rPr>
              <a:t>Construct graph of </a:t>
            </a:r>
            <a:r>
              <a:rPr lang="en-US" b="1" dirty="0">
                <a:latin typeface="+mn-lt"/>
              </a:rPr>
              <a:t>nearest neighbors     </a:t>
            </a:r>
          </a:p>
          <a:p>
            <a:pPr lvl="1"/>
            <a:r>
              <a:rPr lang="en-US" dirty="0">
                <a:latin typeface="+mn-lt"/>
              </a:rPr>
              <a:t>Neglect metric for less important distant nodes</a:t>
            </a:r>
          </a:p>
          <a:p>
            <a:r>
              <a:rPr lang="en-US" dirty="0">
                <a:latin typeface="+mn-lt"/>
              </a:rPr>
              <a:t>Ways to define nearest neighbor      </a:t>
            </a:r>
          </a:p>
          <a:p>
            <a:pPr lvl="1"/>
            <a:r>
              <a:rPr lang="en-US" dirty="0">
                <a:latin typeface="+mn-lt"/>
              </a:rPr>
              <a:t>Neighbors within radius </a:t>
            </a:r>
            <a:r>
              <a:rPr lang="en-US" b="1" dirty="0">
                <a:latin typeface="+mn-lt"/>
              </a:rPr>
              <a:t>r</a:t>
            </a:r>
          </a:p>
          <a:p>
            <a:pPr lvl="1"/>
            <a:r>
              <a:rPr lang="en-US" dirty="0">
                <a:latin typeface="+mn-lt"/>
              </a:rPr>
              <a:t>Nearest </a:t>
            </a:r>
            <a:r>
              <a:rPr lang="en-US" b="1" dirty="0">
                <a:latin typeface="+mn-lt"/>
              </a:rPr>
              <a:t>k </a:t>
            </a:r>
            <a:r>
              <a:rPr lang="en-US" dirty="0">
                <a:latin typeface="+mn-lt"/>
              </a:rPr>
              <a:t>neighbors     </a:t>
            </a:r>
            <a:endParaRPr lang="en-US" b="1" dirty="0">
              <a:latin typeface="+mn-lt"/>
            </a:endParaRPr>
          </a:p>
          <a:p>
            <a:endParaRPr lang="en-US" dirty="0">
              <a:latin typeface="+mn-lt"/>
            </a:endParaRPr>
          </a:p>
        </p:txBody>
      </p:sp>
    </p:spTree>
    <p:extLst>
      <p:ext uri="{BB962C8B-B14F-4D97-AF65-F5344CB8AC3E}">
        <p14:creationId xmlns:p14="http://schemas.microsoft.com/office/powerpoint/2010/main" val="396936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p:sp>
        <p:nvSpPr>
          <p:cNvPr id="3" name="Content Placeholder 2"/>
          <p:cNvSpPr>
            <a:spLocks noGrp="1"/>
          </p:cNvSpPr>
          <p:nvPr>
            <p:ph sz="quarter" idx="10"/>
          </p:nvPr>
        </p:nvSpPr>
        <p:spPr>
          <a:xfrm>
            <a:off x="333375" y="896079"/>
            <a:ext cx="11525250" cy="530954"/>
          </a:xfrm>
        </p:spPr>
        <p:txBody>
          <a:bodyPr>
            <a:normAutofit/>
          </a:bodyPr>
          <a:lstStyle/>
          <a:p>
            <a:pPr marL="0" indent="0">
              <a:buNone/>
            </a:pPr>
            <a:r>
              <a:rPr lang="en-US" b="1" dirty="0">
                <a:latin typeface="+mn-lt"/>
              </a:rPr>
              <a:t>Sparse graph representation</a:t>
            </a:r>
            <a:r>
              <a:rPr lang="en-US" dirty="0">
                <a:latin typeface="+mn-lt"/>
              </a:rPr>
              <a:t> reduces computation and memory use    </a:t>
            </a:r>
          </a:p>
        </p:txBody>
      </p:sp>
      <p:pic>
        <p:nvPicPr>
          <p:cNvPr id="5" name="Picture 4">
            <a:extLst>
              <a:ext uri="{FF2B5EF4-FFF2-40B4-BE49-F238E27FC236}">
                <a16:creationId xmlns:a16="http://schemas.microsoft.com/office/drawing/2014/main" id="{A5548DED-98F8-A31E-5342-F683E842C912}"/>
              </a:ext>
            </a:extLst>
          </p:cNvPr>
          <p:cNvPicPr>
            <a:picLocks noChangeAspect="1"/>
          </p:cNvPicPr>
          <p:nvPr/>
        </p:nvPicPr>
        <p:blipFill>
          <a:blip r:embed="rId3"/>
          <a:stretch>
            <a:fillRect/>
          </a:stretch>
        </p:blipFill>
        <p:spPr>
          <a:xfrm>
            <a:off x="6637362" y="1398559"/>
            <a:ext cx="5263486" cy="537993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F104C8-939D-17AC-9595-D23F88C334CA}"/>
                  </a:ext>
                </a:extLst>
              </p:cNvPr>
              <p:cNvSpPr txBox="1"/>
              <p:nvPr/>
            </p:nvSpPr>
            <p:spPr>
              <a:xfrm>
                <a:off x="396497" y="1709893"/>
                <a:ext cx="6058732"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Nearest neighbors within a fixed radius   </a:t>
                </a:r>
              </a:p>
              <a:p>
                <a:pPr marL="285750" indent="-285750">
                  <a:buFont typeface="Arial" panose="020B0604020202020204" pitchFamily="34" charset="0"/>
                  <a:buChar char="•"/>
                </a:pPr>
                <a:r>
                  <a:rPr lang="en-US" sz="2800" dirty="0"/>
                  <a:t>Need to select a radius   </a:t>
                </a:r>
              </a:p>
              <a:p>
                <a:pPr marL="285750" indent="-285750">
                  <a:buFont typeface="Arial" panose="020B0604020202020204" pitchFamily="34" charset="0"/>
                  <a:buChar char="•"/>
                </a:pPr>
                <a:r>
                  <a:rPr lang="en-US" sz="2800" dirty="0"/>
                  <a:t>Connectivity increases with radius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𝑠𝑝𝑎𝑠𝑒𝑟</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𝑙𝑒𝑠𝑠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𝑐𝑜𝑚𝑝𝑢𝑡𝑎𝑡𝑖𝑜𝑛</m:t>
                    </m:r>
                    <m:r>
                      <a:rPr lang="en-US" sz="2800" b="0" i="1" smtClean="0">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𝑙𝑒𝑠𝑠</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𝑚𝑒𝑚𝑜𝑟𝑦</m:t>
                    </m:r>
                    <m:r>
                      <a:rPr lang="en-US" sz="2800" i="1">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𝑚𝑜𝑟𝑒</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𝑎𝑝𝑝𝑟𝑜𝑥𝑖𝑚𝑎𝑡𝑒</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𝑑𝑖𝑠𝑐𝑜𝑛𝑛𝑒𝑐𝑡𝑒𝑑</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endParaRPr lang="en-US" sz="2800" dirty="0"/>
              </a:p>
            </p:txBody>
          </p:sp>
        </mc:Choice>
        <mc:Fallback xmlns="">
          <p:sp>
            <p:nvSpPr>
              <p:cNvPr id="6" name="TextBox 5">
                <a:extLst>
                  <a:ext uri="{FF2B5EF4-FFF2-40B4-BE49-F238E27FC236}">
                    <a16:creationId xmlns:a16="http://schemas.microsoft.com/office/drawing/2014/main" id="{82F104C8-939D-17AC-9595-D23F88C334CA}"/>
                  </a:ext>
                </a:extLst>
              </p:cNvPr>
              <p:cNvSpPr txBox="1">
                <a:spLocks noRot="1" noChangeAspect="1" noMove="1" noResize="1" noEditPoints="1" noAdjustHandles="1" noChangeArrowheads="1" noChangeShapeType="1" noTextEdit="1"/>
              </p:cNvSpPr>
              <p:nvPr/>
            </p:nvSpPr>
            <p:spPr>
              <a:xfrm>
                <a:off x="396497" y="1709893"/>
                <a:ext cx="6058732" cy="3970318"/>
              </a:xfrm>
              <a:prstGeom prst="rect">
                <a:avLst/>
              </a:prstGeom>
              <a:blipFill>
                <a:blip r:embed="rId4"/>
                <a:stretch>
                  <a:fillRect l="-1811" t="-1380" b="-3374"/>
                </a:stretch>
              </a:blipFill>
            </p:spPr>
            <p:txBody>
              <a:bodyPr/>
              <a:lstStyle/>
              <a:p>
                <a:r>
                  <a:rPr lang="en-US">
                    <a:noFill/>
                  </a:rPr>
                  <a:t> </a:t>
                </a:r>
              </a:p>
            </p:txBody>
          </p:sp>
        </mc:Fallback>
      </mc:AlternateContent>
    </p:spTree>
    <p:extLst>
      <p:ext uri="{BB962C8B-B14F-4D97-AF65-F5344CB8AC3E}">
        <p14:creationId xmlns:p14="http://schemas.microsoft.com/office/powerpoint/2010/main" val="364490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Scaling distance and similarity measures</a:t>
            </a:r>
          </a:p>
        </p:txBody>
      </p:sp>
      <p:sp>
        <p:nvSpPr>
          <p:cNvPr id="3" name="Content Placeholder 2"/>
          <p:cNvSpPr>
            <a:spLocks noGrp="1"/>
          </p:cNvSpPr>
          <p:nvPr>
            <p:ph sz="quarter" idx="10"/>
          </p:nvPr>
        </p:nvSpPr>
        <p:spPr>
          <a:xfrm>
            <a:off x="333375" y="896079"/>
            <a:ext cx="11525250" cy="530954"/>
          </a:xfrm>
        </p:spPr>
        <p:txBody>
          <a:bodyPr>
            <a:normAutofit/>
          </a:bodyPr>
          <a:lstStyle/>
          <a:p>
            <a:pPr marL="0" indent="0">
              <a:buNone/>
            </a:pPr>
            <a:r>
              <a:rPr lang="en-US" b="1" dirty="0">
                <a:latin typeface="+mn-lt"/>
              </a:rPr>
              <a:t>Sparse graph representation</a:t>
            </a:r>
            <a:r>
              <a:rPr lang="en-US" dirty="0">
                <a:latin typeface="+mn-lt"/>
              </a:rPr>
              <a:t> reduces computation and memory use    </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F104C8-939D-17AC-9595-D23F88C334CA}"/>
                  </a:ext>
                </a:extLst>
              </p:cNvPr>
              <p:cNvSpPr txBox="1"/>
              <p:nvPr/>
            </p:nvSpPr>
            <p:spPr>
              <a:xfrm>
                <a:off x="396498" y="1709893"/>
                <a:ext cx="5851902" cy="3970318"/>
              </a:xfrm>
              <a:prstGeom prst="rect">
                <a:avLst/>
              </a:prstGeom>
              <a:noFill/>
            </p:spPr>
            <p:txBody>
              <a:bodyPr wrap="square" rtlCol="0">
                <a:spAutoFit/>
              </a:bodyPr>
              <a:lstStyle/>
              <a:p>
                <a:pPr marL="285750" indent="-285750">
                  <a:buFont typeface="Arial" panose="020B0604020202020204" pitchFamily="34" charset="0"/>
                  <a:buChar char="•"/>
                </a:pPr>
                <a:r>
                  <a:rPr lang="en-US" sz="2800" dirty="0"/>
                  <a:t>Nearest neighbors within a fixed number of neighbors, </a:t>
                </a:r>
                <a:r>
                  <a:rPr lang="en-US" sz="2800" i="1" dirty="0"/>
                  <a:t>k</a:t>
                </a:r>
                <a:r>
                  <a:rPr lang="en-US" sz="2800" dirty="0"/>
                  <a:t> </a:t>
                </a:r>
              </a:p>
              <a:p>
                <a:pPr marL="285750" indent="-285750">
                  <a:buFont typeface="Arial" panose="020B0604020202020204" pitchFamily="34" charset="0"/>
                  <a:buChar char="•"/>
                </a:pPr>
                <a:r>
                  <a:rPr lang="en-US" sz="2800" dirty="0"/>
                  <a:t>Need to select </a:t>
                </a:r>
                <a:r>
                  <a:rPr lang="en-US" sz="2800" i="1" dirty="0"/>
                  <a:t>k</a:t>
                </a:r>
              </a:p>
              <a:p>
                <a:pPr marL="285750" indent="-285750">
                  <a:buFont typeface="Arial" panose="020B0604020202020204" pitchFamily="34" charset="0"/>
                  <a:buChar char="•"/>
                </a:pPr>
                <a:r>
                  <a:rPr lang="en-US" sz="2800" dirty="0"/>
                  <a:t>Connectivity increases with </a:t>
                </a:r>
                <a:r>
                  <a:rPr lang="en-US" sz="2800" i="1" dirty="0"/>
                  <a:t>k</a:t>
                </a:r>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𝑠𝑝𝑎𝑠𝑒𝑟</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r>
                  <a:rPr lang="en-US" sz="2800" dirty="0"/>
                  <a:t> </a:t>
                </a:r>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𝑙𝑒𝑠𝑠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𝑐𝑜𝑚𝑝𝑢𝑡𝑎𝑡𝑖𝑜𝑛</m:t>
                    </m:r>
                    <m:r>
                      <a:rPr lang="en-US" sz="2800" b="0" i="1" smtClean="0">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b="0" i="1" smtClean="0">
                        <a:latin typeface="Cambria Math" panose="02040503050406030204" pitchFamily="18" charset="0"/>
                      </a:rPr>
                      <m:t>𝑘</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𝑙𝑒𝑠𝑠</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𝑚𝑒𝑚𝑜𝑟𝑦</m:t>
                    </m:r>
                    <m:r>
                      <a:rPr lang="en-US" sz="2800" i="1">
                        <a:latin typeface="Cambria Math" panose="02040503050406030204" pitchFamily="18" charset="0"/>
                        <a:ea typeface="Cambria Math" panose="02040503050406030204" pitchFamily="18" charset="0"/>
                      </a:rPr>
                      <m:t> </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𝑟</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𝑚𝑜𝑟𝑒</m:t>
                    </m:r>
                    <m:r>
                      <a:rPr lang="en-US" sz="2800" i="1">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𝑎𝑝𝑝𝑟𝑜𝑥𝑖𝑚𝑎𝑡𝑒</m:t>
                    </m:r>
                  </m:oMath>
                </a14:m>
                <a:endParaRPr lang="en-US" sz="2800" dirty="0"/>
              </a:p>
              <a:p>
                <a:pPr marL="742950" lvl="1" indent="-285750">
                  <a:buFont typeface="Arial" panose="020B0604020202020204" pitchFamily="34" charset="0"/>
                  <a:buChar char="•"/>
                </a:pPr>
                <a:r>
                  <a:rPr lang="en-US" sz="2800" dirty="0"/>
                  <a:t>Lower </a:t>
                </a:r>
                <a14:m>
                  <m:oMath xmlns:m="http://schemas.openxmlformats.org/officeDocument/2006/math">
                    <m:r>
                      <a:rPr lang="en-US" sz="2800" i="1">
                        <a:latin typeface="Cambria Math" panose="02040503050406030204" pitchFamily="18" charset="0"/>
                      </a:rPr>
                      <m:t>𝑘</m:t>
                    </m:r>
                    <m:r>
                      <a:rPr lang="en-US" sz="2800" i="1">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𝑑𝑖𝑠𝑐𝑜𝑛𝑛𝑒𝑐𝑡𝑠</m:t>
                    </m:r>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𝑔𝑟𝑎𝑝h</m:t>
                    </m:r>
                  </m:oMath>
                </a14:m>
                <a:endParaRPr lang="en-US" sz="2800" dirty="0"/>
              </a:p>
            </p:txBody>
          </p:sp>
        </mc:Choice>
        <mc:Fallback xmlns="">
          <p:sp>
            <p:nvSpPr>
              <p:cNvPr id="6" name="TextBox 5">
                <a:extLst>
                  <a:ext uri="{FF2B5EF4-FFF2-40B4-BE49-F238E27FC236}">
                    <a16:creationId xmlns:a16="http://schemas.microsoft.com/office/drawing/2014/main" id="{82F104C8-939D-17AC-9595-D23F88C334CA}"/>
                  </a:ext>
                </a:extLst>
              </p:cNvPr>
              <p:cNvSpPr txBox="1">
                <a:spLocks noRot="1" noChangeAspect="1" noMove="1" noResize="1" noEditPoints="1" noAdjustHandles="1" noChangeArrowheads="1" noChangeShapeType="1" noTextEdit="1"/>
              </p:cNvSpPr>
              <p:nvPr/>
            </p:nvSpPr>
            <p:spPr>
              <a:xfrm>
                <a:off x="396498" y="1709893"/>
                <a:ext cx="5851902" cy="3970318"/>
              </a:xfrm>
              <a:prstGeom prst="rect">
                <a:avLst/>
              </a:prstGeom>
              <a:blipFill>
                <a:blip r:embed="rId3"/>
                <a:stretch>
                  <a:fillRect l="-1875" t="-1380" b="-3374"/>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297319D1-4DCF-AFF0-425A-78BBDE86D563}"/>
              </a:ext>
            </a:extLst>
          </p:cNvPr>
          <p:cNvPicPr>
            <a:picLocks noChangeAspect="1"/>
          </p:cNvPicPr>
          <p:nvPr/>
        </p:nvPicPr>
        <p:blipFill>
          <a:blip r:embed="rId4"/>
          <a:stretch>
            <a:fillRect/>
          </a:stretch>
        </p:blipFill>
        <p:spPr>
          <a:xfrm>
            <a:off x="6405349" y="1319284"/>
            <a:ext cx="5225962" cy="5477301"/>
          </a:xfrm>
          <a:prstGeom prst="rect">
            <a:avLst/>
          </a:prstGeom>
        </p:spPr>
      </p:pic>
    </p:spTree>
    <p:extLst>
      <p:ext uri="{BB962C8B-B14F-4D97-AF65-F5344CB8AC3E}">
        <p14:creationId xmlns:p14="http://schemas.microsoft.com/office/powerpoint/2010/main" val="39925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1C15D-FF73-4393-A9E9-9025B85C8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FCEA4-DC27-7894-D38A-1403A36F4BEA}"/>
              </a:ext>
            </a:extLst>
          </p:cNvPr>
          <p:cNvSpPr>
            <a:spLocks noGrp="1"/>
          </p:cNvSpPr>
          <p:nvPr>
            <p:ph type="title"/>
          </p:nvPr>
        </p:nvSpPr>
        <p:spPr>
          <a:xfrm>
            <a:off x="831850" y="1709738"/>
            <a:ext cx="10515600" cy="2104337"/>
          </a:xfrm>
        </p:spPr>
        <p:txBody>
          <a:bodyPr/>
          <a:lstStyle/>
          <a:p>
            <a:pPr algn="ctr"/>
            <a:r>
              <a:rPr lang="en-US" b="1" dirty="0"/>
              <a:t>Summary</a:t>
            </a:r>
          </a:p>
        </p:txBody>
      </p:sp>
    </p:spTree>
    <p:extLst>
      <p:ext uri="{BB962C8B-B14F-4D97-AF65-F5344CB8AC3E}">
        <p14:creationId xmlns:p14="http://schemas.microsoft.com/office/powerpoint/2010/main" val="6927848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221992"/>
            <a:ext cx="10515600" cy="530954"/>
          </a:xfrm>
        </p:spPr>
        <p:txBody>
          <a:bodyPr>
            <a:normAutofit fontScale="90000"/>
          </a:bodyPr>
          <a:lstStyle/>
          <a:p>
            <a:r>
              <a:rPr lang="en-US" dirty="0"/>
              <a:t>Summary</a:t>
            </a:r>
          </a:p>
        </p:txBody>
      </p:sp>
      <p:sp>
        <p:nvSpPr>
          <p:cNvPr id="3" name="Content Placeholder 2"/>
          <p:cNvSpPr>
            <a:spLocks noGrp="1"/>
          </p:cNvSpPr>
          <p:nvPr>
            <p:ph sz="quarter" idx="10"/>
          </p:nvPr>
        </p:nvSpPr>
        <p:spPr>
          <a:xfrm>
            <a:off x="333375" y="896079"/>
            <a:ext cx="11525250" cy="5290388"/>
          </a:xfrm>
        </p:spPr>
        <p:txBody>
          <a:bodyPr>
            <a:normAutofit/>
          </a:bodyPr>
          <a:lstStyle/>
          <a:p>
            <a:pPr marL="0" indent="0">
              <a:buNone/>
            </a:pPr>
            <a:r>
              <a:rPr lang="en-US" dirty="0">
                <a:latin typeface="+mn-lt"/>
              </a:rPr>
              <a:t>Key points for this lesson</a:t>
            </a:r>
          </a:p>
          <a:p>
            <a:r>
              <a:rPr lang="en-US" b="1" dirty="0">
                <a:latin typeface="+mn-lt"/>
              </a:rPr>
              <a:t>Distance metrics </a:t>
            </a:r>
            <a:r>
              <a:rPr lang="en-US" dirty="0">
                <a:latin typeface="+mn-lt"/>
              </a:rPr>
              <a:t>and </a:t>
            </a:r>
            <a:r>
              <a:rPr lang="en-US" b="1" dirty="0">
                <a:latin typeface="+mn-lt"/>
              </a:rPr>
              <a:t>similarity metrics</a:t>
            </a:r>
            <a:r>
              <a:rPr lang="en-US" dirty="0">
                <a:latin typeface="+mn-lt"/>
              </a:rPr>
              <a:t> are foundational for unsupervised learning</a:t>
            </a:r>
          </a:p>
          <a:p>
            <a:r>
              <a:rPr lang="en-US" dirty="0">
                <a:latin typeface="+mn-lt"/>
              </a:rPr>
              <a:t>Distance and similarity metrics map 2 multivariate (vector) values to a scalar  </a:t>
            </a:r>
          </a:p>
          <a:p>
            <a:r>
              <a:rPr lang="en-US" dirty="0">
                <a:latin typeface="+mn-lt"/>
              </a:rPr>
              <a:t>Distance metric must conform to the </a:t>
            </a:r>
            <a:r>
              <a:rPr lang="en-US" b="1" dirty="0">
                <a:latin typeface="+mn-lt"/>
              </a:rPr>
              <a:t>4 axioms</a:t>
            </a:r>
            <a:r>
              <a:rPr lang="en-US" dirty="0">
                <a:latin typeface="+mn-lt"/>
              </a:rPr>
              <a:t>!  </a:t>
            </a:r>
          </a:p>
          <a:p>
            <a:r>
              <a:rPr lang="en-US" dirty="0">
                <a:latin typeface="+mn-lt"/>
              </a:rPr>
              <a:t>Different distance and similarity metrics find different relationships in data</a:t>
            </a:r>
          </a:p>
          <a:p>
            <a:pPr lvl="1"/>
            <a:r>
              <a:rPr lang="en-US" dirty="0">
                <a:latin typeface="+mn-lt"/>
              </a:rPr>
              <a:t>There is no one best metric!</a:t>
            </a:r>
          </a:p>
          <a:p>
            <a:pPr lvl="1"/>
            <a:r>
              <a:rPr lang="en-US" dirty="0">
                <a:latin typeface="+mn-lt"/>
              </a:rPr>
              <a:t>In practice, try several </a:t>
            </a:r>
          </a:p>
          <a:p>
            <a:r>
              <a:rPr lang="en-US" dirty="0">
                <a:latin typeface="+mn-lt"/>
              </a:rPr>
              <a:t>Can transform from similarity to distance </a:t>
            </a:r>
          </a:p>
          <a:p>
            <a:r>
              <a:rPr lang="en-US" sz="2800" dirty="0">
                <a:latin typeface="+mn-lt"/>
              </a:rPr>
              <a:t>Use </a:t>
            </a:r>
            <a:r>
              <a:rPr lang="en-US" dirty="0">
                <a:latin typeface="+mn-lt"/>
              </a:rPr>
              <a:t>sparse graph representation to massively improve scalability</a:t>
            </a:r>
            <a:endParaRPr lang="en-US" sz="2800" dirty="0">
              <a:latin typeface="+mn-lt"/>
            </a:endParaRPr>
          </a:p>
          <a:p>
            <a:pPr lvl="1"/>
            <a:endParaRPr lang="en-US" dirty="0"/>
          </a:p>
        </p:txBody>
      </p:sp>
    </p:spTree>
    <p:extLst>
      <p:ext uri="{BB962C8B-B14F-4D97-AF65-F5344CB8AC3E}">
        <p14:creationId xmlns:p14="http://schemas.microsoft.com/office/powerpoint/2010/main" val="1814252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12436</TotalTime>
  <Words>3206</Words>
  <Application>Microsoft Office PowerPoint</Application>
  <PresentationFormat>Widescreen</PresentationFormat>
  <Paragraphs>548</Paragraphs>
  <Slides>48</Slides>
  <Notes>40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Calibri Light</vt:lpstr>
      <vt:lpstr>Cambria Math</vt:lpstr>
      <vt:lpstr>Segoe UI</vt:lpstr>
      <vt:lpstr>Segoe UI Light</vt:lpstr>
      <vt:lpstr>Symbol</vt:lpstr>
      <vt:lpstr>Office Theme</vt:lpstr>
      <vt:lpstr>CSCI E-96 Data Mining, Discovery and Exploration Distance and Similarity Measures</vt:lpstr>
      <vt:lpstr>Main topics in this course </vt:lpstr>
      <vt:lpstr>Measuring similarity and dissimilarity</vt:lpstr>
      <vt:lpstr>Measuring similarity and dissimilarity</vt:lpstr>
      <vt:lpstr>Properties of Distance Metrics</vt:lpstr>
      <vt:lpstr>Measuring distance or dissimilarity</vt:lpstr>
      <vt:lpstr>Measuring distance or dissimilarity</vt:lpstr>
      <vt:lpstr>Measuring distance or dissimilarity</vt:lpstr>
      <vt:lpstr>Measuring distance or dissimilarity</vt:lpstr>
      <vt:lpstr>Measuring distance or dissimilarity</vt:lpstr>
      <vt:lpstr>Basic Distance Metrics</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Distance Metrics with Mixed Variable Types</vt:lpstr>
      <vt:lpstr>Measuring distance or dissimilarity</vt:lpstr>
      <vt:lpstr>Measuring distance or dissimilarity</vt:lpstr>
      <vt:lpstr>Measuring distance or dissimilarity</vt:lpstr>
      <vt:lpstr>Measuring distance or dissimilarity</vt:lpstr>
      <vt:lpstr>Measuring distance or dissimilarity</vt:lpstr>
      <vt:lpstr>Measuring distance or dissimilarity</vt:lpstr>
      <vt:lpstr>Similarity Metrics</vt:lpstr>
      <vt:lpstr>Measuring distance and similarity</vt:lpstr>
      <vt:lpstr>Measuring Similarity</vt:lpstr>
      <vt:lpstr>Measuring Similarity</vt:lpstr>
      <vt:lpstr>Measuring Similarity</vt:lpstr>
      <vt:lpstr>Measuring Similarity</vt:lpstr>
      <vt:lpstr>Measuring Similarity</vt:lpstr>
      <vt:lpstr>Relationship Between Similarity and Distance</vt:lpstr>
      <vt:lpstr>Relationship Between Distance and Similarity</vt:lpstr>
      <vt:lpstr>Scaling Distance and Similarity Metrics</vt:lpstr>
      <vt:lpstr>Scaling distance and similarity measures</vt:lpstr>
      <vt:lpstr>Massively scaling distance and similarity measures</vt:lpstr>
      <vt:lpstr>Massively scaling distance and similarity measures</vt:lpstr>
      <vt:lpstr>Scaling distance and similarity measures</vt:lpstr>
      <vt:lpstr>Scaling distance and similarity measures</vt:lpstr>
      <vt:lpstr>Summary</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E-96 Data Mining, Discovery and Exploration Similarity Measres</dc:title>
  <dc:creator>Stephe Elston</dc:creator>
  <cp:lastModifiedBy>Stephen Elston</cp:lastModifiedBy>
  <cp:revision>286</cp:revision>
  <dcterms:created xsi:type="dcterms:W3CDTF">2021-06-01T18:04:30Z</dcterms:created>
  <dcterms:modified xsi:type="dcterms:W3CDTF">2026-06-21T16:08:28Z</dcterms:modified>
</cp:coreProperties>
</file>