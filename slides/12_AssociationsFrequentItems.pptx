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75" r:id="rId2"/>
    <p:sldId id="819" r:id="rId3"/>
    <p:sldId id="342" r:id="rId4"/>
    <p:sldId id="343" r:id="rId5"/>
    <p:sldId id="400" r:id="rId6"/>
    <p:sldId id="380" r:id="rId7"/>
    <p:sldId id="344" r:id="rId8"/>
    <p:sldId id="416" r:id="rId9"/>
    <p:sldId id="346" r:id="rId10"/>
    <p:sldId id="350" r:id="rId11"/>
    <p:sldId id="351" r:id="rId12"/>
    <p:sldId id="410" r:id="rId13"/>
    <p:sldId id="353" r:id="rId14"/>
    <p:sldId id="352" r:id="rId15"/>
    <p:sldId id="363" r:id="rId16"/>
    <p:sldId id="366" r:id="rId17"/>
    <p:sldId id="367" r:id="rId18"/>
    <p:sldId id="368" r:id="rId19"/>
    <p:sldId id="402" r:id="rId20"/>
    <p:sldId id="354" r:id="rId21"/>
    <p:sldId id="411" r:id="rId22"/>
    <p:sldId id="345" r:id="rId23"/>
    <p:sldId id="414" r:id="rId24"/>
    <p:sldId id="370" r:id="rId25"/>
    <p:sldId id="347" r:id="rId26"/>
    <p:sldId id="371" r:id="rId27"/>
    <p:sldId id="348" r:id="rId28"/>
    <p:sldId id="372" r:id="rId29"/>
    <p:sldId id="349" r:id="rId30"/>
    <p:sldId id="373" r:id="rId31"/>
    <p:sldId id="374" r:id="rId32"/>
    <p:sldId id="409" r:id="rId33"/>
    <p:sldId id="412" r:id="rId34"/>
    <p:sldId id="381" r:id="rId35"/>
    <p:sldId id="403" r:id="rId36"/>
    <p:sldId id="405" r:id="rId37"/>
    <p:sldId id="406" r:id="rId38"/>
    <p:sldId id="407" r:id="rId39"/>
    <p:sldId id="355" r:id="rId40"/>
    <p:sldId id="413" r:id="rId41"/>
    <p:sldId id="408" r:id="rId42"/>
    <p:sldId id="356" r:id="rId43"/>
    <p:sldId id="383" r:id="rId44"/>
    <p:sldId id="386" r:id="rId45"/>
    <p:sldId id="387" r:id="rId46"/>
    <p:sldId id="388" r:id="rId47"/>
    <p:sldId id="390" r:id="rId48"/>
    <p:sldId id="391" r:id="rId49"/>
    <p:sldId id="392" r:id="rId50"/>
    <p:sldId id="393" r:id="rId51"/>
    <p:sldId id="395" r:id="rId52"/>
    <p:sldId id="397" r:id="rId53"/>
    <p:sldId id="398" r:id="rId54"/>
    <p:sldId id="379" r:id="rId55"/>
    <p:sldId id="378" r:id="rId56"/>
    <p:sldId id="399" r:id="rId57"/>
    <p:sldId id="401" r:id="rId58"/>
    <p:sldId id="415" r:id="rId59"/>
    <p:sldId id="723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31" autoAdjust="0"/>
    <p:restoredTop sz="94660"/>
  </p:normalViewPr>
  <p:slideViewPr>
    <p:cSldViewPr snapToGrid="0">
      <p:cViewPr varScale="1">
        <p:scale>
          <a:sx n="77" d="100"/>
          <a:sy n="77" d="100"/>
        </p:scale>
        <p:origin x="190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7D09A-089B-49AD-9380-9EDF59B0FA3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07A2E-B268-4E9D-8DE0-397499F5C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90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8804-A071-4B92-B9AF-68425EDD7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55CFA-9F4D-4829-BE6A-3070A5801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527CF-2C12-402C-AD56-D9DEA7BDC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DF055-3FC3-4176-9A5B-321D0B4C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37DE2-8AC7-47FA-B1CE-B05032BC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94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64FE-8D94-451A-B9B1-2B3FC74A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FF242-1891-4C9F-B7CE-92975FAD2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D6CB4-303C-46C9-B655-BB2D0C60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68801-37C5-4EF3-9D1F-7DF93D47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BC0C7-625C-4F1A-BC7F-916EE824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7B16-8045-4095-8759-74F7D5A2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E91B0-988D-4C53-B62B-3F5F7E6EB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C432A-4106-4ACA-BCA9-52BA2570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563FB-6E91-45AA-AE40-4B2F1671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E3080-B9FA-4646-A663-A4EB811B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4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6E18-A428-4965-A6F9-1AF1823C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806F-67CA-4311-8CB3-FCA255407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33BB0-DDC5-450A-A47C-E9DE166AA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03003-3ADF-413B-BBDC-52B36173B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5880C-1EF7-4DD6-B019-B800FC9A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E7B67-C300-4A62-B7D5-8D154DA4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030E-1B94-4EC6-B993-A4ECE79A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35279-9C17-4A5A-A2FE-A7B589285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2DCAC-1049-4688-8ADC-A271931C0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FEFDB2-0EF3-49F7-94E8-A56EDCB2E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ABB9E-145F-4502-899D-F31A6A50D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1219B-C450-402A-A88A-0F773AF1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157EF-AC9A-4342-BDEF-5AA2E13F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E6CD9-C2CA-44F0-A634-1FED9858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0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F051-BABB-4920-B92E-323A22B1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5C63E-C311-430B-9E2E-A802B2A3A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EED7D-A47E-45C2-9C06-3AE5E75F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885F1-FDB9-40F5-A2DB-BA933D90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8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99A557-C321-417E-A0CA-076652B9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86801-680C-4BCB-A9BA-B0E27D26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EBD29-26F6-404C-9BE4-E6F6B29C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67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398F-318B-4E07-8BDA-E601347E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DEEED-6A36-47DE-96F8-B47491A31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9EE6E-839D-4213-A3CF-EAC924A61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F9BE0-169F-4D0B-9E7F-469D236F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DC1E2-823B-441E-8CA6-7EB73C2B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75350-4423-4556-AF38-780ABC9D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5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F18A-F093-4A35-A1EF-BBB839E5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220ECE-C950-43AA-8908-01545C17A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46F7A-CD9E-405F-AF06-9BD9F0E74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0E242-540E-42A8-A1B5-A5F9FF26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8117E-B658-4CA9-AC8C-E8584629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EBBFD-2C00-44D5-96D8-E5587C70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6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F65D-3EE5-44AC-957C-DB198D65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B429F-5A46-4CFD-A47A-3CE65CAF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800A6-AED8-468B-AF32-E4315378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0147-4FCA-488E-AC17-A32F1CEA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46397-E941-4EBF-BFF9-20FF3DDE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4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5C7EA-397F-41CD-BF7A-DAB0760ED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08832-A967-4BBC-B370-F9B8876E6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DF700-3F70-488B-8A52-6A2F48A9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EBA5F-1D49-4923-852C-97DF2914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94C16-D0E5-4423-8BB9-F5F7F686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6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E758AD-FB2B-4FD9-9028-DE0ADFE2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BF206-F2A4-48F4-BD38-F7558694B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2B2E0-C620-48A1-AC6B-EEC635416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7C53C-E5B1-464F-8287-06D868EDC1E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F4425-4E37-4B18-937D-8599C8507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BD858-062B-4A7E-89EC-D889597B8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7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ldb.org/conf/1994/P487.PD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citeseerx.ist.psu.edu/viewdoc/download?doi=10.1.1.456.6365&amp;rep=rep1&amp;type=pdf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article/10.1023/B:DAMI.0000005258.31418.83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pami-1.readthedocs.io/en/latest/index.html" TargetMode="External"/><Relationship Id="rId2" Type="http://schemas.openxmlformats.org/officeDocument/2006/relationships/hyperlink" Target="http://rasbt.github.io/mlxtend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park.apache.org/docs/latest/ml-frequent-pattern-mining.html" TargetMode="External"/><Relationship Id="rId4" Type="http://schemas.openxmlformats.org/officeDocument/2006/relationships/hyperlink" Target="https://github.com/UdayLab/PAMI?tab=readme-ov-file#0-association-rule-mining" TargetMode="Externa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359" y="1146230"/>
            <a:ext cx="11693950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Association Rules and 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Frequent Item 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5579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417" y="4945785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2021, 2022, 2023, 2024, 2025,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Association Rules and Frequent Item 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Association rules are used to find sets of items that occur frequently  </a:t>
            </a:r>
          </a:p>
          <a:p>
            <a:r>
              <a:rPr lang="en-US" dirty="0"/>
              <a:t>Originally, association rules applied to market basket analysis </a:t>
            </a:r>
          </a:p>
          <a:p>
            <a:pPr lvl="1"/>
            <a:r>
              <a:rPr lang="en-US" dirty="0"/>
              <a:t>Retailers search database of transaction to find items commonly purchased together </a:t>
            </a:r>
          </a:p>
          <a:p>
            <a:r>
              <a:rPr lang="en-US" dirty="0"/>
              <a:t>Many applications of association rules</a:t>
            </a:r>
          </a:p>
          <a:p>
            <a:pPr lvl="1"/>
            <a:r>
              <a:rPr lang="en-US" dirty="0"/>
              <a:t>Identify sets of items customers are likely to buy in the same transaction </a:t>
            </a:r>
          </a:p>
          <a:p>
            <a:pPr lvl="1"/>
            <a:r>
              <a:rPr lang="en-US" dirty="0"/>
              <a:t>Find unusual commonality in text documents; e.g. plagiarism </a:t>
            </a:r>
          </a:p>
          <a:p>
            <a:pPr lvl="1"/>
            <a:r>
              <a:rPr lang="en-US" dirty="0"/>
              <a:t>Match similar names or entities    </a:t>
            </a:r>
          </a:p>
          <a:p>
            <a:pPr lvl="1"/>
            <a:r>
              <a:rPr lang="en-US" dirty="0"/>
              <a:t>Identify symptoms from drug interactions</a:t>
            </a:r>
          </a:p>
          <a:p>
            <a:pPr lvl="1"/>
            <a:r>
              <a:rPr lang="en-US" dirty="0"/>
              <a:t>Identify transaction patterns that imply fraud </a:t>
            </a:r>
          </a:p>
          <a:p>
            <a:pPr lvl="1"/>
            <a:r>
              <a:rPr lang="en-US" dirty="0"/>
              <a:t>Match IP addresses to DoS messages</a:t>
            </a:r>
          </a:p>
          <a:p>
            <a:pPr lvl="1"/>
            <a:r>
              <a:rPr lang="en-US" dirty="0"/>
              <a:t>Identify patterns of environmental pollutants and disease  </a:t>
            </a:r>
          </a:p>
          <a:p>
            <a:pPr lvl="1"/>
            <a:r>
              <a:rPr lang="en-US" dirty="0"/>
              <a:t>And many more….</a:t>
            </a:r>
          </a:p>
        </p:txBody>
      </p:sp>
    </p:spTree>
    <p:extLst>
      <p:ext uri="{BB962C8B-B14F-4D97-AF65-F5344CB8AC3E}">
        <p14:creationId xmlns:p14="http://schemas.microsoft.com/office/powerpoint/2010/main" val="51300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Market Basket Model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Association rule mining is </a:t>
                </a:r>
                <a:r>
                  <a:rPr lang="en-US" b="1" dirty="0"/>
                  <a:t>unsupervised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Frequent item sets occur in </a:t>
                </a:r>
                <a:r>
                  <a:rPr lang="en-US" b="1" dirty="0"/>
                  <a:t>market baskets  </a:t>
                </a:r>
              </a:p>
              <a:p>
                <a:r>
                  <a:rPr lang="en-US" dirty="0"/>
                  <a:t>List of </a:t>
                </a:r>
                <a:r>
                  <a:rPr lang="en-US" i="1" dirty="0"/>
                  <a:t>n</a:t>
                </a:r>
                <a:r>
                  <a:rPr lang="en-US" dirty="0"/>
                  <a:t> available items </a:t>
                </a:r>
              </a:p>
              <a:p>
                <a:r>
                  <a:rPr lang="en-US" i="1" dirty="0"/>
                  <a:t>m</a:t>
                </a:r>
                <a:r>
                  <a:rPr lang="en-US" dirty="0"/>
                  <a:t> baskets with a small number,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items </a:t>
                </a:r>
              </a:p>
              <a:p>
                <a:r>
                  <a:rPr lang="en-US" dirty="0"/>
                  <a:t>Many to many relationship between items and baskets  </a:t>
                </a:r>
              </a:p>
              <a:p>
                <a:r>
                  <a:rPr lang="en-US" dirty="0"/>
                  <a:t>Goal is to find item sets that occur frequently in the baskets</a:t>
                </a:r>
              </a:p>
              <a:p>
                <a:r>
                  <a:rPr lang="en-US" dirty="0"/>
                  <a:t>Association models are </a:t>
                </a:r>
                <a:r>
                  <a:rPr lang="en-US" b="1" dirty="0"/>
                  <a:t>exact similarity searches on sets</a:t>
                </a:r>
                <a:r>
                  <a:rPr lang="en-US" dirty="0"/>
                  <a:t>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9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Association Rules vs Similarity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are association rules different from other similarity search </a:t>
            </a:r>
            <a:endParaRPr lang="en-US" b="1" dirty="0"/>
          </a:p>
          <a:p>
            <a:r>
              <a:rPr lang="en-US" dirty="0"/>
              <a:t>Approximate similarity search seeks baskets with large fraction of common items</a:t>
            </a:r>
          </a:p>
          <a:p>
            <a:pPr lvl="1"/>
            <a:r>
              <a:rPr lang="en-US" dirty="0"/>
              <a:t>Generally large number of items </a:t>
            </a:r>
          </a:p>
          <a:p>
            <a:pPr lvl="1"/>
            <a:r>
              <a:rPr lang="en-US" b="1" dirty="0"/>
              <a:t>Seek high</a:t>
            </a:r>
            <a:r>
              <a:rPr lang="en-US" dirty="0"/>
              <a:t>, but </a:t>
            </a:r>
            <a:r>
              <a:rPr lang="en-US" b="1" dirty="0"/>
              <a:t>not absolute</a:t>
            </a:r>
            <a:r>
              <a:rPr lang="en-US" dirty="0"/>
              <a:t>, similarity between baskets </a:t>
            </a:r>
          </a:p>
          <a:p>
            <a:pPr lvl="1"/>
            <a:r>
              <a:rPr lang="en-US" dirty="0"/>
              <a:t>Example; content-based recommenders </a:t>
            </a:r>
          </a:p>
          <a:p>
            <a:r>
              <a:rPr lang="en-US" dirty="0"/>
              <a:t>Association rules seek the absolute number of baskets containing specific item sets  </a:t>
            </a:r>
          </a:p>
          <a:p>
            <a:pPr lvl="1"/>
            <a:r>
              <a:rPr lang="en-US" dirty="0"/>
              <a:t>Large number of baskets   </a:t>
            </a:r>
          </a:p>
          <a:p>
            <a:pPr lvl="1"/>
            <a:r>
              <a:rPr lang="en-US" dirty="0"/>
              <a:t>Large number of items</a:t>
            </a:r>
          </a:p>
          <a:p>
            <a:pPr lvl="1"/>
            <a:r>
              <a:rPr lang="en-US" dirty="0"/>
              <a:t>Small average number of items in baskets</a:t>
            </a:r>
          </a:p>
          <a:p>
            <a:pPr lvl="1"/>
            <a:r>
              <a:rPr lang="en-US" b="1" dirty="0"/>
              <a:t>Seek exact match of sets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78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Market Basket Model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Database of baskets</a:t>
                </a:r>
              </a:p>
              <a:p>
                <a:r>
                  <a:rPr lang="en-US" dirty="0"/>
                  <a:t>Identify frequent item sets</a:t>
                </a:r>
              </a:p>
              <a:p>
                <a:r>
                  <a:rPr lang="en-US" dirty="0"/>
                  <a:t>Notice the growth in data structure size!</a:t>
                </a:r>
              </a:p>
              <a:p>
                <a:r>
                  <a:rPr lang="en-US" b="1" dirty="0"/>
                  <a:t>Memory is a major limitation!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564522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666031"/>
              </p:ext>
            </p:extLst>
          </p:nvPr>
        </p:nvGraphicFramePr>
        <p:xfrm>
          <a:off x="6880151" y="1681416"/>
          <a:ext cx="394798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eggs}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milk}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bacon}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milk}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bacon}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15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243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bacon}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719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{milk, bacon}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22955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311850" y="3995190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5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Frequent Item Sets and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Frequent item sets </a:t>
                </a:r>
                <a:r>
                  <a:rPr lang="en-US" dirty="0"/>
                  <a:t>are sets of items that occur in many baskets   </a:t>
                </a:r>
              </a:p>
              <a:p>
                <a:r>
                  <a:rPr lang="en-US" dirty="0">
                    <a:latin typeface="Cambria Math" panose="02040503050406030204" pitchFamily="18" charset="0"/>
                  </a:rPr>
                  <a:t>Let’s start with some definitions 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set of all possible items </a:t>
                </a:r>
              </a:p>
              <a:p>
                <a:pPr lvl="1"/>
                <a:r>
                  <a:rPr lang="en-US" dirty="0"/>
                  <a:t>Membership in a set is </a:t>
                </a:r>
                <a:r>
                  <a:rPr lang="en-US" b="1" dirty="0"/>
                  <a:t>binary</a:t>
                </a:r>
                <a:r>
                  <a:rPr lang="en-US" dirty="0"/>
                  <a:t> – an item is in the set or not</a:t>
                </a:r>
              </a:p>
              <a:p>
                <a:pPr lvl="1"/>
                <a:r>
                  <a:rPr lang="en-US" dirty="0"/>
                  <a:t>We do not differentiate between buying 1 of an item or many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is the database of transaction key-value pairs  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key-value pairs</a:t>
                </a:r>
                <a:r>
                  <a:rPr lang="en-US" dirty="0"/>
                  <a:t>,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represent the baskets</a:t>
                </a:r>
              </a:p>
              <a:p>
                <a:pPr lvl="1"/>
                <a:r>
                  <a:rPr lang="en-US" dirty="0"/>
                  <a:t>The keys,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are </a:t>
                </a:r>
                <a:r>
                  <a:rPr lang="en-US" b="1" dirty="0"/>
                  <a:t>transaction IDs</a:t>
                </a:r>
                <a:r>
                  <a:rPr lang="en-US" dirty="0"/>
                  <a:t> or basket identifiers </a:t>
                </a:r>
                <a:endParaRPr lang="en-US" b="1" dirty="0"/>
              </a:p>
              <a:p>
                <a:pPr lvl="1"/>
                <a:r>
                  <a:rPr lang="en-US" dirty="0"/>
                  <a:t>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are the </a:t>
                </a:r>
                <a:r>
                  <a:rPr lang="en-US" b="1" dirty="0"/>
                  <a:t>item sets </a:t>
                </a:r>
                <a:r>
                  <a:rPr lang="en-US" dirty="0"/>
                  <a:t>in the baskets, a subset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eg.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{bread, eggs},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{butter, eggs}, …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81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6B28-1227-DF54-F511-D5548B14D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E8D6-5E3E-6706-D3E2-C081B9EA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Frequent Item Sets and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C66A2-2989-159C-93F6-24842F92E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Frequent item sets </a:t>
            </a:r>
            <a:r>
              <a:rPr lang="en-US" dirty="0"/>
              <a:t>are sets of items that occur in many baskets   </a:t>
            </a:r>
          </a:p>
          <a:p>
            <a:r>
              <a:rPr lang="en-US" dirty="0">
                <a:latin typeface="Cambria Math" panose="02040503050406030204" pitchFamily="18" charset="0"/>
              </a:rPr>
              <a:t>Let’s start with some definitions </a:t>
            </a:r>
            <a:endParaRPr lang="en-US" b="0" dirty="0">
              <a:latin typeface="Cambria Math" panose="02040503050406030204" pitchFamily="18" charset="0"/>
            </a:endParaRPr>
          </a:p>
          <a:p>
            <a:r>
              <a:rPr lang="en-US" b="1" dirty="0"/>
              <a:t>Many to many relationship </a:t>
            </a:r>
            <a:r>
              <a:rPr lang="en-US" dirty="0"/>
              <a:t>between baskets and items 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bipartite graph</a:t>
            </a:r>
            <a:r>
              <a:rPr lang="en-US" dirty="0"/>
              <a:t>! </a:t>
            </a:r>
          </a:p>
          <a:p>
            <a:pPr lvl="1"/>
            <a:r>
              <a:rPr lang="en-US" dirty="0"/>
              <a:t>We have seen this before in other similarity searches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48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Frequent Item Sets and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Frequent item sets </a:t>
                </a:r>
                <a:r>
                  <a:rPr lang="en-US" dirty="0"/>
                  <a:t>are sets of items that occur in many baskets   </a:t>
                </a:r>
              </a:p>
              <a:p>
                <a:r>
                  <a:rPr lang="en-US" dirty="0">
                    <a:latin typeface="Cambria Math" panose="02040503050406030204" pitchFamily="18" charset="0"/>
                  </a:rPr>
                  <a:t>Start with some definitions: 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An </a:t>
                </a:r>
                <a:r>
                  <a:rPr lang="en-US" b="1" dirty="0"/>
                  <a:t>association rule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</a:t>
                </a:r>
                <a:r>
                  <a:rPr lang="en-US" b="1" dirty="0"/>
                  <a:t> </a:t>
                </a:r>
                <a:r>
                  <a:rPr lang="en-US" dirty="0"/>
                  <a:t>between subsets of the items,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Interpret the rule as the presence of the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implies the presence of the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with </a:t>
                </a:r>
                <a:r>
                  <a:rPr lang="en-US" b="1" dirty="0"/>
                  <a:t>high probability</a:t>
                </a:r>
              </a:p>
              <a:p>
                <a:r>
                  <a:rPr lang="en-US" dirty="0"/>
                  <a:t>Or in technical terms, the association rule says that the </a:t>
                </a:r>
                <a:r>
                  <a:rPr lang="en-US" b="1" dirty="0"/>
                  <a:t>antecedent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, implies the consequent,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US" b="1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Read the symbol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as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contained in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or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included in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20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Computing Association Frequency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371" y="1208868"/>
                <a:ext cx="11275827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discovered by frequency  </a:t>
                </a:r>
              </a:p>
              <a:p>
                <a:r>
                  <a:rPr lang="en-US" dirty="0"/>
                  <a:t>Start by setting a </a:t>
                </a:r>
                <a:r>
                  <a:rPr lang="en-US" b="1" dirty="0"/>
                  <a:t>minimum support threshold level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Only accept rule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𝐹𝑟𝑒𝑞𝑢𝑒𝑛𝑐𝑦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Naïve algorithm to find rule for item pairs,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Count all occurrences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in baskets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Filter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𝐹𝑟𝑒𝑞𝑢𝑒𝑛𝑐𝑦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items,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pairs to search in step 1</a:t>
                </a:r>
              </a:p>
              <a:p>
                <a:pPr lvl="1"/>
                <a:r>
                  <a:rPr lang="en-US" dirty="0"/>
                  <a:t>A familiar problem in similarity searches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Read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 as </a:t>
                </a:r>
                <a:r>
                  <a:rPr lang="en-US" sz="2400" i="1" dirty="0">
                    <a:solidFill>
                      <a:schemeClr val="accent1"/>
                    </a:solidFill>
                  </a:rPr>
                  <a:t>x AND y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371" y="1208868"/>
                <a:ext cx="11275827" cy="5447426"/>
              </a:xfrm>
              <a:blipFill>
                <a:blip r:embed="rId2"/>
                <a:stretch>
                  <a:fillRect l="-1081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48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Computing Association Frequency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7953" y="1208868"/>
                <a:ext cx="11249246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discovered by counting the frequency  </a:t>
                </a:r>
              </a:p>
              <a:p>
                <a:r>
                  <a:rPr lang="en-US" dirty="0"/>
                  <a:t>Consider Naïve algorithm to find rule for the presence of </a:t>
                </a:r>
                <a:r>
                  <a:rPr lang="en-US" b="1" dirty="0"/>
                  <a:t>two items predicting another item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Start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pairs,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Count all occurrences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y in basket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Filter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𝐹𝑟𝑒𝑞𝑢𝑒𝑛𝑐𝑦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items,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triples to count!!</a:t>
                </a:r>
              </a:p>
              <a:p>
                <a:r>
                  <a:rPr lang="en-US" dirty="0"/>
                  <a:t>The complexity of the naïve algorithm grows exponentially with size of item set! 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This is not a feasible algorithm!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7953" y="1208868"/>
                <a:ext cx="11249246" cy="5447426"/>
              </a:xfrm>
              <a:blipFill>
                <a:blip r:embed="rId2"/>
                <a:stretch>
                  <a:fillRect l="-1138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58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Apriori</a:t>
            </a:r>
            <a:r>
              <a:rPr lang="en-US" sz="4000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920139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097" y="1208868"/>
            <a:ext cx="11398101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is based on the properties of sets  </a:t>
            </a:r>
          </a:p>
          <a:p>
            <a:r>
              <a:rPr lang="en-US" dirty="0" err="1"/>
              <a:t>Apriori</a:t>
            </a:r>
            <a:r>
              <a:rPr lang="en-US" dirty="0"/>
              <a:t> algorithm proposed by </a:t>
            </a:r>
            <a:r>
              <a:rPr lang="en-US" dirty="0">
                <a:hlinkClick r:id="rId2"/>
              </a:rPr>
              <a:t>Agrawal and Srikant (1994</a:t>
            </a:r>
            <a:r>
              <a:rPr lang="en-US" dirty="0"/>
              <a:t>)  </a:t>
            </a:r>
          </a:p>
          <a:p>
            <a:r>
              <a:rPr lang="en-US" dirty="0"/>
              <a:t>Algorithm relies on the </a:t>
            </a:r>
            <a:r>
              <a:rPr lang="en-US" b="1" i="1" dirty="0"/>
              <a:t>downward closure lemma </a:t>
            </a:r>
            <a:r>
              <a:rPr lang="en-US" dirty="0"/>
              <a:t>of sets: </a:t>
            </a:r>
          </a:p>
          <a:p>
            <a:pPr marL="457200" lvl="1" indent="0">
              <a:buNone/>
            </a:pPr>
            <a:r>
              <a:rPr lang="en-US" altLang="en-US" sz="2800" b="1" i="1" dirty="0">
                <a:solidFill>
                  <a:srgbClr val="202122"/>
                </a:solidFill>
                <a:cs typeface="Arial" panose="020B0604020202020204" pitchFamily="34" charset="0"/>
              </a:rPr>
              <a:t>All subsets of a frequent set must also be at least as frequent</a:t>
            </a:r>
            <a:r>
              <a:rPr lang="en-US" altLang="en-US" sz="2800" i="1" dirty="0">
                <a:solidFill>
                  <a:srgbClr val="202122"/>
                </a:solidFill>
                <a:cs typeface="Arial" panose="020B0604020202020204" pitchFamily="34" charset="0"/>
              </a:rPr>
              <a:t> </a:t>
            </a:r>
            <a:endParaRPr lang="en-US" altLang="en-US" sz="2800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pPr marL="685800" lvl="2"/>
            <a:r>
              <a:rPr lang="en-US" altLang="en-US" sz="2400" dirty="0"/>
              <a:t>Downward closure property also know as the </a:t>
            </a:r>
            <a:r>
              <a:rPr lang="en-US" altLang="en-US" sz="2400" b="1" dirty="0"/>
              <a:t>monotonicity property of sets</a:t>
            </a:r>
          </a:p>
          <a:p>
            <a:r>
              <a:rPr lang="en-US" dirty="0"/>
              <a:t>The downward closure lemma ensures that we only </a:t>
            </a:r>
            <a:r>
              <a:rPr lang="en-US" b="1" dirty="0"/>
              <a:t>need only consider frequent subsets </a:t>
            </a:r>
            <a:r>
              <a:rPr lang="en-US" dirty="0"/>
              <a:t>when searching for frequent item sets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7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Steps of </a:t>
                </a:r>
                <a:r>
                  <a:rPr lang="en-US" dirty="0" err="1"/>
                  <a:t>apriori</a:t>
                </a:r>
                <a:r>
                  <a:rPr lang="en-US" dirty="0"/>
                  <a:t> algorithm: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Set the frequency cutoff level,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Scan the market baskets and count the frequency of the items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Filter item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requency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retain items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pairwise unions of sets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Filter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requency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retain sets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Continue to larger item sets, iterate steps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4, 5</m:t>
                    </m:r>
                  </m:oMath>
                </a14:m>
                <a:r>
                  <a:rPr lang="en-US" dirty="0"/>
                  <a:t>, as needed</a:t>
                </a:r>
              </a:p>
              <a:p>
                <a:pPr marL="0" indent="0">
                  <a:buNone/>
                </a:pPr>
                <a:r>
                  <a:rPr lang="en-US" dirty="0"/>
                  <a:t>Notice, </a:t>
                </a:r>
                <a:r>
                  <a:rPr lang="en-US" b="1" dirty="0"/>
                  <a:t>the number of item sets is reduced at each step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  <a:blipFill>
                <a:blip r:embed="rId2"/>
                <a:stretch>
                  <a:fillRect l="-1133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2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112875"/>
            <a:ext cx="8240232" cy="14885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example; s = 3</a:t>
            </a:r>
          </a:p>
          <a:p>
            <a:r>
              <a:rPr lang="en-US" dirty="0"/>
              <a:t>Start with small database</a:t>
            </a:r>
          </a:p>
          <a:p>
            <a:r>
              <a:rPr lang="en-US" b="1" dirty="0"/>
              <a:t>First pass </a:t>
            </a:r>
            <a:r>
              <a:rPr lang="en-US" dirty="0"/>
              <a:t>find frequent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B9C339-5CCF-499E-A339-0D6B5F2EB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20412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290E470B-D676-4680-A4FC-342E153F9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811709"/>
              </p:ext>
            </p:extLst>
          </p:nvPr>
        </p:nvGraphicFramePr>
        <p:xfrm>
          <a:off x="4407786" y="3279311"/>
          <a:ext cx="2258236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2E003E5-CBBB-4BA2-88B3-8316F03A6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391739"/>
              </p:ext>
            </p:extLst>
          </p:nvPr>
        </p:nvGraphicFramePr>
        <p:xfrm>
          <a:off x="8463516" y="3577023"/>
          <a:ext cx="2258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DD6EE663-19AD-4043-B321-DDC1B0686EAB}"/>
              </a:ext>
            </a:extLst>
          </p:cNvPr>
          <p:cNvSpPr/>
          <p:nvPr/>
        </p:nvSpPr>
        <p:spPr>
          <a:xfrm>
            <a:off x="2749106" y="421049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44C08-C2AE-4427-9CF7-20D1C9DE562A}"/>
              </a:ext>
            </a:extLst>
          </p:cNvPr>
          <p:cNvSpPr txBox="1"/>
          <p:nvPr/>
        </p:nvSpPr>
        <p:spPr>
          <a:xfrm>
            <a:off x="2749106" y="4710224"/>
            <a:ext cx="1313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Compute Frequency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043F2A3-37E5-4295-86A1-EF7C7E542AD1}"/>
              </a:ext>
            </a:extLst>
          </p:cNvPr>
          <p:cNvSpPr/>
          <p:nvPr/>
        </p:nvSpPr>
        <p:spPr>
          <a:xfrm>
            <a:off x="6780618" y="4221947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EEAF1A-A546-4D6A-A5D9-5A17EF672F45}"/>
              </a:ext>
            </a:extLst>
          </p:cNvPr>
          <p:cNvSpPr txBox="1"/>
          <p:nvPr/>
        </p:nvSpPr>
        <p:spPr>
          <a:xfrm>
            <a:off x="6780618" y="4721678"/>
            <a:ext cx="1313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Filter on Frequency</a:t>
            </a:r>
          </a:p>
        </p:txBody>
      </p:sp>
    </p:spTree>
    <p:extLst>
      <p:ext uri="{BB962C8B-B14F-4D97-AF65-F5344CB8AC3E}">
        <p14:creationId xmlns:p14="http://schemas.microsoft.com/office/powerpoint/2010/main" val="44025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/>
      <p:bldP spid="10" grpId="0" animBg="1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3" y="1112875"/>
            <a:ext cx="11325779" cy="14885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example; s = 3</a:t>
            </a:r>
          </a:p>
          <a:p>
            <a:r>
              <a:rPr lang="en-US" b="1" dirty="0"/>
              <a:t>Second pass </a:t>
            </a:r>
            <a:r>
              <a:rPr lang="en-US" dirty="0"/>
              <a:t>find frequent item pairs for frequent items; don’t consider sets containing </a:t>
            </a:r>
            <a:r>
              <a:rPr lang="en-US" i="1" dirty="0"/>
              <a:t>e</a:t>
            </a:r>
          </a:p>
          <a:p>
            <a:r>
              <a:rPr lang="en-US" dirty="0"/>
              <a:t>Filter on frequency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B9C339-5CCF-499E-A339-0D6B5F2EB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422970"/>
              </p:ext>
            </p:extLst>
          </p:nvPr>
        </p:nvGraphicFramePr>
        <p:xfrm>
          <a:off x="355126" y="2672206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2E003E5-CBBB-4BA2-88B3-8316F03A6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195811"/>
              </p:ext>
            </p:extLst>
          </p:nvPr>
        </p:nvGraphicFramePr>
        <p:xfrm>
          <a:off x="2962350" y="4805325"/>
          <a:ext cx="2258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AD748D1-109E-460F-894D-09EB05E3D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068166"/>
              </p:ext>
            </p:extLst>
          </p:nvPr>
        </p:nvGraphicFramePr>
        <p:xfrm>
          <a:off x="5500183" y="2672206"/>
          <a:ext cx="237461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4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35771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26876EBE-07E8-43D2-B593-9F7ED8CB9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778503"/>
              </p:ext>
            </p:extLst>
          </p:nvPr>
        </p:nvGraphicFramePr>
        <p:xfrm>
          <a:off x="9390951" y="2654375"/>
          <a:ext cx="2513419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07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292342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9DB3FA1A-C741-4D6F-BB76-CAE88205F776}"/>
              </a:ext>
            </a:extLst>
          </p:cNvPr>
          <p:cNvSpPr/>
          <p:nvPr/>
        </p:nvSpPr>
        <p:spPr>
          <a:xfrm>
            <a:off x="2766254" y="3402661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CD1106-534C-48AE-8CA2-88782074ED87}"/>
              </a:ext>
            </a:extLst>
          </p:cNvPr>
          <p:cNvSpPr txBox="1"/>
          <p:nvPr/>
        </p:nvSpPr>
        <p:spPr>
          <a:xfrm>
            <a:off x="3045851" y="3788503"/>
            <a:ext cx="1879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Compute Pair Frequency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CDEF6ED-4E01-4CA1-8B63-F9C80A054630}"/>
              </a:ext>
            </a:extLst>
          </p:cNvPr>
          <p:cNvSpPr/>
          <p:nvPr/>
        </p:nvSpPr>
        <p:spPr>
          <a:xfrm>
            <a:off x="7976312" y="3429000"/>
            <a:ext cx="131312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93C00C-DA25-4451-8BCA-2E643B7BAFDE}"/>
              </a:ext>
            </a:extLst>
          </p:cNvPr>
          <p:cNvSpPr txBox="1"/>
          <p:nvPr/>
        </p:nvSpPr>
        <p:spPr>
          <a:xfrm>
            <a:off x="7874794" y="3928731"/>
            <a:ext cx="15161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Filter on Frequency</a:t>
            </a:r>
          </a:p>
        </p:txBody>
      </p:sp>
    </p:spTree>
    <p:extLst>
      <p:ext uri="{BB962C8B-B14F-4D97-AF65-F5344CB8AC3E}">
        <p14:creationId xmlns:p14="http://schemas.microsoft.com/office/powerpoint/2010/main" val="243489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2" grpId="0"/>
      <p:bldP spid="13" grpId="0" animBg="1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1112875"/>
                <a:ext cx="11574464" cy="148855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Apriori algorithm example; s = 3</a:t>
                </a:r>
              </a:p>
              <a:p>
                <a:r>
                  <a:rPr lang="en-US" b="1" dirty="0"/>
                  <a:t>Third pass </a:t>
                </a:r>
                <a:r>
                  <a:rPr lang="en-US" dirty="0"/>
                  <a:t>find frequent triple item sets; don’t consider sets containing </a:t>
                </a:r>
                <a:r>
                  <a:rPr lang="en-US" i="1" dirty="0"/>
                  <a:t>e</a:t>
                </a:r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1112875"/>
                <a:ext cx="11574464" cy="1488558"/>
              </a:xfrm>
              <a:blipFill>
                <a:blip r:embed="rId2"/>
                <a:stretch>
                  <a:fillRect l="-1106" t="-6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B9C339-5CCF-499E-A339-0D6B5F2EB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61888"/>
              </p:ext>
            </p:extLst>
          </p:nvPr>
        </p:nvGraphicFramePr>
        <p:xfrm>
          <a:off x="69561" y="2674948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2E003E5-CBBB-4BA2-88B3-8316F03A6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73934"/>
              </p:ext>
            </p:extLst>
          </p:nvPr>
        </p:nvGraphicFramePr>
        <p:xfrm>
          <a:off x="2429441" y="4822280"/>
          <a:ext cx="2526843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591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91252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Frequncy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AD748D1-109E-460F-894D-09EB05E3D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619934"/>
              </p:ext>
            </p:extLst>
          </p:nvPr>
        </p:nvGraphicFramePr>
        <p:xfrm>
          <a:off x="6142722" y="3975082"/>
          <a:ext cx="237299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242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0475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94623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26876EBE-07E8-43D2-B593-9F7ED8CB9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822282"/>
              </p:ext>
            </p:extLst>
          </p:nvPr>
        </p:nvGraphicFramePr>
        <p:xfrm>
          <a:off x="2429442" y="2128538"/>
          <a:ext cx="2526844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586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03258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D794FCB-BD98-48BD-BB37-FFEA4C93D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270421"/>
              </p:ext>
            </p:extLst>
          </p:nvPr>
        </p:nvGraphicFramePr>
        <p:xfrm>
          <a:off x="9639597" y="4654745"/>
          <a:ext cx="2383347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705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10642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C757E1CD-6717-4CA3-ADEE-7465DC05DE74}"/>
              </a:ext>
            </a:extLst>
          </p:cNvPr>
          <p:cNvSpPr/>
          <p:nvPr/>
        </p:nvSpPr>
        <p:spPr>
          <a:xfrm>
            <a:off x="5005729" y="4343620"/>
            <a:ext cx="1035347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7446C9-4604-4EBF-AD07-D1D230DE75E8}"/>
              </a:ext>
            </a:extLst>
          </p:cNvPr>
          <p:cNvSpPr txBox="1"/>
          <p:nvPr/>
        </p:nvSpPr>
        <p:spPr>
          <a:xfrm>
            <a:off x="4904083" y="4729462"/>
            <a:ext cx="11369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Compute Item Set </a:t>
            </a:r>
            <a:r>
              <a:rPr lang="en-US" sz="2000" dirty="0" err="1"/>
              <a:t>Frequncy</a:t>
            </a:r>
            <a:endParaRPr lang="en-US" sz="2000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3407691-7858-4E29-AC5D-47E17B8A49D8}"/>
              </a:ext>
            </a:extLst>
          </p:cNvPr>
          <p:cNvSpPr/>
          <p:nvPr/>
        </p:nvSpPr>
        <p:spPr>
          <a:xfrm>
            <a:off x="8617362" y="5038285"/>
            <a:ext cx="1022235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8C5E8-1D46-44D6-AF86-B01DFB340D33}"/>
              </a:ext>
            </a:extLst>
          </p:cNvPr>
          <p:cNvSpPr txBox="1"/>
          <p:nvPr/>
        </p:nvSpPr>
        <p:spPr>
          <a:xfrm>
            <a:off x="8390271" y="5535715"/>
            <a:ext cx="1313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Filter on </a:t>
            </a:r>
            <a:r>
              <a:rPr lang="en-US" sz="2000" dirty="0" err="1"/>
              <a:t>Frequncy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788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112874"/>
            <a:ext cx="5555511" cy="27590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example; s = 3</a:t>
            </a:r>
          </a:p>
          <a:p>
            <a:r>
              <a:rPr lang="en-US" dirty="0"/>
              <a:t>Start with all frequent item sets</a:t>
            </a:r>
          </a:p>
          <a:p>
            <a:r>
              <a:rPr lang="en-US" dirty="0"/>
              <a:t>Find all possible rule combinations from frequent item sets</a:t>
            </a:r>
          </a:p>
          <a:p>
            <a:r>
              <a:rPr lang="en-US" dirty="0"/>
              <a:t>Rule maps </a:t>
            </a:r>
            <a:r>
              <a:rPr lang="en-US" b="1" dirty="0"/>
              <a:t>antecedent</a:t>
            </a:r>
            <a:r>
              <a:rPr lang="en-US" dirty="0"/>
              <a:t> to its </a:t>
            </a:r>
            <a:r>
              <a:rPr lang="en-US" b="1" dirty="0"/>
              <a:t>consequent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26876EBE-07E8-43D2-B593-9F7ED8CB9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504551"/>
              </p:ext>
            </p:extLst>
          </p:nvPr>
        </p:nvGraphicFramePr>
        <p:xfrm>
          <a:off x="1066579" y="4039745"/>
          <a:ext cx="2541396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316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93080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5DC88E34-3EE5-44FD-810F-C212E6EA6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88939"/>
              </p:ext>
            </p:extLst>
          </p:nvPr>
        </p:nvGraphicFramePr>
        <p:xfrm>
          <a:off x="6484311" y="365125"/>
          <a:ext cx="4641110" cy="632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525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730119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477466">
                  <a:extLst>
                    <a:ext uri="{9D8B030D-6E8A-4147-A177-3AD203B41FA5}">
                      <a16:colId xmlns:a16="http://schemas.microsoft.com/office/drawing/2014/main" val="1625215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Antecedent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Consequent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39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3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04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66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{c}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040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873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948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456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70845"/>
                  </a:ext>
                </a:extLst>
              </a:tr>
            </a:tbl>
          </a:graphicData>
        </a:graphic>
      </p:graphicFrame>
      <p:sp>
        <p:nvSpPr>
          <p:cNvPr id="19" name="Arrow: Right 18">
            <a:extLst>
              <a:ext uri="{FF2B5EF4-FFF2-40B4-BE49-F238E27FC236}">
                <a16:creationId xmlns:a16="http://schemas.microsoft.com/office/drawing/2014/main" id="{E93829CA-4289-44C4-AEB6-0C79048CB909}"/>
              </a:ext>
            </a:extLst>
          </p:cNvPr>
          <p:cNvSpPr/>
          <p:nvPr/>
        </p:nvSpPr>
        <p:spPr>
          <a:xfrm>
            <a:off x="3776347" y="3976819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45959F-5CBB-40A2-AC50-550E5D0B2741}"/>
              </a:ext>
            </a:extLst>
          </p:cNvPr>
          <p:cNvSpPr txBox="1"/>
          <p:nvPr/>
        </p:nvSpPr>
        <p:spPr>
          <a:xfrm>
            <a:off x="3896833" y="4362661"/>
            <a:ext cx="2199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Derive rules</a:t>
            </a:r>
          </a:p>
        </p:txBody>
      </p:sp>
    </p:spTree>
    <p:extLst>
      <p:ext uri="{BB962C8B-B14F-4D97-AF65-F5344CB8AC3E}">
        <p14:creationId xmlns:p14="http://schemas.microsoft.com/office/powerpoint/2010/main" val="68193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Memory Management for </a:t>
            </a:r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Two alternatives for memory management for counting pairs    </a:t>
                </a:r>
              </a:p>
              <a:p>
                <a:r>
                  <a:rPr lang="en-US" dirty="0"/>
                  <a:t>Memory is major limitation of </a:t>
                </a:r>
                <a:r>
                  <a:rPr lang="en-US" dirty="0" err="1"/>
                  <a:t>apriori</a:t>
                </a:r>
                <a:r>
                  <a:rPr lang="en-US" dirty="0"/>
                  <a:t> algorithm  </a:t>
                </a:r>
              </a:p>
              <a:p>
                <a:r>
                  <a:rPr lang="en-US" dirty="0"/>
                  <a:t>Use tuples as the key-values for </a:t>
                </a:r>
                <a:r>
                  <a:rPr lang="en-US" i="1" dirty="0"/>
                  <a:t>m</a:t>
                </a:r>
                <a:r>
                  <a:rPr lang="en-US" dirty="0"/>
                  <a:t> possible pairs 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is set of key-value pairs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are the antecedents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are the consequents  </a:t>
                </a:r>
              </a:p>
              <a:p>
                <a:pPr lvl="1"/>
                <a:r>
                  <a:rPr lang="en-US" dirty="0"/>
                  <a:t>Assuming 4-byte values, requires memory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(4∗3∗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Build a triangular matrix of all possible combinations of </a:t>
                </a:r>
                <a:r>
                  <a:rPr lang="en-US" i="1" dirty="0"/>
                  <a:t>n</a:t>
                </a:r>
                <a:r>
                  <a:rPr lang="en-US" dirty="0"/>
                  <a:t> items</a:t>
                </a:r>
              </a:p>
              <a:p>
                <a:pPr lvl="1"/>
                <a:r>
                  <a:rPr lang="en-US" dirty="0"/>
                  <a:t>Only store upper triangular values – above diagonal   </a:t>
                </a:r>
              </a:p>
              <a:p>
                <a:pPr lvl="1"/>
                <a:r>
                  <a:rPr lang="en-US" dirty="0"/>
                  <a:t>Requires memory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(4∗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Key-value representation uses less memory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small baskets with few frequent items – sparse set of pairs, </a:t>
                </a:r>
                <a:r>
                  <a:rPr lang="en-US" i="1" dirty="0"/>
                  <a:t>D</a:t>
                </a:r>
                <a:r>
                  <a:rPr lang="en-US" dirty="0"/>
                  <a:t> 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  <a:blipFill>
                <a:blip r:embed="rId2"/>
                <a:stretch>
                  <a:fillRect l="-1133" t="-1790" b="-2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5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Summary of </a:t>
            </a:r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13" y="1208868"/>
            <a:ext cx="11392785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Advantages and disadvantages of </a:t>
            </a:r>
            <a:r>
              <a:rPr lang="en-US" dirty="0" err="1"/>
              <a:t>apriori</a:t>
            </a:r>
            <a:r>
              <a:rPr lang="en-US" dirty="0"/>
              <a:t> algorithm  </a:t>
            </a:r>
          </a:p>
          <a:p>
            <a:r>
              <a:rPr lang="en-US" dirty="0"/>
              <a:t>Advantages </a:t>
            </a:r>
          </a:p>
          <a:p>
            <a:pPr lvl="1"/>
            <a:r>
              <a:rPr lang="en-US" dirty="0"/>
              <a:t>Reduces the set size for unions at each step  </a:t>
            </a:r>
          </a:p>
          <a:p>
            <a:pPr lvl="1"/>
            <a:r>
              <a:rPr lang="en-US" dirty="0"/>
              <a:t>Simple table-oriented implementation </a:t>
            </a:r>
          </a:p>
          <a:p>
            <a:pPr lvl="1"/>
            <a:r>
              <a:rPr lang="en-US" dirty="0"/>
              <a:t>Easy to parallelize; e.g. MapReduce </a:t>
            </a:r>
          </a:p>
          <a:p>
            <a:r>
              <a:rPr lang="en-US" dirty="0"/>
              <a:t>Disadvantages </a:t>
            </a:r>
          </a:p>
          <a:p>
            <a:pPr lvl="1"/>
            <a:r>
              <a:rPr lang="en-US" dirty="0"/>
              <a:t>Computationally intensive since all unions of subsets must be counted – potentially massive candidate sets   </a:t>
            </a:r>
          </a:p>
          <a:p>
            <a:pPr lvl="1"/>
            <a:r>
              <a:rPr lang="en-US" dirty="0"/>
              <a:t>Count for all pairs must fit in main memory </a:t>
            </a:r>
          </a:p>
          <a:p>
            <a:pPr lvl="1"/>
            <a:r>
              <a:rPr lang="en-US" dirty="0"/>
              <a:t>Multiple passes over data required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Evaluation of Association Rules</a:t>
            </a:r>
          </a:p>
        </p:txBody>
      </p:sp>
    </p:spTree>
    <p:extLst>
      <p:ext uri="{BB962C8B-B14F-4D97-AF65-F5344CB8AC3E}">
        <p14:creationId xmlns:p14="http://schemas.microsoft.com/office/powerpoint/2010/main" val="3480994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dirty="0"/>
                  <a:t>Many metrics used to evaluate association rules  </a:t>
                </a:r>
              </a:p>
              <a:p>
                <a:r>
                  <a:rPr lang="en-US" b="1" dirty="0"/>
                  <a:t>Support</a:t>
                </a:r>
                <a:r>
                  <a:rPr lang="en-US" dirty="0"/>
                  <a:t> is probability that set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occurs in a set </a:t>
                </a:r>
              </a:p>
              <a:p>
                <a:r>
                  <a:rPr lang="en-US" b="1" dirty="0"/>
                  <a:t>Confidence</a:t>
                </a:r>
                <a:r>
                  <a:rPr lang="en-US" dirty="0"/>
                  <a:t> is the probability that the rule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makes a correct prediction    </a:t>
                </a:r>
              </a:p>
              <a:p>
                <a:r>
                  <a:rPr lang="en-US" b="1" dirty="0"/>
                  <a:t>Lift</a:t>
                </a:r>
                <a:r>
                  <a:rPr lang="en-US" dirty="0"/>
                  <a:t> is the increase in association from the rule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over random occurrence    </a:t>
                </a:r>
              </a:p>
              <a:p>
                <a:r>
                  <a:rPr lang="en-US" b="1" dirty="0"/>
                  <a:t>Conviction</a:t>
                </a:r>
                <a:r>
                  <a:rPr lang="en-US" dirty="0"/>
                  <a:t> ratio that the rule,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makes an incorrect prediction compared to observed frequency of incorrect predictions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  <a:blipFill>
                <a:blip r:embed="rId2"/>
                <a:stretch>
                  <a:fillRect l="-1133" t="-1790" r="-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71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Support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Where: 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is the count of occurrences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 database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is the total number of transaction in the database </a:t>
                </a:r>
              </a:p>
              <a:p>
                <a:r>
                  <a:rPr lang="en-US" dirty="0"/>
                  <a:t>Support is the </a:t>
                </a:r>
                <a:r>
                  <a:rPr lang="en-US" b="1" dirty="0"/>
                  <a:t>probability that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occurs in a random basket </a:t>
                </a:r>
                <a:r>
                  <a:rPr lang="en-US" dirty="0"/>
                  <a:t>with range: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)≤1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words, support is the faction of transactions which include subset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Higher support is higher probability of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 a basket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  <a:blipFill>
                <a:blip r:embed="rId2"/>
                <a:stretch>
                  <a:fillRect l="-1133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426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572000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Support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C31DD61C-DA15-42B1-A35E-FA4AD01D2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643623"/>
              </p:ext>
            </p:extLst>
          </p:nvPr>
        </p:nvGraphicFramePr>
        <p:xfrm>
          <a:off x="468249" y="2086726"/>
          <a:ext cx="2697411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695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85716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sp>
        <p:nvSpPr>
          <p:cNvPr id="16" name="Arrow: Right 15">
            <a:extLst>
              <a:ext uri="{FF2B5EF4-FFF2-40B4-BE49-F238E27FC236}">
                <a16:creationId xmlns:a16="http://schemas.microsoft.com/office/drawing/2014/main" id="{4334DB1A-6A41-4F7B-85B0-E94BF6E34317}"/>
              </a:ext>
            </a:extLst>
          </p:cNvPr>
          <p:cNvSpPr/>
          <p:nvPr/>
        </p:nvSpPr>
        <p:spPr>
          <a:xfrm>
            <a:off x="3398589" y="3016275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C50D63A-3963-41CE-8E2E-F5C587990BDE}"/>
              </a:ext>
            </a:extLst>
          </p:cNvPr>
          <p:cNvSpPr/>
          <p:nvPr/>
        </p:nvSpPr>
        <p:spPr>
          <a:xfrm>
            <a:off x="3328591" y="5125065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3E9DC74C-62E2-4C09-A280-726337F46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022561"/>
              </p:ext>
            </p:extLst>
          </p:nvPr>
        </p:nvGraphicFramePr>
        <p:xfrm>
          <a:off x="6267194" y="2117829"/>
          <a:ext cx="2759148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264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59488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DEB09E1-CB0B-420F-8DD4-F8D4A5675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548337"/>
              </p:ext>
            </p:extLst>
          </p:nvPr>
        </p:nvGraphicFramePr>
        <p:xfrm>
          <a:off x="468249" y="4170149"/>
          <a:ext cx="2697411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11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478600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433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7607" y="1208868"/>
                <a:ext cx="11339592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Confidence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Interpret confidence as: </a:t>
                </a:r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𝐹𝑟𝑎𝑐𝑡𝑖𝑜𝑛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𝑡𝑟𝑎𝑛𝑠𝑎𝑐𝑡𝑖𝑜𝑛𝑠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𝑐𝑜𝑛𝑡𝑎𝑖𝑛𝑖𝑛𝑔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dirty="0"/>
                            <m:t>faction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of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transactions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which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include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subset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Confidence is the </a:t>
                </a:r>
                <a:r>
                  <a:rPr lang="en-US" b="1" dirty="0"/>
                  <a:t>probability that the rule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 makes a correct prediction</a:t>
                </a:r>
              </a:p>
              <a:p>
                <a:r>
                  <a:rPr lang="en-US" dirty="0"/>
                  <a:t>Confidence in range: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𝐶𝑜𝑛𝑓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7607" y="1208868"/>
                <a:ext cx="11339592" cy="5447426"/>
              </a:xfrm>
              <a:blipFill>
                <a:blip r:embed="rId2"/>
                <a:stretch>
                  <a:fillRect l="-1129" t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03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885660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Confidence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C50D63A-3963-41CE-8E2E-F5C587990BDE}"/>
              </a:ext>
            </a:extLst>
          </p:cNvPr>
          <p:cNvSpPr/>
          <p:nvPr/>
        </p:nvSpPr>
        <p:spPr>
          <a:xfrm>
            <a:off x="3001039" y="3524865"/>
            <a:ext cx="2248185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FB272398-7E66-4D48-892F-2EE127DEF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272521"/>
              </p:ext>
            </p:extLst>
          </p:nvPr>
        </p:nvGraphicFramePr>
        <p:xfrm>
          <a:off x="5459214" y="1490921"/>
          <a:ext cx="5247772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112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738423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2004237">
                  <a:extLst>
                    <a:ext uri="{9D8B030D-6E8A-4147-A177-3AD203B41FA5}">
                      <a16:colId xmlns:a16="http://schemas.microsoft.com/office/drawing/2014/main" val="201993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Antecedent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Consequent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Confidence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0.43/0.86=0.5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0.43/.43=1.0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0.57/.86=0.66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0.57/0.86=0.66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0.43/0.43=1.0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0.43/0.71=0.61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39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0.57/0.71=0.80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3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0.57/0.71=0.80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04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0.43/0.57=0.76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66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0.43/0.57=0.76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040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0.43/0.57=0.76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873656"/>
                  </a:ext>
                </a:extLst>
              </a:tr>
            </a:tbl>
          </a:graphicData>
        </a:graphic>
      </p:graphicFrame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881C0B18-3B71-4C09-A5BF-73B44C4E2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127315"/>
              </p:ext>
            </p:extLst>
          </p:nvPr>
        </p:nvGraphicFramePr>
        <p:xfrm>
          <a:off x="182527" y="2346371"/>
          <a:ext cx="2759148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264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59488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218ED44-ECF2-FE1D-5E17-1C8BA931256E}"/>
              </a:ext>
            </a:extLst>
          </p:cNvPr>
          <p:cNvSpPr txBox="1"/>
          <p:nvPr/>
        </p:nvSpPr>
        <p:spPr>
          <a:xfrm>
            <a:off x="5852159" y="1111441"/>
            <a:ext cx="4372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Partial list not showing all rule permutations</a:t>
            </a:r>
          </a:p>
        </p:txBody>
      </p:sp>
    </p:spTree>
    <p:extLst>
      <p:ext uri="{BB962C8B-B14F-4D97-AF65-F5344CB8AC3E}">
        <p14:creationId xmlns:p14="http://schemas.microsoft.com/office/powerpoint/2010/main" val="2988975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9044" y="1134440"/>
                <a:ext cx="11473911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Lift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𝐿𝑖𝑓𝑡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Interpret confidence as: </a:t>
                </a:r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𝐹𝑟𝑎𝑐𝑡𝑖𝑜𝑛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𝑡𝑟𝑎𝑛𝑠𝑎𝑐𝑡𝑖𝑜𝑛𝑠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𝑐𝑜𝑛𝑡𝑎𝑖𝑛𝑖𝑛𝑔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Probability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occurance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𝑡h𝑒𝑦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𝑎𝑟𝑒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𝑠𝑡𝑎𝑡𝑖𝑠𝑡𝑖𝑐𝑎𝑙𝑙𝑦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𝑖𝑛𝑑𝑒𝑝𝑒𝑛𝑑𝑒𝑛𝑡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In other words, lift is the </a:t>
                </a:r>
                <a:r>
                  <a:rPr lang="en-US" b="1" dirty="0"/>
                  <a:t>increase in association from the rule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 over random occurrence</a:t>
                </a:r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𝐿𝑖𝑓𝑡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better than random guessing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𝐿𝑖𝑓𝑡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worse than random guessing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9044" y="1134440"/>
                <a:ext cx="11473911" cy="5447426"/>
              </a:xfrm>
              <a:blipFill>
                <a:blip r:embed="rId2"/>
                <a:stretch>
                  <a:fillRect l="-1116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76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003158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Lift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881C0B18-3B71-4C09-A5BF-73B44C4E2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442324"/>
              </p:ext>
            </p:extLst>
          </p:nvPr>
        </p:nvGraphicFramePr>
        <p:xfrm>
          <a:off x="2755606" y="2143686"/>
          <a:ext cx="5660064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808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49387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  <a:gridCol w="2998382">
                  <a:extLst>
                    <a:ext uri="{9D8B030D-6E8A-4147-A177-3AD203B41FA5}">
                      <a16:colId xmlns:a16="http://schemas.microsoft.com/office/drawing/2014/main" val="1973990813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Lift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0.43/(0.86*0.43)=1.16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0.57/(0.86*0.71)=0.93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0.57/(0.86*0.71)=0.93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0.43/(0.43*0.71)=1.41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0.57/(0.71*0.71)=1.13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0.43/(0.86*0.71*0.71)=0.99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89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4766" y="1208868"/>
                <a:ext cx="11272433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Conviction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Interpret conviction as </a:t>
                </a:r>
                <a:r>
                  <a:rPr lang="en-US" b="1" dirty="0"/>
                  <a:t>reliability of the association rule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 </a:t>
                </a:r>
                <a:endParaRPr lang="en-US" dirty="0"/>
              </a:p>
              <a:p>
                <a:r>
                  <a:rPr lang="en-US" dirty="0"/>
                  <a:t>In other words, conviction is the </a:t>
                </a:r>
                <a:r>
                  <a:rPr lang="en-US" b="1" dirty="0"/>
                  <a:t>ratio that the rule,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, makes an incorrect prediction compared to observed frequency of incorrect predictions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correct more often than random chance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wrong more often than random chance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conviction in </a:t>
                </a:r>
                <a:r>
                  <a:rPr lang="en-US" b="1" dirty="0"/>
                  <a:t>unbounded!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766" y="1208868"/>
                <a:ext cx="11272433" cy="5447426"/>
              </a:xfrm>
              <a:blipFill>
                <a:blip r:embed="rId2"/>
                <a:stretch>
                  <a:fillRect l="-1136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328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885660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Conviction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6807965"/>
                  </p:ext>
                </p:extLst>
              </p:nvPr>
            </p:nvGraphicFramePr>
            <p:xfrm>
              <a:off x="4938823" y="1427420"/>
              <a:ext cx="6807417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7037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62986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2176938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.57/.57=1.0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.14/0.0=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.29/0.0=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.57/.39=1.46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.29/.24=1.20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.29/.24=1.20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.14/.24=0.58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6807965"/>
                  </p:ext>
                </p:extLst>
              </p:nvPr>
            </p:nvGraphicFramePr>
            <p:xfrm>
              <a:off x="4938823" y="1427420"/>
              <a:ext cx="6807417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7037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62986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2176938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.57/.57=1.0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165" t="-214754" r="-1401" b="-11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165" t="-713115" r="-1401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.57/.39=1.46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.29/.24=1.20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.29/.24=1.20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.14/.24=0.58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B4378E58-05E2-4EB0-93A1-CDCC60F5B24A}"/>
              </a:ext>
            </a:extLst>
          </p:cNvPr>
          <p:cNvSpPr/>
          <p:nvPr/>
        </p:nvSpPr>
        <p:spPr>
          <a:xfrm>
            <a:off x="3001040" y="3524865"/>
            <a:ext cx="1778296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877CDBB8-CF96-44AD-B2B5-B80CC71F0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377917"/>
              </p:ext>
            </p:extLst>
          </p:nvPr>
        </p:nvGraphicFramePr>
        <p:xfrm>
          <a:off x="182527" y="2346371"/>
          <a:ext cx="2759148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264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59488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110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1" y="1594883"/>
                <a:ext cx="2280683" cy="47015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Example: </a:t>
                </a:r>
                <a:r>
                  <a:rPr lang="en-US" b="1" dirty="0"/>
                  <a:t>Summary </a:t>
                </a:r>
                <a:r>
                  <a:rPr lang="en-US" dirty="0"/>
                  <a:t>for association rules</a:t>
                </a:r>
              </a:p>
              <a:p>
                <a:pPr marL="0" indent="0">
                  <a:buNone/>
                </a:pPr>
                <a:r>
                  <a:rPr lang="en-US" b="1" dirty="0"/>
                  <a:t>Rules </a:t>
                </a:r>
                <a:r>
                  <a:rPr lang="en-US" dirty="0"/>
                  <a:t>with lift &gt;1 and conviction &gt; 1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 convicton occurs when confidence = 1.0!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1" y="1594883"/>
                <a:ext cx="2280683" cy="4701555"/>
              </a:xfrm>
              <a:blipFill>
                <a:blip r:embed="rId2"/>
                <a:stretch>
                  <a:fillRect l="-5615" t="-2205" r="-6684" b="-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075345"/>
                  </p:ext>
                </p:extLst>
              </p:nvPr>
            </p:nvGraphicFramePr>
            <p:xfrm>
              <a:off x="2697982" y="1358015"/>
              <a:ext cx="9204280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8668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679944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  <a:gridCol w="1616149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1376916">
                      <a:extLst>
                        <a:ext uri="{9D8B030D-6E8A-4147-A177-3AD203B41FA5}">
                          <a16:colId xmlns:a16="http://schemas.microsoft.com/office/drawing/2014/main" val="1577975422"/>
                        </a:ext>
                      </a:extLst>
                    </a:gridCol>
                    <a:gridCol w="1592147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Support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0.58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075345"/>
                  </p:ext>
                </p:extLst>
              </p:nvPr>
            </p:nvGraphicFramePr>
            <p:xfrm>
              <a:off x="2697982" y="1358015"/>
              <a:ext cx="9204280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8668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679944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  <a:gridCol w="1616149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1376916">
                      <a:extLst>
                        <a:ext uri="{9D8B030D-6E8A-4147-A177-3AD203B41FA5}">
                          <a16:colId xmlns:a16="http://schemas.microsoft.com/office/drawing/2014/main" val="1577975422"/>
                        </a:ext>
                      </a:extLst>
                    </a:gridCol>
                    <a:gridCol w="1592147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Support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9310" t="-214754" r="-1533" b="-1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9310" t="-714754" r="-1533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0.58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9344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4093474"/>
                  </p:ext>
                </p:extLst>
              </p:nvPr>
            </p:nvGraphicFramePr>
            <p:xfrm>
              <a:off x="365760" y="1190905"/>
              <a:ext cx="11328110" cy="42747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7764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4832430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4997916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Interpretation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469458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Support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⊆</m:t>
                                            </m:r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Probability that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sz="2200" dirty="0"/>
                            <a:t> occurs in a basket 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Confidence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𝐶𝑜𝑛𝑓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⇒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∩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Probability that the rule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sz="2200" dirty="0"/>
                            <a:t> makes a correct prediction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𝐿𝑖𝑓𝑡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⇒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∩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  <m:r>
                                      <a:rPr lang="en-US" sz="2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Increase in association from the rule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sz="2200" dirty="0"/>
                            <a:t> over random occurrence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Conviction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𝐶𝑜𝑛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⇒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𝐶𝑜𝑛𝑓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⇒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b="0" dirty="0"/>
                            <a:t>ratio that the rule,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sz="2200" b="0" dirty="0"/>
                            <a:t>, makes an incorrect prediction compared to observed frequency of incorrect predictions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4093474"/>
                  </p:ext>
                </p:extLst>
              </p:nvPr>
            </p:nvGraphicFramePr>
            <p:xfrm>
              <a:off x="365760" y="1190905"/>
              <a:ext cx="11328110" cy="42747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7764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4832430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4997916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Interpretation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787718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Support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274" t="-64341" r="-103909" b="-4015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6951" t="-64341" r="-488" b="-4015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7986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Confidence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274" t="-160606" r="-103909" b="-292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6951" t="-160606" r="-488" b="-2924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7986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274" t="-262595" r="-103909" b="-194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6951" t="-262595" r="-488" b="-1946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143256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Conviction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274" t="-202128" r="-103909" b="-85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6951" t="-202128" r="-488" b="-85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688866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Improving the </a:t>
            </a:r>
            <a:r>
              <a:rPr lang="en-US" sz="4000" dirty="0" err="1"/>
              <a:t>Apriori</a:t>
            </a:r>
            <a:r>
              <a:rPr lang="en-US" sz="4000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4185724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Improving on </a:t>
            </a:r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13" y="1208868"/>
            <a:ext cx="11392785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improve the </a:t>
            </a:r>
            <a:r>
              <a:rPr lang="en-US" dirty="0" err="1"/>
              <a:t>apriori</a:t>
            </a:r>
            <a:r>
              <a:rPr lang="en-US" dirty="0"/>
              <a:t> algorithm? </a:t>
            </a:r>
          </a:p>
          <a:p>
            <a:r>
              <a:rPr lang="en-US" dirty="0"/>
              <a:t>Many proposals </a:t>
            </a:r>
          </a:p>
          <a:p>
            <a:r>
              <a:rPr lang="en-US" dirty="0"/>
              <a:t>Make clever use of hash tables  </a:t>
            </a:r>
          </a:p>
          <a:p>
            <a:pPr lvl="1"/>
            <a:r>
              <a:rPr lang="en-US" dirty="0"/>
              <a:t>Exploit aspects of the </a:t>
            </a:r>
            <a:r>
              <a:rPr lang="en-US" altLang="en-US" dirty="0"/>
              <a:t>downward closure property of sets and subsets </a:t>
            </a:r>
          </a:p>
          <a:p>
            <a:pPr lvl="1"/>
            <a:r>
              <a:rPr lang="en-US" dirty="0"/>
              <a:t>Success depends on frequency of item sets</a:t>
            </a:r>
          </a:p>
          <a:p>
            <a:r>
              <a:rPr lang="en-US" dirty="0"/>
              <a:t>For example, the </a:t>
            </a:r>
            <a:r>
              <a:rPr lang="en-US" dirty="0">
                <a:hlinkClick r:id="rId2"/>
              </a:rPr>
              <a:t>Park, Chen, Yu (PCY) algorithm </a:t>
            </a:r>
            <a:r>
              <a:rPr lang="en-US" dirty="0"/>
              <a:t>proposed in 1995</a:t>
            </a:r>
          </a:p>
          <a:p>
            <a:pPr lvl="1"/>
            <a:r>
              <a:rPr lang="en-US" dirty="0"/>
              <a:t>Modification to basic </a:t>
            </a:r>
            <a:r>
              <a:rPr lang="en-US" dirty="0" err="1"/>
              <a:t>apriori</a:t>
            </a:r>
            <a:r>
              <a:rPr lang="en-US" dirty="0"/>
              <a:t> algorithm</a:t>
            </a:r>
          </a:p>
          <a:p>
            <a:pPr lvl="1"/>
            <a:r>
              <a:rPr lang="en-US" dirty="0"/>
              <a:t>Uses hash table or </a:t>
            </a:r>
            <a:r>
              <a:rPr lang="en-US" b="1" dirty="0"/>
              <a:t>sketch</a:t>
            </a:r>
            <a:r>
              <a:rPr lang="en-US" dirty="0"/>
              <a:t> to filter frequent item sets  </a:t>
            </a:r>
          </a:p>
          <a:p>
            <a:pPr lvl="1"/>
            <a:r>
              <a:rPr lang="en-US" dirty="0"/>
              <a:t>Similar to a Bloom filter</a:t>
            </a:r>
          </a:p>
          <a:p>
            <a:endParaRPr lang="en-US" dirty="0"/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2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Database of baskets</a:t>
                </a:r>
              </a:p>
              <a:p>
                <a:r>
                  <a:rPr lang="en-US" dirty="0"/>
                  <a:t>On </a:t>
                </a:r>
                <a:r>
                  <a:rPr lang="en-US" b="1" dirty="0"/>
                  <a:t>first pass</a:t>
                </a:r>
                <a:r>
                  <a:rPr lang="en-US" dirty="0"/>
                  <a:t> use simple hash of first letter of identifier</a:t>
                </a:r>
              </a:p>
              <a:p>
                <a:r>
                  <a:rPr lang="en-US" dirty="0"/>
                  <a:t>Hash first basket and add counts to buckets</a:t>
                </a:r>
              </a:p>
              <a:p>
                <a:r>
                  <a:rPr lang="en-US" dirty="0"/>
                  <a:t>Notice </a:t>
                </a:r>
                <a:r>
                  <a:rPr lang="en-US" b="1" dirty="0"/>
                  <a:t>hash collisions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033906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296137"/>
              </p:ext>
            </p:extLst>
          </p:nvPr>
        </p:nvGraphicFramePr>
        <p:xfrm>
          <a:off x="7103988" y="3510216"/>
          <a:ext cx="394798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384763" y="3962099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7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Continue first pass</a:t>
                </a:r>
              </a:p>
              <a:p>
                <a:r>
                  <a:rPr lang="en-US" dirty="0"/>
                  <a:t>Hash second basket and add counts to buckets </a:t>
                </a:r>
              </a:p>
              <a:p>
                <a:r>
                  <a:rPr lang="en-US" dirty="0"/>
                  <a:t>More has collisions!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230908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10885"/>
              </p:ext>
            </p:extLst>
          </p:nvPr>
        </p:nvGraphicFramePr>
        <p:xfrm>
          <a:off x="7103988" y="3510216"/>
          <a:ext cx="394798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432184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404089" y="441398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8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Hash all other baskets in order and add counts to buckets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018655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802793"/>
              </p:ext>
            </p:extLst>
          </p:nvPr>
        </p:nvGraphicFramePr>
        <p:xfrm>
          <a:off x="7103988" y="3510216"/>
          <a:ext cx="39479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432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em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277435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404089" y="441398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1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Filter after first pass </a:t>
                </a:r>
              </a:p>
              <a:p>
                <a:r>
                  <a:rPr lang="en-US" dirty="0"/>
                  <a:t>For count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, only one hash bucket remains </a:t>
                </a:r>
              </a:p>
              <a:p>
                <a:r>
                  <a:rPr lang="en-US" dirty="0"/>
                  <a:t>Only pairs in hash bucket need to be considered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𝑏𝑢𝑡𝑡𝑒𝑟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𝑒𝑔𝑔𝑠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𝑏𝑟𝑒𝑎𝑑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𝑒𝑔𝑔𝑠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𝑏𝑎𝑐𝑜𝑛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𝑒𝑔𝑔𝑠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322254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651791"/>
              </p:ext>
            </p:extLst>
          </p:nvPr>
        </p:nvGraphicFramePr>
        <p:xfrm>
          <a:off x="7103988" y="3510216"/>
          <a:ext cx="39479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432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em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277435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404089" y="441398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9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PYC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17" y="1208868"/>
            <a:ext cx="11432582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Hash filters reduce memory use </a:t>
            </a:r>
          </a:p>
          <a:p>
            <a:r>
              <a:rPr lang="en-US" dirty="0"/>
              <a:t>Like a Bloom filter, the are no false negatives, only false positives </a:t>
            </a:r>
          </a:p>
          <a:p>
            <a:r>
              <a:rPr lang="en-US" dirty="0"/>
              <a:t>For sparse item sets, PYC algorithm significantly reduces memory use compared to </a:t>
            </a:r>
            <a:r>
              <a:rPr lang="en-US" dirty="0" err="1"/>
              <a:t>aprioir</a:t>
            </a:r>
            <a:r>
              <a:rPr lang="en-US" dirty="0"/>
              <a:t>   </a:t>
            </a:r>
          </a:p>
          <a:p>
            <a:pPr lvl="1"/>
            <a:r>
              <a:rPr lang="en-US" dirty="0"/>
              <a:t>Only count pairs with positive hash in table </a:t>
            </a:r>
          </a:p>
          <a:p>
            <a:pPr lvl="1"/>
            <a:r>
              <a:rPr lang="en-US" dirty="0"/>
              <a:t>Reduce pairs considered by downward closure property of sets    </a:t>
            </a:r>
          </a:p>
          <a:p>
            <a:r>
              <a:rPr lang="en-US" dirty="0"/>
              <a:t>Can create new hash tables with triples for other passes </a:t>
            </a:r>
          </a:p>
          <a:p>
            <a:r>
              <a:rPr lang="en-US" dirty="0"/>
              <a:t>More sophisticated implementations use multiple hash tables </a:t>
            </a:r>
          </a:p>
          <a:p>
            <a:pPr lvl="1"/>
            <a:r>
              <a:rPr lang="en-US" dirty="0"/>
              <a:t>Reduce false positive rate</a:t>
            </a:r>
          </a:p>
          <a:p>
            <a:pPr lvl="1"/>
            <a:r>
              <a:rPr lang="en-US" dirty="0"/>
              <a:t>Trade-off between memory use and computational complexity 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0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FP-Growth Algorithm</a:t>
            </a:r>
          </a:p>
        </p:txBody>
      </p:sp>
    </p:spTree>
    <p:extLst>
      <p:ext uri="{BB962C8B-B14F-4D97-AF65-F5344CB8AC3E}">
        <p14:creationId xmlns:p14="http://schemas.microsoft.com/office/powerpoint/2010/main" val="34648936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17" y="1208868"/>
            <a:ext cx="11432582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Frequent pattern (FP) growth algorithm</a:t>
            </a:r>
          </a:p>
          <a:p>
            <a:r>
              <a:rPr lang="en-US" dirty="0"/>
              <a:t>The FP growth algorithm proposed by </a:t>
            </a:r>
            <a:r>
              <a:rPr lang="en-US" dirty="0">
                <a:hlinkClick r:id="rId2"/>
              </a:rPr>
              <a:t>Han et.al. (2004) </a:t>
            </a:r>
            <a:r>
              <a:rPr lang="en-US" dirty="0"/>
              <a:t>as a possible improvement over </a:t>
            </a:r>
            <a:r>
              <a:rPr lang="en-US" dirty="0" err="1"/>
              <a:t>apriori</a:t>
            </a:r>
            <a:r>
              <a:rPr lang="en-US" dirty="0"/>
              <a:t>    </a:t>
            </a:r>
          </a:p>
          <a:p>
            <a:r>
              <a:rPr lang="en-US" dirty="0"/>
              <a:t>Advantages of FP growth</a:t>
            </a:r>
          </a:p>
          <a:p>
            <a:pPr lvl="1"/>
            <a:r>
              <a:rPr lang="en-US" dirty="0"/>
              <a:t>Computationally efficient</a:t>
            </a:r>
          </a:p>
          <a:p>
            <a:pPr lvl="1"/>
            <a:r>
              <a:rPr lang="en-US" dirty="0"/>
              <a:t>Potentially significant </a:t>
            </a:r>
            <a:r>
              <a:rPr lang="en-US" b="1" dirty="0"/>
              <a:t>reduction in memory use </a:t>
            </a:r>
          </a:p>
          <a:p>
            <a:pPr lvl="1"/>
            <a:r>
              <a:rPr lang="en-US" dirty="0"/>
              <a:t>Compression in representation from </a:t>
            </a:r>
            <a:r>
              <a:rPr lang="en-US" b="1" dirty="0"/>
              <a:t>downward closure property </a:t>
            </a:r>
            <a:r>
              <a:rPr lang="en-US" dirty="0"/>
              <a:t>of sets </a:t>
            </a:r>
          </a:p>
          <a:p>
            <a:r>
              <a:rPr lang="en-US" dirty="0"/>
              <a:t>FP growth grows a tree (graph) of item sets </a:t>
            </a:r>
          </a:p>
          <a:p>
            <a:pPr lvl="1"/>
            <a:r>
              <a:rPr lang="en-US" dirty="0"/>
              <a:t>Counts of occurrence are maintained in the tree </a:t>
            </a:r>
          </a:p>
          <a:p>
            <a:pPr lvl="1"/>
            <a:r>
              <a:rPr lang="en-US" dirty="0"/>
              <a:t>Pointers across branches used to sum frequency of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254642"/>
            <a:ext cx="10818628" cy="160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Start with small database</a:t>
            </a:r>
          </a:p>
          <a:p>
            <a:r>
              <a:rPr lang="en-US" dirty="0"/>
              <a:t>Sort sets by item frequency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9FA1968-9262-4113-9011-11039A63B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501086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D19037E9-A138-4B5F-BF30-E8C15F676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438211"/>
              </p:ext>
            </p:extLst>
          </p:nvPr>
        </p:nvGraphicFramePr>
        <p:xfrm>
          <a:off x="4966882" y="3279311"/>
          <a:ext cx="2258236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11D3A935-7672-F0E0-AE5A-F9354560B53D}"/>
              </a:ext>
            </a:extLst>
          </p:cNvPr>
          <p:cNvSpPr/>
          <p:nvPr/>
        </p:nvSpPr>
        <p:spPr>
          <a:xfrm>
            <a:off x="2934365" y="4215427"/>
            <a:ext cx="1778296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02D9B-955D-F5F8-723C-999CBEB87AE8}"/>
              </a:ext>
            </a:extLst>
          </p:cNvPr>
          <p:cNvSpPr txBox="1"/>
          <p:nvPr/>
        </p:nvSpPr>
        <p:spPr>
          <a:xfrm>
            <a:off x="3468706" y="4624388"/>
            <a:ext cx="709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Sort</a:t>
            </a:r>
          </a:p>
        </p:txBody>
      </p:sp>
    </p:spTree>
    <p:extLst>
      <p:ext uri="{BB962C8B-B14F-4D97-AF65-F5344CB8AC3E}">
        <p14:creationId xmlns:p14="http://schemas.microsoft.com/office/powerpoint/2010/main" val="424107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53963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Build tree branch for 1</a:t>
            </a:r>
            <a:r>
              <a:rPr lang="en-US" baseline="30000" dirty="0"/>
              <a:t>st</a:t>
            </a:r>
            <a:r>
              <a:rPr lang="en-US" dirty="0"/>
              <a:t> item set</a:t>
            </a:r>
          </a:p>
          <a:p>
            <a:r>
              <a:rPr lang="en-US" dirty="0"/>
              <a:t>Start with set containing most frequent item, a, ordered by frequency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5033" y="2475735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380074" y="320147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75897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7C30A1-67BF-99E9-FA65-458FCCA9DEBC}"/>
              </a:ext>
            </a:extLst>
          </p:cNvPr>
          <p:cNvCxnSpPr>
            <a:cxnSpLocks/>
          </p:cNvCxnSpPr>
          <p:nvPr/>
        </p:nvCxnSpPr>
        <p:spPr>
          <a:xfrm flipH="1" flipV="1">
            <a:off x="7038310" y="2899658"/>
            <a:ext cx="961804" cy="14313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DC40E90-CDF8-269B-0903-6BC9310C494D}"/>
              </a:ext>
            </a:extLst>
          </p:cNvPr>
          <p:cNvSpPr txBox="1">
            <a:spLocks/>
          </p:cNvSpPr>
          <p:nvPr/>
        </p:nvSpPr>
        <p:spPr>
          <a:xfrm>
            <a:off x="8026278" y="4297738"/>
            <a:ext cx="1859928" cy="55406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Items and counts in sets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6FB88B3-5873-9013-BE93-1BFBD9EF0D35}"/>
              </a:ext>
            </a:extLst>
          </p:cNvPr>
          <p:cNvCxnSpPr>
            <a:cxnSpLocks/>
          </p:cNvCxnSpPr>
          <p:nvPr/>
        </p:nvCxnSpPr>
        <p:spPr>
          <a:xfrm flipH="1">
            <a:off x="5057898" y="4528566"/>
            <a:ext cx="2762127" cy="16725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5613B6-466A-9F7E-774F-6758DE4C78B9}"/>
              </a:ext>
            </a:extLst>
          </p:cNvPr>
          <p:cNvCxnSpPr>
            <a:cxnSpLocks/>
          </p:cNvCxnSpPr>
          <p:nvPr/>
        </p:nvCxnSpPr>
        <p:spPr>
          <a:xfrm flipH="1" flipV="1">
            <a:off x="5729288" y="4185474"/>
            <a:ext cx="2191822" cy="2662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CC302A-09A7-1CB8-817C-84F1DF0EEE01}"/>
              </a:ext>
            </a:extLst>
          </p:cNvPr>
          <p:cNvCxnSpPr>
            <a:cxnSpLocks/>
          </p:cNvCxnSpPr>
          <p:nvPr/>
        </p:nvCxnSpPr>
        <p:spPr>
          <a:xfrm flipH="1" flipV="1">
            <a:off x="6381750" y="3572782"/>
            <a:ext cx="1539360" cy="82527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35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  <p:bldP spid="8" grpId="0" animBg="1"/>
      <p:bldP spid="9" grpId="0"/>
      <p:bldP spid="10" grpId="0" animBg="1"/>
      <p:bldP spid="12" grpId="0"/>
      <p:bldP spid="16" grpId="0" animBg="1"/>
      <p:bldP spid="17" grpId="0"/>
      <p:bldP spid="19" grpId="0" animBg="1"/>
      <p:bldP spid="20" grpId="0"/>
      <p:bldP spid="2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Increment count of items in next set containing first set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5946606" y="2559980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380074" y="320147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28525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ED9FD9E-F54A-D8F7-FAEB-BBE480CA4CD2}"/>
              </a:ext>
            </a:extLst>
          </p:cNvPr>
          <p:cNvSpPr txBox="1">
            <a:spLocks/>
          </p:cNvSpPr>
          <p:nvPr/>
        </p:nvSpPr>
        <p:spPr>
          <a:xfrm>
            <a:off x="8026278" y="4297738"/>
            <a:ext cx="2191822" cy="55406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Increment counts for members of set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21139F-B5AF-4610-27E0-6743FD376DE1}"/>
              </a:ext>
            </a:extLst>
          </p:cNvPr>
          <p:cNvCxnSpPr>
            <a:cxnSpLocks/>
          </p:cNvCxnSpPr>
          <p:nvPr/>
        </p:nvCxnSpPr>
        <p:spPr>
          <a:xfrm flipH="1" flipV="1">
            <a:off x="5729288" y="4185474"/>
            <a:ext cx="2191822" cy="2662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49F9D5-76DA-BFDD-E0A9-62937E88393E}"/>
              </a:ext>
            </a:extLst>
          </p:cNvPr>
          <p:cNvCxnSpPr>
            <a:cxnSpLocks/>
          </p:cNvCxnSpPr>
          <p:nvPr/>
        </p:nvCxnSpPr>
        <p:spPr>
          <a:xfrm flipH="1" flipV="1">
            <a:off x="6381750" y="3572782"/>
            <a:ext cx="1539360" cy="82527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57C1D4-7B63-5FCD-B19E-BEACF3FC2ECE}"/>
              </a:ext>
            </a:extLst>
          </p:cNvPr>
          <p:cNvCxnSpPr>
            <a:cxnSpLocks/>
          </p:cNvCxnSpPr>
          <p:nvPr/>
        </p:nvCxnSpPr>
        <p:spPr>
          <a:xfrm flipH="1" flipV="1">
            <a:off x="7038310" y="2899658"/>
            <a:ext cx="961804" cy="14313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19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Create branch for next item set containing most frequent item, a</a:t>
            </a:r>
          </a:p>
          <a:p>
            <a:r>
              <a:rPr lang="en-US" dirty="0"/>
              <a:t>Increment counts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723243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11926" y="440029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3198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pointers between common items in branches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482829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5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branch for next set in sort order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/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20929" y="346049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7546282" y="362504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6973186" y="2760035"/>
            <a:ext cx="1048753" cy="7062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5054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branch for next set in sort order</a:t>
            </a:r>
          </a:p>
          <a:p>
            <a:r>
              <a:rPr lang="en-US" dirty="0"/>
              <a:t>Increment counts </a:t>
            </a:r>
          </a:p>
          <a:p>
            <a:r>
              <a:rPr lang="en-US" dirty="0"/>
              <a:t>Pointers between common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795030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31707" y="342900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8157937" y="331162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b:2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6973186" y="2760035"/>
            <a:ext cx="988106" cy="6977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8708598" y="4426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8918170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</p:cNvCxnSpPr>
          <p:nvPr/>
        </p:nvCxnSpPr>
        <p:spPr>
          <a:xfrm>
            <a:off x="8104141" y="3596896"/>
            <a:ext cx="650508" cy="8968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stCxn id="32" idx="2"/>
            <a:endCxn id="10" idx="5"/>
          </p:cNvCxnSpPr>
          <p:nvPr/>
        </p:nvCxnSpPr>
        <p:spPr>
          <a:xfrm flipH="1" flipV="1">
            <a:off x="6245396" y="3471078"/>
            <a:ext cx="2463202" cy="105366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2925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branch for next set in sort order</a:t>
            </a:r>
          </a:p>
          <a:p>
            <a:r>
              <a:rPr lang="en-US" dirty="0"/>
              <a:t>Increment counts </a:t>
            </a:r>
          </a:p>
          <a:p>
            <a:r>
              <a:rPr lang="en-US" dirty="0"/>
              <a:t>Pointers between common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675542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20929" y="346049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7546282" y="362504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6973186" y="2760035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8715575" y="431811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8269184" y="442034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  <a:endCxn id="32" idx="1"/>
          </p:cNvCxnSpPr>
          <p:nvPr/>
        </p:nvCxnSpPr>
        <p:spPr>
          <a:xfrm>
            <a:off x="8093363" y="3628395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6245396" y="3471078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0EA00C2-778B-A046-5AED-9A872155EC38}"/>
              </a:ext>
            </a:extLst>
          </p:cNvPr>
          <p:cNvSpPr/>
          <p:nvPr/>
        </p:nvSpPr>
        <p:spPr>
          <a:xfrm>
            <a:off x="9503213" y="517356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800A96-7DA8-3908-F8A8-9BDBD669A7BF}"/>
              </a:ext>
            </a:extLst>
          </p:cNvPr>
          <p:cNvSpPr txBox="1"/>
          <p:nvPr/>
        </p:nvSpPr>
        <p:spPr>
          <a:xfrm>
            <a:off x="9056822" y="52757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D8E85D1-1B13-E483-2EFA-03EF693531D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881001" y="448384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AF2A8B-91A9-1D85-5558-82B4AAB4819C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7259147" y="3769821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6265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Finally, add the last branch! </a:t>
            </a:r>
          </a:p>
          <a:p>
            <a:r>
              <a:rPr lang="en-US" dirty="0"/>
              <a:t>Pointers between common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307874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20929" y="346049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7546282" y="362504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6973186" y="2760035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8715575" y="431811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8269184" y="442034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  <a:endCxn id="32" idx="1"/>
          </p:cNvCxnSpPr>
          <p:nvPr/>
        </p:nvCxnSpPr>
        <p:spPr>
          <a:xfrm>
            <a:off x="8093363" y="3628395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6245396" y="3471078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0EA00C2-778B-A046-5AED-9A872155EC38}"/>
              </a:ext>
            </a:extLst>
          </p:cNvPr>
          <p:cNvSpPr/>
          <p:nvPr/>
        </p:nvSpPr>
        <p:spPr>
          <a:xfrm>
            <a:off x="9503213" y="517356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800A96-7DA8-3908-F8A8-9BDBD669A7BF}"/>
              </a:ext>
            </a:extLst>
          </p:cNvPr>
          <p:cNvSpPr txBox="1"/>
          <p:nvPr/>
        </p:nvSpPr>
        <p:spPr>
          <a:xfrm>
            <a:off x="9056822" y="52757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D8E85D1-1B13-E483-2EFA-03EF693531D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881001" y="448384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AF2A8B-91A9-1D85-5558-82B4AAB4819C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7259147" y="3769821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4D819E3-BA9F-DAC3-0510-31085B213890}"/>
              </a:ext>
            </a:extLst>
          </p:cNvPr>
          <p:cNvSpPr/>
          <p:nvPr/>
        </p:nvSpPr>
        <p:spPr>
          <a:xfrm>
            <a:off x="8526470" y="264701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9D5079-FE39-3D2E-7C29-1B50DCE4D810}"/>
              </a:ext>
            </a:extLst>
          </p:cNvPr>
          <p:cNvSpPr txBox="1"/>
          <p:nvPr/>
        </p:nvSpPr>
        <p:spPr>
          <a:xfrm>
            <a:off x="10303025" y="424407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D00985-FAA9-F59E-7B3E-9B998D4548BB}"/>
              </a:ext>
            </a:extLst>
          </p:cNvPr>
          <p:cNvSpPr/>
          <p:nvPr/>
        </p:nvSpPr>
        <p:spPr>
          <a:xfrm>
            <a:off x="9321116" y="350463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D2F2D0-6874-E7C2-9F8E-125C003B8607}"/>
              </a:ext>
            </a:extLst>
          </p:cNvPr>
          <p:cNvSpPr txBox="1"/>
          <p:nvPr/>
        </p:nvSpPr>
        <p:spPr>
          <a:xfrm>
            <a:off x="8750013" y="24294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8AEF95-1E72-71DB-FE05-444E75B4476F}"/>
              </a:ext>
            </a:extLst>
          </p:cNvPr>
          <p:cNvCxnSpPr>
            <a:cxnSpLocks/>
            <a:stCxn id="43" idx="5"/>
            <a:endCxn id="45" idx="1"/>
          </p:cNvCxnSpPr>
          <p:nvPr/>
        </p:nvCxnSpPr>
        <p:spPr>
          <a:xfrm>
            <a:off x="8698904" y="2814915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261C68E-B575-B342-57AF-9C76CB6DC222}"/>
              </a:ext>
            </a:extLst>
          </p:cNvPr>
          <p:cNvSpPr/>
          <p:nvPr/>
        </p:nvSpPr>
        <p:spPr>
          <a:xfrm>
            <a:off x="10108754" y="436008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215F0C-6C5B-997D-FDB9-516B0A74BB2C}"/>
              </a:ext>
            </a:extLst>
          </p:cNvPr>
          <p:cNvSpPr txBox="1"/>
          <p:nvPr/>
        </p:nvSpPr>
        <p:spPr>
          <a:xfrm>
            <a:off x="9474920" y="328925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EAFEBEC-A665-DE28-553A-DC045E738EF7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9486542" y="367036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9692960-DEA4-81C7-DF03-22CCCBBA6C9A}"/>
              </a:ext>
            </a:extLst>
          </p:cNvPr>
          <p:cNvCxnSpPr>
            <a:cxnSpLocks/>
            <a:stCxn id="5" idx="5"/>
            <a:endCxn id="43" idx="1"/>
          </p:cNvCxnSpPr>
          <p:nvPr/>
        </p:nvCxnSpPr>
        <p:spPr>
          <a:xfrm>
            <a:off x="7641806" y="2188082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65A2B5D-0E36-AF7B-0588-46B7DDE0A928}"/>
              </a:ext>
            </a:extLst>
          </p:cNvPr>
          <p:cNvCxnSpPr>
            <a:cxnSpLocks/>
            <a:endCxn id="39" idx="7"/>
          </p:cNvCxnSpPr>
          <p:nvPr/>
        </p:nvCxnSpPr>
        <p:spPr>
          <a:xfrm>
            <a:off x="9420529" y="3657201"/>
            <a:ext cx="255118" cy="1545174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9708864-9C61-F701-B771-0A430379651E}"/>
              </a:ext>
            </a:extLst>
          </p:cNvPr>
          <p:cNvCxnSpPr>
            <a:cxnSpLocks/>
          </p:cNvCxnSpPr>
          <p:nvPr/>
        </p:nvCxnSpPr>
        <p:spPr>
          <a:xfrm>
            <a:off x="8668042" y="2811042"/>
            <a:ext cx="245942" cy="153764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51FA704-6FA7-CFE9-A6DC-96414B341095}"/>
              </a:ext>
            </a:extLst>
          </p:cNvPr>
          <p:cNvCxnSpPr>
            <a:cxnSpLocks/>
            <a:stCxn id="48" idx="2"/>
          </p:cNvCxnSpPr>
          <p:nvPr/>
        </p:nvCxnSpPr>
        <p:spPr>
          <a:xfrm flipH="1" flipV="1">
            <a:off x="8120961" y="3473900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4316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1041991"/>
                <a:ext cx="6767881" cy="25926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Use graph to find frequencies </a:t>
                </a:r>
              </a:p>
              <a:p>
                <a:r>
                  <a:rPr lang="en-US" dirty="0"/>
                  <a:t>Sum along pointers to find </a:t>
                </a:r>
                <a:r>
                  <a:rPr lang="en-US"/>
                  <a:t>item counts</a:t>
                </a:r>
              </a:p>
              <a:p>
                <a:r>
                  <a:rPr lang="en-US" dirty="0"/>
                  <a:t>Prune leaves with items count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, using pointers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1041991"/>
                <a:ext cx="6767881" cy="2592630"/>
              </a:xfrm>
              <a:blipFill>
                <a:blip r:embed="rId2"/>
                <a:stretch>
                  <a:fillRect l="-1892" t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8E5B6CC-D809-4311-B226-B3024F7D131B}"/>
              </a:ext>
            </a:extLst>
          </p:cNvPr>
          <p:cNvSpPr/>
          <p:nvPr/>
        </p:nvSpPr>
        <p:spPr>
          <a:xfrm>
            <a:off x="8485865" y="293993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CE090C-E47B-55D1-A74F-3357E1679891}"/>
              </a:ext>
            </a:extLst>
          </p:cNvPr>
          <p:cNvSpPr txBox="1"/>
          <p:nvPr/>
        </p:nvSpPr>
        <p:spPr>
          <a:xfrm>
            <a:off x="7693740" y="2838235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40E7FA2-A1D5-28D9-7843-F8EDECBD716D}"/>
              </a:ext>
            </a:extLst>
          </p:cNvPr>
          <p:cNvSpPr/>
          <p:nvPr/>
        </p:nvSpPr>
        <p:spPr>
          <a:xfrm>
            <a:off x="7787660" y="358143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031400-7008-3DE7-0BFF-4A39ABBACB38}"/>
              </a:ext>
            </a:extLst>
          </p:cNvPr>
          <p:cNvSpPr txBox="1"/>
          <p:nvPr/>
        </p:nvSpPr>
        <p:spPr>
          <a:xfrm>
            <a:off x="7267957" y="3439051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850F806-0DCF-228B-16A6-D66631A3D4F9}"/>
              </a:ext>
            </a:extLst>
          </p:cNvPr>
          <p:cNvSpPr/>
          <p:nvPr/>
        </p:nvSpPr>
        <p:spPr>
          <a:xfrm>
            <a:off x="7089455" y="422293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06ACB0-175F-D1D9-6331-A2B4D6F47518}"/>
              </a:ext>
            </a:extLst>
          </p:cNvPr>
          <p:cNvSpPr txBox="1"/>
          <p:nvPr/>
        </p:nvSpPr>
        <p:spPr>
          <a:xfrm>
            <a:off x="6534482" y="407208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FD44453-64DC-3A47-AA5C-DC9CCAA44260}"/>
              </a:ext>
            </a:extLst>
          </p:cNvPr>
          <p:cNvCxnSpPr>
            <a:cxnSpLocks/>
            <a:stCxn id="63" idx="3"/>
            <a:endCxn id="65" idx="7"/>
          </p:cNvCxnSpPr>
          <p:nvPr/>
        </p:nvCxnSpPr>
        <p:spPr>
          <a:xfrm flipH="1">
            <a:off x="7960094" y="3107835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9224B92-610F-9E17-299C-0CD071E85046}"/>
              </a:ext>
            </a:extLst>
          </p:cNvPr>
          <p:cNvCxnSpPr>
            <a:cxnSpLocks/>
            <a:stCxn id="65" idx="3"/>
            <a:endCxn id="68" idx="7"/>
          </p:cNvCxnSpPr>
          <p:nvPr/>
        </p:nvCxnSpPr>
        <p:spPr>
          <a:xfrm flipH="1">
            <a:off x="7261889" y="3749333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31353DF6-3393-164A-C9AC-113452E775C6}"/>
              </a:ext>
            </a:extLst>
          </p:cNvPr>
          <p:cNvSpPr/>
          <p:nvPr/>
        </p:nvSpPr>
        <p:spPr>
          <a:xfrm>
            <a:off x="6393909" y="483562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9A257F-751A-CA08-A522-B59B08902939}"/>
              </a:ext>
            </a:extLst>
          </p:cNvPr>
          <p:cNvSpPr txBox="1"/>
          <p:nvPr/>
        </p:nvSpPr>
        <p:spPr>
          <a:xfrm>
            <a:off x="5701021" y="473392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ED54807-9A40-D409-AEC0-7EC517C6BDD4}"/>
              </a:ext>
            </a:extLst>
          </p:cNvPr>
          <p:cNvCxnSpPr>
            <a:cxnSpLocks/>
            <a:endCxn id="72" idx="7"/>
          </p:cNvCxnSpPr>
          <p:nvPr/>
        </p:nvCxnSpPr>
        <p:spPr>
          <a:xfrm flipH="1">
            <a:off x="6566343" y="4362025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DA1B2BA1-5320-BF69-3038-EEAD5172B5D3}"/>
              </a:ext>
            </a:extLst>
          </p:cNvPr>
          <p:cNvSpPr/>
          <p:nvPr/>
        </p:nvSpPr>
        <p:spPr>
          <a:xfrm>
            <a:off x="5695704" y="5473146"/>
            <a:ext cx="202019" cy="196702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7A8555-B9A1-48CD-9482-2DEE7B5F42F9}"/>
              </a:ext>
            </a:extLst>
          </p:cNvPr>
          <p:cNvSpPr txBox="1"/>
          <p:nvPr/>
        </p:nvSpPr>
        <p:spPr>
          <a:xfrm>
            <a:off x="5002816" y="5371442"/>
            <a:ext cx="545804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7DCFBBD-0CBD-0E89-78A8-8C213612E2DF}"/>
              </a:ext>
            </a:extLst>
          </p:cNvPr>
          <p:cNvCxnSpPr>
            <a:cxnSpLocks/>
            <a:endCxn id="75" idx="7"/>
          </p:cNvCxnSpPr>
          <p:nvPr/>
        </p:nvCxnSpPr>
        <p:spPr>
          <a:xfrm flipH="1">
            <a:off x="5868138" y="4999544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505C7761-0C17-6DD8-A98F-DAC6D88E1CAF}"/>
              </a:ext>
            </a:extLst>
          </p:cNvPr>
          <p:cNvSpPr/>
          <p:nvPr/>
        </p:nvSpPr>
        <p:spPr>
          <a:xfrm>
            <a:off x="8091424" y="451558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A9E25EF-32A3-43BE-6C28-632B34D593AB}"/>
              </a:ext>
            </a:extLst>
          </p:cNvPr>
          <p:cNvSpPr txBox="1"/>
          <p:nvPr/>
        </p:nvSpPr>
        <p:spPr>
          <a:xfrm>
            <a:off x="7716777" y="468012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CDFE97D-C923-5DC8-78B1-4AA7B6BF1BF3}"/>
              </a:ext>
            </a:extLst>
          </p:cNvPr>
          <p:cNvCxnSpPr>
            <a:cxnSpLocks/>
            <a:stCxn id="65" idx="5"/>
          </p:cNvCxnSpPr>
          <p:nvPr/>
        </p:nvCxnSpPr>
        <p:spPr>
          <a:xfrm>
            <a:off x="7960094" y="3749333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027A2FDD-2E6C-3A0D-BB11-505DEAE0F40A}"/>
              </a:ext>
            </a:extLst>
          </p:cNvPr>
          <p:cNvSpPr/>
          <p:nvPr/>
        </p:nvSpPr>
        <p:spPr>
          <a:xfrm>
            <a:off x="8283846" y="5403601"/>
            <a:ext cx="202019" cy="196702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B7A61D9-E649-A80D-5668-E0D85E84EE16}"/>
              </a:ext>
            </a:extLst>
          </p:cNvPr>
          <p:cNvSpPr txBox="1"/>
          <p:nvPr/>
        </p:nvSpPr>
        <p:spPr>
          <a:xfrm>
            <a:off x="7792977" y="5521087"/>
            <a:ext cx="545804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18D9341-B0C8-3800-BFCC-5996E4EB8569}"/>
              </a:ext>
            </a:extLst>
          </p:cNvPr>
          <p:cNvCxnSpPr>
            <a:cxnSpLocks/>
            <a:stCxn id="78" idx="4"/>
            <a:endCxn id="81" idx="0"/>
          </p:cNvCxnSpPr>
          <p:nvPr/>
        </p:nvCxnSpPr>
        <p:spPr>
          <a:xfrm>
            <a:off x="8192434" y="4712283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CF5060C-F8A4-0750-5E87-E2CCC4279790}"/>
              </a:ext>
            </a:extLst>
          </p:cNvPr>
          <p:cNvCxnSpPr>
            <a:cxnSpLocks/>
            <a:endCxn id="72" idx="6"/>
          </p:cNvCxnSpPr>
          <p:nvPr/>
        </p:nvCxnSpPr>
        <p:spPr>
          <a:xfrm flipH="1">
            <a:off x="6595928" y="4611285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81E6CB3-0052-EDB6-3F91-94449A51A444}"/>
              </a:ext>
            </a:extLst>
          </p:cNvPr>
          <p:cNvCxnSpPr>
            <a:cxnSpLocks/>
            <a:endCxn id="75" idx="6"/>
          </p:cNvCxnSpPr>
          <p:nvPr/>
        </p:nvCxnSpPr>
        <p:spPr>
          <a:xfrm flipH="1">
            <a:off x="5897723" y="5497700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B306F25A-8EB6-896A-69FC-EF413305D3A3}"/>
              </a:ext>
            </a:extLst>
          </p:cNvPr>
          <p:cNvSpPr/>
          <p:nvPr/>
        </p:nvSpPr>
        <p:spPr>
          <a:xfrm>
            <a:off x="8937422" y="438025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C6AD00-D3F1-7FE2-AB7D-11C1AD563FC6}"/>
              </a:ext>
            </a:extLst>
          </p:cNvPr>
          <p:cNvSpPr txBox="1"/>
          <p:nvPr/>
        </p:nvSpPr>
        <p:spPr>
          <a:xfrm>
            <a:off x="8562775" y="454479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7DCF88E-3E9D-7782-B0AF-5BDB47EBA39E}"/>
              </a:ext>
            </a:extLst>
          </p:cNvPr>
          <p:cNvCxnSpPr>
            <a:cxnSpLocks/>
            <a:stCxn id="65" idx="6"/>
            <a:endCxn id="86" idx="1"/>
          </p:cNvCxnSpPr>
          <p:nvPr/>
        </p:nvCxnSpPr>
        <p:spPr>
          <a:xfrm>
            <a:off x="7989679" y="3679788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A1D7FCF1-0753-0524-FAA8-074ED634F9C0}"/>
              </a:ext>
            </a:extLst>
          </p:cNvPr>
          <p:cNvSpPr/>
          <p:nvPr/>
        </p:nvSpPr>
        <p:spPr>
          <a:xfrm>
            <a:off x="9732068" y="523786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7F8B853-67BA-C042-EB3D-3F22976A666B}"/>
              </a:ext>
            </a:extLst>
          </p:cNvPr>
          <p:cNvSpPr txBox="1"/>
          <p:nvPr/>
        </p:nvSpPr>
        <p:spPr>
          <a:xfrm>
            <a:off x="9285677" y="53400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11AFC7A-1EDF-6CFF-E3EC-BB36E66EA08E}"/>
              </a:ext>
            </a:extLst>
          </p:cNvPr>
          <p:cNvCxnSpPr>
            <a:cxnSpLocks/>
            <a:stCxn id="86" idx="5"/>
            <a:endCxn id="89" idx="1"/>
          </p:cNvCxnSpPr>
          <p:nvPr/>
        </p:nvCxnSpPr>
        <p:spPr>
          <a:xfrm>
            <a:off x="9109856" y="454814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E6CBB48-D41D-B8DA-09D2-10435D9EABC5}"/>
              </a:ext>
            </a:extLst>
          </p:cNvPr>
          <p:cNvCxnSpPr>
            <a:cxnSpLocks/>
            <a:endCxn id="68" idx="5"/>
          </p:cNvCxnSpPr>
          <p:nvPr/>
        </p:nvCxnSpPr>
        <p:spPr>
          <a:xfrm flipH="1" flipV="1">
            <a:off x="7261889" y="4390831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91EB1916-50BF-7BDC-EC8E-2AF7FEFDA1F3}"/>
              </a:ext>
            </a:extLst>
          </p:cNvPr>
          <p:cNvSpPr/>
          <p:nvPr/>
        </p:nvSpPr>
        <p:spPr>
          <a:xfrm>
            <a:off x="10519706" y="60933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0010054-A95E-4562-9CCB-DBE43AFAF7A4}"/>
              </a:ext>
            </a:extLst>
          </p:cNvPr>
          <p:cNvSpPr txBox="1"/>
          <p:nvPr/>
        </p:nvSpPr>
        <p:spPr>
          <a:xfrm>
            <a:off x="10073315" y="619554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4E774095-353B-877B-5740-8EB5644131BB}"/>
              </a:ext>
            </a:extLst>
          </p:cNvPr>
          <p:cNvCxnSpPr>
            <a:cxnSpLocks/>
            <a:endCxn id="93" idx="1"/>
          </p:cNvCxnSpPr>
          <p:nvPr/>
        </p:nvCxnSpPr>
        <p:spPr>
          <a:xfrm>
            <a:off x="9897494" y="54036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64C9B91-8273-C38A-2691-8D1422522759}"/>
              </a:ext>
            </a:extLst>
          </p:cNvPr>
          <p:cNvCxnSpPr>
            <a:cxnSpLocks/>
            <a:endCxn id="93" idx="2"/>
          </p:cNvCxnSpPr>
          <p:nvPr/>
        </p:nvCxnSpPr>
        <p:spPr>
          <a:xfrm>
            <a:off x="8275640" y="4689574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28EEE34C-1A5C-170A-AA8D-F7AB474251B3}"/>
              </a:ext>
            </a:extLst>
          </p:cNvPr>
          <p:cNvSpPr/>
          <p:nvPr/>
        </p:nvSpPr>
        <p:spPr>
          <a:xfrm>
            <a:off x="9542963" y="356677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54DE521-CB81-3C99-5335-7D946CFB4695}"/>
              </a:ext>
            </a:extLst>
          </p:cNvPr>
          <p:cNvSpPr txBox="1"/>
          <p:nvPr/>
        </p:nvSpPr>
        <p:spPr>
          <a:xfrm>
            <a:off x="11319518" y="517383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6532DFB-9885-6B9B-2CF0-661EAFFDDEE3}"/>
              </a:ext>
            </a:extLst>
          </p:cNvPr>
          <p:cNvSpPr/>
          <p:nvPr/>
        </p:nvSpPr>
        <p:spPr>
          <a:xfrm>
            <a:off x="10337609" y="442438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556F995-5C12-D761-485C-13B37866F057}"/>
              </a:ext>
            </a:extLst>
          </p:cNvPr>
          <p:cNvSpPr txBox="1"/>
          <p:nvPr/>
        </p:nvSpPr>
        <p:spPr>
          <a:xfrm>
            <a:off x="9724927" y="337802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8FE5599-5E18-09E8-1C99-B98C857286CA}"/>
              </a:ext>
            </a:extLst>
          </p:cNvPr>
          <p:cNvCxnSpPr>
            <a:cxnSpLocks/>
            <a:stCxn id="97" idx="5"/>
            <a:endCxn id="99" idx="1"/>
          </p:cNvCxnSpPr>
          <p:nvPr/>
        </p:nvCxnSpPr>
        <p:spPr>
          <a:xfrm>
            <a:off x="9715397" y="373466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71E0C28D-1B84-253C-FF7A-2A3B7DFB268B}"/>
              </a:ext>
            </a:extLst>
          </p:cNvPr>
          <p:cNvSpPr/>
          <p:nvPr/>
        </p:nvSpPr>
        <p:spPr>
          <a:xfrm>
            <a:off x="11125247" y="527984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43E32B9-A6BF-0BA4-71E5-39A059D186FF}"/>
              </a:ext>
            </a:extLst>
          </p:cNvPr>
          <p:cNvSpPr txBox="1"/>
          <p:nvPr/>
        </p:nvSpPr>
        <p:spPr>
          <a:xfrm>
            <a:off x="10448823" y="418807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1309573-CFF0-B744-1570-4B3040786BA0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10503035" y="459012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59E8DE3-91CB-F969-1A1D-56D9ECE837C2}"/>
              </a:ext>
            </a:extLst>
          </p:cNvPr>
          <p:cNvCxnSpPr>
            <a:cxnSpLocks/>
            <a:stCxn id="63" idx="5"/>
            <a:endCxn id="97" idx="1"/>
          </p:cNvCxnSpPr>
          <p:nvPr/>
        </p:nvCxnSpPr>
        <p:spPr>
          <a:xfrm>
            <a:off x="8658299" y="3107835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64E198B-8E7D-7448-0F0D-2ABAE937B62A}"/>
              </a:ext>
            </a:extLst>
          </p:cNvPr>
          <p:cNvCxnSpPr>
            <a:cxnSpLocks/>
            <a:endCxn id="93" idx="7"/>
          </p:cNvCxnSpPr>
          <p:nvPr/>
        </p:nvCxnSpPr>
        <p:spPr>
          <a:xfrm>
            <a:off x="10503035" y="4650151"/>
            <a:ext cx="189105" cy="147197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D6AEC64-E800-EA8E-CD61-D26B6D083A66}"/>
              </a:ext>
            </a:extLst>
          </p:cNvPr>
          <p:cNvCxnSpPr>
            <a:cxnSpLocks/>
          </p:cNvCxnSpPr>
          <p:nvPr/>
        </p:nvCxnSpPr>
        <p:spPr>
          <a:xfrm>
            <a:off x="9655878" y="3749158"/>
            <a:ext cx="274599" cy="151928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2B22CCB-5390-D7FB-FFF9-FD82412AD0CE}"/>
              </a:ext>
            </a:extLst>
          </p:cNvPr>
          <p:cNvCxnSpPr>
            <a:cxnSpLocks/>
            <a:stCxn id="102" idx="2"/>
          </p:cNvCxnSpPr>
          <p:nvPr/>
        </p:nvCxnSpPr>
        <p:spPr>
          <a:xfrm flipH="1" flipV="1">
            <a:off x="9137454" y="4393653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0691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041991"/>
            <a:ext cx="8059479" cy="1545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 graph to find frequencies </a:t>
            </a:r>
          </a:p>
          <a:p>
            <a:r>
              <a:rPr lang="en-US" dirty="0"/>
              <a:t>Sum from leaves to root to find item set frequency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8" name="Table 4">
            <a:extLst>
              <a:ext uri="{FF2B5EF4-FFF2-40B4-BE49-F238E27FC236}">
                <a16:creationId xmlns:a16="http://schemas.microsoft.com/office/drawing/2014/main" id="{52594E3E-81DC-4463-A3BA-DA756AF8F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932526"/>
              </p:ext>
            </p:extLst>
          </p:nvPr>
        </p:nvGraphicFramePr>
        <p:xfrm>
          <a:off x="9027751" y="2292194"/>
          <a:ext cx="2374611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4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35771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737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564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320088"/>
                  </a:ext>
                </a:extLst>
              </a:tr>
            </a:tbl>
          </a:graphicData>
        </a:graphic>
      </p:graphicFrame>
      <p:sp>
        <p:nvSpPr>
          <p:cNvPr id="40" name="Oval 39">
            <a:extLst>
              <a:ext uri="{FF2B5EF4-FFF2-40B4-BE49-F238E27FC236}">
                <a16:creationId xmlns:a16="http://schemas.microsoft.com/office/drawing/2014/main" id="{B80F7AED-FF08-8B79-D909-6797513969EC}"/>
              </a:ext>
            </a:extLst>
          </p:cNvPr>
          <p:cNvSpPr/>
          <p:nvPr/>
        </p:nvSpPr>
        <p:spPr>
          <a:xfrm>
            <a:off x="3582269" y="299969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791938-56D3-A52A-4296-55AFD49C23B1}"/>
              </a:ext>
            </a:extLst>
          </p:cNvPr>
          <p:cNvSpPr txBox="1"/>
          <p:nvPr/>
        </p:nvSpPr>
        <p:spPr>
          <a:xfrm>
            <a:off x="2790144" y="2897988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F6BEB1B-F47A-E26F-F436-2001A73B8296}"/>
              </a:ext>
            </a:extLst>
          </p:cNvPr>
          <p:cNvSpPr/>
          <p:nvPr/>
        </p:nvSpPr>
        <p:spPr>
          <a:xfrm>
            <a:off x="2884064" y="364119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A94E81-9BF0-8D79-4DBB-C7B4F3FE3FBE}"/>
              </a:ext>
            </a:extLst>
          </p:cNvPr>
          <p:cNvSpPr txBox="1"/>
          <p:nvPr/>
        </p:nvSpPr>
        <p:spPr>
          <a:xfrm>
            <a:off x="2364361" y="3498804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3832BFC-B65F-EE13-87BA-2696F76505BF}"/>
              </a:ext>
            </a:extLst>
          </p:cNvPr>
          <p:cNvSpPr/>
          <p:nvPr/>
        </p:nvSpPr>
        <p:spPr>
          <a:xfrm>
            <a:off x="2185859" y="428268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A8A566-592C-B449-DAEF-30E02E9C3095}"/>
              </a:ext>
            </a:extLst>
          </p:cNvPr>
          <p:cNvSpPr txBox="1"/>
          <p:nvPr/>
        </p:nvSpPr>
        <p:spPr>
          <a:xfrm>
            <a:off x="1630886" y="413183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512B732-416B-9ABA-B0EE-05199A468A1D}"/>
              </a:ext>
            </a:extLst>
          </p:cNvPr>
          <p:cNvCxnSpPr>
            <a:cxnSpLocks/>
            <a:stCxn id="40" idx="3"/>
            <a:endCxn id="42" idx="7"/>
          </p:cNvCxnSpPr>
          <p:nvPr/>
        </p:nvCxnSpPr>
        <p:spPr>
          <a:xfrm flipH="1">
            <a:off x="3056498" y="316758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ED24C4F-36C1-A417-FF5A-63B4AB2B7E50}"/>
              </a:ext>
            </a:extLst>
          </p:cNvPr>
          <p:cNvCxnSpPr>
            <a:cxnSpLocks/>
            <a:stCxn id="42" idx="3"/>
            <a:endCxn id="44" idx="7"/>
          </p:cNvCxnSpPr>
          <p:nvPr/>
        </p:nvCxnSpPr>
        <p:spPr>
          <a:xfrm flipH="1">
            <a:off x="2358293" y="3809086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4C72D724-7884-FCE9-8113-C7EC786A775D}"/>
              </a:ext>
            </a:extLst>
          </p:cNvPr>
          <p:cNvSpPr/>
          <p:nvPr/>
        </p:nvSpPr>
        <p:spPr>
          <a:xfrm>
            <a:off x="1490313" y="489538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805574-B51A-E188-AB22-ACECF30D436C}"/>
              </a:ext>
            </a:extLst>
          </p:cNvPr>
          <p:cNvSpPr txBox="1"/>
          <p:nvPr/>
        </p:nvSpPr>
        <p:spPr>
          <a:xfrm>
            <a:off x="797425" y="479367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0A918FF-93FF-043D-8FF2-161DAB630803}"/>
              </a:ext>
            </a:extLst>
          </p:cNvPr>
          <p:cNvCxnSpPr>
            <a:cxnSpLocks/>
            <a:endCxn id="48" idx="7"/>
          </p:cNvCxnSpPr>
          <p:nvPr/>
        </p:nvCxnSpPr>
        <p:spPr>
          <a:xfrm flipH="1">
            <a:off x="1662747" y="442177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D404B0E5-5A42-6545-9787-BFEBB127B7BB}"/>
              </a:ext>
            </a:extLst>
          </p:cNvPr>
          <p:cNvSpPr/>
          <p:nvPr/>
        </p:nvSpPr>
        <p:spPr>
          <a:xfrm>
            <a:off x="3187828" y="45753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4E0C63E-FE0B-28B9-0929-6DB8FD27D7D5}"/>
              </a:ext>
            </a:extLst>
          </p:cNvPr>
          <p:cNvSpPr txBox="1"/>
          <p:nvPr/>
        </p:nvSpPr>
        <p:spPr>
          <a:xfrm>
            <a:off x="2813181" y="473987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02FA6DB-0981-12AF-291F-796B77B14B92}"/>
              </a:ext>
            </a:extLst>
          </p:cNvPr>
          <p:cNvCxnSpPr>
            <a:cxnSpLocks/>
            <a:stCxn id="42" idx="5"/>
          </p:cNvCxnSpPr>
          <p:nvPr/>
        </p:nvCxnSpPr>
        <p:spPr>
          <a:xfrm>
            <a:off x="3056498" y="3809086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9D80841-6519-3873-8240-741FAB7C6ED6}"/>
              </a:ext>
            </a:extLst>
          </p:cNvPr>
          <p:cNvCxnSpPr>
            <a:cxnSpLocks/>
            <a:endCxn id="48" idx="6"/>
          </p:cNvCxnSpPr>
          <p:nvPr/>
        </p:nvCxnSpPr>
        <p:spPr>
          <a:xfrm flipH="1">
            <a:off x="1692332" y="4671038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D5CAA2F2-56E3-8E13-AB2A-3104CC114562}"/>
              </a:ext>
            </a:extLst>
          </p:cNvPr>
          <p:cNvSpPr/>
          <p:nvPr/>
        </p:nvSpPr>
        <p:spPr>
          <a:xfrm>
            <a:off x="4033826" y="444000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2C5119-8C29-4C28-D1F0-A330271520A6}"/>
              </a:ext>
            </a:extLst>
          </p:cNvPr>
          <p:cNvSpPr txBox="1"/>
          <p:nvPr/>
        </p:nvSpPr>
        <p:spPr>
          <a:xfrm>
            <a:off x="3659179" y="460454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BE2D6D6-CAA3-90E2-40D8-27F0CDF1CE77}"/>
              </a:ext>
            </a:extLst>
          </p:cNvPr>
          <p:cNvCxnSpPr>
            <a:cxnSpLocks/>
            <a:stCxn id="42" idx="6"/>
            <a:endCxn id="63" idx="1"/>
          </p:cNvCxnSpPr>
          <p:nvPr/>
        </p:nvCxnSpPr>
        <p:spPr>
          <a:xfrm>
            <a:off x="3086083" y="3739541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48BBA3A9-A01D-A774-E9BB-DC4892C35B08}"/>
              </a:ext>
            </a:extLst>
          </p:cNvPr>
          <p:cNvSpPr/>
          <p:nvPr/>
        </p:nvSpPr>
        <p:spPr>
          <a:xfrm>
            <a:off x="4828472" y="52976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D62CBF-AC1A-1669-552C-8A391E082C08}"/>
              </a:ext>
            </a:extLst>
          </p:cNvPr>
          <p:cNvSpPr txBox="1"/>
          <p:nvPr/>
        </p:nvSpPr>
        <p:spPr>
          <a:xfrm>
            <a:off x="4382081" y="539984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CCF9ACE-27E3-3EC8-B58A-40AD150AF23D}"/>
              </a:ext>
            </a:extLst>
          </p:cNvPr>
          <p:cNvCxnSpPr>
            <a:cxnSpLocks/>
            <a:stCxn id="63" idx="5"/>
            <a:endCxn id="66" idx="1"/>
          </p:cNvCxnSpPr>
          <p:nvPr/>
        </p:nvCxnSpPr>
        <p:spPr>
          <a:xfrm>
            <a:off x="4206260" y="46079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444B99C-CC82-BB33-3868-FCD93F7182BD}"/>
              </a:ext>
            </a:extLst>
          </p:cNvPr>
          <p:cNvCxnSpPr>
            <a:cxnSpLocks/>
            <a:endCxn id="44" idx="5"/>
          </p:cNvCxnSpPr>
          <p:nvPr/>
        </p:nvCxnSpPr>
        <p:spPr>
          <a:xfrm flipH="1" flipV="1">
            <a:off x="2358293" y="4450584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F2B35A8C-0276-23E4-013A-D686439F9A91}"/>
              </a:ext>
            </a:extLst>
          </p:cNvPr>
          <p:cNvSpPr/>
          <p:nvPr/>
        </p:nvSpPr>
        <p:spPr>
          <a:xfrm>
            <a:off x="5616110" y="615307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D43026-BBAF-D402-2548-2825178B71FF}"/>
              </a:ext>
            </a:extLst>
          </p:cNvPr>
          <p:cNvSpPr txBox="1"/>
          <p:nvPr/>
        </p:nvSpPr>
        <p:spPr>
          <a:xfrm>
            <a:off x="5169719" y="625529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F6CBB9D-7212-423A-7506-8059572D88F1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4993898" y="546335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4FBD02B-E6A3-94ED-10A5-589F70DB3CCA}"/>
              </a:ext>
            </a:extLst>
          </p:cNvPr>
          <p:cNvCxnSpPr>
            <a:cxnSpLocks/>
            <a:endCxn id="70" idx="2"/>
          </p:cNvCxnSpPr>
          <p:nvPr/>
        </p:nvCxnSpPr>
        <p:spPr>
          <a:xfrm>
            <a:off x="3372044" y="4749327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7D86062E-E6F6-9469-DC8F-928B321F022C}"/>
              </a:ext>
            </a:extLst>
          </p:cNvPr>
          <p:cNvSpPr/>
          <p:nvPr/>
        </p:nvSpPr>
        <p:spPr>
          <a:xfrm>
            <a:off x="4639367" y="362652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573D8E4-3BF3-8894-F3B5-E1FD1DE5070D}"/>
              </a:ext>
            </a:extLst>
          </p:cNvPr>
          <p:cNvSpPr txBox="1"/>
          <p:nvPr/>
        </p:nvSpPr>
        <p:spPr>
          <a:xfrm>
            <a:off x="6450420" y="523789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DE263D2-A616-2E6D-EADF-C669CC750D8C}"/>
              </a:ext>
            </a:extLst>
          </p:cNvPr>
          <p:cNvSpPr/>
          <p:nvPr/>
        </p:nvSpPr>
        <p:spPr>
          <a:xfrm>
            <a:off x="5434013" y="448414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874D70-3414-EB26-F58F-5A8DBF1A8096}"/>
              </a:ext>
            </a:extLst>
          </p:cNvPr>
          <p:cNvSpPr txBox="1"/>
          <p:nvPr/>
        </p:nvSpPr>
        <p:spPr>
          <a:xfrm>
            <a:off x="4848126" y="340320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A5CEFF4-A0DF-80B5-0067-FF467F70FE81}"/>
              </a:ext>
            </a:extLst>
          </p:cNvPr>
          <p:cNvCxnSpPr>
            <a:cxnSpLocks/>
            <a:stCxn id="74" idx="5"/>
            <a:endCxn id="76" idx="1"/>
          </p:cNvCxnSpPr>
          <p:nvPr/>
        </p:nvCxnSpPr>
        <p:spPr>
          <a:xfrm>
            <a:off x="4811801" y="379442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F09D2AA8-3B32-1C0C-AB16-DCF49940A86D}"/>
              </a:ext>
            </a:extLst>
          </p:cNvPr>
          <p:cNvSpPr/>
          <p:nvPr/>
        </p:nvSpPr>
        <p:spPr>
          <a:xfrm>
            <a:off x="6221651" y="533959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CCF3A25-BF4C-9D1A-9595-160650C6E055}"/>
              </a:ext>
            </a:extLst>
          </p:cNvPr>
          <p:cNvSpPr txBox="1"/>
          <p:nvPr/>
        </p:nvSpPr>
        <p:spPr>
          <a:xfrm>
            <a:off x="5692273" y="431568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1094473-96F0-8436-A350-150156C70E77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599439" y="464987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C3E903E-D47C-F8F7-C985-9F2700B2F5B9}"/>
              </a:ext>
            </a:extLst>
          </p:cNvPr>
          <p:cNvCxnSpPr>
            <a:cxnSpLocks/>
            <a:stCxn id="40" idx="5"/>
            <a:endCxn id="74" idx="1"/>
          </p:cNvCxnSpPr>
          <p:nvPr/>
        </p:nvCxnSpPr>
        <p:spPr>
          <a:xfrm>
            <a:off x="3754703" y="3167588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70A173A-CFB8-13DD-6ADA-EB5700968FB9}"/>
              </a:ext>
            </a:extLst>
          </p:cNvPr>
          <p:cNvCxnSpPr>
            <a:cxnSpLocks/>
            <a:stCxn id="76" idx="4"/>
            <a:endCxn id="70" idx="7"/>
          </p:cNvCxnSpPr>
          <p:nvPr/>
        </p:nvCxnSpPr>
        <p:spPr>
          <a:xfrm>
            <a:off x="5535023" y="4680844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4E9AC3A-8C1F-CBF1-26C9-B40D43D692C2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4740377" y="3823227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7D77996-2751-974C-FEE8-279C7892F9A2}"/>
              </a:ext>
            </a:extLst>
          </p:cNvPr>
          <p:cNvCxnSpPr>
            <a:cxnSpLocks/>
            <a:stCxn id="79" idx="2"/>
          </p:cNvCxnSpPr>
          <p:nvPr/>
        </p:nvCxnSpPr>
        <p:spPr>
          <a:xfrm flipH="1" flipV="1">
            <a:off x="4233858" y="4453406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83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1041991"/>
                <a:ext cx="8059479" cy="191164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Use graph to find frequencies </a:t>
                </a:r>
              </a:p>
              <a:p>
                <a:r>
                  <a:rPr lang="en-US" dirty="0"/>
                  <a:t>Sum from leaves to root to find item set frequency</a:t>
                </a:r>
              </a:p>
              <a:p>
                <a:r>
                  <a:rPr lang="en-US" dirty="0"/>
                  <a:t>Filter item set counts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Agrees with result of </a:t>
                </a:r>
                <a:r>
                  <a:rPr lang="en-US" dirty="0" err="1"/>
                  <a:t>apriori</a:t>
                </a:r>
                <a:r>
                  <a:rPr lang="en-US" dirty="0"/>
                  <a:t> 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1041991"/>
                <a:ext cx="8059479" cy="1911642"/>
              </a:xfrm>
              <a:blipFill>
                <a:blip r:embed="rId2"/>
                <a:stretch>
                  <a:fillRect l="-1589" t="-7325" b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D43026-BBAF-D402-2548-2825178B71FF}"/>
              </a:ext>
            </a:extLst>
          </p:cNvPr>
          <p:cNvSpPr txBox="1"/>
          <p:nvPr/>
        </p:nvSpPr>
        <p:spPr>
          <a:xfrm>
            <a:off x="5169719" y="625529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graphicFrame>
        <p:nvGraphicFramePr>
          <p:cNvPr id="51" name="Table 4">
            <a:extLst>
              <a:ext uri="{FF2B5EF4-FFF2-40B4-BE49-F238E27FC236}">
                <a16:creationId xmlns:a16="http://schemas.microsoft.com/office/drawing/2014/main" id="{E9291A90-CE5F-4F34-4F2F-0DF42264C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746655"/>
              </p:ext>
            </p:extLst>
          </p:nvPr>
        </p:nvGraphicFramePr>
        <p:xfrm>
          <a:off x="9027751" y="2292194"/>
          <a:ext cx="2374611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4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35771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737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564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320088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CEB7D1A8-5832-C4E5-F82B-8FB974B5223B}"/>
              </a:ext>
            </a:extLst>
          </p:cNvPr>
          <p:cNvSpPr/>
          <p:nvPr/>
        </p:nvSpPr>
        <p:spPr>
          <a:xfrm>
            <a:off x="3582269" y="299969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4FCD5-AEFB-BA95-485F-2E3A842BA9C7}"/>
              </a:ext>
            </a:extLst>
          </p:cNvPr>
          <p:cNvSpPr txBox="1"/>
          <p:nvPr/>
        </p:nvSpPr>
        <p:spPr>
          <a:xfrm>
            <a:off x="2790144" y="2897988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343947-BB70-F09B-0725-F8CC4231B348}"/>
              </a:ext>
            </a:extLst>
          </p:cNvPr>
          <p:cNvSpPr/>
          <p:nvPr/>
        </p:nvSpPr>
        <p:spPr>
          <a:xfrm>
            <a:off x="2884064" y="364119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8C71F-93B5-49B9-7761-F77988EE1F05}"/>
              </a:ext>
            </a:extLst>
          </p:cNvPr>
          <p:cNvSpPr txBox="1"/>
          <p:nvPr/>
        </p:nvSpPr>
        <p:spPr>
          <a:xfrm>
            <a:off x="2364361" y="3498804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5DF2B5-DA5E-CE43-EA99-21D2A0014F81}"/>
              </a:ext>
            </a:extLst>
          </p:cNvPr>
          <p:cNvSpPr/>
          <p:nvPr/>
        </p:nvSpPr>
        <p:spPr>
          <a:xfrm>
            <a:off x="2185859" y="428268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ED4FC-1B27-159E-E6C0-E5A74BD67E91}"/>
              </a:ext>
            </a:extLst>
          </p:cNvPr>
          <p:cNvSpPr txBox="1"/>
          <p:nvPr/>
        </p:nvSpPr>
        <p:spPr>
          <a:xfrm>
            <a:off x="1630886" y="413183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7257B-B62A-4CBE-6751-B802333BB511}"/>
              </a:ext>
            </a:extLst>
          </p:cNvPr>
          <p:cNvCxnSpPr>
            <a:cxnSpLocks/>
            <a:stCxn id="4" idx="3"/>
            <a:endCxn id="6" idx="7"/>
          </p:cNvCxnSpPr>
          <p:nvPr/>
        </p:nvCxnSpPr>
        <p:spPr>
          <a:xfrm flipH="1">
            <a:off x="3056498" y="316758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16F62D-9EF3-93A5-B2EF-B03D410D026D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2358293" y="3809086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1FD0623-87D5-4CC8-D835-7087088C6B62}"/>
              </a:ext>
            </a:extLst>
          </p:cNvPr>
          <p:cNvSpPr/>
          <p:nvPr/>
        </p:nvSpPr>
        <p:spPr>
          <a:xfrm>
            <a:off x="1490313" y="489538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634172-9DC9-98D2-2F12-956A68CBC6FC}"/>
              </a:ext>
            </a:extLst>
          </p:cNvPr>
          <p:cNvSpPr txBox="1"/>
          <p:nvPr/>
        </p:nvSpPr>
        <p:spPr>
          <a:xfrm>
            <a:off x="797425" y="479367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B7C31F-CA99-8D30-4850-9520A5B5920C}"/>
              </a:ext>
            </a:extLst>
          </p:cNvPr>
          <p:cNvCxnSpPr>
            <a:cxnSpLocks/>
            <a:endCxn id="13" idx="7"/>
          </p:cNvCxnSpPr>
          <p:nvPr/>
        </p:nvCxnSpPr>
        <p:spPr>
          <a:xfrm flipH="1">
            <a:off x="1662747" y="442177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3D44D73-98DF-AA50-5756-C4AC28A3A94D}"/>
              </a:ext>
            </a:extLst>
          </p:cNvPr>
          <p:cNvSpPr/>
          <p:nvPr/>
        </p:nvSpPr>
        <p:spPr>
          <a:xfrm>
            <a:off x="3187828" y="45753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AE905-0474-5C1D-5CAB-D6D60E78F91D}"/>
              </a:ext>
            </a:extLst>
          </p:cNvPr>
          <p:cNvSpPr txBox="1"/>
          <p:nvPr/>
        </p:nvSpPr>
        <p:spPr>
          <a:xfrm>
            <a:off x="2813181" y="473987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25EAF7-6A8D-8577-5501-A664BB4423D4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3056498" y="3809086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25CC9C-9FBF-3CA5-BA6E-023B56258686}"/>
              </a:ext>
            </a:extLst>
          </p:cNvPr>
          <p:cNvCxnSpPr>
            <a:cxnSpLocks/>
            <a:endCxn id="13" idx="6"/>
          </p:cNvCxnSpPr>
          <p:nvPr/>
        </p:nvCxnSpPr>
        <p:spPr>
          <a:xfrm flipH="1">
            <a:off x="1692332" y="4671038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AA4D2CB-571D-7720-72BC-E2A0C61E007F}"/>
              </a:ext>
            </a:extLst>
          </p:cNvPr>
          <p:cNvSpPr/>
          <p:nvPr/>
        </p:nvSpPr>
        <p:spPr>
          <a:xfrm>
            <a:off x="4033826" y="444000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DA61F0-5412-B37B-6630-2619719F8DE1}"/>
              </a:ext>
            </a:extLst>
          </p:cNvPr>
          <p:cNvSpPr txBox="1"/>
          <p:nvPr/>
        </p:nvSpPr>
        <p:spPr>
          <a:xfrm>
            <a:off x="3659179" y="460454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022B191-3BF1-031F-5229-AF62505C313A}"/>
              </a:ext>
            </a:extLst>
          </p:cNvPr>
          <p:cNvCxnSpPr>
            <a:cxnSpLocks/>
            <a:stCxn id="6" idx="6"/>
            <a:endCxn id="20" idx="1"/>
          </p:cNvCxnSpPr>
          <p:nvPr/>
        </p:nvCxnSpPr>
        <p:spPr>
          <a:xfrm>
            <a:off x="3086083" y="3739541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389C69A-4719-ABFA-AC98-C9B1E8278DFE}"/>
              </a:ext>
            </a:extLst>
          </p:cNvPr>
          <p:cNvSpPr/>
          <p:nvPr/>
        </p:nvSpPr>
        <p:spPr>
          <a:xfrm>
            <a:off x="4828472" y="52976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EB8E8F-169C-B219-2E6B-2404306E0C4C}"/>
              </a:ext>
            </a:extLst>
          </p:cNvPr>
          <p:cNvSpPr txBox="1"/>
          <p:nvPr/>
        </p:nvSpPr>
        <p:spPr>
          <a:xfrm>
            <a:off x="4382081" y="539984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BFD97A-4187-9195-0AE3-123E5F843FF6}"/>
              </a:ext>
            </a:extLst>
          </p:cNvPr>
          <p:cNvCxnSpPr>
            <a:cxnSpLocks/>
            <a:stCxn id="20" idx="5"/>
            <a:endCxn id="23" idx="1"/>
          </p:cNvCxnSpPr>
          <p:nvPr/>
        </p:nvCxnSpPr>
        <p:spPr>
          <a:xfrm>
            <a:off x="4206260" y="46079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21C1966-2E0B-312C-9116-B9C72733837E}"/>
              </a:ext>
            </a:extLst>
          </p:cNvPr>
          <p:cNvCxnSpPr>
            <a:cxnSpLocks/>
            <a:endCxn id="8" idx="5"/>
          </p:cNvCxnSpPr>
          <p:nvPr/>
        </p:nvCxnSpPr>
        <p:spPr>
          <a:xfrm flipH="1" flipV="1">
            <a:off x="2358293" y="4450584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419409B-16DE-8C56-DE2A-7970763B1C48}"/>
              </a:ext>
            </a:extLst>
          </p:cNvPr>
          <p:cNvSpPr/>
          <p:nvPr/>
        </p:nvSpPr>
        <p:spPr>
          <a:xfrm>
            <a:off x="5616110" y="615307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BD0A97-4F77-03CC-A479-A79B98EF45AA}"/>
              </a:ext>
            </a:extLst>
          </p:cNvPr>
          <p:cNvSpPr txBox="1"/>
          <p:nvPr/>
        </p:nvSpPr>
        <p:spPr>
          <a:xfrm>
            <a:off x="5169719" y="625529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8C2F635-DE91-278C-7285-C8CD14194385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993898" y="546335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60E5450-A41D-8170-5A5D-104E20AF1596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3372044" y="4749327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28DBDC9C-04A4-F76C-33D3-90110058EECB}"/>
              </a:ext>
            </a:extLst>
          </p:cNvPr>
          <p:cNvSpPr/>
          <p:nvPr/>
        </p:nvSpPr>
        <p:spPr>
          <a:xfrm>
            <a:off x="4639367" y="362652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6423B5-502F-D5B3-3759-882723C52ED8}"/>
              </a:ext>
            </a:extLst>
          </p:cNvPr>
          <p:cNvSpPr txBox="1"/>
          <p:nvPr/>
        </p:nvSpPr>
        <p:spPr>
          <a:xfrm>
            <a:off x="6450420" y="523789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63F3CAD-8109-2FAA-4AF3-80ED5F6F290B}"/>
              </a:ext>
            </a:extLst>
          </p:cNvPr>
          <p:cNvSpPr/>
          <p:nvPr/>
        </p:nvSpPr>
        <p:spPr>
          <a:xfrm>
            <a:off x="5434013" y="448414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0BF67A-60DC-A5F4-4135-7C7C5BDA8627}"/>
              </a:ext>
            </a:extLst>
          </p:cNvPr>
          <p:cNvSpPr txBox="1"/>
          <p:nvPr/>
        </p:nvSpPr>
        <p:spPr>
          <a:xfrm>
            <a:off x="4848126" y="340320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7FD820-94AA-8CCB-460C-2BD59A2AFECB}"/>
              </a:ext>
            </a:extLst>
          </p:cNvPr>
          <p:cNvCxnSpPr>
            <a:cxnSpLocks/>
            <a:stCxn id="31" idx="5"/>
            <a:endCxn id="33" idx="1"/>
          </p:cNvCxnSpPr>
          <p:nvPr/>
        </p:nvCxnSpPr>
        <p:spPr>
          <a:xfrm>
            <a:off x="4811801" y="379442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7D5ECA45-77FF-017E-CCF0-31DA84106521}"/>
              </a:ext>
            </a:extLst>
          </p:cNvPr>
          <p:cNvSpPr/>
          <p:nvPr/>
        </p:nvSpPr>
        <p:spPr>
          <a:xfrm>
            <a:off x="6221651" y="533959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5B52B9-3073-D5EB-31D9-E06E6A3D8182}"/>
              </a:ext>
            </a:extLst>
          </p:cNvPr>
          <p:cNvSpPr txBox="1"/>
          <p:nvPr/>
        </p:nvSpPr>
        <p:spPr>
          <a:xfrm>
            <a:off x="5692273" y="431568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9073613-06DC-89A0-A68B-467A4FB9B6AA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5599439" y="464987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454233E-175C-E35C-7E2E-E48452D5A489}"/>
              </a:ext>
            </a:extLst>
          </p:cNvPr>
          <p:cNvCxnSpPr>
            <a:cxnSpLocks/>
            <a:stCxn id="4" idx="5"/>
            <a:endCxn id="31" idx="1"/>
          </p:cNvCxnSpPr>
          <p:nvPr/>
        </p:nvCxnSpPr>
        <p:spPr>
          <a:xfrm>
            <a:off x="3754703" y="3167588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CF7FE6B-3C9B-48DF-AA34-F2FB6F74E796}"/>
              </a:ext>
            </a:extLst>
          </p:cNvPr>
          <p:cNvCxnSpPr>
            <a:cxnSpLocks/>
            <a:stCxn id="33" idx="4"/>
            <a:endCxn id="27" idx="7"/>
          </p:cNvCxnSpPr>
          <p:nvPr/>
        </p:nvCxnSpPr>
        <p:spPr>
          <a:xfrm>
            <a:off x="5535023" y="4680844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53961FE-3FB3-3CCD-2EA1-8C22F4BE033C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4740377" y="3823227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532384D-704B-94ED-FC9B-1BF635A9DD6C}"/>
              </a:ext>
            </a:extLst>
          </p:cNvPr>
          <p:cNvCxnSpPr>
            <a:cxnSpLocks/>
            <a:stCxn id="36" idx="2"/>
          </p:cNvCxnSpPr>
          <p:nvPr/>
        </p:nvCxnSpPr>
        <p:spPr>
          <a:xfrm flipH="1" flipV="1">
            <a:off x="4233858" y="4453406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4086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049" y="1350335"/>
            <a:ext cx="5768182" cy="502388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Compression with FP growth algorithm</a:t>
            </a:r>
          </a:p>
          <a:p>
            <a:r>
              <a:rPr lang="en-US" dirty="0"/>
              <a:t>Compression arises from monotonicity property of sets</a:t>
            </a:r>
          </a:p>
          <a:p>
            <a:r>
              <a:rPr lang="en-US" dirty="0"/>
              <a:t>Example: Sets {</a:t>
            </a:r>
            <a:r>
              <a:rPr lang="en-US" dirty="0" err="1"/>
              <a:t>a,c</a:t>
            </a:r>
            <a:r>
              <a:rPr lang="en-US" dirty="0"/>
              <a:t>}, {</a:t>
            </a:r>
            <a:r>
              <a:rPr lang="en-US" dirty="0" err="1"/>
              <a:t>a,c,d</a:t>
            </a:r>
            <a:r>
              <a:rPr lang="en-US" dirty="0"/>
              <a:t>} require no additional memory given set {</a:t>
            </a:r>
            <a:r>
              <a:rPr lang="en-US" dirty="0" err="1"/>
              <a:t>a,c,d,e</a:t>
            </a:r>
            <a:r>
              <a:rPr lang="en-US" dirty="0"/>
              <a:t>}</a:t>
            </a:r>
          </a:p>
          <a:p>
            <a:r>
              <a:rPr lang="en-US" dirty="0"/>
              <a:t>Example: Set {</a:t>
            </a:r>
            <a:r>
              <a:rPr lang="en-US" dirty="0" err="1"/>
              <a:t>a,b</a:t>
            </a:r>
            <a:r>
              <a:rPr lang="en-US" dirty="0"/>
              <a:t>} and {</a:t>
            </a:r>
            <a:r>
              <a:rPr lang="en-US" dirty="0" err="1"/>
              <a:t>a,b,c</a:t>
            </a:r>
            <a:r>
              <a:rPr lang="en-US" dirty="0"/>
              <a:t>} requires no additional memory given set {</a:t>
            </a:r>
            <a:r>
              <a:rPr lang="en-US" dirty="0" err="1"/>
              <a:t>a,b,c,d</a:t>
            </a:r>
            <a:r>
              <a:rPr lang="en-US" dirty="0"/>
              <a:t>)</a:t>
            </a:r>
          </a:p>
          <a:p>
            <a:r>
              <a:rPr lang="en-US" dirty="0"/>
              <a:t>Notice that this representation places the most frequent item sets near root of tree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8F263CE-3317-425F-9F62-89B0E9497D84}"/>
              </a:ext>
            </a:extLst>
          </p:cNvPr>
          <p:cNvCxnSpPr>
            <a:cxnSpLocks/>
          </p:cNvCxnSpPr>
          <p:nvPr/>
        </p:nvCxnSpPr>
        <p:spPr>
          <a:xfrm>
            <a:off x="7546980" y="2248432"/>
            <a:ext cx="216730" cy="11917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D641402-B746-40E6-A15C-F928E62AF8AF}"/>
              </a:ext>
            </a:extLst>
          </p:cNvPr>
          <p:cNvCxnSpPr>
            <a:cxnSpLocks/>
          </p:cNvCxnSpPr>
          <p:nvPr/>
        </p:nvCxnSpPr>
        <p:spPr>
          <a:xfrm flipH="1">
            <a:off x="10076591" y="2679751"/>
            <a:ext cx="961504" cy="167671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310D6672-59F8-6969-781C-0C91F2EDC010}"/>
              </a:ext>
            </a:extLst>
          </p:cNvPr>
          <p:cNvSpPr/>
          <p:nvPr/>
        </p:nvSpPr>
        <p:spPr>
          <a:xfrm>
            <a:off x="8941867" y="232507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123A1CD-62F0-8325-C37E-DD9A37CD7CB2}"/>
              </a:ext>
            </a:extLst>
          </p:cNvPr>
          <p:cNvSpPr txBox="1"/>
          <p:nvPr/>
        </p:nvSpPr>
        <p:spPr>
          <a:xfrm>
            <a:off x="8149742" y="2223368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2A46909-8A4F-95DB-5463-EDFBC9A7FF92}"/>
              </a:ext>
            </a:extLst>
          </p:cNvPr>
          <p:cNvSpPr/>
          <p:nvPr/>
        </p:nvSpPr>
        <p:spPr>
          <a:xfrm>
            <a:off x="8243662" y="296657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501E13-6292-06E6-EBCE-907FA5DD40D7}"/>
              </a:ext>
            </a:extLst>
          </p:cNvPr>
          <p:cNvSpPr txBox="1"/>
          <p:nvPr/>
        </p:nvSpPr>
        <p:spPr>
          <a:xfrm>
            <a:off x="7723959" y="2824184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3EAF671-E604-6D36-6536-F3BD59C3AE72}"/>
              </a:ext>
            </a:extLst>
          </p:cNvPr>
          <p:cNvSpPr/>
          <p:nvPr/>
        </p:nvSpPr>
        <p:spPr>
          <a:xfrm>
            <a:off x="7545457" y="360806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0A6BE9-644E-17A4-0D85-88D84C0FB104}"/>
              </a:ext>
            </a:extLst>
          </p:cNvPr>
          <p:cNvSpPr txBox="1"/>
          <p:nvPr/>
        </p:nvSpPr>
        <p:spPr>
          <a:xfrm>
            <a:off x="6990484" y="345721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A392F5C-428A-E89C-BEEF-E6D2B7196D92}"/>
              </a:ext>
            </a:extLst>
          </p:cNvPr>
          <p:cNvCxnSpPr>
            <a:cxnSpLocks/>
            <a:stCxn id="69" idx="3"/>
            <a:endCxn id="71" idx="7"/>
          </p:cNvCxnSpPr>
          <p:nvPr/>
        </p:nvCxnSpPr>
        <p:spPr>
          <a:xfrm flipH="1">
            <a:off x="8416096" y="249296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EF905B1-32BB-60E0-21C2-17D0B0A29F88}"/>
              </a:ext>
            </a:extLst>
          </p:cNvPr>
          <p:cNvCxnSpPr>
            <a:cxnSpLocks/>
            <a:stCxn id="71" idx="3"/>
            <a:endCxn id="73" idx="7"/>
          </p:cNvCxnSpPr>
          <p:nvPr/>
        </p:nvCxnSpPr>
        <p:spPr>
          <a:xfrm flipH="1">
            <a:off x="7717891" y="3134466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7B533EF7-53EE-7A21-4D44-1C7296DA2D2E}"/>
              </a:ext>
            </a:extLst>
          </p:cNvPr>
          <p:cNvSpPr/>
          <p:nvPr/>
        </p:nvSpPr>
        <p:spPr>
          <a:xfrm>
            <a:off x="6849911" y="422076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3CBECA-86AF-5A5B-AC3E-7ECFA82957C5}"/>
              </a:ext>
            </a:extLst>
          </p:cNvPr>
          <p:cNvSpPr txBox="1"/>
          <p:nvPr/>
        </p:nvSpPr>
        <p:spPr>
          <a:xfrm>
            <a:off x="6157023" y="411905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BC953EC-BC64-57FE-B872-DB95046A9D57}"/>
              </a:ext>
            </a:extLst>
          </p:cNvPr>
          <p:cNvCxnSpPr>
            <a:cxnSpLocks/>
            <a:endCxn id="77" idx="7"/>
          </p:cNvCxnSpPr>
          <p:nvPr/>
        </p:nvCxnSpPr>
        <p:spPr>
          <a:xfrm flipH="1">
            <a:off x="7022345" y="374715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0EAC9EB5-80D6-80D8-47D9-C10B36C25B74}"/>
              </a:ext>
            </a:extLst>
          </p:cNvPr>
          <p:cNvSpPr/>
          <p:nvPr/>
        </p:nvSpPr>
        <p:spPr>
          <a:xfrm>
            <a:off x="6151706" y="485827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C41CCFB-6700-81AA-FF28-12E986725B13}"/>
              </a:ext>
            </a:extLst>
          </p:cNvPr>
          <p:cNvCxnSpPr>
            <a:cxnSpLocks/>
            <a:endCxn id="80" idx="7"/>
          </p:cNvCxnSpPr>
          <p:nvPr/>
        </p:nvCxnSpPr>
        <p:spPr>
          <a:xfrm flipH="1">
            <a:off x="6324140" y="4384677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432D6BC2-1C4F-BC43-5278-6BA67CDFDCA9}"/>
              </a:ext>
            </a:extLst>
          </p:cNvPr>
          <p:cNvSpPr/>
          <p:nvPr/>
        </p:nvSpPr>
        <p:spPr>
          <a:xfrm>
            <a:off x="8547426" y="390071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CF96223-BFC5-4D66-AFD9-00684D147478}"/>
              </a:ext>
            </a:extLst>
          </p:cNvPr>
          <p:cNvSpPr txBox="1"/>
          <p:nvPr/>
        </p:nvSpPr>
        <p:spPr>
          <a:xfrm>
            <a:off x="8172779" y="406525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97B0BAB-61C0-792B-ED25-784D6B8DB66E}"/>
              </a:ext>
            </a:extLst>
          </p:cNvPr>
          <p:cNvCxnSpPr>
            <a:cxnSpLocks/>
            <a:stCxn id="71" idx="5"/>
          </p:cNvCxnSpPr>
          <p:nvPr/>
        </p:nvCxnSpPr>
        <p:spPr>
          <a:xfrm>
            <a:off x="8416096" y="3134466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CB481DA3-AB19-F355-55B4-476241F7633F}"/>
              </a:ext>
            </a:extLst>
          </p:cNvPr>
          <p:cNvSpPr/>
          <p:nvPr/>
        </p:nvSpPr>
        <p:spPr>
          <a:xfrm>
            <a:off x="8739848" y="47887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C031391-39CE-4974-B156-36A0FAEBE370}"/>
              </a:ext>
            </a:extLst>
          </p:cNvPr>
          <p:cNvSpPr txBox="1"/>
          <p:nvPr/>
        </p:nvSpPr>
        <p:spPr>
          <a:xfrm>
            <a:off x="8248979" y="490622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314C090-A178-20FF-4C5D-F21EB528E878}"/>
              </a:ext>
            </a:extLst>
          </p:cNvPr>
          <p:cNvCxnSpPr>
            <a:cxnSpLocks/>
            <a:stCxn id="82" idx="4"/>
            <a:endCxn id="85" idx="0"/>
          </p:cNvCxnSpPr>
          <p:nvPr/>
        </p:nvCxnSpPr>
        <p:spPr>
          <a:xfrm>
            <a:off x="8648436" y="4097416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11A9885-3D85-6CE0-7025-76596FE882C6}"/>
              </a:ext>
            </a:extLst>
          </p:cNvPr>
          <p:cNvCxnSpPr>
            <a:cxnSpLocks/>
            <a:endCxn id="77" idx="6"/>
          </p:cNvCxnSpPr>
          <p:nvPr/>
        </p:nvCxnSpPr>
        <p:spPr>
          <a:xfrm flipH="1">
            <a:off x="7051930" y="3996418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9A24DB0-C618-C4DA-3114-F10700527C32}"/>
              </a:ext>
            </a:extLst>
          </p:cNvPr>
          <p:cNvCxnSpPr>
            <a:cxnSpLocks/>
            <a:endCxn id="80" idx="6"/>
          </p:cNvCxnSpPr>
          <p:nvPr/>
        </p:nvCxnSpPr>
        <p:spPr>
          <a:xfrm flipH="1">
            <a:off x="6353725" y="4882833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483EB8AA-DCF6-01B7-5595-7254CB63E7A6}"/>
              </a:ext>
            </a:extLst>
          </p:cNvPr>
          <p:cNvSpPr/>
          <p:nvPr/>
        </p:nvSpPr>
        <p:spPr>
          <a:xfrm>
            <a:off x="9393424" y="376538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B7B77DF-E2FA-9B6F-76E9-74AF3F08A95E}"/>
              </a:ext>
            </a:extLst>
          </p:cNvPr>
          <p:cNvSpPr txBox="1"/>
          <p:nvPr/>
        </p:nvSpPr>
        <p:spPr>
          <a:xfrm>
            <a:off x="9018777" y="392992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FFBC0B3-AFDE-0513-ADC5-0B7969F2D3C0}"/>
              </a:ext>
            </a:extLst>
          </p:cNvPr>
          <p:cNvCxnSpPr>
            <a:cxnSpLocks/>
            <a:stCxn id="71" idx="6"/>
            <a:endCxn id="90" idx="1"/>
          </p:cNvCxnSpPr>
          <p:nvPr/>
        </p:nvCxnSpPr>
        <p:spPr>
          <a:xfrm>
            <a:off x="8445681" y="3064921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4920C026-4FCD-7E09-881D-C62EE26005EE}"/>
              </a:ext>
            </a:extLst>
          </p:cNvPr>
          <p:cNvSpPr/>
          <p:nvPr/>
        </p:nvSpPr>
        <p:spPr>
          <a:xfrm>
            <a:off x="10188070" y="462300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EC4F328-98B5-7645-B26D-8D88C6AD8610}"/>
              </a:ext>
            </a:extLst>
          </p:cNvPr>
          <p:cNvSpPr txBox="1"/>
          <p:nvPr/>
        </p:nvSpPr>
        <p:spPr>
          <a:xfrm>
            <a:off x="9741679" y="472522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A02B6A8-0DB8-8324-F2C5-592D5D43EFBA}"/>
              </a:ext>
            </a:extLst>
          </p:cNvPr>
          <p:cNvCxnSpPr>
            <a:cxnSpLocks/>
            <a:stCxn id="90" idx="5"/>
            <a:endCxn id="93" idx="1"/>
          </p:cNvCxnSpPr>
          <p:nvPr/>
        </p:nvCxnSpPr>
        <p:spPr>
          <a:xfrm>
            <a:off x="9565858" y="393328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6F2DB43-8956-576A-C7B8-3300FD7A1579}"/>
              </a:ext>
            </a:extLst>
          </p:cNvPr>
          <p:cNvCxnSpPr>
            <a:cxnSpLocks/>
            <a:endCxn id="73" idx="5"/>
          </p:cNvCxnSpPr>
          <p:nvPr/>
        </p:nvCxnSpPr>
        <p:spPr>
          <a:xfrm flipH="1" flipV="1">
            <a:off x="7717891" y="3775964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A45A09DE-C1EA-7FC9-149B-2758CBE14CF4}"/>
              </a:ext>
            </a:extLst>
          </p:cNvPr>
          <p:cNvSpPr/>
          <p:nvPr/>
        </p:nvSpPr>
        <p:spPr>
          <a:xfrm>
            <a:off x="10975708" y="547845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79DC69-F87A-EAE5-375F-4401DC7C9BFE}"/>
              </a:ext>
            </a:extLst>
          </p:cNvPr>
          <p:cNvSpPr txBox="1"/>
          <p:nvPr/>
        </p:nvSpPr>
        <p:spPr>
          <a:xfrm>
            <a:off x="10529317" y="558067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5E3E042-C069-5A0F-5907-403DD8A7E986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10353496" y="478873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353B958-1E5D-89FE-A0F0-0D568B6C4231}"/>
              </a:ext>
            </a:extLst>
          </p:cNvPr>
          <p:cNvCxnSpPr>
            <a:cxnSpLocks/>
            <a:endCxn id="97" idx="2"/>
          </p:cNvCxnSpPr>
          <p:nvPr/>
        </p:nvCxnSpPr>
        <p:spPr>
          <a:xfrm>
            <a:off x="8731642" y="4074707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ACB3A16E-DE55-C2C4-693F-726B58E68EB0}"/>
              </a:ext>
            </a:extLst>
          </p:cNvPr>
          <p:cNvSpPr/>
          <p:nvPr/>
        </p:nvSpPr>
        <p:spPr>
          <a:xfrm>
            <a:off x="9998965" y="295190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BA8BED8-A9BE-B3B3-DBB4-336151F0E458}"/>
              </a:ext>
            </a:extLst>
          </p:cNvPr>
          <p:cNvSpPr txBox="1"/>
          <p:nvPr/>
        </p:nvSpPr>
        <p:spPr>
          <a:xfrm>
            <a:off x="11752594" y="440700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52307EA-B347-62CB-4C8C-7294A11B8079}"/>
              </a:ext>
            </a:extLst>
          </p:cNvPr>
          <p:cNvSpPr/>
          <p:nvPr/>
        </p:nvSpPr>
        <p:spPr>
          <a:xfrm>
            <a:off x="10793611" y="38095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DEB4590-A2C1-4F1F-7276-B2EBB1C5C886}"/>
              </a:ext>
            </a:extLst>
          </p:cNvPr>
          <p:cNvSpPr txBox="1"/>
          <p:nvPr/>
        </p:nvSpPr>
        <p:spPr>
          <a:xfrm>
            <a:off x="10226595" y="285036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8D9A3D9-D4C3-B0B2-4E34-27F1F224F95B}"/>
              </a:ext>
            </a:extLst>
          </p:cNvPr>
          <p:cNvCxnSpPr>
            <a:cxnSpLocks/>
            <a:stCxn id="101" idx="5"/>
            <a:endCxn id="103" idx="1"/>
          </p:cNvCxnSpPr>
          <p:nvPr/>
        </p:nvCxnSpPr>
        <p:spPr>
          <a:xfrm>
            <a:off x="10171399" y="31198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C2A3B59D-B113-8E76-9A3B-51778199A9FA}"/>
              </a:ext>
            </a:extLst>
          </p:cNvPr>
          <p:cNvSpPr/>
          <p:nvPr/>
        </p:nvSpPr>
        <p:spPr>
          <a:xfrm>
            <a:off x="11581249" y="466497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B92F354-42A1-96F9-75C0-7927D1FA1777}"/>
              </a:ext>
            </a:extLst>
          </p:cNvPr>
          <p:cNvSpPr txBox="1"/>
          <p:nvPr/>
        </p:nvSpPr>
        <p:spPr>
          <a:xfrm>
            <a:off x="10924901" y="35308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1385E9C-AB7E-9D1B-453A-E778AA962D03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10959037" y="397525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464E141-687F-A884-6607-3EC2CCAEBE3C}"/>
              </a:ext>
            </a:extLst>
          </p:cNvPr>
          <p:cNvCxnSpPr>
            <a:cxnSpLocks/>
            <a:stCxn id="69" idx="5"/>
            <a:endCxn id="101" idx="1"/>
          </p:cNvCxnSpPr>
          <p:nvPr/>
        </p:nvCxnSpPr>
        <p:spPr>
          <a:xfrm>
            <a:off x="9114301" y="2492968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329486C-5523-5679-0F12-A195AF0648E9}"/>
              </a:ext>
            </a:extLst>
          </p:cNvPr>
          <p:cNvCxnSpPr>
            <a:cxnSpLocks/>
            <a:stCxn id="103" idx="4"/>
            <a:endCxn id="97" idx="7"/>
          </p:cNvCxnSpPr>
          <p:nvPr/>
        </p:nvCxnSpPr>
        <p:spPr>
          <a:xfrm>
            <a:off x="10894621" y="4006224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AADAFA3-52C3-27D6-3B53-CC8175150308}"/>
              </a:ext>
            </a:extLst>
          </p:cNvPr>
          <p:cNvCxnSpPr>
            <a:cxnSpLocks/>
            <a:stCxn id="101" idx="4"/>
          </p:cNvCxnSpPr>
          <p:nvPr/>
        </p:nvCxnSpPr>
        <p:spPr>
          <a:xfrm>
            <a:off x="10099975" y="3148607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D78A2F7-D88E-73B9-A766-C80783779E10}"/>
              </a:ext>
            </a:extLst>
          </p:cNvPr>
          <p:cNvCxnSpPr>
            <a:cxnSpLocks/>
            <a:stCxn id="106" idx="2"/>
            <a:endCxn id="90" idx="6"/>
          </p:cNvCxnSpPr>
          <p:nvPr/>
        </p:nvCxnSpPr>
        <p:spPr>
          <a:xfrm flipH="1" flipV="1">
            <a:off x="9595443" y="3863736"/>
            <a:ext cx="1985806" cy="89959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8BF6A27-B9D9-12C6-0430-07F94FA8EC82}"/>
              </a:ext>
            </a:extLst>
          </p:cNvPr>
          <p:cNvSpPr txBox="1"/>
          <p:nvPr/>
        </p:nvSpPr>
        <p:spPr>
          <a:xfrm>
            <a:off x="6096000" y="502977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sp>
        <p:nvSpPr>
          <p:cNvPr id="119" name="Content Placeholder 2">
            <a:extLst>
              <a:ext uri="{FF2B5EF4-FFF2-40B4-BE49-F238E27FC236}">
                <a16:creationId xmlns:a16="http://schemas.microsoft.com/office/drawing/2014/main" id="{E8EF7834-C437-2F05-0A74-3378BC05228A}"/>
              </a:ext>
            </a:extLst>
          </p:cNvPr>
          <p:cNvSpPr txBox="1">
            <a:spLocks/>
          </p:cNvSpPr>
          <p:nvPr/>
        </p:nvSpPr>
        <p:spPr>
          <a:xfrm>
            <a:off x="10173204" y="2162810"/>
            <a:ext cx="1785488" cy="5213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Sets {</a:t>
            </a:r>
            <a:r>
              <a:rPr lang="en-US" sz="2400" dirty="0" err="1"/>
              <a:t>a,b,c,d</a:t>
            </a:r>
            <a:r>
              <a:rPr lang="en-US" sz="2400" dirty="0"/>
              <a:t>}, {</a:t>
            </a:r>
            <a:r>
              <a:rPr lang="en-US" sz="2400" dirty="0" err="1"/>
              <a:t>a,b,c</a:t>
            </a:r>
            <a:r>
              <a:rPr lang="en-US" sz="2400" dirty="0"/>
              <a:t>} and {</a:t>
            </a:r>
            <a:r>
              <a:rPr lang="en-US" sz="2400" dirty="0" err="1"/>
              <a:t>a,b</a:t>
            </a:r>
            <a:r>
              <a:rPr lang="en-US" sz="2400" dirty="0"/>
              <a:t>}</a:t>
            </a:r>
          </a:p>
        </p:txBody>
      </p: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D25A8D6E-45E8-87E5-10E0-F640665ADC4B}"/>
              </a:ext>
            </a:extLst>
          </p:cNvPr>
          <p:cNvSpPr txBox="1">
            <a:spLocks/>
          </p:cNvSpPr>
          <p:nvPr/>
        </p:nvSpPr>
        <p:spPr>
          <a:xfrm>
            <a:off x="6556168" y="1648102"/>
            <a:ext cx="1859928" cy="796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Sets {</a:t>
            </a:r>
            <a:r>
              <a:rPr lang="en-US" sz="2400" dirty="0" err="1"/>
              <a:t>a,c,d,e</a:t>
            </a:r>
            <a:r>
              <a:rPr lang="en-US" sz="2400" dirty="0"/>
              <a:t>}, {</a:t>
            </a:r>
            <a:r>
              <a:rPr lang="en-US" sz="2400" dirty="0" err="1"/>
              <a:t>a,c,d</a:t>
            </a:r>
            <a:r>
              <a:rPr lang="en-US" sz="2400" dirty="0"/>
              <a:t>} and {</a:t>
            </a:r>
            <a:r>
              <a:rPr lang="en-US" sz="2400" dirty="0" err="1"/>
              <a:t>a,c</a:t>
            </a: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799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9" grpId="0"/>
      <p:bldP spid="1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17" y="1208868"/>
            <a:ext cx="11432582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Frequent pattern (FP) growth algorithm</a:t>
            </a:r>
          </a:p>
          <a:p>
            <a:r>
              <a:rPr lang="en-US" dirty="0"/>
              <a:t>Recall that computing the pair frequencies is the memory consuming step of the </a:t>
            </a:r>
            <a:r>
              <a:rPr lang="en-US" dirty="0" err="1"/>
              <a:t>apriori</a:t>
            </a:r>
            <a:r>
              <a:rPr lang="en-US" dirty="0"/>
              <a:t> algorithm </a:t>
            </a:r>
          </a:p>
          <a:p>
            <a:r>
              <a:rPr lang="en-US" dirty="0"/>
              <a:t>FP growth algorithm can provide considerable compression </a:t>
            </a:r>
          </a:p>
          <a:p>
            <a:pPr lvl="1"/>
            <a:r>
              <a:rPr lang="en-US" dirty="0"/>
              <a:t>The  downward closure says that frequent large item sets are comprised of smaller frequent item sets</a:t>
            </a:r>
          </a:p>
          <a:p>
            <a:pPr lvl="1"/>
            <a:r>
              <a:rPr lang="en-US" dirty="0"/>
              <a:t>Smaller item sets are highly likely to occur on the same branch   </a:t>
            </a:r>
          </a:p>
          <a:p>
            <a:pPr lvl="1"/>
            <a:r>
              <a:rPr lang="en-US" dirty="0"/>
              <a:t>If this pattern is consistent there is considerable compression over tables </a:t>
            </a:r>
          </a:p>
          <a:p>
            <a:r>
              <a:rPr lang="en-US" dirty="0"/>
              <a:t> But, FP growth is still relatively slow</a:t>
            </a:r>
          </a:p>
          <a:p>
            <a:pPr lvl="1"/>
            <a:r>
              <a:rPr lang="en-US" dirty="0"/>
              <a:t>Building tree is computationally intensive </a:t>
            </a:r>
          </a:p>
          <a:p>
            <a:r>
              <a:rPr lang="en-US" dirty="0"/>
              <a:t>May use excessive memory if there is little redundancy on the branches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4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3" y="986119"/>
            <a:ext cx="10767271" cy="6126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Why build the tree in inverse sort order?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3337474" y="28034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2545349" y="2701780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2639269" y="34449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2119566" y="3302596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1941064" y="408648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1386091" y="393563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2811703" y="29713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2113498" y="361287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1245518" y="469917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552630" y="459746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1417952" y="422557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547313" y="533669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419723" y="555675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719747" y="4863089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2943033" y="437912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2568386" y="454366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2811703" y="3612878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3135455" y="526714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2644586" y="53846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3044043" y="4575828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447537" y="4474830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749332" y="5361245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3789031" y="424379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3414384" y="440834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2841288" y="3543333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4583677" y="510141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4137286" y="520363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  <a:endCxn id="32" idx="1"/>
          </p:cNvCxnSpPr>
          <p:nvPr/>
        </p:nvCxnSpPr>
        <p:spPr>
          <a:xfrm>
            <a:off x="3961465" y="4411693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2113498" y="4254376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0EA00C2-778B-A046-5AED-9A872155EC38}"/>
              </a:ext>
            </a:extLst>
          </p:cNvPr>
          <p:cNvSpPr/>
          <p:nvPr/>
        </p:nvSpPr>
        <p:spPr>
          <a:xfrm>
            <a:off x="5371315" y="595686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800A96-7DA8-3908-F8A8-9BDBD669A7BF}"/>
              </a:ext>
            </a:extLst>
          </p:cNvPr>
          <p:cNvSpPr txBox="1"/>
          <p:nvPr/>
        </p:nvSpPr>
        <p:spPr>
          <a:xfrm>
            <a:off x="4924924" y="605909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D8E85D1-1B13-E483-2EFA-03EF693531D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4749103" y="5267146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AF2A8B-91A9-1D85-5558-82B4AAB4819C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3127249" y="4553119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4D819E3-BA9F-DAC3-0510-31085B213890}"/>
              </a:ext>
            </a:extLst>
          </p:cNvPr>
          <p:cNvSpPr/>
          <p:nvPr/>
        </p:nvSpPr>
        <p:spPr>
          <a:xfrm>
            <a:off x="4394572" y="343031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9D5079-FE39-3D2E-7C29-1B50DCE4D810}"/>
              </a:ext>
            </a:extLst>
          </p:cNvPr>
          <p:cNvSpPr txBox="1"/>
          <p:nvPr/>
        </p:nvSpPr>
        <p:spPr>
          <a:xfrm>
            <a:off x="6191386" y="50349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D00985-FAA9-F59E-7B3E-9B998D4548BB}"/>
              </a:ext>
            </a:extLst>
          </p:cNvPr>
          <p:cNvSpPr/>
          <p:nvPr/>
        </p:nvSpPr>
        <p:spPr>
          <a:xfrm>
            <a:off x="5189218" y="42879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D2F2D0-6874-E7C2-9F8E-125C003B8607}"/>
              </a:ext>
            </a:extLst>
          </p:cNvPr>
          <p:cNvSpPr txBox="1"/>
          <p:nvPr/>
        </p:nvSpPr>
        <p:spPr>
          <a:xfrm>
            <a:off x="4620002" y="319074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8AEF95-1E72-71DB-FE05-444E75B4476F}"/>
              </a:ext>
            </a:extLst>
          </p:cNvPr>
          <p:cNvCxnSpPr>
            <a:cxnSpLocks/>
            <a:stCxn id="43" idx="5"/>
            <a:endCxn id="45" idx="1"/>
          </p:cNvCxnSpPr>
          <p:nvPr/>
        </p:nvCxnSpPr>
        <p:spPr>
          <a:xfrm>
            <a:off x="4567006" y="3598213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261C68E-B575-B342-57AF-9C76CB6DC222}"/>
              </a:ext>
            </a:extLst>
          </p:cNvPr>
          <p:cNvSpPr/>
          <p:nvPr/>
        </p:nvSpPr>
        <p:spPr>
          <a:xfrm>
            <a:off x="5976856" y="514338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215F0C-6C5B-997D-FDB9-516B0A74BB2C}"/>
              </a:ext>
            </a:extLst>
          </p:cNvPr>
          <p:cNvSpPr txBox="1"/>
          <p:nvPr/>
        </p:nvSpPr>
        <p:spPr>
          <a:xfrm>
            <a:off x="5397678" y="410087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EAFEBEC-A665-DE28-553A-DC045E738EF7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5354644" y="4453666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9692960-DEA4-81C7-DF03-22CCCBBA6C9A}"/>
              </a:ext>
            </a:extLst>
          </p:cNvPr>
          <p:cNvCxnSpPr>
            <a:cxnSpLocks/>
            <a:stCxn id="5" idx="5"/>
            <a:endCxn id="43" idx="1"/>
          </p:cNvCxnSpPr>
          <p:nvPr/>
        </p:nvCxnSpPr>
        <p:spPr>
          <a:xfrm>
            <a:off x="3509908" y="2971380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65A2B5D-0E36-AF7B-0588-46B7DDE0A928}"/>
              </a:ext>
            </a:extLst>
          </p:cNvPr>
          <p:cNvCxnSpPr>
            <a:cxnSpLocks/>
            <a:stCxn id="45" idx="4"/>
            <a:endCxn id="39" idx="7"/>
          </p:cNvCxnSpPr>
          <p:nvPr/>
        </p:nvCxnSpPr>
        <p:spPr>
          <a:xfrm>
            <a:off x="5290228" y="4484636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9708864-9C61-F701-B771-0A430379651E}"/>
              </a:ext>
            </a:extLst>
          </p:cNvPr>
          <p:cNvCxnSpPr>
            <a:cxnSpLocks/>
            <a:stCxn id="43" idx="4"/>
          </p:cNvCxnSpPr>
          <p:nvPr/>
        </p:nvCxnSpPr>
        <p:spPr>
          <a:xfrm>
            <a:off x="4495582" y="3627019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51FA704-6FA7-CFE9-A6DC-96414B341095}"/>
              </a:ext>
            </a:extLst>
          </p:cNvPr>
          <p:cNvCxnSpPr>
            <a:cxnSpLocks/>
            <a:stCxn id="48" idx="2"/>
          </p:cNvCxnSpPr>
          <p:nvPr/>
        </p:nvCxnSpPr>
        <p:spPr>
          <a:xfrm flipH="1" flipV="1">
            <a:off x="3966911" y="4358345"/>
            <a:ext cx="2009945" cy="8833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97D72D8-661C-12D0-E1F6-A90091B616F8}"/>
              </a:ext>
            </a:extLst>
          </p:cNvPr>
          <p:cNvSpPr txBox="1">
            <a:spLocks/>
          </p:cNvSpPr>
          <p:nvPr/>
        </p:nvSpPr>
        <p:spPr>
          <a:xfrm>
            <a:off x="889464" y="1692910"/>
            <a:ext cx="4814871" cy="105453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Graph built in inverse sort order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- Uses less memory by downward closure property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0AE336B-1511-47A6-3FCA-0D6A930DBE4C}"/>
              </a:ext>
            </a:extLst>
          </p:cNvPr>
          <p:cNvSpPr/>
          <p:nvPr/>
        </p:nvSpPr>
        <p:spPr>
          <a:xfrm>
            <a:off x="10191510" y="275265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F6146D-F4F3-535C-7741-A0E630768F93}"/>
              </a:ext>
            </a:extLst>
          </p:cNvPr>
          <p:cNvSpPr txBox="1"/>
          <p:nvPr/>
        </p:nvSpPr>
        <p:spPr>
          <a:xfrm>
            <a:off x="9399385" y="2650955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DA326D1-19ED-7029-CFA9-690396DEBA14}"/>
              </a:ext>
            </a:extLst>
          </p:cNvPr>
          <p:cNvSpPr/>
          <p:nvPr/>
        </p:nvSpPr>
        <p:spPr>
          <a:xfrm>
            <a:off x="9493305" y="339415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A926E6-730F-EC3D-3E1C-A7C1BF6D9F5A}"/>
              </a:ext>
            </a:extLst>
          </p:cNvPr>
          <p:cNvSpPr txBox="1"/>
          <p:nvPr/>
        </p:nvSpPr>
        <p:spPr>
          <a:xfrm>
            <a:off x="8668744" y="3292453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a:6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9694C9C-9DCD-9A82-9FAE-E76492BBA1EF}"/>
              </a:ext>
            </a:extLst>
          </p:cNvPr>
          <p:cNvSpPr/>
          <p:nvPr/>
        </p:nvSpPr>
        <p:spPr>
          <a:xfrm>
            <a:off x="8795100" y="403565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3F5E92-F720-1802-01D0-FF3E40ABBEE3}"/>
              </a:ext>
            </a:extLst>
          </p:cNvPr>
          <p:cNvSpPr txBox="1"/>
          <p:nvPr/>
        </p:nvSpPr>
        <p:spPr>
          <a:xfrm>
            <a:off x="10320871" y="329245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b:1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DD0E3A7-2C35-9173-0C11-D21B84AB559D}"/>
              </a:ext>
            </a:extLst>
          </p:cNvPr>
          <p:cNvCxnSpPr>
            <a:cxnSpLocks/>
            <a:stCxn id="56" idx="3"/>
            <a:endCxn id="58" idx="7"/>
          </p:cNvCxnSpPr>
          <p:nvPr/>
        </p:nvCxnSpPr>
        <p:spPr>
          <a:xfrm flipH="1">
            <a:off x="9665739" y="2920555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9454705-F6EA-CFAC-FFED-0A4C397AEBDA}"/>
              </a:ext>
            </a:extLst>
          </p:cNvPr>
          <p:cNvCxnSpPr>
            <a:cxnSpLocks/>
            <a:stCxn id="58" idx="3"/>
            <a:endCxn id="60" idx="7"/>
          </p:cNvCxnSpPr>
          <p:nvPr/>
        </p:nvCxnSpPr>
        <p:spPr>
          <a:xfrm flipH="1">
            <a:off x="8967534" y="3562053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E2576262-5BCE-773D-24ED-D4C92E4C8E32}"/>
              </a:ext>
            </a:extLst>
          </p:cNvPr>
          <p:cNvSpPr/>
          <p:nvPr/>
        </p:nvSpPr>
        <p:spPr>
          <a:xfrm>
            <a:off x="10846642" y="340455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B9624B-4EBC-A166-8421-B709F5559414}"/>
              </a:ext>
            </a:extLst>
          </p:cNvPr>
          <p:cNvSpPr txBox="1"/>
          <p:nvPr/>
        </p:nvSpPr>
        <p:spPr>
          <a:xfrm>
            <a:off x="8239954" y="394867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b:3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DA2BBED-C99D-F6CE-3F01-A2A357F48A26}"/>
              </a:ext>
            </a:extLst>
          </p:cNvPr>
          <p:cNvSpPr/>
          <p:nvPr/>
        </p:nvSpPr>
        <p:spPr>
          <a:xfrm>
            <a:off x="11325107" y="393730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8556790-4BF6-691F-A8E7-AC4A463745B6}"/>
              </a:ext>
            </a:extLst>
          </p:cNvPr>
          <p:cNvSpPr txBox="1"/>
          <p:nvPr/>
        </p:nvSpPr>
        <p:spPr>
          <a:xfrm>
            <a:off x="10775759" y="383560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c:1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E03E03A-EE2D-5234-F3B8-E5BD4AAD8E7A}"/>
              </a:ext>
            </a:extLst>
          </p:cNvPr>
          <p:cNvSpPr/>
          <p:nvPr/>
        </p:nvSpPr>
        <p:spPr>
          <a:xfrm>
            <a:off x="11800028" y="456382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78F930-584F-0845-B1C9-F73C5A24CCBD}"/>
              </a:ext>
            </a:extLst>
          </p:cNvPr>
          <p:cNvSpPr txBox="1"/>
          <p:nvPr/>
        </p:nvSpPr>
        <p:spPr>
          <a:xfrm>
            <a:off x="11254224" y="446212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35CE45A-1C57-B3E9-4DFD-F6724529F9E7}"/>
              </a:ext>
            </a:extLst>
          </p:cNvPr>
          <p:cNvCxnSpPr>
            <a:cxnSpLocks/>
            <a:stCxn id="56" idx="5"/>
            <a:endCxn id="64" idx="1"/>
          </p:cNvCxnSpPr>
          <p:nvPr/>
        </p:nvCxnSpPr>
        <p:spPr>
          <a:xfrm>
            <a:off x="10363944" y="2920555"/>
            <a:ext cx="512283" cy="51280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BB740EE-C37C-B259-8CA9-68ABF186972D}"/>
              </a:ext>
            </a:extLst>
          </p:cNvPr>
          <p:cNvCxnSpPr>
            <a:cxnSpLocks/>
            <a:stCxn id="64" idx="5"/>
            <a:endCxn id="66" idx="1"/>
          </p:cNvCxnSpPr>
          <p:nvPr/>
        </p:nvCxnSpPr>
        <p:spPr>
          <a:xfrm>
            <a:off x="11019076" y="3572450"/>
            <a:ext cx="335616" cy="3936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C242169-776D-03F5-E341-4B6EE5A14655}"/>
              </a:ext>
            </a:extLst>
          </p:cNvPr>
          <p:cNvCxnSpPr>
            <a:cxnSpLocks/>
            <a:stCxn id="66" idx="5"/>
            <a:endCxn id="68" idx="1"/>
          </p:cNvCxnSpPr>
          <p:nvPr/>
        </p:nvCxnSpPr>
        <p:spPr>
          <a:xfrm>
            <a:off x="11497541" y="4105200"/>
            <a:ext cx="332072" cy="48743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FB885AA-29CD-56A2-6F5D-8B2F8B4DFB21}"/>
              </a:ext>
            </a:extLst>
          </p:cNvPr>
          <p:cNvCxnSpPr>
            <a:cxnSpLocks/>
            <a:stCxn id="64" idx="4"/>
            <a:endCxn id="60" idx="6"/>
          </p:cNvCxnSpPr>
          <p:nvPr/>
        </p:nvCxnSpPr>
        <p:spPr>
          <a:xfrm flipH="1">
            <a:off x="8997119" y="3601256"/>
            <a:ext cx="1950533" cy="53275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4131DEEB-F54A-A74B-FA13-6F3E66B35996}"/>
              </a:ext>
            </a:extLst>
          </p:cNvPr>
          <p:cNvSpPr/>
          <p:nvPr/>
        </p:nvSpPr>
        <p:spPr>
          <a:xfrm>
            <a:off x="9918335" y="390849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6D8DD8C-D862-5B16-8E86-3E515AA3C710}"/>
              </a:ext>
            </a:extLst>
          </p:cNvPr>
          <p:cNvSpPr/>
          <p:nvPr/>
        </p:nvSpPr>
        <p:spPr>
          <a:xfrm>
            <a:off x="10393256" y="453501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38B43A-8F7C-3DA7-08FA-196D955CB296}"/>
              </a:ext>
            </a:extLst>
          </p:cNvPr>
          <p:cNvSpPr txBox="1"/>
          <p:nvPr/>
        </p:nvSpPr>
        <p:spPr>
          <a:xfrm>
            <a:off x="9847452" y="443331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964AB76-C116-D920-86AC-50DD0BB47A2E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9612304" y="3543644"/>
            <a:ext cx="335616" cy="3936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D72BE11-767F-E988-B2C1-3706C5ECA9B3}"/>
              </a:ext>
            </a:extLst>
          </p:cNvPr>
          <p:cNvCxnSpPr>
            <a:cxnSpLocks/>
            <a:stCxn id="74" idx="5"/>
            <a:endCxn id="75" idx="1"/>
          </p:cNvCxnSpPr>
          <p:nvPr/>
        </p:nvCxnSpPr>
        <p:spPr>
          <a:xfrm>
            <a:off x="10090769" y="4076394"/>
            <a:ext cx="332072" cy="48743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4A4DEE3-5113-7AC5-39D5-1D2D63798F6C}"/>
              </a:ext>
            </a:extLst>
          </p:cNvPr>
          <p:cNvSpPr txBox="1"/>
          <p:nvPr/>
        </p:nvSpPr>
        <p:spPr>
          <a:xfrm>
            <a:off x="9418681" y="391558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c:1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7D3D0A6-CEFD-C69B-6C85-41680898039F}"/>
              </a:ext>
            </a:extLst>
          </p:cNvPr>
          <p:cNvSpPr/>
          <p:nvPr/>
        </p:nvSpPr>
        <p:spPr>
          <a:xfrm>
            <a:off x="10823740" y="51599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78E5C21-447D-B38E-AE87-AD0C05774D61}"/>
              </a:ext>
            </a:extLst>
          </p:cNvPr>
          <p:cNvSpPr txBox="1"/>
          <p:nvPr/>
        </p:nvSpPr>
        <p:spPr>
          <a:xfrm>
            <a:off x="10277936" y="505828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e:1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9E4DE14-30A6-5B1C-80F7-D2A753B83D26}"/>
              </a:ext>
            </a:extLst>
          </p:cNvPr>
          <p:cNvCxnSpPr>
            <a:cxnSpLocks/>
            <a:stCxn id="75" idx="4"/>
            <a:endCxn id="80" idx="1"/>
          </p:cNvCxnSpPr>
          <p:nvPr/>
        </p:nvCxnSpPr>
        <p:spPr>
          <a:xfrm>
            <a:off x="10494266" y="4731721"/>
            <a:ext cx="359059" cy="4570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693D833-427C-6E69-86DA-945B09A088E8}"/>
              </a:ext>
            </a:extLst>
          </p:cNvPr>
          <p:cNvCxnSpPr>
            <a:cxnSpLocks/>
            <a:stCxn id="67" idx="3"/>
            <a:endCxn id="74" idx="6"/>
          </p:cNvCxnSpPr>
          <p:nvPr/>
        </p:nvCxnSpPr>
        <p:spPr>
          <a:xfrm flipH="1" flipV="1">
            <a:off x="10120354" y="4006849"/>
            <a:ext cx="1201209" cy="2880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55CB636-F255-7788-2AA9-1B2B9E93A2C7}"/>
              </a:ext>
            </a:extLst>
          </p:cNvPr>
          <p:cNvCxnSpPr>
            <a:cxnSpLocks/>
            <a:stCxn id="69" idx="3"/>
            <a:endCxn id="75" idx="6"/>
          </p:cNvCxnSpPr>
          <p:nvPr/>
        </p:nvCxnSpPr>
        <p:spPr>
          <a:xfrm flipH="1" flipV="1">
            <a:off x="10595275" y="4633370"/>
            <a:ext cx="1204753" cy="2880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6801B34-6AD8-9FFC-770B-EFA413D4F269}"/>
              </a:ext>
            </a:extLst>
          </p:cNvPr>
          <p:cNvCxnSpPr>
            <a:cxnSpLocks/>
            <a:stCxn id="58" idx="4"/>
          </p:cNvCxnSpPr>
          <p:nvPr/>
        </p:nvCxnSpPr>
        <p:spPr>
          <a:xfrm flipH="1">
            <a:off x="9346222" y="3590859"/>
            <a:ext cx="248093" cy="89560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AAAD75D4-42DB-3193-18B2-55780EE5094E}"/>
              </a:ext>
            </a:extLst>
          </p:cNvPr>
          <p:cNvSpPr/>
          <p:nvPr/>
        </p:nvSpPr>
        <p:spPr>
          <a:xfrm>
            <a:off x="9245210" y="446456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21D05F5-7921-4495-F82D-DBDB188FCD02}"/>
              </a:ext>
            </a:extLst>
          </p:cNvPr>
          <p:cNvSpPr txBox="1"/>
          <p:nvPr/>
        </p:nvSpPr>
        <p:spPr>
          <a:xfrm>
            <a:off x="8699406" y="436285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AB4CF93-7CC1-FE62-7A2F-D4B786F1F8FB}"/>
              </a:ext>
            </a:extLst>
          </p:cNvPr>
          <p:cNvSpPr/>
          <p:nvPr/>
        </p:nvSpPr>
        <p:spPr>
          <a:xfrm>
            <a:off x="9214548" y="515086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5E523EB-93F1-6743-F503-A40A66CB3183}"/>
              </a:ext>
            </a:extLst>
          </p:cNvPr>
          <p:cNvSpPr txBox="1"/>
          <p:nvPr/>
        </p:nvSpPr>
        <p:spPr>
          <a:xfrm>
            <a:off x="8668744" y="504915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e:1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38479D2-BD4D-A536-6E0A-6B8D11B4FAE4}"/>
              </a:ext>
            </a:extLst>
          </p:cNvPr>
          <p:cNvCxnSpPr>
            <a:cxnSpLocks/>
            <a:stCxn id="86" idx="4"/>
            <a:endCxn id="88" idx="1"/>
          </p:cNvCxnSpPr>
          <p:nvPr/>
        </p:nvCxnSpPr>
        <p:spPr>
          <a:xfrm flipH="1">
            <a:off x="9244133" y="4661263"/>
            <a:ext cx="102087" cy="51840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D60C3B6-B6E7-7DEC-F16D-C09A510A48C0}"/>
              </a:ext>
            </a:extLst>
          </p:cNvPr>
          <p:cNvCxnSpPr>
            <a:cxnSpLocks/>
            <a:stCxn id="76" idx="3"/>
            <a:endCxn id="86" idx="5"/>
          </p:cNvCxnSpPr>
          <p:nvPr/>
        </p:nvCxnSpPr>
        <p:spPr>
          <a:xfrm flipH="1" flipV="1">
            <a:off x="9417644" y="4632457"/>
            <a:ext cx="975612" cy="91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906F071-A6E8-5045-6BAE-74FB325F9ADC}"/>
              </a:ext>
            </a:extLst>
          </p:cNvPr>
          <p:cNvCxnSpPr>
            <a:cxnSpLocks/>
            <a:stCxn id="81" idx="3"/>
            <a:endCxn id="88" idx="5"/>
          </p:cNvCxnSpPr>
          <p:nvPr/>
        </p:nvCxnSpPr>
        <p:spPr>
          <a:xfrm flipH="1">
            <a:off x="9386982" y="5258337"/>
            <a:ext cx="1436758" cy="6042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2C719580-446F-B417-DAC3-9F48BB768560}"/>
              </a:ext>
            </a:extLst>
          </p:cNvPr>
          <p:cNvSpPr/>
          <p:nvPr/>
        </p:nvSpPr>
        <p:spPr>
          <a:xfrm>
            <a:off x="8300219" y="487325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255BF9-B124-AF05-7105-DB955122D2F6}"/>
              </a:ext>
            </a:extLst>
          </p:cNvPr>
          <p:cNvSpPr txBox="1"/>
          <p:nvPr/>
        </p:nvSpPr>
        <p:spPr>
          <a:xfrm>
            <a:off x="7749436" y="472381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39F7A7A-3A08-4F60-53E3-625EB8C71EB0}"/>
              </a:ext>
            </a:extLst>
          </p:cNvPr>
          <p:cNvCxnSpPr>
            <a:cxnSpLocks/>
            <a:stCxn id="60" idx="3"/>
            <a:endCxn id="93" idx="7"/>
          </p:cNvCxnSpPr>
          <p:nvPr/>
        </p:nvCxnSpPr>
        <p:spPr>
          <a:xfrm flipH="1">
            <a:off x="8472653" y="4203551"/>
            <a:ext cx="352032" cy="69851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2E637B5-C683-9E9C-2318-CB1FD469DA17}"/>
              </a:ext>
            </a:extLst>
          </p:cNvPr>
          <p:cNvCxnSpPr>
            <a:cxnSpLocks/>
            <a:stCxn id="86" idx="3"/>
            <a:endCxn id="93" idx="6"/>
          </p:cNvCxnSpPr>
          <p:nvPr/>
        </p:nvCxnSpPr>
        <p:spPr>
          <a:xfrm flipH="1">
            <a:off x="8502238" y="4632457"/>
            <a:ext cx="772557" cy="33915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177E80C0-E0D5-C45D-FA61-49AA123505D4}"/>
              </a:ext>
            </a:extLst>
          </p:cNvPr>
          <p:cNvSpPr/>
          <p:nvPr/>
        </p:nvSpPr>
        <p:spPr>
          <a:xfrm>
            <a:off x="7606531" y="469334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9DBADC0-46E0-88F9-5207-7F602A2648E1}"/>
              </a:ext>
            </a:extLst>
          </p:cNvPr>
          <p:cNvSpPr txBox="1"/>
          <p:nvPr/>
        </p:nvSpPr>
        <p:spPr>
          <a:xfrm>
            <a:off x="7084140" y="461035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c:2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7D9B7C4-6130-8024-5C3D-18BDBDD5E23C}"/>
              </a:ext>
            </a:extLst>
          </p:cNvPr>
          <p:cNvCxnSpPr>
            <a:cxnSpLocks/>
            <a:stCxn id="60" idx="2"/>
            <a:endCxn id="97" idx="6"/>
          </p:cNvCxnSpPr>
          <p:nvPr/>
        </p:nvCxnSpPr>
        <p:spPr>
          <a:xfrm flipH="1">
            <a:off x="7808550" y="4134006"/>
            <a:ext cx="986550" cy="65769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E7B46F33-F07C-9024-90DC-BE1003FED787}"/>
              </a:ext>
            </a:extLst>
          </p:cNvPr>
          <p:cNvSpPr/>
          <p:nvPr/>
        </p:nvSpPr>
        <p:spPr>
          <a:xfrm>
            <a:off x="7540694" y="564925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29EE63F-ED52-DFF4-D076-18D83482D2E6}"/>
              </a:ext>
            </a:extLst>
          </p:cNvPr>
          <p:cNvSpPr txBox="1"/>
          <p:nvPr/>
        </p:nvSpPr>
        <p:spPr>
          <a:xfrm>
            <a:off x="6964953" y="547181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AAF2946-272A-1D90-C133-57523D9F836C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7641704" y="4929839"/>
            <a:ext cx="41487" cy="71941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8262D24-CBDD-F57D-01F6-842D85308F94}"/>
              </a:ext>
            </a:extLst>
          </p:cNvPr>
          <p:cNvCxnSpPr>
            <a:cxnSpLocks/>
            <a:stCxn id="93" idx="3"/>
            <a:endCxn id="100" idx="6"/>
          </p:cNvCxnSpPr>
          <p:nvPr/>
        </p:nvCxnSpPr>
        <p:spPr>
          <a:xfrm flipH="1">
            <a:off x="7742713" y="5041155"/>
            <a:ext cx="587091" cy="70644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C308844-9D17-D6F6-74A0-B196882E6CE4}"/>
              </a:ext>
            </a:extLst>
          </p:cNvPr>
          <p:cNvCxnSpPr>
            <a:cxnSpLocks/>
            <a:stCxn id="79" idx="3"/>
            <a:endCxn id="97" idx="6"/>
          </p:cNvCxnSpPr>
          <p:nvPr/>
        </p:nvCxnSpPr>
        <p:spPr>
          <a:xfrm flipH="1">
            <a:off x="7808550" y="4115636"/>
            <a:ext cx="2155935" cy="67606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FD9CE6D1-6C0D-D205-3C23-F86307347F66}"/>
              </a:ext>
            </a:extLst>
          </p:cNvPr>
          <p:cNvSpPr txBox="1">
            <a:spLocks/>
          </p:cNvSpPr>
          <p:nvPr/>
        </p:nvSpPr>
        <p:spPr>
          <a:xfrm>
            <a:off x="7048499" y="1563828"/>
            <a:ext cx="5072063" cy="10871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Graph built in random order</a:t>
            </a:r>
            <a:br>
              <a:rPr lang="en-US" dirty="0"/>
            </a:br>
            <a:r>
              <a:rPr lang="en-US" dirty="0"/>
              <a:t>- More complex graph, uses more memory</a:t>
            </a:r>
          </a:p>
        </p:txBody>
      </p:sp>
    </p:spTree>
    <p:extLst>
      <p:ext uri="{BB962C8B-B14F-4D97-AF65-F5344CB8AC3E}">
        <p14:creationId xmlns:p14="http://schemas.microsoft.com/office/powerpoint/2010/main" val="352124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9" grpId="0"/>
      <p:bldP spid="10" grpId="0" animBg="1"/>
      <p:bldP spid="12" grpId="0"/>
      <p:bldP spid="16" grpId="0" animBg="1"/>
      <p:bldP spid="17" grpId="0"/>
      <p:bldP spid="19" grpId="0" animBg="1"/>
      <p:bldP spid="20" grpId="0"/>
      <p:bldP spid="22" grpId="0" animBg="1"/>
      <p:bldP spid="23" grpId="0"/>
      <p:bldP spid="25" grpId="0" animBg="1"/>
      <p:bldP spid="26" grpId="0"/>
      <p:bldP spid="34" grpId="0" animBg="1"/>
      <p:bldP spid="35" grpId="0"/>
      <p:bldP spid="32" grpId="0" animBg="1"/>
      <p:bldP spid="33" grpId="0"/>
      <p:bldP spid="39" grpId="0" animBg="1"/>
      <p:bldP spid="40" grpId="0"/>
      <p:bldP spid="43" grpId="0" animBg="1"/>
      <p:bldP spid="44" grpId="0"/>
      <p:bldP spid="45" grpId="0" animBg="1"/>
      <p:bldP spid="46" grpId="0"/>
      <p:bldP spid="48" grpId="0" animBg="1"/>
      <p:bldP spid="49" grpId="0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4" grpId="0" animBg="1"/>
      <p:bldP spid="65" grpId="0"/>
      <p:bldP spid="66" grpId="0" animBg="1"/>
      <p:bldP spid="67" grpId="0"/>
      <p:bldP spid="68" grpId="0" animBg="1"/>
      <p:bldP spid="69" grpId="0"/>
      <p:bldP spid="74" grpId="0" animBg="1"/>
      <p:bldP spid="75" grpId="0" animBg="1"/>
      <p:bldP spid="76" grpId="0"/>
      <p:bldP spid="79" grpId="0"/>
      <p:bldP spid="80" grpId="0" animBg="1"/>
      <p:bldP spid="81" grpId="0"/>
      <p:bldP spid="86" grpId="0" animBg="1"/>
      <p:bldP spid="87" grpId="0"/>
      <p:bldP spid="88" grpId="0" animBg="1"/>
      <p:bldP spid="89" grpId="0"/>
      <p:bldP spid="93" grpId="0" animBg="1"/>
      <p:bldP spid="94" grpId="0"/>
      <p:bldP spid="97" grpId="0" animBg="1"/>
      <p:bldP spid="98" grpId="0"/>
      <p:bldP spid="100" grpId="0" animBg="1"/>
      <p:bldP spid="101" grpId="0"/>
      <p:bldP spid="10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Python Support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Association rule mining is supported in a number Python packages</a:t>
            </a:r>
          </a:p>
          <a:p>
            <a:r>
              <a:rPr lang="en-US" dirty="0" err="1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MLxtend</a:t>
            </a:r>
            <a:r>
              <a:rPr lang="en-US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package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appears to have conflicts with latest Pandas</a:t>
            </a:r>
          </a:p>
          <a:p>
            <a:r>
              <a:rPr lang="en-US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PAMI</a:t>
            </a:r>
            <a:r>
              <a:rPr lang="en-US" dirty="0"/>
              <a:t> is a dedicated association rule mining package</a:t>
            </a:r>
          </a:p>
          <a:p>
            <a:pPr lvl="1"/>
            <a:r>
              <a:rPr lang="en-US" dirty="0"/>
              <a:t>Includes standard database mining</a:t>
            </a:r>
          </a:p>
          <a:p>
            <a:pPr lvl="1"/>
            <a:r>
              <a:rPr lang="en-US" dirty="0"/>
              <a:t>Extends to </a:t>
            </a:r>
            <a:r>
              <a:rPr lang="en-US" b="1" dirty="0"/>
              <a:t>time-dependent</a:t>
            </a:r>
            <a:r>
              <a:rPr lang="en-US" dirty="0"/>
              <a:t>, </a:t>
            </a:r>
            <a:r>
              <a:rPr lang="en-US" b="1" dirty="0"/>
              <a:t>sequential</a:t>
            </a:r>
            <a:r>
              <a:rPr lang="en-US" dirty="0"/>
              <a:t> and </a:t>
            </a:r>
            <a:r>
              <a:rPr lang="en-US" b="1" dirty="0"/>
              <a:t>geo-referenced spatial-dependent patterns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Includes algorithms optimized for genetics research </a:t>
            </a:r>
          </a:p>
          <a:p>
            <a:pPr lvl="1"/>
            <a:r>
              <a:rPr lang="en-US" dirty="0"/>
              <a:t>Find GitHub repository </a:t>
            </a:r>
            <a:r>
              <a:rPr lang="en-US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dirty="0"/>
              <a:t> – includes </a:t>
            </a:r>
            <a:r>
              <a:rPr lang="en-US" dirty="0" err="1"/>
              <a:t>extensve</a:t>
            </a:r>
            <a:r>
              <a:rPr lang="en-US" dirty="0"/>
              <a:t> collection of tutorials </a:t>
            </a:r>
          </a:p>
          <a:p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Frequent Pattern Minning package </a:t>
            </a:r>
            <a:r>
              <a:rPr lang="en-US" dirty="0"/>
              <a:t>in Spark is considered highly scalable</a:t>
            </a:r>
          </a:p>
        </p:txBody>
      </p:sp>
    </p:spTree>
    <p:extLst>
      <p:ext uri="{BB962C8B-B14F-4D97-AF65-F5344CB8AC3E}">
        <p14:creationId xmlns:p14="http://schemas.microsoft.com/office/powerpoint/2010/main" val="33495193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CE260-EDE9-1FAF-03AA-52BC7DD85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9398-EE5A-A383-856F-524F3CFDD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Summary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68E9E-E0CE-D180-D225-A4D1B480A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Association rules are used to find sets of items that occur frequently  </a:t>
            </a:r>
          </a:p>
          <a:p>
            <a:r>
              <a:rPr lang="en-US" dirty="0"/>
              <a:t>Originally, association rules applied to market basket analysis </a:t>
            </a:r>
          </a:p>
          <a:p>
            <a:pPr lvl="1"/>
            <a:r>
              <a:rPr lang="en-US" dirty="0"/>
              <a:t>Now used in many domains</a:t>
            </a:r>
          </a:p>
          <a:p>
            <a:r>
              <a:rPr lang="en-US" dirty="0"/>
              <a:t>Systematic search algorithm is computationally infeasible     </a:t>
            </a:r>
          </a:p>
          <a:p>
            <a:r>
              <a:rPr lang="en-US" dirty="0"/>
              <a:t>Memory is the major limitation </a:t>
            </a:r>
          </a:p>
          <a:p>
            <a:pPr lvl="1"/>
            <a:r>
              <a:rPr lang="en-US" dirty="0"/>
              <a:t>Many algorithms have been developed to limit memory use  </a:t>
            </a:r>
          </a:p>
          <a:p>
            <a:pPr lvl="1"/>
            <a:r>
              <a:rPr lang="en-US" dirty="0"/>
              <a:t>Practical algorithms rely on </a:t>
            </a:r>
            <a:r>
              <a:rPr lang="en-US" b="1" dirty="0"/>
              <a:t>downward closure property of sets</a:t>
            </a:r>
            <a:r>
              <a:rPr lang="en-US" dirty="0"/>
              <a:t> </a:t>
            </a:r>
          </a:p>
          <a:p>
            <a:r>
              <a:rPr lang="en-US" dirty="0" err="1"/>
              <a:t>Apriori</a:t>
            </a:r>
            <a:r>
              <a:rPr lang="en-US" dirty="0"/>
              <a:t> algorithm was first practical method   </a:t>
            </a:r>
          </a:p>
          <a:p>
            <a:pPr lvl="1"/>
            <a:r>
              <a:rPr lang="en-US" dirty="0"/>
              <a:t>Search limited by filtering    </a:t>
            </a:r>
          </a:p>
          <a:p>
            <a:pPr lvl="1"/>
            <a:r>
              <a:rPr lang="en-US" dirty="0"/>
              <a:t>PCY improves on </a:t>
            </a:r>
            <a:r>
              <a:rPr lang="en-US" dirty="0" err="1"/>
              <a:t>apriori</a:t>
            </a:r>
            <a:r>
              <a:rPr lang="en-US" dirty="0"/>
              <a:t> using hashing methods   </a:t>
            </a:r>
          </a:p>
          <a:p>
            <a:r>
              <a:rPr lang="en-US" dirty="0"/>
              <a:t>FP growth algorithm is a tree (graph) based method   </a:t>
            </a:r>
          </a:p>
          <a:p>
            <a:pPr lvl="1"/>
            <a:r>
              <a:rPr lang="en-US" dirty="0"/>
              <a:t>Memory efficient by downward closure property of sets            </a:t>
            </a:r>
          </a:p>
          <a:p>
            <a:pPr marL="0" indent="0"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3521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5696D-354D-62CB-0192-218008228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B7BCFB8-BA4E-440E-F296-C6B2AAFDF708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How are the topics in this course connected?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3C2DC2-2848-DED5-529E-AA5AC0982CFB}"/>
              </a:ext>
            </a:extLst>
          </p:cNvPr>
          <p:cNvSpPr/>
          <p:nvPr/>
        </p:nvSpPr>
        <p:spPr>
          <a:xfrm>
            <a:off x="3534926" y="5536709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Large Scale Computing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095083-8BEB-8B08-7E66-FDC56E9B749C}"/>
              </a:ext>
            </a:extLst>
          </p:cNvPr>
          <p:cNvSpPr/>
          <p:nvPr/>
        </p:nvSpPr>
        <p:spPr>
          <a:xfrm>
            <a:off x="6030249" y="5536708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Distance and Similarity Metrics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E6AE79-4919-8796-C045-45AAD80B8591}"/>
              </a:ext>
            </a:extLst>
          </p:cNvPr>
          <p:cNvSpPr/>
          <p:nvPr/>
        </p:nvSpPr>
        <p:spPr>
          <a:xfrm>
            <a:off x="8404918" y="5536707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Large-Scale Statistics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68DB67-0DA8-A1EC-A865-219CC8E2924A}"/>
              </a:ext>
            </a:extLst>
          </p:cNvPr>
          <p:cNvSpPr/>
          <p:nvPr/>
        </p:nvSpPr>
        <p:spPr>
          <a:xfrm>
            <a:off x="1424242" y="4295126"/>
            <a:ext cx="2110684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10. Dimensionality Reduction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BB2418-B096-6DF9-524E-E46A63BC1B41}"/>
              </a:ext>
            </a:extLst>
          </p:cNvPr>
          <p:cNvSpPr/>
          <p:nvPr/>
        </p:nvSpPr>
        <p:spPr>
          <a:xfrm>
            <a:off x="10250858" y="4341585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Similarity Search and NN Algorithms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EC54F3-DE9D-99B4-64BF-88FC35D43917}"/>
              </a:ext>
            </a:extLst>
          </p:cNvPr>
          <p:cNvSpPr/>
          <p:nvPr/>
        </p:nvSpPr>
        <p:spPr>
          <a:xfrm>
            <a:off x="6025459" y="1162406"/>
            <a:ext cx="1961803" cy="119845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Algorithms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11. Association Models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CA27A3-15C9-D6F9-D488-CA7C0F3325D5}"/>
              </a:ext>
            </a:extLst>
          </p:cNvPr>
          <p:cNvSpPr/>
          <p:nvPr/>
        </p:nvSpPr>
        <p:spPr>
          <a:xfrm>
            <a:off x="3724850" y="1385932"/>
            <a:ext cx="2085982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Web/Document Search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68F19E-5C0B-62E5-14AB-6E96C6F326C5}"/>
              </a:ext>
            </a:extLst>
          </p:cNvPr>
          <p:cNvSpPr/>
          <p:nvPr/>
        </p:nvSpPr>
        <p:spPr>
          <a:xfrm>
            <a:off x="8201889" y="1385935"/>
            <a:ext cx="1834342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Streaming Algorithms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3CF73E-D779-E0A5-977B-A8C1B10177CB}"/>
              </a:ext>
            </a:extLst>
          </p:cNvPr>
          <p:cNvSpPr/>
          <p:nvPr/>
        </p:nvSpPr>
        <p:spPr>
          <a:xfrm>
            <a:off x="1424241" y="1385932"/>
            <a:ext cx="2085982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Graph and Social Network Analysis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269AD5-F4F6-0FAB-A473-3001BF8F0B95}"/>
              </a:ext>
            </a:extLst>
          </p:cNvPr>
          <p:cNvSpPr/>
          <p:nvPr/>
        </p:nvSpPr>
        <p:spPr>
          <a:xfrm>
            <a:off x="10250858" y="1385934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9. Clustering Algorithms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84A998-91B5-666C-E6F6-DCDDC35121EC}"/>
              </a:ext>
            </a:extLst>
          </p:cNvPr>
          <p:cNvCxnSpPr>
            <a:cxnSpLocks/>
          </p:cNvCxnSpPr>
          <p:nvPr/>
        </p:nvCxnSpPr>
        <p:spPr>
          <a:xfrm>
            <a:off x="1790007" y="3945774"/>
            <a:ext cx="9809018" cy="8269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F4312E4-A6C2-A99F-A49C-758C030D626C}"/>
              </a:ext>
            </a:extLst>
          </p:cNvPr>
          <p:cNvCxnSpPr>
            <a:cxnSpLocks/>
          </p:cNvCxnSpPr>
          <p:nvPr/>
        </p:nvCxnSpPr>
        <p:spPr>
          <a:xfrm>
            <a:off x="1790007" y="3945771"/>
            <a:ext cx="0" cy="34935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8E543F-8175-4E87-9961-D443C0497EBA}"/>
              </a:ext>
            </a:extLst>
          </p:cNvPr>
          <p:cNvCxnSpPr>
            <a:cxnSpLocks/>
          </p:cNvCxnSpPr>
          <p:nvPr/>
        </p:nvCxnSpPr>
        <p:spPr>
          <a:xfrm>
            <a:off x="11612880" y="3987122"/>
            <a:ext cx="0" cy="34935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82ABB2-A1D1-5DBF-CEE1-86D3F8FF02B8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4404240" y="3987122"/>
            <a:ext cx="0" cy="1549587"/>
          </a:xfrm>
          <a:prstGeom prst="line">
            <a:avLst/>
          </a:prstGeom>
          <a:ln w="1905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66CD7E-2D66-5C71-8CDD-06786BB045DE}"/>
              </a:ext>
            </a:extLst>
          </p:cNvPr>
          <p:cNvCxnSpPr>
            <a:cxnSpLocks/>
          </p:cNvCxnSpPr>
          <p:nvPr/>
        </p:nvCxnSpPr>
        <p:spPr>
          <a:xfrm flipV="1">
            <a:off x="1790007" y="2394994"/>
            <a:ext cx="0" cy="1550777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BC78BF-A0E4-4286-6C8B-58ADD2AF41AA}"/>
              </a:ext>
            </a:extLst>
          </p:cNvPr>
          <p:cNvCxnSpPr>
            <a:cxnSpLocks/>
          </p:cNvCxnSpPr>
          <p:nvPr/>
        </p:nvCxnSpPr>
        <p:spPr>
          <a:xfrm flipH="1" flipV="1">
            <a:off x="11558847" y="2360859"/>
            <a:ext cx="47106" cy="162626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E639F16-021F-6A3B-4FBC-5D0462ABC9C7}"/>
              </a:ext>
            </a:extLst>
          </p:cNvPr>
          <p:cNvCxnSpPr>
            <a:cxnSpLocks/>
          </p:cNvCxnSpPr>
          <p:nvPr/>
        </p:nvCxnSpPr>
        <p:spPr>
          <a:xfrm flipV="1">
            <a:off x="9700954" y="2360859"/>
            <a:ext cx="0" cy="162626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CCFB714-AEBF-837A-53F2-BD83D59B23A1}"/>
              </a:ext>
            </a:extLst>
          </p:cNvPr>
          <p:cNvCxnSpPr>
            <a:cxnSpLocks/>
          </p:cNvCxnSpPr>
          <p:nvPr/>
        </p:nvCxnSpPr>
        <p:spPr>
          <a:xfrm flipV="1">
            <a:off x="7697587" y="2360859"/>
            <a:ext cx="0" cy="162626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0B36884-7468-A7E0-65A3-A9211FBDF344}"/>
              </a:ext>
            </a:extLst>
          </p:cNvPr>
          <p:cNvCxnSpPr>
            <a:cxnSpLocks/>
          </p:cNvCxnSpPr>
          <p:nvPr/>
        </p:nvCxnSpPr>
        <p:spPr>
          <a:xfrm flipV="1">
            <a:off x="5533507" y="2360859"/>
            <a:ext cx="0" cy="162626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CD146D8-6FBF-807D-7DB6-AFB4CCCF6780}"/>
              </a:ext>
            </a:extLst>
          </p:cNvPr>
          <p:cNvCxnSpPr>
            <a:cxnSpLocks/>
          </p:cNvCxnSpPr>
          <p:nvPr/>
        </p:nvCxnSpPr>
        <p:spPr>
          <a:xfrm>
            <a:off x="1995053" y="3616683"/>
            <a:ext cx="9336579" cy="62435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BC23A8-D0F6-E440-0D62-E59C8DD09EF4}"/>
              </a:ext>
            </a:extLst>
          </p:cNvPr>
          <p:cNvCxnSpPr>
            <a:cxnSpLocks/>
          </p:cNvCxnSpPr>
          <p:nvPr/>
        </p:nvCxnSpPr>
        <p:spPr>
          <a:xfrm flipV="1">
            <a:off x="1995053" y="2360859"/>
            <a:ext cx="0" cy="128704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A7314B7-3D8B-DC71-3E73-D36CB8E0A023}"/>
              </a:ext>
            </a:extLst>
          </p:cNvPr>
          <p:cNvCxnSpPr>
            <a:cxnSpLocks/>
          </p:cNvCxnSpPr>
          <p:nvPr/>
        </p:nvCxnSpPr>
        <p:spPr>
          <a:xfrm>
            <a:off x="1995053" y="3616683"/>
            <a:ext cx="0" cy="67844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8BAF0BF-5D7F-1AA8-A1C1-5A4979DFB3E5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6890182" y="3647900"/>
            <a:ext cx="9381" cy="1888808"/>
          </a:xfrm>
          <a:prstGeom prst="line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CB447D4-587D-1C9A-5C3A-E1E2681ECD5F}"/>
              </a:ext>
            </a:extLst>
          </p:cNvPr>
          <p:cNvCxnSpPr>
            <a:cxnSpLocks/>
          </p:cNvCxnSpPr>
          <p:nvPr/>
        </p:nvCxnSpPr>
        <p:spPr>
          <a:xfrm>
            <a:off x="11331632" y="3679118"/>
            <a:ext cx="0" cy="67803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AD38C7F-A95B-9722-3EB2-F0EFB4774481}"/>
              </a:ext>
            </a:extLst>
          </p:cNvPr>
          <p:cNvCxnSpPr>
            <a:cxnSpLocks/>
          </p:cNvCxnSpPr>
          <p:nvPr/>
        </p:nvCxnSpPr>
        <p:spPr>
          <a:xfrm flipV="1">
            <a:off x="11331632" y="2360859"/>
            <a:ext cx="0" cy="1318259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EC8C89E-F09D-F837-779F-9BF3E060EEAD}"/>
              </a:ext>
            </a:extLst>
          </p:cNvPr>
          <p:cNvCxnSpPr>
            <a:cxnSpLocks/>
          </p:cNvCxnSpPr>
          <p:nvPr/>
        </p:nvCxnSpPr>
        <p:spPr>
          <a:xfrm flipV="1">
            <a:off x="7419109" y="2360859"/>
            <a:ext cx="0" cy="1333612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EF39D1B-B36C-621E-C8B7-B70DE37DD1C9}"/>
              </a:ext>
            </a:extLst>
          </p:cNvPr>
          <p:cNvCxnSpPr>
            <a:cxnSpLocks/>
          </p:cNvCxnSpPr>
          <p:nvPr/>
        </p:nvCxnSpPr>
        <p:spPr>
          <a:xfrm flipV="1">
            <a:off x="5191299" y="2360859"/>
            <a:ext cx="0" cy="133361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32800C7-969F-1806-862D-2AFF6CE99925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>
            <a:off x="7768876" y="6024171"/>
            <a:ext cx="636042" cy="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CB8E056-DC8C-68B8-53C4-730EF45B56A5}"/>
              </a:ext>
            </a:extLst>
          </p:cNvPr>
          <p:cNvCxnSpPr>
            <a:cxnSpLocks/>
          </p:cNvCxnSpPr>
          <p:nvPr/>
        </p:nvCxnSpPr>
        <p:spPr>
          <a:xfrm>
            <a:off x="2255519" y="3349410"/>
            <a:ext cx="8783782" cy="6137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8A21FEF-607F-FE2A-8AFE-863FC850EF45}"/>
              </a:ext>
            </a:extLst>
          </p:cNvPr>
          <p:cNvCxnSpPr>
            <a:cxnSpLocks/>
          </p:cNvCxnSpPr>
          <p:nvPr/>
        </p:nvCxnSpPr>
        <p:spPr>
          <a:xfrm flipH="1" flipV="1">
            <a:off x="9232668" y="3410788"/>
            <a:ext cx="41563" cy="2120762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4ED33F5-4C4B-20F8-0025-AE7D7EC6B8CE}"/>
              </a:ext>
            </a:extLst>
          </p:cNvPr>
          <p:cNvCxnSpPr>
            <a:cxnSpLocks/>
          </p:cNvCxnSpPr>
          <p:nvPr/>
        </p:nvCxnSpPr>
        <p:spPr>
          <a:xfrm>
            <a:off x="9191859" y="5010669"/>
            <a:ext cx="1018190" cy="1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F563E98-9F10-86B5-7A38-A4DC3F8D226F}"/>
              </a:ext>
            </a:extLst>
          </p:cNvPr>
          <p:cNvCxnSpPr>
            <a:cxnSpLocks/>
          </p:cNvCxnSpPr>
          <p:nvPr/>
        </p:nvCxnSpPr>
        <p:spPr>
          <a:xfrm flipH="1" flipV="1">
            <a:off x="3514144" y="4964212"/>
            <a:ext cx="5739305" cy="46458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10D1E9E-17F4-D241-B88B-E1207EF8167E}"/>
              </a:ext>
            </a:extLst>
          </p:cNvPr>
          <p:cNvCxnSpPr>
            <a:cxnSpLocks/>
          </p:cNvCxnSpPr>
          <p:nvPr/>
        </p:nvCxnSpPr>
        <p:spPr>
          <a:xfrm flipV="1">
            <a:off x="11025447" y="2360859"/>
            <a:ext cx="0" cy="1049929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24D1D8D-40CC-4966-2F2D-A0F4F9F3F604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7006361" y="2360862"/>
            <a:ext cx="26212" cy="1013795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FAB035D-F65C-5770-074C-7E06DD366086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4747530" y="2360859"/>
            <a:ext cx="20311" cy="988548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1D00F7A-84C3-3975-6C01-3FA99F66FA63}"/>
              </a:ext>
            </a:extLst>
          </p:cNvPr>
          <p:cNvCxnSpPr>
            <a:cxnSpLocks/>
          </p:cNvCxnSpPr>
          <p:nvPr/>
        </p:nvCxnSpPr>
        <p:spPr>
          <a:xfrm flipV="1">
            <a:off x="2272144" y="2360859"/>
            <a:ext cx="0" cy="1015402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E2AF664-E6A7-4C39-D2B3-80CDEC737773}"/>
              </a:ext>
            </a:extLst>
          </p:cNvPr>
          <p:cNvCxnSpPr>
            <a:cxnSpLocks/>
          </p:cNvCxnSpPr>
          <p:nvPr/>
        </p:nvCxnSpPr>
        <p:spPr>
          <a:xfrm flipH="1" flipV="1">
            <a:off x="10773296" y="3027664"/>
            <a:ext cx="8433" cy="1308811"/>
          </a:xfrm>
          <a:prstGeom prst="line">
            <a:avLst/>
          </a:prstGeom>
          <a:ln w="19050"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87D9015-CFA0-53E2-D048-34EFE52BAB8E}"/>
              </a:ext>
            </a:extLst>
          </p:cNvPr>
          <p:cNvCxnSpPr>
            <a:cxnSpLocks/>
          </p:cNvCxnSpPr>
          <p:nvPr/>
        </p:nvCxnSpPr>
        <p:spPr>
          <a:xfrm>
            <a:off x="2576945" y="3004379"/>
            <a:ext cx="8196351" cy="6308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7383971-CF30-8626-5B5A-9A87C7C1DAED}"/>
              </a:ext>
            </a:extLst>
          </p:cNvPr>
          <p:cNvCxnSpPr>
            <a:cxnSpLocks/>
          </p:cNvCxnSpPr>
          <p:nvPr/>
        </p:nvCxnSpPr>
        <p:spPr>
          <a:xfrm flipH="1" flipV="1">
            <a:off x="10759443" y="2323848"/>
            <a:ext cx="8433" cy="1308811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A77C1F1-5992-08F9-F794-D5F6701A2CFA}"/>
              </a:ext>
            </a:extLst>
          </p:cNvPr>
          <p:cNvCxnSpPr>
            <a:cxnSpLocks/>
          </p:cNvCxnSpPr>
          <p:nvPr/>
        </p:nvCxnSpPr>
        <p:spPr>
          <a:xfrm flipH="1" flipV="1">
            <a:off x="9394583" y="2370307"/>
            <a:ext cx="4217" cy="697152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D1F2E38-2627-20F9-E2E8-07A7C99A87ED}"/>
              </a:ext>
            </a:extLst>
          </p:cNvPr>
          <p:cNvCxnSpPr>
            <a:cxnSpLocks/>
          </p:cNvCxnSpPr>
          <p:nvPr/>
        </p:nvCxnSpPr>
        <p:spPr>
          <a:xfrm flipH="1" flipV="1">
            <a:off x="6723667" y="2360859"/>
            <a:ext cx="4217" cy="697152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474D118-4B8C-7E0E-70DD-ED4BCF164E23}"/>
              </a:ext>
            </a:extLst>
          </p:cNvPr>
          <p:cNvCxnSpPr>
            <a:cxnSpLocks/>
          </p:cNvCxnSpPr>
          <p:nvPr/>
        </p:nvCxnSpPr>
        <p:spPr>
          <a:xfrm flipH="1" flipV="1">
            <a:off x="4363998" y="2346624"/>
            <a:ext cx="4217" cy="697152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0F2FDEE-F33D-F0D6-22D2-6E3A92A75569}"/>
              </a:ext>
            </a:extLst>
          </p:cNvPr>
          <p:cNvCxnSpPr>
            <a:cxnSpLocks/>
          </p:cNvCxnSpPr>
          <p:nvPr/>
        </p:nvCxnSpPr>
        <p:spPr>
          <a:xfrm flipH="1" flipV="1">
            <a:off x="2575405" y="2338767"/>
            <a:ext cx="12620" cy="650259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7525B06-B889-78D6-0193-CB7FFBEC8861}"/>
              </a:ext>
            </a:extLst>
          </p:cNvPr>
          <p:cNvCxnSpPr>
            <a:cxnSpLocks/>
          </p:cNvCxnSpPr>
          <p:nvPr/>
        </p:nvCxnSpPr>
        <p:spPr>
          <a:xfrm>
            <a:off x="2941172" y="2709435"/>
            <a:ext cx="7549489" cy="42957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BB53509-9119-750E-AE40-43134C22E633}"/>
              </a:ext>
            </a:extLst>
          </p:cNvPr>
          <p:cNvCxnSpPr>
            <a:cxnSpLocks/>
          </p:cNvCxnSpPr>
          <p:nvPr/>
        </p:nvCxnSpPr>
        <p:spPr>
          <a:xfrm>
            <a:off x="4038452" y="2718883"/>
            <a:ext cx="0" cy="1848175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049D95A-65B1-ED84-8C41-95441B1608B0}"/>
              </a:ext>
            </a:extLst>
          </p:cNvPr>
          <p:cNvCxnSpPr>
            <a:cxnSpLocks/>
          </p:cNvCxnSpPr>
          <p:nvPr/>
        </p:nvCxnSpPr>
        <p:spPr>
          <a:xfrm>
            <a:off x="2941172" y="2389321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384B72B-8324-7E55-9B92-6B5EC91BA314}"/>
              </a:ext>
            </a:extLst>
          </p:cNvPr>
          <p:cNvCxnSpPr>
            <a:cxnSpLocks/>
          </p:cNvCxnSpPr>
          <p:nvPr/>
        </p:nvCxnSpPr>
        <p:spPr>
          <a:xfrm>
            <a:off x="4038452" y="2370307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36FD3F0-6DC4-F510-AE53-716AE1880F43}"/>
              </a:ext>
            </a:extLst>
          </p:cNvPr>
          <p:cNvCxnSpPr>
            <a:cxnSpLocks/>
          </p:cNvCxnSpPr>
          <p:nvPr/>
        </p:nvCxnSpPr>
        <p:spPr>
          <a:xfrm>
            <a:off x="6338306" y="2389321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3256FDD-5F65-6AC4-5075-61C237EE7D38}"/>
              </a:ext>
            </a:extLst>
          </p:cNvPr>
          <p:cNvCxnSpPr>
            <a:cxnSpLocks/>
          </p:cNvCxnSpPr>
          <p:nvPr/>
        </p:nvCxnSpPr>
        <p:spPr>
          <a:xfrm>
            <a:off x="9034400" y="2413004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D13D74C-D122-18BF-6F92-819D416983A1}"/>
              </a:ext>
            </a:extLst>
          </p:cNvPr>
          <p:cNvCxnSpPr>
            <a:cxnSpLocks/>
          </p:cNvCxnSpPr>
          <p:nvPr/>
        </p:nvCxnSpPr>
        <p:spPr>
          <a:xfrm>
            <a:off x="10455876" y="2386892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390D177-2A29-0AD2-9907-6250C53F18D7}"/>
              </a:ext>
            </a:extLst>
          </p:cNvPr>
          <p:cNvCxnSpPr>
            <a:cxnSpLocks/>
          </p:cNvCxnSpPr>
          <p:nvPr/>
        </p:nvCxnSpPr>
        <p:spPr>
          <a:xfrm flipH="1" flipV="1">
            <a:off x="3534926" y="4567058"/>
            <a:ext cx="6710512" cy="66101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Left Brace 128">
            <a:extLst>
              <a:ext uri="{FF2B5EF4-FFF2-40B4-BE49-F238E27FC236}">
                <a16:creationId xmlns:a16="http://schemas.microsoft.com/office/drawing/2014/main" id="{6043DBE9-E725-19BE-AEAA-ECF2B906006A}"/>
              </a:ext>
            </a:extLst>
          </p:cNvPr>
          <p:cNvSpPr/>
          <p:nvPr/>
        </p:nvSpPr>
        <p:spPr>
          <a:xfrm>
            <a:off x="3108203" y="5531550"/>
            <a:ext cx="252151" cy="97492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7310E1D-4922-9C44-9B80-1DD1DA8CFFB6}"/>
              </a:ext>
            </a:extLst>
          </p:cNvPr>
          <p:cNvSpPr txBox="1"/>
          <p:nvPr/>
        </p:nvSpPr>
        <p:spPr>
          <a:xfrm rot="16200000">
            <a:off x="2113086" y="5818958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131" name="Left Brace 130">
            <a:extLst>
              <a:ext uri="{FF2B5EF4-FFF2-40B4-BE49-F238E27FC236}">
                <a16:creationId xmlns:a16="http://schemas.microsoft.com/office/drawing/2014/main" id="{D23C0DA0-B215-DAF9-AFE7-D383C1D0BC43}"/>
              </a:ext>
            </a:extLst>
          </p:cNvPr>
          <p:cNvSpPr/>
          <p:nvPr/>
        </p:nvSpPr>
        <p:spPr>
          <a:xfrm>
            <a:off x="1032678" y="4285457"/>
            <a:ext cx="252151" cy="97492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55449FE-DD32-E85F-30EF-949E04C879C3}"/>
              </a:ext>
            </a:extLst>
          </p:cNvPr>
          <p:cNvSpPr txBox="1"/>
          <p:nvPr/>
        </p:nvSpPr>
        <p:spPr>
          <a:xfrm rot="16200000">
            <a:off x="-144370" y="4418977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34" name="Left Brace 133">
            <a:extLst>
              <a:ext uri="{FF2B5EF4-FFF2-40B4-BE49-F238E27FC236}">
                <a16:creationId xmlns:a16="http://schemas.microsoft.com/office/drawing/2014/main" id="{A7BE64C7-125C-19D8-05C5-A8ABCF019D81}"/>
              </a:ext>
            </a:extLst>
          </p:cNvPr>
          <p:cNvSpPr/>
          <p:nvPr/>
        </p:nvSpPr>
        <p:spPr>
          <a:xfrm>
            <a:off x="998926" y="1382764"/>
            <a:ext cx="252151" cy="97492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156C23A-A711-2A26-2C5B-FE202AAAFC6E}"/>
              </a:ext>
            </a:extLst>
          </p:cNvPr>
          <p:cNvSpPr txBox="1"/>
          <p:nvPr/>
        </p:nvSpPr>
        <p:spPr>
          <a:xfrm rot="16200000">
            <a:off x="-178122" y="1516284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Task Specific Algorithms</a:t>
            </a:r>
          </a:p>
        </p:txBody>
      </p:sp>
    </p:spTree>
    <p:extLst>
      <p:ext uri="{BB962C8B-B14F-4D97-AF65-F5344CB8AC3E}">
        <p14:creationId xmlns:p14="http://schemas.microsoft.com/office/powerpoint/2010/main" val="1118652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19941</TotalTime>
  <Words>5855</Words>
  <Application>Microsoft Office PowerPoint</Application>
  <PresentationFormat>Widescreen</PresentationFormat>
  <Paragraphs>1377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Arial</vt:lpstr>
      <vt:lpstr>Calibri</vt:lpstr>
      <vt:lpstr>Calibri Light</vt:lpstr>
      <vt:lpstr>Cambria Math</vt:lpstr>
      <vt:lpstr>Office Theme</vt:lpstr>
      <vt:lpstr>CSCI E-108 Data Mining, Exploration and Discovery Association Rules and  Frequent Item Sets</vt:lpstr>
      <vt:lpstr>Main topics in this course </vt:lpstr>
      <vt:lpstr>Association Rules and Frequent Item Sets</vt:lpstr>
      <vt:lpstr>The Market Basket Model </vt:lpstr>
      <vt:lpstr>Association Rules vs Similarity</vt:lpstr>
      <vt:lpstr>The Market Basket Model </vt:lpstr>
      <vt:lpstr>Frequent Item Sets and Association Rules</vt:lpstr>
      <vt:lpstr>Frequent Item Sets and Association Rules</vt:lpstr>
      <vt:lpstr>Frequent Item Sets and Association Rules</vt:lpstr>
      <vt:lpstr>Computing Association Frequency </vt:lpstr>
      <vt:lpstr>Computing Association Frequency </vt:lpstr>
      <vt:lpstr>Apriori Algorithm</vt:lpstr>
      <vt:lpstr>Apriori Algorithm </vt:lpstr>
      <vt:lpstr>Apriori Algorithm </vt:lpstr>
      <vt:lpstr>Apriori Algorithm </vt:lpstr>
      <vt:lpstr>Apriori Algorithm </vt:lpstr>
      <vt:lpstr>Apriori Algorithm </vt:lpstr>
      <vt:lpstr>Apriori Algorithm </vt:lpstr>
      <vt:lpstr>Memory Management for Apriori Algorithm </vt:lpstr>
      <vt:lpstr>Summary of Apriori Algorithm 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Improving the Apriori Algorithm</vt:lpstr>
      <vt:lpstr>Improving on Apriori Algorithm </vt:lpstr>
      <vt:lpstr>The PCY Algorithm</vt:lpstr>
      <vt:lpstr>The PCY Algorithm</vt:lpstr>
      <vt:lpstr>The PCY Algorithm</vt:lpstr>
      <vt:lpstr>The PCY Algorithm</vt:lpstr>
      <vt:lpstr>The PYC Algorithm</vt:lpstr>
      <vt:lpstr>FP-Growth Algorithm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Python Support</vt:lpstr>
      <vt:lpstr>Summary of Association Rules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1009</cp:revision>
  <dcterms:created xsi:type="dcterms:W3CDTF">2020-08-19T23:28:02Z</dcterms:created>
  <dcterms:modified xsi:type="dcterms:W3CDTF">2026-06-16T14:59:26Z</dcterms:modified>
</cp:coreProperties>
</file>