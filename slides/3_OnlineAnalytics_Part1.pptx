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819" r:id="rId3"/>
    <p:sldId id="257" r:id="rId4"/>
    <p:sldId id="448" r:id="rId5"/>
    <p:sldId id="382" r:id="rId6"/>
    <p:sldId id="261" r:id="rId7"/>
    <p:sldId id="258" r:id="rId8"/>
    <p:sldId id="503" r:id="rId9"/>
    <p:sldId id="504" r:id="rId10"/>
    <p:sldId id="259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377" r:id="rId56"/>
    <p:sldId id="390" r:id="rId57"/>
    <p:sldId id="391" r:id="rId58"/>
    <p:sldId id="394" r:id="rId59"/>
    <p:sldId id="393" r:id="rId60"/>
    <p:sldId id="395" r:id="rId61"/>
    <p:sldId id="397" r:id="rId62"/>
    <p:sldId id="396" r:id="rId63"/>
    <p:sldId id="421" r:id="rId64"/>
    <p:sldId id="441" r:id="rId65"/>
    <p:sldId id="398" r:id="rId66"/>
    <p:sldId id="502" r:id="rId67"/>
    <p:sldId id="410" r:id="rId68"/>
    <p:sldId id="399" r:id="rId69"/>
    <p:sldId id="406" r:id="rId70"/>
    <p:sldId id="400" r:id="rId71"/>
    <p:sldId id="401" r:id="rId72"/>
    <p:sldId id="402" r:id="rId73"/>
    <p:sldId id="403" r:id="rId74"/>
    <p:sldId id="404" r:id="rId75"/>
    <p:sldId id="405" r:id="rId76"/>
    <p:sldId id="407" r:id="rId77"/>
    <p:sldId id="409" r:id="rId78"/>
    <p:sldId id="426" r:id="rId79"/>
    <p:sldId id="408" r:id="rId80"/>
    <p:sldId id="449" r:id="rId81"/>
    <p:sldId id="450" r:id="rId82"/>
    <p:sldId id="383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77" autoAdjust="0"/>
    <p:restoredTop sz="94660"/>
  </p:normalViewPr>
  <p:slideViewPr>
    <p:cSldViewPr snapToGrid="0">
      <p:cViewPr>
        <p:scale>
          <a:sx n="71" d="100"/>
          <a:sy n="71" d="100"/>
        </p:scale>
        <p:origin x="60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715244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methods for reducing volume of real-valued streams</a:t>
            </a:r>
          </a:p>
          <a:p>
            <a:pPr lvl="1"/>
            <a:r>
              <a:rPr lang="en-US" dirty="0"/>
              <a:t>We cannot process or store all of the values in a stream  </a:t>
            </a:r>
          </a:p>
          <a:p>
            <a:pPr lvl="1"/>
            <a:r>
              <a:rPr lang="en-US" dirty="0"/>
              <a:t>Use sampling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Limited 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Compare reservoir sampling to Poisson sampling    </a:t>
                </a:r>
              </a:p>
              <a:p>
                <a:r>
                  <a:rPr lang="en-US" sz="2400" dirty="0"/>
                  <a:t>A Poisson sample grows linearly, whereas the reservoir sample is constant,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probability of a sample residing in a </a:t>
                </a:r>
                <a:r>
                  <a:rPr lang="en-US" sz="2400" b="1" dirty="0"/>
                  <a:t>Poisson sample is constant</a:t>
                </a:r>
                <a:endParaRPr lang="en-US" sz="2400" dirty="0"/>
              </a:p>
              <a:p>
                <a:r>
                  <a:rPr lang="en-US" sz="2400" dirty="0"/>
                  <a:t>The </a:t>
                </a:r>
                <a:r>
                  <a:rPr lang="en-US" sz="2400" b="1" dirty="0"/>
                  <a:t>probability of a sample residing in the reservoir declines for reservoir sampling</a:t>
                </a:r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Size of the reservoir is constant</a:t>
                </a:r>
              </a:p>
              <a:p>
                <a:endParaRPr lang="en-US" sz="2600" dirty="0"/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  <a:blipFill>
                <a:blip r:embed="rId4"/>
                <a:stretch>
                  <a:fillRect l="-1845" t="-2384" b="-2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>
            <a:cxnSpLocks/>
          </p:cNvCxnSpPr>
          <p:nvPr/>
        </p:nvCxnSpPr>
        <p:spPr>
          <a:xfrm flipV="1">
            <a:off x="6804212" y="2384529"/>
            <a:ext cx="2829261" cy="258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525816" y="4292301"/>
            <a:ext cx="2741897" cy="2259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3CD297-2BA3-0FAC-C7BC-EF4B2F626009}"/>
              </a:ext>
            </a:extLst>
          </p:cNvPr>
          <p:cNvCxnSpPr>
            <a:cxnSpLocks/>
          </p:cNvCxnSpPr>
          <p:nvPr/>
        </p:nvCxnSpPr>
        <p:spPr>
          <a:xfrm flipV="1">
            <a:off x="7105426" y="3055350"/>
            <a:ext cx="2603350" cy="493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1C7EFC-4F8B-034C-861B-CB0C947EFEBF}"/>
              </a:ext>
            </a:extLst>
          </p:cNvPr>
          <p:cNvCxnSpPr>
            <a:cxnSpLocks/>
          </p:cNvCxnSpPr>
          <p:nvPr/>
        </p:nvCxnSpPr>
        <p:spPr>
          <a:xfrm>
            <a:off x="5066852" y="5663901"/>
            <a:ext cx="3792070" cy="5794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sample values 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distributed, with the largest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W = </a:t>
            </a:r>
            <a:r>
              <a:rPr lang="en-US" sz="2600" dirty="0" err="1"/>
              <a:t>math.exp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## Loop over the </a:t>
            </a:r>
            <a:r>
              <a:rPr lang="en-US" sz="2600" dirty="0" err="1"/>
              <a:t>remianing</a:t>
            </a:r>
            <a:r>
              <a:rPr lang="en-US" sz="26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while </a:t>
            </a:r>
            <a:r>
              <a:rPr lang="en-US" sz="2600" dirty="0" err="1"/>
              <a:t>i</a:t>
            </a:r>
            <a:r>
              <a:rPr lang="en-US" sz="2600" dirty="0"/>
              <a:t> &lt; n: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</a:t>
            </a:r>
            <a:r>
              <a:rPr lang="en-US" sz="2600" dirty="0" err="1"/>
              <a:t>i</a:t>
            </a:r>
            <a:r>
              <a:rPr lang="en-US" sz="2600" dirty="0"/>
              <a:t> = </a:t>
            </a:r>
            <a:r>
              <a:rPr lang="en-US" sz="2600" dirty="0" err="1"/>
              <a:t>i</a:t>
            </a:r>
            <a:r>
              <a:rPr lang="en-US" sz="2600" dirty="0"/>
              <a:t> + </a:t>
            </a:r>
            <a:r>
              <a:rPr lang="en-US" sz="2600" dirty="0" err="1"/>
              <a:t>math.floor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if </a:t>
            </a:r>
            <a:r>
              <a:rPr lang="en-US" sz="2600" dirty="0" err="1"/>
              <a:t>i</a:t>
            </a:r>
            <a:r>
              <a:rPr lang="en-US" sz="26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</a:t>
            </a:r>
            <a:r>
              <a:rPr lang="en-US" sz="2600" dirty="0" err="1"/>
              <a:t>indx</a:t>
            </a:r>
            <a:r>
              <a:rPr lang="en-US" sz="2600" dirty="0"/>
              <a:t> = </a:t>
            </a:r>
            <a:r>
              <a:rPr lang="en-US" sz="2600" dirty="0" err="1"/>
              <a:t>random.randint</a:t>
            </a:r>
            <a:r>
              <a:rPr lang="en-US" sz="26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</a:t>
            </a:r>
            <a:r>
              <a:rPr lang="en-US" sz="2600" dirty="0" err="1"/>
              <a:t>reservoir_buffer</a:t>
            </a:r>
            <a:r>
              <a:rPr lang="en-US" sz="2600" dirty="0"/>
              <a:t>[</a:t>
            </a:r>
            <a:r>
              <a:rPr lang="en-US" sz="2600" dirty="0" err="1"/>
              <a:t>indx</a:t>
            </a:r>
            <a:r>
              <a:rPr lang="en-US" sz="2600" dirty="0"/>
              <a:t>] = stream[</a:t>
            </a:r>
            <a:r>
              <a:rPr lang="en-US" sz="2600" dirty="0" err="1"/>
              <a:t>i</a:t>
            </a:r>
            <a:r>
              <a:rPr lang="en-US" sz="26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600" dirty="0"/>
              <a:t>        W = W * </a:t>
            </a:r>
            <a:r>
              <a:rPr lang="en-US" sz="2600" dirty="0" err="1"/>
              <a:t>math.exp</a:t>
            </a:r>
            <a:r>
              <a:rPr lang="en-US" sz="2600" dirty="0"/>
              <a:t>(math.log(</a:t>
            </a:r>
            <a:r>
              <a:rPr lang="en-US" sz="2600" dirty="0" err="1"/>
              <a:t>random.random</a:t>
            </a:r>
            <a:r>
              <a:rPr lang="en-US" sz="2600" dirty="0"/>
              <a:t>())/k)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3385040"/>
            <a:ext cx="604286" cy="267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4223721"/>
            <a:ext cx="1155284" cy="5135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5007196"/>
            <a:ext cx="1484555" cy="80062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4561668"/>
            <a:ext cx="1036463" cy="17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flip hash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output a bit location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1782" r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a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collisions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2"/>
                <a:r>
                  <a:rPr lang="en-US" dirty="0"/>
                  <a:t>Approximation improves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some other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simple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offline or online </a:t>
            </a:r>
          </a:p>
          <a:p>
            <a:pPr lvl="1"/>
            <a:r>
              <a:rPr lang="en-US" dirty="0"/>
              <a:t>Counting events by scanning massive databases offline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r>
              <a:rPr lang="en-US" dirty="0"/>
              <a:t>Create a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lvl="1"/>
            <a:r>
              <a:rPr lang="en-US" b="1" dirty="0"/>
              <a:t>Count is approximated </a:t>
            </a:r>
            <a:r>
              <a:rPr lang="en-US" dirty="0"/>
              <a:t>by the sketch   </a:t>
            </a:r>
          </a:p>
          <a:p>
            <a:pPr lvl="1"/>
            <a:r>
              <a:rPr lang="en-US" dirty="0"/>
              <a:t>Data structure is of </a:t>
            </a:r>
            <a:r>
              <a:rPr lang="en-US" b="1" dirty="0"/>
              <a:t>fixed compact size</a:t>
            </a:r>
            <a:r>
              <a:rPr lang="en-US" dirty="0"/>
              <a:t>!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Actual count may be less than estimate</a:t>
            </a:r>
            <a:r>
              <a:rPr lang="en-US" dirty="0"/>
              <a:t>, </a:t>
            </a:r>
            <a:r>
              <a:rPr lang="en-US" b="1" dirty="0"/>
              <a:t>never greater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frequencies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total counts,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29639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071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003778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33682</TotalTime>
  <Words>6044</Words>
  <Application>Microsoft Office PowerPoint</Application>
  <PresentationFormat>Widescreen</PresentationFormat>
  <Paragraphs>1389</Paragraphs>
  <Slides>82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7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860</cp:revision>
  <cp:lastPrinted>2019-09-03T23:18:19Z</cp:lastPrinted>
  <dcterms:created xsi:type="dcterms:W3CDTF">2019-08-02T23:14:29Z</dcterms:created>
  <dcterms:modified xsi:type="dcterms:W3CDTF">2026-06-30T18:47:33Z</dcterms:modified>
</cp:coreProperties>
</file>