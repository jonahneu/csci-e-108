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75" r:id="rId2"/>
    <p:sldId id="819" r:id="rId3"/>
    <p:sldId id="327" r:id="rId4"/>
    <p:sldId id="314" r:id="rId5"/>
    <p:sldId id="279" r:id="rId6"/>
    <p:sldId id="356" r:id="rId7"/>
    <p:sldId id="331" r:id="rId8"/>
    <p:sldId id="851" r:id="rId9"/>
    <p:sldId id="361" r:id="rId10"/>
    <p:sldId id="268" r:id="rId11"/>
    <p:sldId id="358" r:id="rId12"/>
    <p:sldId id="360" r:id="rId13"/>
    <p:sldId id="384" r:id="rId14"/>
    <p:sldId id="313" r:id="rId15"/>
    <p:sldId id="353" r:id="rId16"/>
    <p:sldId id="855" r:id="rId17"/>
    <p:sldId id="864" r:id="rId18"/>
    <p:sldId id="863" r:id="rId19"/>
    <p:sldId id="862" r:id="rId20"/>
    <p:sldId id="853" r:id="rId21"/>
    <p:sldId id="854" r:id="rId22"/>
    <p:sldId id="372" r:id="rId23"/>
    <p:sldId id="380" r:id="rId24"/>
    <p:sldId id="386" r:id="rId25"/>
    <p:sldId id="389" r:id="rId26"/>
    <p:sldId id="390" r:id="rId27"/>
    <p:sldId id="391" r:id="rId28"/>
    <p:sldId id="392" r:id="rId29"/>
    <p:sldId id="393" r:id="rId30"/>
    <p:sldId id="394" r:id="rId31"/>
    <p:sldId id="786" r:id="rId32"/>
    <p:sldId id="787" r:id="rId33"/>
    <p:sldId id="395" r:id="rId34"/>
    <p:sldId id="857" r:id="rId35"/>
    <p:sldId id="793" r:id="rId36"/>
    <p:sldId id="362" r:id="rId37"/>
    <p:sldId id="364" r:id="rId38"/>
    <p:sldId id="365" r:id="rId39"/>
    <p:sldId id="373" r:id="rId40"/>
    <p:sldId id="371" r:id="rId41"/>
    <p:sldId id="374" r:id="rId42"/>
    <p:sldId id="367" r:id="rId43"/>
    <p:sldId id="366" r:id="rId44"/>
    <p:sldId id="376" r:id="rId45"/>
    <p:sldId id="858" r:id="rId46"/>
    <p:sldId id="859" r:id="rId47"/>
    <p:sldId id="860" r:id="rId48"/>
    <p:sldId id="861" r:id="rId49"/>
    <p:sldId id="385" r:id="rId50"/>
    <p:sldId id="387" r:id="rId51"/>
    <p:sldId id="782" r:id="rId52"/>
    <p:sldId id="785" r:id="rId53"/>
    <p:sldId id="792" r:id="rId54"/>
    <p:sldId id="784" r:id="rId55"/>
    <p:sldId id="791" r:id="rId56"/>
    <p:sldId id="396" r:id="rId57"/>
    <p:sldId id="788" r:id="rId58"/>
    <p:sldId id="397" r:id="rId59"/>
    <p:sldId id="789" r:id="rId60"/>
    <p:sldId id="790" r:id="rId61"/>
    <p:sldId id="379" r:id="rId62"/>
    <p:sldId id="388" r:id="rId63"/>
    <p:sldId id="378" r:id="rId64"/>
    <p:sldId id="382" r:id="rId65"/>
    <p:sldId id="381" r:id="rId66"/>
    <p:sldId id="32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4" autoAdjust="0"/>
    <p:restoredTop sz="94106" autoAdjust="0"/>
  </p:normalViewPr>
  <p:slideViewPr>
    <p:cSldViewPr snapToGrid="0">
      <p:cViewPr varScale="1">
        <p:scale>
          <a:sx n="72" d="100"/>
          <a:sy n="72" d="100"/>
        </p:scale>
        <p:origin x="5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E277-7B52-48CF-8A81-813C08FCADB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49324-B10A-42F9-8BB3-F1803A0C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D24D-6892-4F7A-B171-917047C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B90ED-2E47-B3C2-2B80-873A1FD11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32344-AADA-0024-758D-8AA56F323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0643-E352-DB14-B131-0A71038C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498E-31C8-714B-A8B2-FBCD86A4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FFEA5-206D-EB73-A500-80BAB474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0A5A-B3B6-9CBB-774C-8F9556194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C8E0-CC45-1765-91B7-FADF06D87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4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89A-9613-FD25-1807-9C26AACD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45C8F-383D-5894-498B-9FA40DFC4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38800-6978-2029-CA15-10BCFC96F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479EE-8AEE-9389-5DFE-B60F9B5BD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4EC-238F-12E3-584D-A1199330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94E58-6F0E-F1F7-C99D-3F9CF99EE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28EC-8F48-EAA3-2287-2A3363071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6C30-5EB4-37E4-8213-57510FAE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96D5-245A-C885-9FB3-9C8D233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25348-56FC-9964-C3C2-675F9D71B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393DB-3232-E8CD-BB5C-6E160AF0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20E5F-630D-53F5-69F6-122B47402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0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456C-CD53-4A7A-A160-E9C9A568A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1EB4-6CCA-4130-8A22-78B4E9FB7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ED50-6B88-4AEF-AAEE-7354385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3E68-433F-4F17-A860-C81BAE89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8B22-06FE-43D1-AA6B-E8A7F727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9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4323-E7C5-43B7-8E83-0382CAF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65C7-D4A3-445C-B8EA-6A8A6C26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01D9-3C05-45A6-8AE3-981B0CD6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D7CA-88EC-4638-96B7-002D0689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F07A-DE8A-483D-9369-B5A8149F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8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A01C-E450-4C9F-AE8D-1A08572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39D9C-F86D-4496-9862-DCB41F0D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6E59-8337-4EFD-8222-A85DA0D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D25-5DA4-42CF-A656-4E02B680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E75F-D18B-4389-9CB2-16182DB9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C7BC-CA92-4066-B435-64275339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5DB8-3FB6-4932-90FC-75EBA9583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89F89-B3E0-4678-BAE2-6099F8AE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6EA69-768D-488D-9DFF-6856D15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67E0C-5C02-4009-9814-E9CF400B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E63D-EAC6-4C0E-BFCF-A4C916C6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C45B-E84C-42A8-9800-81A80AC2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7A06-6A0F-4E27-8F30-7C85CE88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06719-FA76-4F6D-B74F-9DCC4FB38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60B46-76A2-4CFB-A315-D89CC0E44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99308-315C-455C-81D9-CE6A133FC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B93A1-9C9F-4B68-855B-4E7D67CD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D2CB0-6F9A-4BDC-AF77-02C99696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BD551-7755-417C-88A5-26BF4F0D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CB7B-8CF4-4CE3-9017-C752612D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7ED45-7FCC-4BE8-810F-01E35B7A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FAEBF-E9A6-40D1-AE8B-1E24AFB0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5F77B-9FBB-483C-AEE6-EAFC03D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0CC6E-AF13-4AC6-8BF7-83A793A0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41C00-450D-4A37-A635-9BA76B01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9E5F-DBB6-4B5C-AD31-1A2EC291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776E-8E79-4345-BB4B-6931B013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A28B-3709-4CC1-8A7D-72EBB374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1202B-2205-43FF-A4D5-6630BD32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78622-2769-4A44-AB53-F30384ED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4495-05FE-414F-AB02-7EAC3B9A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FD4CD-6183-436F-9C79-F067509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6E7-5C18-4556-897E-CFF07301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A2D99-8C5A-4438-BB8F-791EE6662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43878-34CA-454A-9220-6AE3EC2A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0470-F771-4D7E-8DCC-BFB3C6D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2A2A4-8314-4476-B0D8-CDD232A5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785C8-CF21-429E-9DB0-79545626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B0C-ADC4-4D5B-BD35-7FF6DA68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878D1-F683-4992-A741-6D088E698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7B540-E0EC-4E10-B84B-7135B61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183F-A27F-4DF8-BC75-365A70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5F31-8691-4618-9DED-CAB0DC99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E5A1D-9DBF-45B1-8B19-69BEB2662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710A0-0952-49B0-B912-4BE2E581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1922-0EA4-47DE-B72F-9C683DF6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5BA6-3360-497F-B8FE-BCC285B0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7E4E-4A93-42E2-8E85-5B1BED90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21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34D26-D5AC-4B4D-A51D-7360DDE5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B9FE-ED87-47A6-A310-FB415363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BCA-15D0-4452-BBC9-47DDAAE0F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E77-FE47-445E-A4A9-C9AC534D337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29FE-2993-49FF-A560-F7A5565B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E166-F9DB-4446-8B8A-8B24480F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formation_retriev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kapi_BM25" TargetMode="External"/><Relationship Id="rId7" Type="http://schemas.openxmlformats.org/officeDocument/2006/relationships/hyperlink" Target="https://en.wikipedia.org/wiki/Information_retrieval" TargetMode="External"/><Relationship Id="rId2" Type="http://schemas.openxmlformats.org/officeDocument/2006/relationships/hyperlink" Target="https://developers.google.com/search/docs/appearance/ranking-systems-gu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ageRank" TargetMode="External"/><Relationship Id="rId5" Type="http://schemas.openxmlformats.org/officeDocument/2006/relationships/hyperlink" Target="https://en.wikipedia.org/wiki/Ranking_(information_retrieval)" TargetMode="External"/><Relationship Id="rId4" Type="http://schemas.openxmlformats.org/officeDocument/2006/relationships/hyperlink" Target="https://www.pinecone.io/learn/splad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aluation_measures_(information_retrieval)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eIR/bei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trec.nist.gov/data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hyperlink" Target="https://en.wikipedia.org/wiki/Bag-of-words_mode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www.elastic.co/blog/practical-bm25-part-2-the-bm25-algorithm-and-its-variable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astic.co/blog/practical-bm25-part-2-the-bm25-algorithm-and-its-variables" TargetMode="External"/><Relationship Id="rId7" Type="http://schemas.openxmlformats.org/officeDocument/2006/relationships/hyperlink" Target="https://arxiv.org/abs/2106.14807" TargetMode="External"/><Relationship Id="rId2" Type="http://schemas.openxmlformats.org/officeDocument/2006/relationships/hyperlink" Target="https://pypi.org/project/rank-bm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pdf/10.1145/2682862.2682863" TargetMode="External"/><Relationship Id="rId5" Type="http://schemas.openxmlformats.org/officeDocument/2006/relationships/hyperlink" Target="https://python.langchain.com/docs/integrations/retrievers/bm25/" TargetMode="External"/><Relationship Id="rId4" Type="http://schemas.openxmlformats.org/officeDocument/2006/relationships/hyperlink" Target="https://huggingface.co/blog/xhluca/bm25s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1108" TargetMode="External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8.10063" TargetMode="External"/><Relationship Id="rId5" Type="http://schemas.openxmlformats.org/officeDocument/2006/relationships/hyperlink" Target="https://arxiv.org/abs/2010.02559" TargetMode="External"/><Relationship Id="rId4" Type="http://schemas.openxmlformats.org/officeDocument/2006/relationships/hyperlink" Target="https://arxiv.org/abs/1911.02116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huggingface.co/learn/llm-course/en/chapter1/4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tishgunjal/tokenization-in-nlp" TargetMode="External"/><Relationship Id="rId2" Type="http://schemas.openxmlformats.org/officeDocument/2006/relationships/hyperlink" Target="https://nlp.stanford.edu/IR-book/html/htmledition/tokenization-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sorflow.org/text/guide/subwords_tokenizer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hyperlink" Target="https://huggingface.co/cross-encoder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ort.arxiv.org/abs/2109.10086" TargetMode="External"/><Relationship Id="rId2" Type="http://schemas.openxmlformats.org/officeDocument/2006/relationships/hyperlink" Target="https://arxiv.org/abs/2107.05720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plade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pinecone.io/learn/splade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en/model_doc/clip" TargetMode="External"/><Relationship Id="rId2" Type="http://schemas.openxmlformats.org/officeDocument/2006/relationships/hyperlink" Target="https://arxiv.org/abs/2103.000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ultralytics.com/guides/similarity-search/" TargetMode="External"/><Relationship Id="rId4" Type="http://schemas.openxmlformats.org/officeDocument/2006/relationships/hyperlink" Target="https://huggingface.co/docs/transformers/en/tasks/image_feature_extraction" TargetMode="Externa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619" y="695131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 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Information Retrieval and Search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Information retrieval </a:t>
            </a:r>
            <a:r>
              <a:rPr lang="en-US" dirty="0"/>
              <a:t>is a foundation of many data mining tasks      </a:t>
            </a:r>
          </a:p>
          <a:p>
            <a:r>
              <a:rPr lang="en-US" dirty="0"/>
              <a:t>Tasks include </a:t>
            </a:r>
            <a:r>
              <a:rPr lang="en-US" b="1" dirty="0"/>
              <a:t>web search</a:t>
            </a:r>
            <a:r>
              <a:rPr lang="en-US" dirty="0"/>
              <a:t>, </a:t>
            </a:r>
            <a:r>
              <a:rPr lang="en-US" b="1" dirty="0"/>
              <a:t>recommenders</a:t>
            </a:r>
            <a:r>
              <a:rPr lang="en-US" dirty="0"/>
              <a:t>, and </a:t>
            </a:r>
            <a:r>
              <a:rPr lang="en-US" b="1" dirty="0"/>
              <a:t>RAG systems  </a:t>
            </a:r>
          </a:p>
          <a:p>
            <a:r>
              <a:rPr lang="en-US" dirty="0"/>
              <a:t>Vector search is core to information retrieval </a:t>
            </a:r>
          </a:p>
          <a:p>
            <a:r>
              <a:rPr lang="en-US" dirty="0"/>
              <a:t>Vector search requires embedding </a:t>
            </a:r>
          </a:p>
          <a:p>
            <a:pPr lvl="1"/>
            <a:r>
              <a:rPr lang="en-US" dirty="0"/>
              <a:t>Dense embedding BERT family of models</a:t>
            </a:r>
          </a:p>
          <a:p>
            <a:pPr lvl="1"/>
            <a:r>
              <a:rPr lang="en-US" dirty="0"/>
              <a:t>Sparse text embedding models, e.g. BM25</a:t>
            </a:r>
          </a:p>
          <a:p>
            <a:r>
              <a:rPr lang="en-US" dirty="0"/>
              <a:t>Sparse-dense information retrieval pipelines improve performance</a:t>
            </a:r>
          </a:p>
          <a:p>
            <a:pPr lvl="1"/>
            <a:r>
              <a:rPr lang="en-US" dirty="0"/>
              <a:t>Efficient search for large number of potential results  </a:t>
            </a:r>
          </a:p>
          <a:p>
            <a:pPr lvl="1"/>
            <a:r>
              <a:rPr lang="en-US" dirty="0"/>
              <a:t>Reranking improves overall results </a:t>
            </a:r>
          </a:p>
          <a:p>
            <a:r>
              <a:rPr lang="en-US" dirty="0"/>
              <a:t>SPLADE models for improve sparse embedding</a:t>
            </a:r>
          </a:p>
          <a:p>
            <a:r>
              <a:rPr lang="en-US" dirty="0"/>
              <a:t>CLIP models for embedding text queries and images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Web search is a subset of the general </a:t>
            </a:r>
            <a:r>
              <a:rPr lang="en-US" b="1" dirty="0">
                <a:hlinkClick r:id="rId2"/>
              </a:rPr>
              <a:t>information retrieval problem </a:t>
            </a:r>
            <a:endParaRPr lang="en-US" b="1" dirty="0"/>
          </a:p>
          <a:p>
            <a:r>
              <a:rPr lang="en-US" dirty="0"/>
              <a:t>Search of documents, medical, legal, technical, etc. </a:t>
            </a:r>
          </a:p>
          <a:p>
            <a:r>
              <a:rPr lang="en-US" b="1" dirty="0"/>
              <a:t>Web search</a:t>
            </a:r>
          </a:p>
          <a:p>
            <a:r>
              <a:rPr lang="en-US" b="1" dirty="0"/>
              <a:t>Product similarity </a:t>
            </a:r>
            <a:r>
              <a:rPr lang="en-US" dirty="0"/>
              <a:t>for recommendations </a:t>
            </a:r>
          </a:p>
          <a:p>
            <a:r>
              <a:rPr lang="en-US" dirty="0"/>
              <a:t>Question and response systems</a:t>
            </a:r>
          </a:p>
          <a:p>
            <a:r>
              <a:rPr lang="en-US" dirty="0"/>
              <a:t>Retrieval augmented generation (RAG)</a:t>
            </a:r>
          </a:p>
          <a:p>
            <a:r>
              <a:rPr lang="en-US" dirty="0"/>
              <a:t>Conversational assistance</a:t>
            </a:r>
          </a:p>
          <a:p>
            <a:r>
              <a:rPr lang="en-US" dirty="0"/>
              <a:t>De-duplicate document databases</a:t>
            </a:r>
          </a:p>
          <a:p>
            <a:r>
              <a:rPr lang="en-US" dirty="0"/>
              <a:t>Genomics research  </a:t>
            </a:r>
          </a:p>
          <a:p>
            <a:r>
              <a:rPr lang="en-US" dirty="0"/>
              <a:t>Etc.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Web search </a:t>
                </a:r>
                <a:r>
                  <a:rPr lang="en-US" dirty="0"/>
                  <a:t>is undoubtedly the most widely used data mining application</a:t>
                </a:r>
                <a:endParaRPr lang="en-US" b="1" dirty="0"/>
              </a:p>
              <a:p>
                <a:r>
                  <a:rPr lang="en-US" dirty="0"/>
                  <a:t>Major search engines, like Google, Bing, Yahoo!, Baidu are complex</a:t>
                </a:r>
              </a:p>
              <a:p>
                <a:pPr lvl="1"/>
                <a:r>
                  <a:rPr lang="en-US" dirty="0"/>
                  <a:t>Employ multiple algorithms </a:t>
                </a:r>
              </a:p>
              <a:p>
                <a:pPr lvl="1"/>
                <a:r>
                  <a:rPr lang="en-US" dirty="0"/>
                  <a:t>Based on page content and hyperlinks</a:t>
                </a:r>
              </a:p>
              <a:p>
                <a:pPr lvl="1"/>
                <a:r>
                  <a:rPr lang="en-US" dirty="0"/>
                  <a:t>Typically use other information – e.g. user profiles and history</a:t>
                </a:r>
              </a:p>
              <a:p>
                <a:r>
                  <a:rPr lang="en-US" dirty="0"/>
                  <a:t>Complexity arises from:</a:t>
                </a:r>
              </a:p>
              <a:p>
                <a:pPr lvl="1"/>
                <a:r>
                  <a:rPr lang="en-US" dirty="0"/>
                  <a:t>Massive data volumes </a:t>
                </a:r>
              </a:p>
              <a:p>
                <a:pPr lvl="1"/>
                <a:r>
                  <a:rPr lang="en-US" dirty="0"/>
                  <a:t>Unlimited number of possible queries - can’t really know user intent</a:t>
                </a:r>
              </a:p>
              <a:p>
                <a:pPr lvl="1"/>
                <a:r>
                  <a:rPr lang="en-US" dirty="0"/>
                  <a:t>Pages in many formats, text, images, videos, documents, etc. </a:t>
                </a:r>
              </a:p>
              <a:p>
                <a:pPr lvl="1"/>
                <a:r>
                  <a:rPr lang="en-US" dirty="0"/>
                  <a:t>Web spam</a:t>
                </a:r>
              </a:p>
              <a:p>
                <a:pPr lvl="1"/>
                <a:r>
                  <a:rPr lang="en-US" dirty="0"/>
                  <a:t>Enormous number of topics</a:t>
                </a:r>
              </a:p>
              <a:p>
                <a:r>
                  <a:rPr lang="en-US" dirty="0"/>
                  <a:t>Small number of large companies dominate search   </a:t>
                </a:r>
              </a:p>
              <a:p>
                <a:pPr lvl="1"/>
                <a:r>
                  <a:rPr lang="en-US" dirty="0"/>
                  <a:t>Google’s US market share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, 2024 </a:t>
                </a:r>
              </a:p>
              <a:p>
                <a:pPr lvl="1"/>
                <a:r>
                  <a:rPr lang="en-US" dirty="0"/>
                  <a:t>Trade secrets make study of this subject difficult – cannot know details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  <a:blipFill>
                <a:blip r:embed="rId2"/>
                <a:stretch>
                  <a:fillRect l="-1043" t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9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904F-6B0E-2277-CFBE-978784BF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589-5BDE-6699-F9F3-FF57CAC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9A5A-4E55-96BE-1039-71C8305C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pitfalls in web search</a:t>
            </a:r>
          </a:p>
          <a:p>
            <a:r>
              <a:rPr lang="en-US" dirty="0"/>
              <a:t>Limited length query may not contain complete semantics or context</a:t>
            </a:r>
          </a:p>
          <a:p>
            <a:r>
              <a:rPr lang="en-US" dirty="0"/>
              <a:t>Natural language used for query is often ambiguous </a:t>
            </a:r>
          </a:p>
          <a:p>
            <a:pPr lvl="1"/>
            <a:r>
              <a:rPr lang="en-US" dirty="0"/>
              <a:t>Example: Query for ‘</a:t>
            </a:r>
            <a:r>
              <a:rPr lang="en-US" i="1" dirty="0"/>
              <a:t>Jaguar numbers</a:t>
            </a:r>
            <a:r>
              <a:rPr lang="en-US" dirty="0"/>
              <a:t>’ could refer to an endangered large cat, an automobile, a sports team, or maybe something else??</a:t>
            </a:r>
          </a:p>
          <a:p>
            <a:r>
              <a:rPr lang="en-US" dirty="0"/>
              <a:t>Keywords are not unique to a topic</a:t>
            </a:r>
          </a:p>
          <a:p>
            <a:pPr lvl="1"/>
            <a:r>
              <a:rPr lang="en-US" dirty="0"/>
              <a:t>Example: ‘</a:t>
            </a:r>
            <a:r>
              <a:rPr lang="en-US" i="1" dirty="0"/>
              <a:t>Ban</a:t>
            </a:r>
            <a:r>
              <a:rPr lang="en-US" dirty="0"/>
              <a:t>k’ can refer to a </a:t>
            </a:r>
            <a:r>
              <a:rPr lang="en-US" i="1" dirty="0"/>
              <a:t>financial institution</a:t>
            </a:r>
            <a:r>
              <a:rPr lang="en-US" dirty="0"/>
              <a:t>, the </a:t>
            </a:r>
            <a:r>
              <a:rPr lang="en-US" i="1" dirty="0"/>
              <a:t>edge of river</a:t>
            </a:r>
            <a:r>
              <a:rPr lang="en-US" dirty="0"/>
              <a:t>, or the </a:t>
            </a:r>
            <a:r>
              <a:rPr lang="en-US" i="1" dirty="0"/>
              <a:t>an aircraft maneuver, or …  </a:t>
            </a:r>
          </a:p>
          <a:p>
            <a:r>
              <a:rPr lang="en-US" dirty="0"/>
              <a:t>Keywords have synonyms</a:t>
            </a:r>
          </a:p>
          <a:p>
            <a:pPr lvl="1"/>
            <a:r>
              <a:rPr lang="en-US" dirty="0"/>
              <a:t>Example of two queries with </a:t>
            </a:r>
            <a:r>
              <a:rPr lang="en-US" b="1" dirty="0"/>
              <a:t>different key words </a:t>
            </a:r>
            <a:r>
              <a:rPr lang="en-US" dirty="0"/>
              <a:t>but </a:t>
            </a:r>
            <a:r>
              <a:rPr lang="en-US" b="1" dirty="0"/>
              <a:t>identical semantics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What has been the loss of </a:t>
            </a:r>
            <a:r>
              <a:rPr lang="en-US" b="1" i="1" dirty="0">
                <a:solidFill>
                  <a:srgbClr val="C00000"/>
                </a:solidFill>
              </a:rPr>
              <a:t>farm land </a:t>
            </a:r>
            <a:r>
              <a:rPr lang="en-US" i="1" dirty="0"/>
              <a:t>in the US in 2024</a:t>
            </a:r>
            <a:r>
              <a:rPr lang="en-US" dirty="0"/>
              <a:t>”   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How many </a:t>
            </a:r>
            <a:r>
              <a:rPr lang="en-US" b="1" i="1" dirty="0">
                <a:solidFill>
                  <a:srgbClr val="C00000"/>
                </a:solidFill>
              </a:rPr>
              <a:t>cultivated acers </a:t>
            </a:r>
            <a:r>
              <a:rPr lang="en-US" i="1" dirty="0"/>
              <a:t>were lost in the US </a:t>
            </a:r>
            <a:r>
              <a:rPr lang="en-US" i="1" dirty="0" err="1"/>
              <a:t>durring</a:t>
            </a:r>
            <a:r>
              <a:rPr lang="en-US" i="1" dirty="0"/>
              <a:t> 2024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5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about the role of LLMs in search?   </a:t>
            </a:r>
          </a:p>
          <a:p>
            <a:r>
              <a:rPr lang="en-US" dirty="0"/>
              <a:t>LLMs create a </a:t>
            </a:r>
            <a:r>
              <a:rPr lang="en-US" b="1" dirty="0"/>
              <a:t>summary of documents </a:t>
            </a:r>
            <a:r>
              <a:rPr lang="en-US" dirty="0"/>
              <a:t>discovered with a high similarity to a query </a:t>
            </a:r>
          </a:p>
          <a:p>
            <a:r>
              <a:rPr lang="en-US" dirty="0"/>
              <a:t>LLMs require an </a:t>
            </a:r>
            <a:r>
              <a:rPr lang="en-US" b="1" dirty="0"/>
              <a:t>efficient search of documents </a:t>
            </a:r>
            <a:r>
              <a:rPr lang="en-US" dirty="0"/>
              <a:t>(web) as basis of summary </a:t>
            </a:r>
          </a:p>
          <a:p>
            <a:r>
              <a:rPr lang="en-US" dirty="0"/>
              <a:t>Web search and ranking are key to effective summarization by LLMs through RAG algorithms  </a:t>
            </a:r>
          </a:p>
          <a:p>
            <a:r>
              <a:rPr lang="en-US" dirty="0"/>
              <a:t>The economics of using LLMs as a primary search tool is not favorable given the high cost per token!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46EE-D836-21EC-AB43-6A09FA18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FFEA-8D78-5804-7625-64FBC28E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Components of Document Similarity Search Systems</a:t>
            </a:r>
          </a:p>
        </p:txBody>
      </p:sp>
    </p:spTree>
    <p:extLst>
      <p:ext uri="{BB962C8B-B14F-4D97-AF65-F5344CB8AC3E}">
        <p14:creationId xmlns:p14="http://schemas.microsoft.com/office/powerpoint/2010/main" val="205107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F18FE-FA5C-4A58-9D98-B6E6BF0A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Document search systems have a number of key components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Documents are </a:t>
            </a:r>
            <a:r>
              <a:rPr lang="en-US" b="1" dirty="0"/>
              <a:t>sharded</a:t>
            </a:r>
            <a:r>
              <a:rPr lang="en-US" dirty="0"/>
              <a:t> into smaller chunks that can be processed</a:t>
            </a:r>
          </a:p>
          <a:p>
            <a:pPr lvl="1"/>
            <a:r>
              <a:rPr lang="en-US" dirty="0"/>
              <a:t>Performance of embedding models degrades for long text strings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shards to </a:t>
            </a:r>
            <a:r>
              <a:rPr lang="en-US" b="1" dirty="0"/>
              <a:t>embedding vectors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embedding vectors in database as </a:t>
            </a:r>
            <a:r>
              <a:rPr lang="en-US" b="1" dirty="0"/>
              <a:t>key-value pairs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Embed queries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</a:t>
            </a:r>
            <a:r>
              <a:rPr lang="en-US" b="1" dirty="0"/>
              <a:t>vector similarity search </a:t>
            </a:r>
            <a:r>
              <a:rPr lang="en-US" dirty="0"/>
              <a:t>for responses to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 responses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DB073B-F460-4638-96F3-26E9BB4B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Components of a Document Search System</a:t>
            </a:r>
          </a:p>
        </p:txBody>
      </p:sp>
    </p:spTree>
    <p:extLst>
      <p:ext uri="{BB962C8B-B14F-4D97-AF65-F5344CB8AC3E}">
        <p14:creationId xmlns:p14="http://schemas.microsoft.com/office/powerpoint/2010/main" val="316910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9D6C-78E5-33C6-48E8-4D7D8CD4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869E-BF18-6377-BEFB-2CE767E6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Document Vector Similarity Search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BB521959-A61D-AC5C-D0E5-CBC824F63033}"/>
              </a:ext>
            </a:extLst>
          </p:cNvPr>
          <p:cNvSpPr/>
          <p:nvPr/>
        </p:nvSpPr>
        <p:spPr>
          <a:xfrm>
            <a:off x="357844" y="29938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32BE1073-7F29-650F-01B5-287E7BDDDD02}"/>
              </a:ext>
            </a:extLst>
          </p:cNvPr>
          <p:cNvSpPr/>
          <p:nvPr/>
        </p:nvSpPr>
        <p:spPr>
          <a:xfrm>
            <a:off x="510244" y="31462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B1F3A287-A37E-0C04-DD30-CD42878811A3}"/>
              </a:ext>
            </a:extLst>
          </p:cNvPr>
          <p:cNvSpPr/>
          <p:nvPr/>
        </p:nvSpPr>
        <p:spPr>
          <a:xfrm>
            <a:off x="662644" y="32986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5C2B2A1-3858-705F-5481-7FE40C2442B2}"/>
              </a:ext>
            </a:extLst>
          </p:cNvPr>
          <p:cNvSpPr/>
          <p:nvPr/>
        </p:nvSpPr>
        <p:spPr>
          <a:xfrm>
            <a:off x="815044" y="34510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Documents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26D97DA-21CD-81B5-DF1F-7E0C475D69EA}"/>
              </a:ext>
            </a:extLst>
          </p:cNvPr>
          <p:cNvSpPr/>
          <p:nvPr/>
        </p:nvSpPr>
        <p:spPr>
          <a:xfrm>
            <a:off x="3064257" y="167876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97A17F6C-343E-ADC5-8292-1E7827BF26E9}"/>
              </a:ext>
            </a:extLst>
          </p:cNvPr>
          <p:cNvSpPr/>
          <p:nvPr/>
        </p:nvSpPr>
        <p:spPr>
          <a:xfrm>
            <a:off x="3064257" y="2420331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7AA463CC-B78A-E0FA-ADA1-23BFC1828184}"/>
              </a:ext>
            </a:extLst>
          </p:cNvPr>
          <p:cNvSpPr/>
          <p:nvPr/>
        </p:nvSpPr>
        <p:spPr>
          <a:xfrm>
            <a:off x="3064257" y="316189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931695D2-053C-8574-DC3E-DA7FFAA376EB}"/>
              </a:ext>
            </a:extLst>
          </p:cNvPr>
          <p:cNvSpPr/>
          <p:nvPr/>
        </p:nvSpPr>
        <p:spPr>
          <a:xfrm>
            <a:off x="3109653" y="4419028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/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BC7D8B-FBC1-D22E-5223-A448F8C466A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482808" y="1958240"/>
            <a:ext cx="58144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B28BA0-2BB3-52E7-1B2C-264C7380C563}"/>
              </a:ext>
            </a:extLst>
          </p:cNvPr>
          <p:cNvCxnSpPr>
            <a:cxnSpLocks/>
          </p:cNvCxnSpPr>
          <p:nvPr/>
        </p:nvCxnSpPr>
        <p:spPr>
          <a:xfrm>
            <a:off x="2482808" y="1958240"/>
            <a:ext cx="0" cy="158683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385D81-5D79-FFD2-7C94-029407BACB90}"/>
              </a:ext>
            </a:extLst>
          </p:cNvPr>
          <p:cNvCxnSpPr>
            <a:cxnSpLocks/>
          </p:cNvCxnSpPr>
          <p:nvPr/>
        </p:nvCxnSpPr>
        <p:spPr>
          <a:xfrm>
            <a:off x="2677562" y="2699804"/>
            <a:ext cx="409394" cy="27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CCBAF9-AE8D-D313-01B5-551248A6F927}"/>
              </a:ext>
            </a:extLst>
          </p:cNvPr>
          <p:cNvCxnSpPr>
            <a:cxnSpLocks/>
          </p:cNvCxnSpPr>
          <p:nvPr/>
        </p:nvCxnSpPr>
        <p:spPr>
          <a:xfrm flipH="1">
            <a:off x="2307660" y="3542506"/>
            <a:ext cx="18156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C4E040-AC8C-0845-1D34-91B0A2A39556}"/>
              </a:ext>
            </a:extLst>
          </p:cNvPr>
          <p:cNvCxnSpPr>
            <a:cxnSpLocks/>
          </p:cNvCxnSpPr>
          <p:nvPr/>
        </p:nvCxnSpPr>
        <p:spPr>
          <a:xfrm flipV="1">
            <a:off x="2781623" y="3441369"/>
            <a:ext cx="282634" cy="1912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00BD01-D33C-94B9-AA75-5CBA4690BD4B}"/>
              </a:ext>
            </a:extLst>
          </p:cNvPr>
          <p:cNvCxnSpPr>
            <a:cxnSpLocks/>
          </p:cNvCxnSpPr>
          <p:nvPr/>
        </p:nvCxnSpPr>
        <p:spPr>
          <a:xfrm flipH="1">
            <a:off x="2663045" y="2714901"/>
            <a:ext cx="14517" cy="110305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743FBE-11FB-BFB0-B9F1-30651C553ECE}"/>
              </a:ext>
            </a:extLst>
          </p:cNvPr>
          <p:cNvCxnSpPr>
            <a:cxnSpLocks/>
          </p:cNvCxnSpPr>
          <p:nvPr/>
        </p:nvCxnSpPr>
        <p:spPr>
          <a:xfrm>
            <a:off x="2824012" y="3434422"/>
            <a:ext cx="0" cy="5434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DC0B7C-1B3B-14F0-F689-709F32F65BE7}"/>
              </a:ext>
            </a:extLst>
          </p:cNvPr>
          <p:cNvCxnSpPr>
            <a:cxnSpLocks/>
          </p:cNvCxnSpPr>
          <p:nvPr/>
        </p:nvCxnSpPr>
        <p:spPr>
          <a:xfrm flipH="1">
            <a:off x="2294646" y="3803049"/>
            <a:ext cx="3891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47BE30-8082-BDD9-0BF9-2DD62920A39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2330335" y="3999706"/>
            <a:ext cx="491236" cy="433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258DC6-EA2D-FBDB-AEF7-019EAD2F9AF4}"/>
              </a:ext>
            </a:extLst>
          </p:cNvPr>
          <p:cNvCxnSpPr>
            <a:cxnSpLocks/>
          </p:cNvCxnSpPr>
          <p:nvPr/>
        </p:nvCxnSpPr>
        <p:spPr>
          <a:xfrm flipH="1">
            <a:off x="2294646" y="4341091"/>
            <a:ext cx="526925" cy="53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53AE85-E16E-A7BF-2B32-8FA4BB4450B6}"/>
              </a:ext>
            </a:extLst>
          </p:cNvPr>
          <p:cNvCxnSpPr>
            <a:cxnSpLocks/>
          </p:cNvCxnSpPr>
          <p:nvPr/>
        </p:nvCxnSpPr>
        <p:spPr>
          <a:xfrm flipH="1">
            <a:off x="2821571" y="4343814"/>
            <a:ext cx="2441" cy="4040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05A2D2-D59D-C049-1791-6580BA7D3505}"/>
              </a:ext>
            </a:extLst>
          </p:cNvPr>
          <p:cNvCxnSpPr>
            <a:cxnSpLocks/>
          </p:cNvCxnSpPr>
          <p:nvPr/>
        </p:nvCxnSpPr>
        <p:spPr>
          <a:xfrm>
            <a:off x="2823958" y="4747913"/>
            <a:ext cx="28569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ylinder 55">
            <a:extLst>
              <a:ext uri="{FF2B5EF4-FFF2-40B4-BE49-F238E27FC236}">
                <a16:creationId xmlns:a16="http://schemas.microsoft.com/office/drawing/2014/main" id="{0F1DDABF-93BC-88EB-C11A-9F02E19C2266}"/>
              </a:ext>
            </a:extLst>
          </p:cNvPr>
          <p:cNvSpPr/>
          <p:nvPr/>
        </p:nvSpPr>
        <p:spPr>
          <a:xfrm>
            <a:off x="7623590" y="167876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8DFB3F-A70A-B05F-AACB-47920EE2A0AB}"/>
              </a:ext>
            </a:extLst>
          </p:cNvPr>
          <p:cNvSpPr/>
          <p:nvPr/>
        </p:nvSpPr>
        <p:spPr>
          <a:xfrm>
            <a:off x="7747954" y="21807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7EDD7A-D42B-9EB9-479A-E8F282D21C98}"/>
              </a:ext>
            </a:extLst>
          </p:cNvPr>
          <p:cNvSpPr/>
          <p:nvPr/>
        </p:nvSpPr>
        <p:spPr>
          <a:xfrm>
            <a:off x="7747954" y="26156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2F10BD0-4DCC-49D6-06A0-A1AD6DB85968}"/>
              </a:ext>
            </a:extLst>
          </p:cNvPr>
          <p:cNvSpPr/>
          <p:nvPr/>
        </p:nvSpPr>
        <p:spPr>
          <a:xfrm>
            <a:off x="7747954" y="30505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5301BF-D3CD-D93E-D1A9-38A8164B1E54}"/>
              </a:ext>
            </a:extLst>
          </p:cNvPr>
          <p:cNvSpPr/>
          <p:nvPr/>
        </p:nvSpPr>
        <p:spPr>
          <a:xfrm>
            <a:off x="7747954" y="34854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/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383E331-999F-0912-6C4A-067E93F4272C}"/>
              </a:ext>
            </a:extLst>
          </p:cNvPr>
          <p:cNvSpPr/>
          <p:nvPr/>
        </p:nvSpPr>
        <p:spPr>
          <a:xfrm rot="16200000">
            <a:off x="4631847" y="2803781"/>
            <a:ext cx="3327347" cy="102103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FDE2FAC-89CC-5B2F-4794-41DDD5C3C0D0}"/>
              </a:ext>
            </a:extLst>
          </p:cNvPr>
          <p:cNvSpPr/>
          <p:nvPr/>
        </p:nvSpPr>
        <p:spPr>
          <a:xfrm>
            <a:off x="6806040" y="2749255"/>
            <a:ext cx="817550" cy="1344464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ACBB6AB-00D1-9A12-9263-03D6FF0C18F7}"/>
              </a:ext>
            </a:extLst>
          </p:cNvPr>
          <p:cNvCxnSpPr>
            <a:cxnSpLocks/>
          </p:cNvCxnSpPr>
          <p:nvPr/>
        </p:nvCxnSpPr>
        <p:spPr>
          <a:xfrm>
            <a:off x="5141100" y="1958240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3275D6-A27E-5FF4-B6AE-54AA8B35171B}"/>
              </a:ext>
            </a:extLst>
          </p:cNvPr>
          <p:cNvCxnSpPr>
            <a:cxnSpLocks/>
          </p:cNvCxnSpPr>
          <p:nvPr/>
        </p:nvCxnSpPr>
        <p:spPr>
          <a:xfrm>
            <a:off x="5141100" y="2702563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CBC57CB-6E03-F022-E2AB-9DACA1C7ED3C}"/>
              </a:ext>
            </a:extLst>
          </p:cNvPr>
          <p:cNvCxnSpPr>
            <a:cxnSpLocks/>
          </p:cNvCxnSpPr>
          <p:nvPr/>
        </p:nvCxnSpPr>
        <p:spPr>
          <a:xfrm>
            <a:off x="5141100" y="3441369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8ACC53-30B0-33F6-8D47-A41B27A5B05A}"/>
              </a:ext>
            </a:extLst>
          </p:cNvPr>
          <p:cNvCxnSpPr>
            <a:cxnSpLocks/>
          </p:cNvCxnSpPr>
          <p:nvPr/>
        </p:nvCxnSpPr>
        <p:spPr>
          <a:xfrm>
            <a:off x="5156375" y="4682792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E8266EE-FE7C-4ACA-5695-2D34A7504E80}"/>
              </a:ext>
            </a:extLst>
          </p:cNvPr>
          <p:cNvSpPr/>
          <p:nvPr/>
        </p:nvSpPr>
        <p:spPr>
          <a:xfrm>
            <a:off x="7623590" y="451906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4" name="Rectangle: Folded Corner 83">
            <a:extLst>
              <a:ext uri="{FF2B5EF4-FFF2-40B4-BE49-F238E27FC236}">
                <a16:creationId xmlns:a16="http://schemas.microsoft.com/office/drawing/2014/main" id="{E2928A33-4258-5020-158E-D9053AB1BFAC}"/>
              </a:ext>
            </a:extLst>
          </p:cNvPr>
          <p:cNvSpPr/>
          <p:nvPr/>
        </p:nvSpPr>
        <p:spPr>
          <a:xfrm>
            <a:off x="414510" y="5718669"/>
            <a:ext cx="1656839" cy="630846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628DD5E-2FAE-BA29-D4D5-27AF6C0A8101}"/>
              </a:ext>
            </a:extLst>
          </p:cNvPr>
          <p:cNvSpPr/>
          <p:nvPr/>
        </p:nvSpPr>
        <p:spPr>
          <a:xfrm>
            <a:off x="2386675" y="5695201"/>
            <a:ext cx="1943672" cy="671798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BE4117-6CD1-0B72-15BD-8C6FAF63515D}"/>
              </a:ext>
            </a:extLst>
          </p:cNvPr>
          <p:cNvSpPr/>
          <p:nvPr/>
        </p:nvSpPr>
        <p:spPr>
          <a:xfrm>
            <a:off x="4678210" y="5688820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D1A13F8-C88B-96BB-6756-8150C35F7E3D}"/>
              </a:ext>
            </a:extLst>
          </p:cNvPr>
          <p:cNvSpPr/>
          <p:nvPr/>
        </p:nvSpPr>
        <p:spPr>
          <a:xfrm>
            <a:off x="6337209" y="5566989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Vector Search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11E6CB5-8A7D-7D37-D73F-C851B3D6D17C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071349" y="6031100"/>
            <a:ext cx="315326" cy="29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3A7037-0AA2-48DF-C1AE-9F71B196258E}"/>
              </a:ext>
            </a:extLst>
          </p:cNvPr>
          <p:cNvCxnSpPr>
            <a:cxnSpLocks/>
          </p:cNvCxnSpPr>
          <p:nvPr/>
        </p:nvCxnSpPr>
        <p:spPr>
          <a:xfrm>
            <a:off x="4330347" y="5972586"/>
            <a:ext cx="365506" cy="1461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E4F3B8-5DDB-4FB6-E682-1BD9B496AC01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6101282" y="6024721"/>
            <a:ext cx="235927" cy="76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7F2D063-C720-5AEB-6A1F-7FB882591B29}"/>
              </a:ext>
            </a:extLst>
          </p:cNvPr>
          <p:cNvSpPr/>
          <p:nvPr/>
        </p:nvSpPr>
        <p:spPr>
          <a:xfrm>
            <a:off x="8718879" y="5437811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B80E799-6B98-4F45-195A-5D5F9F61FD45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8331344" y="6019152"/>
            <a:ext cx="387535" cy="131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79A6A40-9333-ACAE-7537-9F2C6975540D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7334277" y="5057951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86A6C656-3EC9-1059-D56A-8E2144801440}"/>
              </a:ext>
            </a:extLst>
          </p:cNvPr>
          <p:cNvSpPr/>
          <p:nvPr/>
        </p:nvSpPr>
        <p:spPr>
          <a:xfrm>
            <a:off x="10187781" y="567799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8C0B980-2800-C9E9-4C34-6111328D8AA8}"/>
              </a:ext>
            </a:extLst>
          </p:cNvPr>
          <p:cNvSpPr/>
          <p:nvPr/>
        </p:nvSpPr>
        <p:spPr>
          <a:xfrm>
            <a:off x="10713014" y="5419052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</p:spTree>
    <p:extLst>
      <p:ext uri="{BB962C8B-B14F-4D97-AF65-F5344CB8AC3E}">
        <p14:creationId xmlns:p14="http://schemas.microsoft.com/office/powerpoint/2010/main" val="19598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/>
      <p:bldP spid="56" grpId="0" animBg="1"/>
      <p:bldP spid="60" grpId="0" animBg="1"/>
      <p:bldP spid="61" grpId="0" animBg="1"/>
      <p:bldP spid="62" grpId="0" animBg="1"/>
      <p:bldP spid="63" grpId="0" animBg="1"/>
      <p:bldP spid="65" grpId="0"/>
      <p:bldP spid="66" grpId="0" animBg="1"/>
      <p:bldP spid="67" grpId="0" animBg="1"/>
      <p:bldP spid="74" grpId="0"/>
      <p:bldP spid="84" grpId="0" animBg="1"/>
      <p:bldP spid="85" grpId="0" animBg="1"/>
      <p:bldP spid="86" grpId="0" animBg="1"/>
      <p:bldP spid="87" grpId="0" animBg="1"/>
      <p:bldP spid="93" grpId="0" animBg="1"/>
      <p:bldP spid="102" grpId="0" animBg="1"/>
      <p:bldP spid="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A73A-1981-27C1-7865-719E0DF1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Text embeddings map natural language to a real-valued vector</a:t>
                </a:r>
              </a:p>
              <a:p>
                <a:r>
                  <a:rPr lang="en-US" b="1" dirty="0"/>
                  <a:t>Sparse embeddings</a:t>
                </a:r>
                <a:r>
                  <a:rPr lang="en-US" dirty="0"/>
                  <a:t> map words to a sparse vector of mostly zeros    </a:t>
                </a:r>
              </a:p>
              <a:p>
                <a:pPr lvl="1"/>
                <a:r>
                  <a:rPr lang="en-US" dirty="0"/>
                  <a:t>Vector is length of vocabulary, e.g.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Encoding is binary, a word is in the string or it is not – one-hot-encoding </a:t>
                </a:r>
              </a:p>
              <a:p>
                <a:pPr lvl="1"/>
                <a:r>
                  <a:rPr lang="en-US" dirty="0"/>
                  <a:t>Generally, store as hash table (dictionary) or use dimensionality reduction for efficiency   </a:t>
                </a:r>
              </a:p>
              <a:p>
                <a:r>
                  <a:rPr lang="en-US" b="1" dirty="0"/>
                  <a:t>Dense embeddings</a:t>
                </a:r>
                <a:r>
                  <a:rPr lang="en-US" dirty="0"/>
                  <a:t> map text strings to a real-valued embeddings  </a:t>
                </a:r>
              </a:p>
              <a:p>
                <a:pPr lvl="1"/>
                <a:r>
                  <a:rPr lang="en-US" dirty="0"/>
                  <a:t>Dense real-valued vector, few if any zero values </a:t>
                </a:r>
              </a:p>
              <a:p>
                <a:pPr lvl="1"/>
                <a:r>
                  <a:rPr lang="en-US" dirty="0"/>
                  <a:t>Length is approximately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30A4D87-E4E6-7571-98A2-36818587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Text embeddings</a:t>
            </a:r>
          </a:p>
        </p:txBody>
      </p:sp>
    </p:spTree>
    <p:extLst>
      <p:ext uri="{BB962C8B-B14F-4D97-AF65-F5344CB8AC3E}">
        <p14:creationId xmlns:p14="http://schemas.microsoft.com/office/powerpoint/2010/main" val="37563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E73-EC6D-60C5-9E81-B8912223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744-1E2C-3807-DD12-3B40457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5CB819FF-112E-67D7-77CD-CD9A0ACC18B6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BDD53-4C14-8120-16EF-20A68B8F262F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208909-ACBE-233A-E280-3AA9BDD53876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145845-F396-644D-4AF5-45D2C2AF661A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29B2B2-5B39-7E98-E6CC-B5E20160C511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A415E4FE-3C26-F64F-433D-30BC4CAB9D49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721B384-0040-E8D1-1879-CE1E920EC3C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779F5A-689E-1ECE-F017-DD883B84F743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ANN Vector Search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09CF368-678B-1529-B5C2-BBEC679953A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AA94292-F7AF-0717-3F4D-859711782ED6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2E04BD-E27C-E991-5751-187717363F8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E331C9-B983-AE73-DF0B-F33C8A94B2AF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9F49E6F8-10B5-58EE-9C33-D74402E4AAB9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3D35792-3327-B6FE-262F-C0024DE2B635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B2DE5-798B-FB13-101B-4CE5A166253D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D1646-7C46-F2E3-9580-29F135674D46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C07D77-CCE8-232C-634C-290BA032AE26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4E943-0661-2F28-2338-83743E9BA436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4BAD8F-A1ED-036A-34D8-2785A65B9BAD}"/>
              </a:ext>
            </a:extLst>
          </p:cNvPr>
          <p:cNvSpPr txBox="1"/>
          <p:nvPr/>
        </p:nvSpPr>
        <p:spPr>
          <a:xfrm>
            <a:off x="1858198" y="2356503"/>
            <a:ext cx="319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Fast approximate NN search results in large number of matches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C71A04-5CCD-5972-3E1D-CD3C756B14A1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926163"/>
            <a:ext cx="1142563" cy="108758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1A3EDA-C300-393F-B556-7E279B6D27D0}"/>
              </a:ext>
            </a:extLst>
          </p:cNvPr>
          <p:cNvSpPr txBox="1"/>
          <p:nvPr/>
        </p:nvSpPr>
        <p:spPr>
          <a:xfrm>
            <a:off x="7181159" y="2854906"/>
            <a:ext cx="4339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ANN search results reranked by more exact, possibly slower, search algorithm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47A81E-FBEB-75DF-78C5-986E070FE920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4055235"/>
            <a:ext cx="1732951" cy="88302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CD05A3-DFE1-AC9C-8E21-CB4EF183B46A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4596E87-E974-1A73-35D2-F2743E7B1C43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2BFCBF8-2721-7B39-4592-522506F7C4FF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and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Google uses </a:t>
            </a:r>
            <a:r>
              <a:rPr lang="en-US" dirty="0">
                <a:hlinkClick r:id="rId2"/>
              </a:rPr>
              <a:t>multiple algorithms to rank search results </a:t>
            </a:r>
            <a:endParaRPr lang="en-US" dirty="0"/>
          </a:p>
          <a:p>
            <a:r>
              <a:rPr lang="en-US" b="1" dirty="0"/>
              <a:t>Dense</a:t>
            </a:r>
            <a:r>
              <a:rPr lang="en-US" dirty="0"/>
              <a:t> semantic search using embedding vectors from BERT family of algorithms</a:t>
            </a:r>
          </a:p>
          <a:p>
            <a:pPr lvl="1"/>
            <a:r>
              <a:rPr lang="en-US" dirty="0"/>
              <a:t>Search vector similarity between query and page embeddings  </a:t>
            </a:r>
          </a:p>
          <a:p>
            <a:r>
              <a:rPr lang="en-US" b="1" dirty="0"/>
              <a:t>Sparse </a:t>
            </a:r>
            <a:r>
              <a:rPr lang="en-US" dirty="0"/>
              <a:t>exact match search for key words </a:t>
            </a:r>
          </a:p>
          <a:p>
            <a:pPr lvl="1"/>
            <a:r>
              <a:rPr lang="en-US" dirty="0"/>
              <a:t>A sparse search over a fixed vocabulary with algorithms like </a:t>
            </a:r>
            <a:r>
              <a:rPr lang="en-US" dirty="0">
                <a:hlinkClick r:id="rId3"/>
              </a:rPr>
              <a:t>BM25</a:t>
            </a:r>
            <a:r>
              <a:rPr lang="en-US" dirty="0"/>
              <a:t> or </a:t>
            </a:r>
            <a:r>
              <a:rPr lang="en-US" dirty="0">
                <a:hlinkClick r:id="rId4"/>
              </a:rPr>
              <a:t>SPLADE</a:t>
            </a:r>
            <a:r>
              <a:rPr lang="en-US" dirty="0"/>
              <a:t>  </a:t>
            </a:r>
          </a:p>
          <a:p>
            <a:r>
              <a:rPr lang="en-US" dirty="0"/>
              <a:t>Vector search for </a:t>
            </a:r>
            <a:r>
              <a:rPr lang="en-US" b="1" dirty="0"/>
              <a:t>duplicate pages </a:t>
            </a:r>
          </a:p>
          <a:p>
            <a:r>
              <a:rPr lang="en-US" b="1" dirty="0"/>
              <a:t>Freshness</a:t>
            </a:r>
            <a:r>
              <a:rPr lang="en-US" dirty="0"/>
              <a:t> metrics to prioritize up to date information </a:t>
            </a:r>
          </a:p>
          <a:p>
            <a:r>
              <a:rPr lang="en-US" b="1" dirty="0">
                <a:hlinkClick r:id="rId5"/>
              </a:rPr>
              <a:t>Ranking algorithms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Multiple algorithms, including the venerable and famous </a:t>
            </a:r>
            <a:r>
              <a:rPr lang="en-US" b="1" dirty="0">
                <a:hlinkClick r:id="rId6"/>
              </a:rPr>
              <a:t>PageRank algorithm</a:t>
            </a:r>
            <a:r>
              <a:rPr lang="en-US" dirty="0"/>
              <a:t>   </a:t>
            </a:r>
          </a:p>
          <a:p>
            <a:r>
              <a:rPr lang="en-US" dirty="0"/>
              <a:t>These algorithms are common to the general </a:t>
            </a:r>
            <a:r>
              <a:rPr lang="en-US" b="1" dirty="0">
                <a:hlinkClick r:id="rId7"/>
              </a:rPr>
              <a:t>information retrieval </a:t>
            </a:r>
            <a:r>
              <a:rPr lang="en-US" dirty="0"/>
              <a:t>problem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C78A-1DB4-84D9-7376-C34D4CB2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72BD-1914-B73E-6846-E4775854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Evaluation for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71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</a:t>
            </a:r>
            <a:r>
              <a:rPr lang="en-US">
                <a:latin typeface="+mn-lt"/>
              </a:rPr>
              <a:t>possible </a:t>
            </a:r>
            <a:r>
              <a:rPr lang="en-US">
                <a:latin typeface="+mn-lt"/>
                <a:hlinkClick r:id="rId3"/>
              </a:rPr>
              <a:t>retrieval </a:t>
            </a:r>
            <a:r>
              <a:rPr lang="en-US" dirty="0">
                <a:latin typeface="+mn-lt"/>
                <a:hlinkClick r:id="rId3"/>
              </a:rPr>
              <a:t>performance metrics </a:t>
            </a:r>
            <a:endParaRPr lang="en-US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pPr lvl="1"/>
            <a:r>
              <a:rPr lang="en-US" b="1" dirty="0">
                <a:latin typeface="+mn-lt"/>
              </a:rPr>
              <a:t>Precision</a:t>
            </a:r>
            <a:r>
              <a:rPr lang="en-US" dirty="0">
                <a:latin typeface="+mn-lt"/>
              </a:rPr>
              <a:t> measures the fraction of NNs found by algorithm that are true positives  </a:t>
            </a:r>
          </a:p>
          <a:p>
            <a:pPr lvl="1"/>
            <a:r>
              <a:rPr lang="en-US" b="1" dirty="0">
                <a:latin typeface="+mn-lt"/>
              </a:rPr>
              <a:t>F-scores</a:t>
            </a:r>
            <a:r>
              <a:rPr lang="en-US" dirty="0">
                <a:latin typeface="+mn-lt"/>
              </a:rPr>
              <a:t> weight precision and recall  </a:t>
            </a:r>
          </a:p>
          <a:p>
            <a:pPr lvl="1"/>
            <a:r>
              <a:rPr lang="en-US" b="1" dirty="0">
                <a:latin typeface="+mn-lt"/>
              </a:rPr>
              <a:t>Discounted cumulative gain (DCG) </a:t>
            </a:r>
            <a:r>
              <a:rPr lang="en-US" dirty="0">
                <a:latin typeface="+mn-lt"/>
              </a:rPr>
              <a:t>measures relative rankings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07FC-5327-C0B3-8DCD-3AAB44B4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374B-CC59-A690-72BF-3A52E131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3394-D397-7AD1-83A5-93D03F5C4C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Retrieval performance evaluation is challenging </a:t>
            </a:r>
          </a:p>
          <a:p>
            <a:pPr lvl="1"/>
            <a:r>
              <a:rPr lang="en-US" dirty="0">
                <a:latin typeface="+mn-lt"/>
              </a:rPr>
              <a:t>Metrics rely on ground truth, difficult to establish </a:t>
            </a:r>
          </a:p>
          <a:p>
            <a:r>
              <a:rPr lang="en-US" dirty="0">
                <a:latin typeface="+mn-lt"/>
              </a:rPr>
              <a:t>Often need human evaluators   </a:t>
            </a:r>
          </a:p>
          <a:p>
            <a:pPr lvl="1"/>
            <a:r>
              <a:rPr lang="en-US" dirty="0">
                <a:latin typeface="+mn-lt"/>
              </a:rPr>
              <a:t>Slow </a:t>
            </a:r>
          </a:p>
          <a:p>
            <a:pPr lvl="1"/>
            <a:r>
              <a:rPr lang="en-US" dirty="0">
                <a:latin typeface="+mn-lt"/>
              </a:rPr>
              <a:t>Subjective</a:t>
            </a:r>
          </a:p>
          <a:p>
            <a:pPr lvl="1"/>
            <a:r>
              <a:rPr lang="en-US" dirty="0">
                <a:latin typeface="+mn-lt"/>
              </a:rPr>
              <a:t>Often use multiple evaluators   </a:t>
            </a:r>
          </a:p>
          <a:p>
            <a:r>
              <a:rPr lang="en-US" dirty="0">
                <a:latin typeface="+mn-lt"/>
              </a:rPr>
              <a:t>Machine (e.g. LLM) evaluation is biased by algorithms </a:t>
            </a:r>
          </a:p>
          <a:p>
            <a:pPr lvl="1"/>
            <a:r>
              <a:rPr lang="en-US" dirty="0">
                <a:latin typeface="+mn-lt"/>
              </a:rPr>
              <a:t>Often compare results from multiple LLMs </a:t>
            </a:r>
          </a:p>
          <a:p>
            <a:pPr lvl="1"/>
            <a:r>
              <a:rPr lang="en-US" dirty="0">
                <a:latin typeface="+mn-lt"/>
              </a:rPr>
              <a:t>May not agree with human evaluation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6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8D9B-4F44-8240-BC56-E37FB033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27C2-7886-6253-9499-F09AFB19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CBA-1421-B042-2888-DFBA0DE9BC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Benchmark data sets are limit</a:t>
            </a:r>
          </a:p>
          <a:p>
            <a:pPr lvl="1"/>
            <a:r>
              <a:rPr lang="en-US" dirty="0">
                <a:latin typeface="+mn-lt"/>
              </a:rPr>
              <a:t>Limited size</a:t>
            </a:r>
          </a:p>
          <a:p>
            <a:pPr lvl="1"/>
            <a:r>
              <a:rPr lang="en-US" dirty="0">
                <a:latin typeface="+mn-lt"/>
              </a:rPr>
              <a:t>Limited range of topics</a:t>
            </a:r>
          </a:p>
          <a:p>
            <a:pPr lvl="1"/>
            <a:r>
              <a:rPr lang="en-US" dirty="0">
                <a:latin typeface="+mn-lt"/>
              </a:rPr>
              <a:t>Limited language coverage</a:t>
            </a:r>
          </a:p>
          <a:p>
            <a:r>
              <a:rPr lang="en-US" dirty="0">
                <a:latin typeface="+mn-lt"/>
                <a:hlinkClick r:id="rId3"/>
              </a:rPr>
              <a:t>BIER dataset </a:t>
            </a:r>
            <a:r>
              <a:rPr lang="en-US" dirty="0">
                <a:latin typeface="+mn-lt"/>
              </a:rPr>
              <a:t>example of benchmarking dataset</a:t>
            </a:r>
          </a:p>
          <a:p>
            <a:pPr lvl="1"/>
            <a:r>
              <a:rPr lang="en-US" dirty="0">
                <a:latin typeface="+mn-lt"/>
              </a:rPr>
              <a:t>pronounced ‘beer’</a:t>
            </a:r>
          </a:p>
          <a:p>
            <a:pPr lvl="1"/>
            <a:r>
              <a:rPr lang="en-US" dirty="0">
                <a:latin typeface="+mn-lt"/>
              </a:rPr>
              <a:t>English language only</a:t>
            </a:r>
          </a:p>
          <a:p>
            <a:r>
              <a:rPr lang="en-US" dirty="0">
                <a:latin typeface="+mn-lt"/>
              </a:rPr>
              <a:t>Numerous </a:t>
            </a:r>
            <a:r>
              <a:rPr lang="en-US" dirty="0">
                <a:latin typeface="+mn-lt"/>
                <a:hlinkClick r:id="rId4"/>
              </a:rPr>
              <a:t>TERC datasets </a:t>
            </a:r>
            <a:r>
              <a:rPr lang="en-US" dirty="0">
                <a:latin typeface="+mn-lt"/>
              </a:rPr>
              <a:t>cover many areas of IR</a:t>
            </a:r>
          </a:p>
          <a:p>
            <a:pPr lvl="1"/>
            <a:r>
              <a:rPr lang="en-US" dirty="0">
                <a:latin typeface="+mn-lt"/>
              </a:rPr>
              <a:t>Most dataset cover specific domains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1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1284-BE96-3681-6AAF-EFBF6A75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090F-C6F6-86D5-DC09-08F46BC1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Many faces of recall and </a:t>
                </a:r>
                <a:r>
                  <a:rPr lang="en-US" dirty="0" err="1">
                    <a:latin typeface="+mn-lt"/>
                  </a:rPr>
                  <a:t>precison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IR typically measured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𝒓𝒆𝒄𝒂𝒍𝒍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𝒑𝒓𝒆𝒄𝒊𝒔𝒊𝒐𝒏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Average</a:t>
                </a:r>
                <a:r>
                  <a:rPr lang="en-US" dirty="0">
                    <a:latin typeface="+mn-lt"/>
                  </a:rPr>
                  <a:t> precision is computed over the precision-recall trade-off curve</a:t>
                </a:r>
              </a:p>
              <a:p>
                <a:r>
                  <a:rPr lang="en-US" dirty="0">
                    <a:latin typeface="+mn-lt"/>
                  </a:rPr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documents retrieved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𝑝𝑟𝑒𝑐𝑖𝑠𝑖𝑜𝑛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, average precision</a:t>
                </a:r>
              </a:p>
              <a:p>
                <a:pPr lvl="4"/>
                <a:endParaRPr lang="en-US" sz="1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+mn-lt"/>
                  </a:rPr>
                  <a:t>We can rewrite average precision in terms of relevance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𝑟𝑒𝑙𝑒𝑣𝑒𝑛𝑡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𝑑𝑜𝑐𝑢𝑚𝑒𝑛𝑡𝑠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  <a:blipFill>
                <a:blip r:embed="rId3"/>
                <a:stretch>
                  <a:fillRect l="-1101" t="-1818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9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EDA4-E076-A211-9351-8B646F44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3446-78F7-B2FA-8212-01F0C8B2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/>
              <a:t>Retrival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Cumulative Gain</a:t>
                </a:r>
                <a:r>
                  <a:rPr lang="en-US" dirty="0">
                    <a:latin typeface="+mn-lt"/>
                  </a:rPr>
                  <a:t> is at rank 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relative rank of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relative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is generally human scored  </a:t>
                </a:r>
              </a:p>
              <a:p>
                <a:pPr lvl="1"/>
                <a:r>
                  <a:rPr lang="en-US" dirty="0">
                    <a:latin typeface="+mn-lt"/>
                  </a:rPr>
                  <a:t>Scoring can be subjective – often use multiple evaluators  </a:t>
                </a:r>
              </a:p>
              <a:p>
                <a:pPr lvl="1"/>
                <a:r>
                  <a:rPr lang="en-US" dirty="0">
                    <a:latin typeface="+mn-lt"/>
                  </a:rPr>
                  <a:t>Ranking for more than small datasets is prohibitively labor intensives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  <a:blipFill>
                <a:blip r:embed="rId3"/>
                <a:stretch>
                  <a:fillRect l="-114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48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AA14-92F6-8967-6A71-7D34B2F4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52EE-6D6D-F069-4991-5C4C8083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ANNS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Discounted Cumulative Gain</a:t>
                </a:r>
                <a:r>
                  <a:rPr lang="en-US" dirty="0">
                    <a:latin typeface="+mn-lt"/>
                  </a:rPr>
                  <a:t> adjusts cumulative gain to account for highly relevant documents appearing low in the ranking order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discount factor,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down weights the cumulative gain based on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  <a:blipFill>
                <a:blip r:embed="rId3"/>
                <a:stretch>
                  <a:fillRect l="-1089" t="-2208" r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4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8EB9-A4DA-522F-F3F3-6199E4C4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8A78-6D7E-E4B6-11FA-80B8555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2246792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107-3411-EAA8-AE6A-84751300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6421-D3C5-F4CB-AC96-494B89AB4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3072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Spare text embedding has a long history</a:t>
            </a:r>
          </a:p>
          <a:p>
            <a:r>
              <a:rPr lang="en-US" b="1" dirty="0"/>
              <a:t>Spare encoders produce long embedding vectors </a:t>
            </a:r>
            <a:r>
              <a:rPr lang="en-US" dirty="0"/>
              <a:t>of mostly 0 values    </a:t>
            </a:r>
          </a:p>
          <a:p>
            <a:pPr lvl="1"/>
            <a:r>
              <a:rPr lang="en-US" dirty="0"/>
              <a:t>Length of vector = length of vocabulary   </a:t>
            </a:r>
          </a:p>
          <a:p>
            <a:pPr lvl="1"/>
            <a:r>
              <a:rPr lang="en-US" dirty="0"/>
              <a:t>Each vocabulary word encoded by position in the encoding vector</a:t>
            </a:r>
          </a:p>
          <a:p>
            <a:pPr lvl="1"/>
            <a:r>
              <a:rPr lang="en-US" dirty="0"/>
              <a:t>Any given document has only a fraction of total vocabulary  </a:t>
            </a:r>
          </a:p>
          <a:p>
            <a:r>
              <a:rPr lang="en-US" dirty="0"/>
              <a:t>Embedding example using </a:t>
            </a:r>
            <a:r>
              <a:rPr lang="en-US" b="1" dirty="0"/>
              <a:t>word-level tokenization</a:t>
            </a:r>
            <a:r>
              <a:rPr lang="en-US" dirty="0"/>
              <a:t>:   </a:t>
            </a:r>
          </a:p>
          <a:p>
            <a:pPr marL="457200" lvl="1" indent="0">
              <a:buNone/>
            </a:pPr>
            <a:r>
              <a:rPr lang="en-US" dirty="0"/>
              <a:t>“A dog ran in from the street”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261AE-6CD7-1E9A-2137-4D6C59AA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DC40F-0526-DF54-9316-68E8291C7BBD}"/>
              </a:ext>
            </a:extLst>
          </p:cNvPr>
          <p:cNvSpPr/>
          <p:nvPr/>
        </p:nvSpPr>
        <p:spPr>
          <a:xfrm>
            <a:off x="155508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2D93E-85E6-216D-7AD4-6302F131F70C}"/>
              </a:ext>
            </a:extLst>
          </p:cNvPr>
          <p:cNvSpPr txBox="1"/>
          <p:nvPr/>
        </p:nvSpPr>
        <p:spPr>
          <a:xfrm rot="16200000">
            <a:off x="1221138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F03E10-D133-D515-AA26-4CA713024510}"/>
              </a:ext>
            </a:extLst>
          </p:cNvPr>
          <p:cNvSpPr/>
          <p:nvPr/>
        </p:nvSpPr>
        <p:spPr>
          <a:xfrm>
            <a:off x="2016754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74A03-66A3-94F2-4CB9-FFB96A2A8D45}"/>
              </a:ext>
            </a:extLst>
          </p:cNvPr>
          <p:cNvSpPr txBox="1"/>
          <p:nvPr/>
        </p:nvSpPr>
        <p:spPr>
          <a:xfrm rot="16200000">
            <a:off x="1682804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C85970-C141-B64A-0D36-EC3614F65B7B}"/>
              </a:ext>
            </a:extLst>
          </p:cNvPr>
          <p:cNvSpPr/>
          <p:nvPr/>
        </p:nvSpPr>
        <p:spPr>
          <a:xfrm>
            <a:off x="2478421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A8FBB-A8F9-8C53-7645-5776DA09C9CC}"/>
              </a:ext>
            </a:extLst>
          </p:cNvPr>
          <p:cNvSpPr txBox="1"/>
          <p:nvPr/>
        </p:nvSpPr>
        <p:spPr>
          <a:xfrm rot="16200000">
            <a:off x="2144471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3DA2CA-1AF5-BBE7-A825-8379E880FA95}"/>
              </a:ext>
            </a:extLst>
          </p:cNvPr>
          <p:cNvSpPr/>
          <p:nvPr/>
        </p:nvSpPr>
        <p:spPr>
          <a:xfrm>
            <a:off x="2940088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7325E-9E87-48D5-DF51-14EC2C3BCD64}"/>
              </a:ext>
            </a:extLst>
          </p:cNvPr>
          <p:cNvSpPr txBox="1"/>
          <p:nvPr/>
        </p:nvSpPr>
        <p:spPr>
          <a:xfrm rot="16200000">
            <a:off x="2606139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12AB2-DC2E-E3E6-906B-5089EF8399E8}"/>
              </a:ext>
            </a:extLst>
          </p:cNvPr>
          <p:cNvSpPr/>
          <p:nvPr/>
        </p:nvSpPr>
        <p:spPr>
          <a:xfrm>
            <a:off x="3401755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D5401-7EC6-F7E8-C5CF-7720CDE0FD1A}"/>
              </a:ext>
            </a:extLst>
          </p:cNvPr>
          <p:cNvSpPr txBox="1"/>
          <p:nvPr/>
        </p:nvSpPr>
        <p:spPr>
          <a:xfrm rot="16200000">
            <a:off x="3067806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9BA4B-AFFE-7757-42FC-75D2D34C877F}"/>
              </a:ext>
            </a:extLst>
          </p:cNvPr>
          <p:cNvSpPr/>
          <p:nvPr/>
        </p:nvSpPr>
        <p:spPr>
          <a:xfrm>
            <a:off x="386342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FD4B7-090E-83FB-45F0-1C637D6B102E}"/>
              </a:ext>
            </a:extLst>
          </p:cNvPr>
          <p:cNvSpPr txBox="1"/>
          <p:nvPr/>
        </p:nvSpPr>
        <p:spPr>
          <a:xfrm rot="16200000">
            <a:off x="3529473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D25C5-F5BB-56D7-B799-B8E62205847A}"/>
              </a:ext>
            </a:extLst>
          </p:cNvPr>
          <p:cNvSpPr/>
          <p:nvPr/>
        </p:nvSpPr>
        <p:spPr>
          <a:xfrm>
            <a:off x="432508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336A34-35A1-3E56-53F7-1D0CFA01A5FD}"/>
              </a:ext>
            </a:extLst>
          </p:cNvPr>
          <p:cNvSpPr txBox="1"/>
          <p:nvPr/>
        </p:nvSpPr>
        <p:spPr>
          <a:xfrm rot="16200000">
            <a:off x="3991140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0A958B-2E3A-4FCE-40F3-A2D8AEB93F0F}"/>
              </a:ext>
            </a:extLst>
          </p:cNvPr>
          <p:cNvSpPr/>
          <p:nvPr/>
        </p:nvSpPr>
        <p:spPr>
          <a:xfrm>
            <a:off x="478675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D9ADA3-9402-BA56-924A-10378EBB08C5}"/>
              </a:ext>
            </a:extLst>
          </p:cNvPr>
          <p:cNvSpPr txBox="1"/>
          <p:nvPr/>
        </p:nvSpPr>
        <p:spPr>
          <a:xfrm rot="16200000">
            <a:off x="4452807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both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AE9DE8-86EE-3E16-8A14-99F92688EB4B}"/>
              </a:ext>
            </a:extLst>
          </p:cNvPr>
          <p:cNvSpPr/>
          <p:nvPr/>
        </p:nvSpPr>
        <p:spPr>
          <a:xfrm>
            <a:off x="524842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39B799-236F-BE9C-2930-B07CA57A4634}"/>
              </a:ext>
            </a:extLst>
          </p:cNvPr>
          <p:cNvSpPr txBox="1"/>
          <p:nvPr/>
        </p:nvSpPr>
        <p:spPr>
          <a:xfrm rot="16200000">
            <a:off x="4914474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half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A7C29D-F6FD-A452-FC72-E8A00D62CD08}"/>
              </a:ext>
            </a:extLst>
          </p:cNvPr>
          <p:cNvSpPr/>
          <p:nvPr/>
        </p:nvSpPr>
        <p:spPr>
          <a:xfrm>
            <a:off x="5710090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D0C566-E02C-90FB-AD1B-2006D51BB8B2}"/>
              </a:ext>
            </a:extLst>
          </p:cNvPr>
          <p:cNvSpPr txBox="1"/>
          <p:nvPr/>
        </p:nvSpPr>
        <p:spPr>
          <a:xfrm rot="16200000">
            <a:off x="5376140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9CD582-E809-0542-6B0A-D6AFECB220B8}"/>
              </a:ext>
            </a:extLst>
          </p:cNvPr>
          <p:cNvSpPr/>
          <p:nvPr/>
        </p:nvSpPr>
        <p:spPr>
          <a:xfrm>
            <a:off x="617175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676F6-AF57-FD07-FBE3-81777E2995ED}"/>
              </a:ext>
            </a:extLst>
          </p:cNvPr>
          <p:cNvSpPr txBox="1"/>
          <p:nvPr/>
        </p:nvSpPr>
        <p:spPr>
          <a:xfrm rot="16200000">
            <a:off x="5837807" y="4951669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24110-50ED-31FA-BBCB-366B88FA32BC}"/>
              </a:ext>
            </a:extLst>
          </p:cNvPr>
          <p:cNvSpPr/>
          <p:nvPr/>
        </p:nvSpPr>
        <p:spPr>
          <a:xfrm>
            <a:off x="778759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28668-61F8-FE69-5504-CF24E68F5335}"/>
              </a:ext>
            </a:extLst>
          </p:cNvPr>
          <p:cNvSpPr txBox="1"/>
          <p:nvPr/>
        </p:nvSpPr>
        <p:spPr>
          <a:xfrm rot="16200000">
            <a:off x="7453642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road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D36A86-46BD-FE3F-472D-2E6148D704CE}"/>
              </a:ext>
            </a:extLst>
          </p:cNvPr>
          <p:cNvSpPr/>
          <p:nvPr/>
        </p:nvSpPr>
        <p:spPr>
          <a:xfrm>
            <a:off x="824925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F54AF-65A5-075F-3750-46047A66805F}"/>
              </a:ext>
            </a:extLst>
          </p:cNvPr>
          <p:cNvSpPr txBox="1"/>
          <p:nvPr/>
        </p:nvSpPr>
        <p:spPr>
          <a:xfrm rot="16200000">
            <a:off x="7915309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street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EB98E5-8432-08DC-62BE-4DFD3B06313A}"/>
              </a:ext>
            </a:extLst>
          </p:cNvPr>
          <p:cNvSpPr/>
          <p:nvPr/>
        </p:nvSpPr>
        <p:spPr>
          <a:xfrm>
            <a:off x="871092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C4823-5C46-875A-19AB-B0AD2655D0E9}"/>
              </a:ext>
            </a:extLst>
          </p:cNvPr>
          <p:cNvSpPr txBox="1"/>
          <p:nvPr/>
        </p:nvSpPr>
        <p:spPr>
          <a:xfrm rot="16200000">
            <a:off x="8376976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alley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61B3D1-3892-5266-E15B-51DB7497CF55}"/>
              </a:ext>
            </a:extLst>
          </p:cNvPr>
          <p:cNvSpPr/>
          <p:nvPr/>
        </p:nvSpPr>
        <p:spPr>
          <a:xfrm>
            <a:off x="917259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E69D2-9512-5B06-75CE-3374A4EC6F0C}"/>
              </a:ext>
            </a:extLst>
          </p:cNvPr>
          <p:cNvSpPr txBox="1"/>
          <p:nvPr/>
        </p:nvSpPr>
        <p:spPr>
          <a:xfrm rot="16200000">
            <a:off x="8838643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/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1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0AE3-BC69-CC42-1F5D-D31DA22B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Spare text embedding is an alternative to dense embedding   </a:t>
                </a:r>
              </a:p>
              <a:p>
                <a:r>
                  <a:rPr lang="en-US" dirty="0"/>
                  <a:t>Example distance between word-level token embeddings:   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“A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ran in from </a:t>
                </a:r>
                <a:r>
                  <a:rPr lang="en-US" dirty="0">
                    <a:solidFill>
                      <a:srgbClr val="FF0000"/>
                    </a:solidFill>
                  </a:rPr>
                  <a:t>the street</a:t>
                </a:r>
                <a:r>
                  <a:rPr lang="en-US" dirty="0"/>
                  <a:t>”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“The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was walking in </a:t>
                </a:r>
                <a:r>
                  <a:rPr lang="en-US" dirty="0">
                    <a:solidFill>
                      <a:srgbClr val="FF0000"/>
                    </a:solidFill>
                  </a:rPr>
                  <a:t>the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street</a:t>
                </a:r>
                <a:r>
                  <a:rPr lang="en-US" dirty="0"/>
                  <a:t>” </a:t>
                </a:r>
              </a:p>
              <a:p>
                <a:r>
                  <a:rPr lang="en-US" dirty="0"/>
                  <a:t>We can measure distance using </a:t>
                </a:r>
                <a:r>
                  <a:rPr lang="en-US" b="1" dirty="0"/>
                  <a:t>Jaccard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=.73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sets of words in the natural language </a:t>
                </a:r>
              </a:p>
              <a:p>
                <a:r>
                  <a:rPr lang="en-US" dirty="0"/>
                  <a:t>Jaccard distance is based on </a:t>
                </a:r>
                <a:r>
                  <a:rPr lang="en-US" b="1" dirty="0"/>
                  <a:t>set theory </a:t>
                </a:r>
              </a:p>
              <a:p>
                <a:pPr lvl="1"/>
                <a:r>
                  <a:rPr lang="en-US" dirty="0"/>
                  <a:t>A word is in a set or it is not</a:t>
                </a:r>
              </a:p>
              <a:p>
                <a:pPr lvl="1"/>
                <a:r>
                  <a:rPr lang="en-US" dirty="0"/>
                  <a:t>If a word occurs multiple times, we only code as binary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 example of a </a:t>
                </a:r>
                <a:r>
                  <a:rPr lang="en-US" dirty="0">
                    <a:hlinkClick r:id="rId2"/>
                  </a:rPr>
                  <a:t>bag of words model</a:t>
                </a:r>
                <a:r>
                  <a:rPr lang="en-US" dirty="0"/>
                  <a:t>, order does not matter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78988FD-78BC-4123-7B48-F12AD901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</p:spTree>
    <p:extLst>
      <p:ext uri="{BB962C8B-B14F-4D97-AF65-F5344CB8AC3E}">
        <p14:creationId xmlns:p14="http://schemas.microsoft.com/office/powerpoint/2010/main" val="3475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63DD-F5B4-1339-08C7-FEDE6A49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C713-83B4-855A-5E7E-831712A8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Simple </a:t>
            </a:r>
            <a:r>
              <a:rPr lang="en-US" dirty="0">
                <a:hlinkClick r:id="rId2"/>
              </a:rPr>
              <a:t>TF-IDF</a:t>
            </a:r>
            <a:r>
              <a:rPr lang="en-US" dirty="0"/>
              <a:t> normalizes sparse similarity vectors   </a:t>
            </a:r>
          </a:p>
          <a:p>
            <a:r>
              <a:rPr lang="en-US" dirty="0"/>
              <a:t>Simple Jaccard metrics suffer from several deficiencies </a:t>
            </a:r>
          </a:p>
          <a:p>
            <a:pPr lvl="1"/>
            <a:r>
              <a:rPr lang="en-US" dirty="0"/>
              <a:t>Cannot account for a more relevant document using a key term multiple times</a:t>
            </a:r>
          </a:p>
          <a:p>
            <a:pPr lvl="1"/>
            <a:r>
              <a:rPr lang="en-US" dirty="0"/>
              <a:t>Does not account for the rarity of a key term in the entire corpus</a:t>
            </a:r>
          </a:p>
          <a:p>
            <a:r>
              <a:rPr lang="en-US" dirty="0"/>
              <a:t>TF-IDF computes weight to adjust for the foregoing  </a:t>
            </a:r>
          </a:p>
          <a:p>
            <a:pPr lvl="1"/>
            <a:r>
              <a:rPr lang="en-US" b="1" dirty="0"/>
              <a:t>Term frequency </a:t>
            </a:r>
            <a:r>
              <a:rPr lang="en-US" dirty="0"/>
              <a:t>is the frequency that a term or word appears in a document </a:t>
            </a:r>
          </a:p>
          <a:p>
            <a:pPr lvl="1"/>
            <a:r>
              <a:rPr lang="en-US" b="1" dirty="0"/>
              <a:t>Inverse document frequency </a:t>
            </a:r>
            <a:r>
              <a:rPr lang="en-US" dirty="0"/>
              <a:t>is the log of the ratio of number of documents to the number of documents where the term occurs. </a:t>
            </a:r>
          </a:p>
          <a:p>
            <a:r>
              <a:rPr lang="en-US" dirty="0"/>
              <a:t>TF-IDF is an example of a </a:t>
            </a:r>
            <a:r>
              <a:rPr lang="en-US" b="1" dirty="0"/>
              <a:t>bag of words model</a:t>
            </a:r>
          </a:p>
          <a:p>
            <a:pPr lvl="1"/>
            <a:r>
              <a:rPr lang="en-US" b="1" dirty="0"/>
              <a:t>Word order does not matter!</a:t>
            </a:r>
          </a:p>
          <a:p>
            <a:pPr lvl="1"/>
            <a:r>
              <a:rPr lang="en-US" dirty="0"/>
              <a:t>No sensitivity to semantics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5812F0-DBE8-D452-DCA3-2D3D1266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2368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D9CD-6833-88FD-12F5-0705E824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term frequency (TF</a:t>
                </a:r>
                <a:r>
                  <a:rPr lang="en-US" dirty="0"/>
                  <a:t>) in corpus of documents,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is the frequency or count of occurrence of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inverse document frequency (IDF)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number of documents in the corpus containing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AD9F42A3-CAD6-F635-15BF-E862F30B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157596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C9CC-D22A-52E1-5723-7520A83C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Taking the product to compute TF-IDF weight for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within corpus of documents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TF-IDF weights to compute sparse vector (cosine) similarity between two documents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  <a:blipFill>
                <a:blip r:embed="rId3"/>
                <a:stretch>
                  <a:fillRect l="-1217" t="-186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DB94DC-EB08-DAAE-A3F5-BDBD548A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6ED6E-936D-18A6-EBD4-F713EEBD3670}"/>
              </a:ext>
            </a:extLst>
          </p:cNvPr>
          <p:cNvSpPr txBox="1"/>
          <p:nvPr/>
        </p:nvSpPr>
        <p:spPr>
          <a:xfrm>
            <a:off x="1545928" y="3255929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Term frequency weight increases as number of occurrences increase in a document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3C5C-7F3F-C4F1-F3A5-607F47EE24F8}"/>
              </a:ext>
            </a:extLst>
          </p:cNvPr>
          <p:cNvSpPr txBox="1"/>
          <p:nvPr/>
        </p:nvSpPr>
        <p:spPr>
          <a:xfrm>
            <a:off x="7078980" y="3143161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Inverse document frequency increases as the log of rarity of the term increases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6889A2-6F85-D849-550A-B45CD7A618FE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683338" y="2914650"/>
            <a:ext cx="2282960" cy="34127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5064C-EAAB-4B7C-D965-569BA08D49A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973358" y="2827506"/>
            <a:ext cx="1243032" cy="3156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5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AFCA-2D1C-89CC-867B-6E695F78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BM25 is widely used and is considered a benchmark to measure embedding model performance   </a:t>
                </a:r>
              </a:p>
              <a:p>
                <a:r>
                  <a:rPr lang="en-US" dirty="0"/>
                  <a:t> 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score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higher similarity </a:t>
                </a:r>
              </a:p>
              <a:p>
                <a:r>
                  <a:rPr lang="en-US" dirty="0"/>
                  <a:t>The BM25 is another </a:t>
                </a:r>
                <a:r>
                  <a:rPr lang="en-US" b="1" dirty="0"/>
                  <a:t>bag of words model</a:t>
                </a:r>
                <a:r>
                  <a:rPr lang="en-US" dirty="0"/>
                  <a:t>     </a:t>
                </a:r>
              </a:p>
              <a:p>
                <a:r>
                  <a:rPr lang="en-US" dirty="0"/>
                  <a:t>Ordering documents by BM25 scores ranks documents with respect to the query  </a:t>
                </a:r>
              </a:p>
              <a:p>
                <a:r>
                  <a:rPr lang="en-US" dirty="0"/>
                  <a:t>BM25 uses an </a:t>
                </a:r>
                <a:r>
                  <a:rPr lang="en-US" b="1" dirty="0"/>
                  <a:t>inverted index </a:t>
                </a:r>
                <a:r>
                  <a:rPr lang="en-US" dirty="0"/>
                  <a:t>for queries </a:t>
                </a:r>
              </a:p>
              <a:p>
                <a:pPr lvl="1"/>
                <a:r>
                  <a:rPr lang="en-US" dirty="0"/>
                  <a:t>Queries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tokenization can be slow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80322EC-E44A-DBFD-BAFD-FB1385FA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3857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C7BF-0AD8-47CE-63E8-1A10C51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Query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set of key words in the query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frequency of key work  in the document d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size or word count of the document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𝑎𝑣𝑔𝑑𝑙</m:t>
                    </m:r>
                  </m:oMath>
                </a14:m>
                <a:r>
                  <a:rPr lang="en-US" dirty="0"/>
                  <a:t> is the average size or word count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hyperparameter, typically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[1.2,2.0]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hyperparameter with default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BM25 score is summed over all key words in the query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2480" b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5BE843A-6896-7BC5-3BEF-44BDAF5B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2663973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9662-8456-718A-8B77-A8442F51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And another form of IDF is used: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+0.5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+0.5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total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number of documents containing keyword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corpus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CB8B3E2-AC1B-6208-5A59-9CD32958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30578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FE07-B3FF-B056-E1CA-DD07D598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term-frequency saturation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values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hlinkClick r:id="rId2"/>
                  </a:rPr>
                  <a:t>Elastic</a:t>
                </a:r>
                <a:r>
                  <a:rPr lang="en-US" dirty="0"/>
                  <a:t>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limits effect of term count in a query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IDF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normalization weight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reduces effect of document length compared to average length</a:t>
                </a:r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effect of document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  <a:blipFill>
                <a:blip r:embed="rId3"/>
                <a:stretch>
                  <a:fillRect l="-1217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DC0FA86-20DF-F338-E34A-76327D53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89312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981-2ECC-3464-8CB9-2EE2C560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term-frequency saturation hyperparameter</a:t>
                </a:r>
              </a:p>
              <a:p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sets a lower saturation point for term frequency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  <a:blipFill>
                <a:blip r:embed="rId2"/>
                <a:stretch>
                  <a:fillRect l="-2763" t="-1726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0B257DA-C417-3936-53CA-BD9C7595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52899-4861-C102-3AEC-0D2A4545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494" y="1051814"/>
            <a:ext cx="6826506" cy="45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4B25BE6-6355-6CE5-5644-B04795C51189}"/>
              </a:ext>
            </a:extLst>
          </p:cNvPr>
          <p:cNvCxnSpPr>
            <a:cxnSpLocks/>
          </p:cNvCxnSpPr>
          <p:nvPr/>
        </p:nvCxnSpPr>
        <p:spPr>
          <a:xfrm>
            <a:off x="4789170" y="3571875"/>
            <a:ext cx="2954655" cy="8001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CEFB32-4ABA-95CD-91F0-4F7E3AC0ED46}"/>
              </a:ext>
            </a:extLst>
          </p:cNvPr>
          <p:cNvSpPr txBox="1"/>
          <p:nvPr/>
        </p:nvSpPr>
        <p:spPr>
          <a:xfrm>
            <a:off x="6298883" y="5434711"/>
            <a:ext cx="506920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Plot from Elastic documentation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46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CB19-1A52-B223-A2FD-7819E2D4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characterize the performance of BM25 models? </a:t>
                </a:r>
              </a:p>
              <a:p>
                <a:r>
                  <a:rPr lang="en-US" dirty="0"/>
                  <a:t>How can we efficiently work with the large BM25 vocabulary? </a:t>
                </a:r>
              </a:p>
              <a:p>
                <a:pPr lvl="1"/>
                <a:r>
                  <a:rPr lang="en-US" dirty="0"/>
                  <a:t>Vector is of length of the vocabulary,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hash table </a:t>
                </a:r>
                <a:r>
                  <a:rPr lang="en-US" dirty="0"/>
                  <a:t>such as dictionary to create </a:t>
                </a:r>
                <a:r>
                  <a:rPr lang="en-US" b="1" dirty="0"/>
                  <a:t>inverted index </a:t>
                </a:r>
                <a:r>
                  <a:rPr lang="en-US" dirty="0"/>
                  <a:t>of corpus!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doc_term_frequencies</a:t>
                </a:r>
                <a:r>
                  <a:rPr lang="en-US" dirty="0"/>
                  <a:t> = {</a:t>
                </a:r>
                <a:br>
                  <a:rPr lang="en-US" dirty="0"/>
                </a:br>
                <a:r>
                  <a:rPr lang="en-US" dirty="0"/>
                  <a:t>                                              "cat": 2,</a:t>
                </a:r>
                <a:br>
                  <a:rPr lang="en-US" dirty="0"/>
                </a:br>
                <a:r>
                  <a:rPr lang="en-US" dirty="0"/>
                  <a:t>                                              "feline": 1,</a:t>
                </a:r>
                <a:br>
                  <a:rPr lang="en-US" dirty="0"/>
                </a:br>
                <a:r>
                  <a:rPr lang="en-US" dirty="0"/>
                  <a:t>                                              "purr": 1,</a:t>
                </a:r>
                <a:br>
                  <a:rPr lang="en-US" dirty="0"/>
                </a:br>
                <a:r>
                  <a:rPr lang="en-US" dirty="0"/>
                  <a:t>                                               </a:t>
                </a:r>
                <a:r>
                  <a:rPr lang="en-US" i="1" dirty="0"/>
                  <a:t># ...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Computational complexity of BM25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BM25 makes a linear scan of corpus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complexity limits scaling to massive corpus size</a:t>
                </a:r>
              </a:p>
              <a:p>
                <a:r>
                  <a:rPr lang="en-US" dirty="0"/>
                  <a:t>Recall of BM25 is limited by need for exact work match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043" t="-2255" b="-3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AC3CBEF-AED2-BD75-0315-A1D707CF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1891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FFEE-C31F-E27C-B01B-AC5BE61D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0D7E-1545-47A8-3379-B1609E80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improvements proposed to BM25 models</a:t>
            </a:r>
          </a:p>
          <a:p>
            <a:r>
              <a:rPr lang="en-US" dirty="0"/>
              <a:t>Many packages support versions of BM25</a:t>
            </a:r>
          </a:p>
          <a:p>
            <a:pPr lvl="1"/>
            <a:r>
              <a:rPr lang="en-US" dirty="0">
                <a:hlinkClick r:id="rId2"/>
              </a:rPr>
              <a:t>Rank-BM25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Elastic</a:t>
            </a:r>
            <a:endParaRPr lang="en-US" dirty="0"/>
          </a:p>
          <a:p>
            <a:pPr lvl="1"/>
            <a:r>
              <a:rPr lang="en-US" dirty="0" err="1">
                <a:hlinkClick r:id="rId4"/>
              </a:rPr>
              <a:t>HuggingFace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LangChain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linkClick r:id="rId6"/>
              </a:rPr>
              <a:t>Trotman, </a:t>
            </a:r>
            <a:r>
              <a:rPr lang="en-US" dirty="0" err="1">
                <a:hlinkClick r:id="rId6"/>
              </a:rPr>
              <a:t>Puurula</a:t>
            </a:r>
            <a:r>
              <a:rPr lang="en-US" dirty="0">
                <a:hlinkClick r:id="rId6"/>
              </a:rPr>
              <a:t> and Burgess, 2014</a:t>
            </a:r>
            <a:r>
              <a:rPr lang="en-US" dirty="0"/>
              <a:t>, review many variations on the basic BM25 algorithm finding limited differences</a:t>
            </a:r>
          </a:p>
          <a:p>
            <a:r>
              <a:rPr lang="en-US" dirty="0"/>
              <a:t>Newer work uses learned weights to improve performance </a:t>
            </a:r>
          </a:p>
          <a:p>
            <a:pPr lvl="1"/>
            <a:r>
              <a:rPr lang="en-US" dirty="0"/>
              <a:t>Algorithms include </a:t>
            </a:r>
            <a:r>
              <a:rPr lang="en-US" dirty="0" err="1"/>
              <a:t>DeepImpact</a:t>
            </a:r>
            <a:r>
              <a:rPr lang="en-US" dirty="0"/>
              <a:t> and COIL</a:t>
            </a:r>
          </a:p>
          <a:p>
            <a:pPr lvl="1"/>
            <a:r>
              <a:rPr lang="en-US" dirty="0"/>
              <a:t>See review by </a:t>
            </a:r>
            <a:r>
              <a:rPr lang="en-US" dirty="0">
                <a:hlinkClick r:id="rId7"/>
              </a:rPr>
              <a:t>Lin and Ma, 2021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E36B0-500F-6F7B-DE13-CFDD25CC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968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ADE7-61E8-EBFF-D3A4-2175669B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EFBF-E130-A9A5-0E90-A236105B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Short Introduction to BERT Models for Dense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427066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CF3F-CCFA-38FF-7FF5-9FBE6CCB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6282-DCC2-793B-4801-938FFF99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Bidirectional encoder representation from transformer (BERT) models are a family of </a:t>
            </a:r>
            <a:r>
              <a:rPr lang="en-US" b="1" dirty="0"/>
              <a:t>dense text embedding </a:t>
            </a:r>
            <a:r>
              <a:rPr lang="en-US" dirty="0"/>
              <a:t>models  </a:t>
            </a:r>
          </a:p>
          <a:p>
            <a:r>
              <a:rPr lang="en-US" dirty="0"/>
              <a:t>The original BERT model was introduced by </a:t>
            </a:r>
            <a:r>
              <a:rPr lang="en-US" dirty="0">
                <a:hlinkClick r:id="rId2"/>
              </a:rPr>
              <a:t>Devlin, et. al., 2019</a:t>
            </a:r>
            <a:endParaRPr lang="en-US" dirty="0"/>
          </a:p>
          <a:p>
            <a:r>
              <a:rPr lang="en-US" dirty="0"/>
              <a:t>There is a large and growing family of fast, efficient and effective BERT models </a:t>
            </a:r>
          </a:p>
          <a:p>
            <a:pPr lvl="1"/>
            <a:r>
              <a:rPr lang="en-US" dirty="0" err="1"/>
              <a:t>DistilBERT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Sanh, et. al., 2019</a:t>
            </a:r>
            <a:r>
              <a:rPr lang="en-US" dirty="0"/>
              <a:t>, a faster and lighter distillation of BERT</a:t>
            </a:r>
          </a:p>
          <a:p>
            <a:pPr lvl="1"/>
            <a:r>
              <a:rPr lang="en-US" dirty="0" err="1"/>
              <a:t>XlmROBERTa</a:t>
            </a:r>
            <a:r>
              <a:rPr lang="en-US" dirty="0"/>
              <a:t>, </a:t>
            </a:r>
            <a:r>
              <a:rPr lang="en-US" dirty="0" err="1">
                <a:hlinkClick r:id="rId4"/>
              </a:rPr>
              <a:t>Conneau</a:t>
            </a:r>
            <a:r>
              <a:rPr lang="en-US" dirty="0">
                <a:hlinkClick r:id="rId4"/>
              </a:rPr>
              <a:t>, et. al., 2019</a:t>
            </a:r>
            <a:r>
              <a:rPr lang="en-US" dirty="0"/>
              <a:t>, a larger </a:t>
            </a:r>
            <a:r>
              <a:rPr lang="en-US" dirty="0" err="1"/>
              <a:t>mulit</a:t>
            </a:r>
            <a:r>
              <a:rPr lang="en-US" dirty="0"/>
              <a:t>-language embedding model </a:t>
            </a:r>
          </a:p>
          <a:p>
            <a:pPr lvl="1"/>
            <a:r>
              <a:rPr lang="en-US" dirty="0" err="1"/>
              <a:t>LegalBERT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Chalkidis, et. al., 2020</a:t>
            </a:r>
            <a:r>
              <a:rPr lang="en-US" dirty="0"/>
              <a:t>, trained on legal documents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Araci, 2019</a:t>
            </a:r>
            <a:r>
              <a:rPr lang="en-US" dirty="0"/>
              <a:t>, trained on financial statements 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ECDA8-FDFE-2649-52BE-F22A79BD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29040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D912-DE23-6690-6888-0EEE29E3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Bidirectional encoder representation from transformer (BERT) models are a family of text embedding models  </a:t>
                </a:r>
              </a:p>
              <a:p>
                <a:r>
                  <a:rPr lang="en-US" dirty="0"/>
                  <a:t>BERT is an </a:t>
                </a:r>
                <a:r>
                  <a:rPr lang="en-US" b="1" dirty="0"/>
                  <a:t>encoder only model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Maps natural language </a:t>
                </a:r>
                <a:r>
                  <a:rPr lang="en-US" b="1" dirty="0"/>
                  <a:t>tokens </a:t>
                </a:r>
                <a:r>
                  <a:rPr lang="en-US" dirty="0"/>
                  <a:t>to an embedding </a:t>
                </a:r>
              </a:p>
              <a:p>
                <a:pPr lvl="1"/>
                <a:r>
                  <a:rPr lang="en-US" dirty="0"/>
                  <a:t>BERT vocabulary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r>
                  <a:rPr lang="en-US" dirty="0"/>
                  <a:t> words</a:t>
                </a:r>
              </a:p>
              <a:p>
                <a:r>
                  <a:rPr lang="en-US" dirty="0"/>
                  <a:t>BERT uses a transformer attention model</a:t>
                </a:r>
              </a:p>
              <a:p>
                <a:pPr lvl="1"/>
                <a:r>
                  <a:rPr lang="en-US" dirty="0"/>
                  <a:t>We will not discuss the details here</a:t>
                </a:r>
              </a:p>
              <a:p>
                <a:pPr lvl="1"/>
                <a:r>
                  <a:rPr lang="en-US" dirty="0"/>
                  <a:t>For one of the many introductions to transformer models, see </a:t>
                </a:r>
                <a:r>
                  <a:rPr lang="en-US" dirty="0">
                    <a:hlinkClick r:id="rId2"/>
                  </a:rPr>
                  <a:t>this tutorial on the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web site</a:t>
                </a:r>
                <a:endParaRPr lang="en-US" dirty="0"/>
              </a:p>
              <a:p>
                <a:r>
                  <a:rPr lang="en-US" dirty="0"/>
                  <a:t>BERT process tokens </a:t>
                </a:r>
                <a:r>
                  <a:rPr lang="en-US" b="1" dirty="0"/>
                  <a:t>bidirectionally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Tokens processed </a:t>
                </a:r>
                <a:r>
                  <a:rPr lang="en-US" b="1" dirty="0"/>
                  <a:t>right to left</a:t>
                </a:r>
              </a:p>
              <a:p>
                <a:pPr lvl="1"/>
                <a:r>
                  <a:rPr lang="en-US" b="1" dirty="0"/>
                  <a:t>And, </a:t>
                </a:r>
                <a:r>
                  <a:rPr lang="en-US" dirty="0"/>
                  <a:t>tokens processed </a:t>
                </a:r>
                <a:r>
                  <a:rPr lang="en-US" b="1" dirty="0"/>
                  <a:t>left to right </a:t>
                </a:r>
              </a:p>
              <a:p>
                <a:pPr lvl="1"/>
                <a:r>
                  <a:rPr lang="en-US" dirty="0"/>
                  <a:t>Bidirectional processing allows BERT embeddings to represent </a:t>
                </a:r>
                <a:r>
                  <a:rPr lang="en-US" b="1" dirty="0"/>
                  <a:t>semantics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3"/>
                <a:stretch>
                  <a:fillRect l="-1217" t="-2647" r="-406" b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DE9AC76-7BF7-95A2-968C-BCDFB13A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31389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C6CB-2DB6-9473-5B6D-A0FF871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E56-97C8-02E2-5C7C-34C2D456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996815" cy="526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(BERT) models </a:t>
            </a:r>
            <a:r>
              <a:rPr lang="en-US" b="1" dirty="0"/>
              <a:t>process tokenized text</a:t>
            </a:r>
          </a:p>
          <a:p>
            <a:r>
              <a:rPr lang="en-US" dirty="0"/>
              <a:t>Natural language text processed by BERT must first be </a:t>
            </a:r>
            <a:r>
              <a:rPr lang="en-US" b="1" dirty="0">
                <a:hlinkClick r:id="rId2"/>
              </a:rPr>
              <a:t>tokenized</a:t>
            </a:r>
            <a:endParaRPr lang="en-US" b="1" dirty="0"/>
          </a:p>
          <a:p>
            <a:r>
              <a:rPr lang="en-US" dirty="0"/>
              <a:t>Tokenization can be done at the word level</a:t>
            </a:r>
          </a:p>
          <a:p>
            <a:r>
              <a:rPr lang="en-US" dirty="0"/>
              <a:t>Tokenization can be done at the sentence or phrase level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A90412-7D1A-DC9F-F957-411DD7B7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07ACD-7946-0EF4-5B42-76542FD668AF}"/>
              </a:ext>
            </a:extLst>
          </p:cNvPr>
          <p:cNvSpPr txBox="1"/>
          <p:nvPr/>
        </p:nvSpPr>
        <p:spPr>
          <a:xfrm>
            <a:off x="7181707" y="6423951"/>
            <a:ext cx="48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Example from Kagel example notebook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BA12B-A850-53B3-F34F-435466B4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23" y="1152354"/>
            <a:ext cx="6214110" cy="905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F8EB7-94F2-FE4C-A30D-79B2F202A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467" y="2106688"/>
            <a:ext cx="6214111" cy="290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467504-3691-DE92-CE46-554BB5106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112" y="5126356"/>
            <a:ext cx="6144820" cy="13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6E46-67AB-79C6-6FA6-017DD1D9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AC77-4BF2-77A9-2A07-E469FFC7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593"/>
            <a:ext cx="10515600" cy="2942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Tokenization can be performed at many levels</a:t>
            </a:r>
          </a:p>
          <a:p>
            <a:r>
              <a:rPr lang="en-US" dirty="0"/>
              <a:t>Models like BERT do not simply use tokenized words and sentences  </a:t>
            </a:r>
          </a:p>
          <a:p>
            <a:r>
              <a:rPr lang="en-US" dirty="0"/>
              <a:t>Sub-word tokenization is used. </a:t>
            </a:r>
          </a:p>
          <a:p>
            <a:r>
              <a:rPr lang="en-US" dirty="0"/>
              <a:t>Example of the result shows both words, parts of words and other general tokes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643275-5279-20C7-C263-D817AF27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71314-C144-068F-F58D-231CD2534E77}"/>
              </a:ext>
            </a:extLst>
          </p:cNvPr>
          <p:cNvSpPr txBox="1"/>
          <p:nvPr/>
        </p:nvSpPr>
        <p:spPr>
          <a:xfrm>
            <a:off x="2521008" y="5362048"/>
            <a:ext cx="633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Example from TensorFlow </a:t>
            </a:r>
            <a:r>
              <a:rPr lang="en-US" dirty="0" err="1">
                <a:hlinkClick r:id="rId2"/>
              </a:rPr>
              <a:t>Subword</a:t>
            </a:r>
            <a:r>
              <a:rPr lang="en-US" dirty="0">
                <a:hlinkClick r:id="rId2"/>
              </a:rPr>
              <a:t> Tokenizer Documentation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E63E18-20A8-2115-6D28-58D3C348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74" y="3722974"/>
            <a:ext cx="10063652" cy="1384995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['[PAD]', '[UNK]', '[START]', '[END]', '!', '#', '$', '%', '&amp;', “’”]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['as', 'all', 'at', 'one’,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people', 're', 'like', 'if', 'our', 'from’]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['choose', 'consider', 'extraordinary', 'focus', 'generation’,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killed’,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'patterns', 'putting', 'scientific', 'wait’]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['##_', '##`',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'##–', '##—', '##’', '##♪', '##♫']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37A3-49F9-853D-776F-BE6E4E27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D6E1-2DB2-E392-97CD-1D28356E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52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token embedding has three components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305EB3-B1CA-A6C2-E62A-1A6AAE5F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F867A-156D-D61C-8FD6-BDB8E17CA2D5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20537B-2668-A967-B76C-6A8D7D40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766" y="3568727"/>
            <a:ext cx="6816893" cy="175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8FA411-3021-C154-F30C-D266661A5D9D}"/>
              </a:ext>
            </a:extLst>
          </p:cNvPr>
          <p:cNvSpPr txBox="1">
            <a:spLocks/>
          </p:cNvSpPr>
          <p:nvPr/>
        </p:nvSpPr>
        <p:spPr>
          <a:xfrm>
            <a:off x="436245" y="2537460"/>
            <a:ext cx="4752975" cy="38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Input strings with separators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token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Positional embeddings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Segment embeddings </a:t>
            </a:r>
          </a:p>
          <a:p>
            <a:pPr marL="0" indent="0">
              <a:buNone/>
            </a:pPr>
            <a:r>
              <a:rPr lang="en-US" dirty="0"/>
              <a:t>To capture semantics, BERT processes tokes both left to right and right to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C658CF-C7CF-4A00-E4D8-BE63394A1BC9}"/>
              </a:ext>
            </a:extLst>
          </p:cNvPr>
          <p:cNvCxnSpPr>
            <a:cxnSpLocks/>
          </p:cNvCxnSpPr>
          <p:nvPr/>
        </p:nvCxnSpPr>
        <p:spPr>
          <a:xfrm>
            <a:off x="3779520" y="3009207"/>
            <a:ext cx="2266604" cy="7259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81CC5-CEE1-93A9-85B5-7A7BE6A7A492}"/>
              </a:ext>
            </a:extLst>
          </p:cNvPr>
          <p:cNvCxnSpPr>
            <a:cxnSpLocks/>
          </p:cNvCxnSpPr>
          <p:nvPr/>
        </p:nvCxnSpPr>
        <p:spPr>
          <a:xfrm>
            <a:off x="4300451" y="3652058"/>
            <a:ext cx="1108364" cy="5652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D6BC01-37CC-EC70-4AC3-FBF6255725AA}"/>
              </a:ext>
            </a:extLst>
          </p:cNvPr>
          <p:cNvCxnSpPr>
            <a:cxnSpLocks/>
          </p:cNvCxnSpPr>
          <p:nvPr/>
        </p:nvCxnSpPr>
        <p:spPr>
          <a:xfrm>
            <a:off x="4389120" y="4261658"/>
            <a:ext cx="932646" cy="3990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3D3A02-5B75-7D8A-9E3D-34ED7E57C49F}"/>
              </a:ext>
            </a:extLst>
          </p:cNvPr>
          <p:cNvCxnSpPr>
            <a:cxnSpLocks/>
          </p:cNvCxnSpPr>
          <p:nvPr/>
        </p:nvCxnSpPr>
        <p:spPr>
          <a:xfrm>
            <a:off x="4300451" y="4738255"/>
            <a:ext cx="814647" cy="3713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D629-F954-EF54-B591-189F8A0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07DE-B451-7D32-2BE8-C32BC13A0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002128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models output embedding vectors from input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A44E9D-1C6D-9194-AD4A-692B5C37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95D941-0CA8-5141-149A-026EF0A1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14" y="2907829"/>
            <a:ext cx="8835266" cy="329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9D8C4-46E9-DB5A-D0D3-76653A92B4EE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30E0C-08A2-3B7E-70F7-CC2056C4F3EE}"/>
              </a:ext>
            </a:extLst>
          </p:cNvPr>
          <p:cNvSpPr txBox="1"/>
          <p:nvPr/>
        </p:nvSpPr>
        <p:spPr>
          <a:xfrm>
            <a:off x="405784" y="3166243"/>
            <a:ext cx="2970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BERT encoder processes tokens in multiple transformer layers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F6FB6-04B6-2502-30DA-D4C58986A416}"/>
              </a:ext>
            </a:extLst>
          </p:cNvPr>
          <p:cNvSpPr txBox="1"/>
          <p:nvPr/>
        </p:nvSpPr>
        <p:spPr>
          <a:xfrm>
            <a:off x="246717" y="4819015"/>
            <a:ext cx="3033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Input IDs (keys) and embedded tokens (values) are bidirectionally processed by the BERT algorithm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EEC8-3CB6-DE1E-4662-0F1B984670E8}"/>
              </a:ext>
            </a:extLst>
          </p:cNvPr>
          <p:cNvSpPr txBox="1"/>
          <p:nvPr/>
        </p:nvSpPr>
        <p:spPr>
          <a:xfrm>
            <a:off x="1330662" y="2052419"/>
            <a:ext cx="3624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The final hidden state is the full token embeddings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B1E42-CB46-31BB-EF56-0A605518E6CE}"/>
              </a:ext>
            </a:extLst>
          </p:cNvPr>
          <p:cNvSpPr txBox="1"/>
          <p:nvPr/>
        </p:nvSpPr>
        <p:spPr>
          <a:xfrm>
            <a:off x="7052310" y="2012285"/>
            <a:ext cx="4719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Embedding vector for input text is created from the final hidden state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252E78-B6C9-CD09-99EB-47B95D49FC72}"/>
              </a:ext>
            </a:extLst>
          </p:cNvPr>
          <p:cNvCxnSpPr>
            <a:cxnSpLocks/>
          </p:cNvCxnSpPr>
          <p:nvPr/>
        </p:nvCxnSpPr>
        <p:spPr>
          <a:xfrm flipV="1">
            <a:off x="2863215" y="5640705"/>
            <a:ext cx="714375" cy="21516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623DBA-1F2D-A7E3-0AE2-9E3CA3D290FD}"/>
              </a:ext>
            </a:extLst>
          </p:cNvPr>
          <p:cNvCxnSpPr>
            <a:cxnSpLocks/>
          </p:cNvCxnSpPr>
          <p:nvPr/>
        </p:nvCxnSpPr>
        <p:spPr>
          <a:xfrm>
            <a:off x="2908935" y="5855872"/>
            <a:ext cx="891540" cy="2077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CB191-0D33-E263-C2A5-DFCB9C5524D3}"/>
              </a:ext>
            </a:extLst>
          </p:cNvPr>
          <p:cNvCxnSpPr>
            <a:cxnSpLocks/>
          </p:cNvCxnSpPr>
          <p:nvPr/>
        </p:nvCxnSpPr>
        <p:spPr>
          <a:xfrm>
            <a:off x="2489835" y="4274149"/>
            <a:ext cx="1773555" cy="6471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862B4-C488-AC7D-F8C4-79E90130FCD9}"/>
              </a:ext>
            </a:extLst>
          </p:cNvPr>
          <p:cNvCxnSpPr>
            <a:cxnSpLocks/>
          </p:cNvCxnSpPr>
          <p:nvPr/>
        </p:nvCxnSpPr>
        <p:spPr>
          <a:xfrm>
            <a:off x="3577590" y="2828990"/>
            <a:ext cx="2114550" cy="110292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C54F6A-6240-F0DB-92D1-E84FE531EDF0}"/>
              </a:ext>
            </a:extLst>
          </p:cNvPr>
          <p:cNvCxnSpPr>
            <a:cxnSpLocks/>
          </p:cNvCxnSpPr>
          <p:nvPr/>
        </p:nvCxnSpPr>
        <p:spPr>
          <a:xfrm>
            <a:off x="9824085" y="2653070"/>
            <a:ext cx="1037253" cy="46732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627D-B11B-C878-5A93-9D7D6144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9B79-9825-1CC2-9BE8-B0E686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transformer layers use bidirectional attention to compute embeddings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2A5B7-C232-BFB4-F776-5B40BB20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CE6D8-6AAA-8B39-887C-B929A8CCF85A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5CA6B2-47DB-D693-2AE8-6EBB69F72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234" y="2772022"/>
            <a:ext cx="7798077" cy="371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09196-A37F-1956-0A74-0B03BB369135}"/>
              </a:ext>
            </a:extLst>
          </p:cNvPr>
          <p:cNvSpPr txBox="1"/>
          <p:nvPr/>
        </p:nvSpPr>
        <p:spPr>
          <a:xfrm>
            <a:off x="210335" y="2088601"/>
            <a:ext cx="5491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hidden state is based on attention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20C082-E49B-51F0-DCC2-D036C85935D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956001" y="2488711"/>
            <a:ext cx="1473124" cy="3630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A4B5AE-B967-F96A-7F7F-7DC48864269F}"/>
              </a:ext>
            </a:extLst>
          </p:cNvPr>
          <p:cNvSpPr txBox="1"/>
          <p:nvPr/>
        </p:nvSpPr>
        <p:spPr>
          <a:xfrm>
            <a:off x="6096000" y="1965036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Transformers compute bidirectional </a:t>
            </a:r>
            <a:r>
              <a:rPr lang="en-US" sz="2000" b="1" dirty="0"/>
              <a:t>cross attention </a:t>
            </a:r>
            <a:r>
              <a:rPr lang="en-US" sz="2000" dirty="0"/>
              <a:t>between input tokens to capture semantics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448700-A2F1-E8B3-DF87-41B17FFD8ED2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035416" y="2672922"/>
            <a:ext cx="108584" cy="5331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8B01AD-7FB5-643C-3D4D-5500142A0D4F}"/>
              </a:ext>
            </a:extLst>
          </p:cNvPr>
          <p:cNvSpPr txBox="1"/>
          <p:nvPr/>
        </p:nvSpPr>
        <p:spPr>
          <a:xfrm>
            <a:off x="210335" y="4081530"/>
            <a:ext cx="2452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Token embeddings are input to transformer encoder layers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CF47A-93F9-5664-3797-31CC038BAD8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436763" y="5712746"/>
            <a:ext cx="1455027" cy="3851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8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CFE6-17D6-E8B7-86B4-D01C8A7E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5886-D2C7-14A1-3CF9-AFE4B563D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</a:t>
            </a:r>
            <a:r>
              <a:rPr lang="en-US" b="1" dirty="0"/>
              <a:t>self-supervised learning </a:t>
            </a:r>
            <a:r>
              <a:rPr lang="en-US" dirty="0"/>
              <a:t>with two simultaneous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Masked language model (MLM) learns to predict masked (missing) tokens </a:t>
            </a:r>
          </a:p>
          <a:p>
            <a:pPr lvl="1"/>
            <a:r>
              <a:rPr lang="en-US" dirty="0"/>
              <a:t>A randomly sampled fraction of tokens are masked at the input  </a:t>
            </a:r>
          </a:p>
          <a:p>
            <a:pPr lvl="1"/>
            <a:r>
              <a:rPr lang="en-US" dirty="0"/>
              <a:t>The loss function measures how well the model predicts the missing tokens </a:t>
            </a:r>
          </a:p>
          <a:p>
            <a:pPr lvl="1"/>
            <a:r>
              <a:rPr lang="en-US" dirty="0"/>
              <a:t>To ensure diversity, random tokens are used to compute the loss function about 10% of the 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 sentence prediction learns to generate next sentence in a sequence </a:t>
            </a:r>
          </a:p>
          <a:p>
            <a:pPr lvl="1"/>
            <a:r>
              <a:rPr lang="en-US" dirty="0"/>
              <a:t>Loss function based on prediction if next sentence is the correct one</a:t>
            </a:r>
          </a:p>
          <a:p>
            <a:pPr lvl="1"/>
            <a:r>
              <a:rPr lang="en-US" dirty="0"/>
              <a:t>Random sentences are substituted to create the negative cases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EBDA64-BEF4-A30C-D517-B6823F58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4914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1E88-BEED-7202-73ED-787A305B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A209-F972-20BB-D07C-799C2761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MLM as </a:t>
            </a:r>
            <a:r>
              <a:rPr lang="en-US" b="1" dirty="0"/>
              <a:t>self-supervised learning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C7444-DCB8-D7F0-4E05-EF215FE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84818F-CB57-540A-88EE-72DE8F8B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0" y="2028826"/>
            <a:ext cx="7885055" cy="408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51930-978B-2217-9623-48442588CA73}"/>
              </a:ext>
            </a:extLst>
          </p:cNvPr>
          <p:cNvSpPr txBox="1"/>
          <p:nvPr/>
        </p:nvSpPr>
        <p:spPr>
          <a:xfrm>
            <a:off x="7154657" y="634260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14A5E-2BDB-EA10-1DE1-E39B68CA567E}"/>
              </a:ext>
            </a:extLst>
          </p:cNvPr>
          <p:cNvSpPr txBox="1"/>
          <p:nvPr/>
        </p:nvSpPr>
        <p:spPr>
          <a:xfrm>
            <a:off x="130506" y="563471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Start with the full input sequence of tokens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8933FF-4DFF-7474-976A-A8F903B7C43E}"/>
              </a:ext>
            </a:extLst>
          </p:cNvPr>
          <p:cNvCxnSpPr>
            <a:cxnSpLocks/>
          </p:cNvCxnSpPr>
          <p:nvPr/>
        </p:nvCxnSpPr>
        <p:spPr>
          <a:xfrm flipV="1">
            <a:off x="3120390" y="5812155"/>
            <a:ext cx="1725930" cy="2171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6FAA93-A51E-4A8B-C853-FC69A94BD55B}"/>
              </a:ext>
            </a:extLst>
          </p:cNvPr>
          <p:cNvSpPr txBox="1"/>
          <p:nvPr/>
        </p:nvSpPr>
        <p:spPr>
          <a:xfrm>
            <a:off x="260046" y="466160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Random input tokens are masked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6EE1BB-00AF-9623-92E9-7CA96100DA51}"/>
              </a:ext>
            </a:extLst>
          </p:cNvPr>
          <p:cNvCxnSpPr>
            <a:cxnSpLocks/>
          </p:cNvCxnSpPr>
          <p:nvPr/>
        </p:nvCxnSpPr>
        <p:spPr>
          <a:xfrm>
            <a:off x="3474720" y="4991921"/>
            <a:ext cx="701720" cy="2258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246370-7701-5F8C-D630-0142DC053B4B}"/>
              </a:ext>
            </a:extLst>
          </p:cNvPr>
          <p:cNvSpPr txBox="1"/>
          <p:nvPr/>
        </p:nvSpPr>
        <p:spPr>
          <a:xfrm>
            <a:off x="1115391" y="2191433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 vector is used to predict missing tokens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BB74A7-48AA-4B61-6002-263CB4564852}"/>
              </a:ext>
            </a:extLst>
          </p:cNvPr>
          <p:cNvCxnSpPr>
            <a:cxnSpLocks/>
          </p:cNvCxnSpPr>
          <p:nvPr/>
        </p:nvCxnSpPr>
        <p:spPr>
          <a:xfrm flipV="1">
            <a:off x="4754880" y="2251710"/>
            <a:ext cx="3617595" cy="2932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1ADF5B-D74C-2B37-F19B-C35AF2E44DA2}"/>
              </a:ext>
            </a:extLst>
          </p:cNvPr>
          <p:cNvCxnSpPr>
            <a:cxnSpLocks/>
          </p:cNvCxnSpPr>
          <p:nvPr/>
        </p:nvCxnSpPr>
        <p:spPr>
          <a:xfrm>
            <a:off x="4754880" y="2544985"/>
            <a:ext cx="3617595" cy="68035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CA8F-3B9F-5F80-C3C3-F1FA8561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795-48AE-70F1-4A83-6E62F880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Reranking</a:t>
            </a:r>
          </a:p>
        </p:txBody>
      </p:sp>
    </p:spTree>
    <p:extLst>
      <p:ext uri="{BB962C8B-B14F-4D97-AF65-F5344CB8AC3E}">
        <p14:creationId xmlns:p14="http://schemas.microsoft.com/office/powerpoint/2010/main" val="1560824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CFBB-8869-1467-E003-BE8B9C9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44A4-EC75-E602-3B76-4536C036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ANNS on embeddings produces only approximate rankings </a:t>
            </a:r>
          </a:p>
          <a:p>
            <a:r>
              <a:rPr lang="en-US" dirty="0"/>
              <a:t>Reranking aims to improve approximate rankings   </a:t>
            </a:r>
          </a:p>
          <a:p>
            <a:r>
              <a:rPr lang="en-US" dirty="0"/>
              <a:t>Reranking is performed on a larger number of approximately ranked items</a:t>
            </a:r>
          </a:p>
          <a:p>
            <a:r>
              <a:rPr lang="en-US" dirty="0"/>
              <a:t>Reranking uses slower more accurate algorithms    </a:t>
            </a:r>
          </a:p>
          <a:p>
            <a:pPr lvl="1"/>
            <a:r>
              <a:rPr lang="en-US" dirty="0"/>
              <a:t>BM25 – slow tokenization on large corpus </a:t>
            </a:r>
          </a:p>
          <a:p>
            <a:pPr lvl="1"/>
            <a:r>
              <a:rPr lang="en-US" dirty="0"/>
              <a:t>Cross-encoders for dense embedding</a:t>
            </a:r>
          </a:p>
          <a:p>
            <a:pPr lvl="1"/>
            <a:r>
              <a:rPr lang="en-US" dirty="0"/>
              <a:t>Hybrid dense-sparse pipelines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86AACA-8417-0595-2EAE-18BAAA1D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1733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1FAB-3497-C01C-FC3F-410E5143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B00C-51B1-495A-2D3B-425875C9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Cross encoding improves ranking </a:t>
            </a:r>
          </a:p>
          <a:p>
            <a:r>
              <a:rPr lang="en-US" dirty="0"/>
              <a:t>Dense embeddings of single text string do not account for similarity with any other strings   </a:t>
            </a:r>
          </a:p>
          <a:p>
            <a:r>
              <a:rPr lang="en-US" b="1" dirty="0"/>
              <a:t>Cross-encoders score similarity between specific pairs </a:t>
            </a:r>
            <a:r>
              <a:rPr lang="en-US" dirty="0"/>
              <a:t>of text strings </a:t>
            </a:r>
          </a:p>
          <a:p>
            <a:pPr lvl="1"/>
            <a:r>
              <a:rPr lang="en-US" dirty="0"/>
              <a:t>Cross-encoding uses attention (context) from both strings </a:t>
            </a:r>
          </a:p>
          <a:p>
            <a:pPr lvl="1"/>
            <a:r>
              <a:rPr lang="en-US" dirty="0"/>
              <a:t>More accurate result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A3E334-E3BC-FF6E-6A9A-FADF18A1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39442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BE69-03EA-343C-EAE7-C467C9C3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Cross encoding improves ranking </a:t>
                </a:r>
              </a:p>
              <a:p>
                <a:r>
                  <a:rPr lang="en-US" b="1" dirty="0"/>
                  <a:t>Cross-encoders score similarity between specific pairs </a:t>
                </a:r>
                <a:r>
                  <a:rPr lang="en-US" dirty="0"/>
                  <a:t>of text strings </a:t>
                </a:r>
              </a:p>
              <a:p>
                <a:r>
                  <a:rPr lang="en-US" dirty="0"/>
                  <a:t>Cross-encoding is inherently slow   </a:t>
                </a:r>
              </a:p>
              <a:p>
                <a:pPr lvl="1"/>
                <a:r>
                  <a:rPr lang="en-US" dirty="0"/>
                  <a:t>Cross-encode all pairwise combinations,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complexity </a:t>
                </a:r>
              </a:p>
              <a:p>
                <a:pPr lvl="1"/>
                <a:r>
                  <a:rPr lang="en-US" dirty="0"/>
                  <a:t>Further, </a:t>
                </a:r>
                <a:r>
                  <a:rPr lang="en-US" b="1" dirty="0"/>
                  <a:t>cross attention </a:t>
                </a:r>
                <a:r>
                  <a:rPr lang="en-US" dirty="0"/>
                  <a:t>calculation slow     </a:t>
                </a:r>
              </a:p>
              <a:p>
                <a:r>
                  <a:rPr lang="en-US" dirty="0"/>
                  <a:t>Solution; </a:t>
                </a:r>
                <a:r>
                  <a:rPr lang="en-US" b="1" dirty="0"/>
                  <a:t>pipeline!  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Large scale ANN search - </a:t>
                </a:r>
                <a:r>
                  <a:rPr lang="en-US" b="1" dirty="0"/>
                  <a:t>ranker</a:t>
                </a:r>
                <a:r>
                  <a:rPr lang="en-US" dirty="0"/>
                  <a:t>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Find top </a:t>
                </a:r>
                <a:r>
                  <a:rPr lang="en-US" i="1" dirty="0"/>
                  <a:t>k</a:t>
                </a:r>
                <a:r>
                  <a:rPr lang="en-US" dirty="0"/>
                  <a:t> ranks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/>
                  <a:t>Rerank</a:t>
                </a:r>
                <a:r>
                  <a:rPr lang="en-US" dirty="0"/>
                  <a:t> top </a:t>
                </a:r>
                <a:r>
                  <a:rPr lang="en-US" i="1" dirty="0"/>
                  <a:t>k </a:t>
                </a:r>
                <a:r>
                  <a:rPr lang="en-US" dirty="0"/>
                  <a:t>with cross-encoder – </a:t>
                </a:r>
                <a:r>
                  <a:rPr lang="en-US" b="1" dirty="0"/>
                  <a:t>receiver</a:t>
                </a:r>
                <a:r>
                  <a:rPr lang="en-US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Return top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Many cross-encoder algorithms available </a:t>
                </a:r>
              </a:p>
              <a:p>
                <a:pPr lvl="1"/>
                <a:r>
                  <a:rPr lang="en-US" dirty="0"/>
                  <a:t>Example: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currently lists 31 cross-encoder models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  <a:blipFill>
                <a:blip r:embed="rId3"/>
                <a:stretch>
                  <a:fillRect l="-1217" t="-257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EBCCDAE-6F2E-304D-6A41-CBFAFE28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56636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2927-4467-996A-B3D2-DB264BC2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D206AA-D3F9-8756-CC8E-04364C09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27" y="3011806"/>
            <a:ext cx="7466954" cy="33245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280F-1F5D-BF9E-3A53-FA748D38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713"/>
            <a:ext cx="10688955" cy="750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Sentence BERT </a:t>
            </a:r>
            <a:r>
              <a:rPr lang="en-US" dirty="0"/>
              <a:t>accurately score similarity between text strings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ED2166-A8FD-FA4C-F1B5-38FBBC0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Reranking with Sentence BERT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693A2-9F63-C4B4-ACF1-8A18C3467DD1}"/>
              </a:ext>
            </a:extLst>
          </p:cNvPr>
          <p:cNvSpPr txBox="1"/>
          <p:nvPr/>
        </p:nvSpPr>
        <p:spPr>
          <a:xfrm>
            <a:off x="2980204" y="6336341"/>
            <a:ext cx="57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</a:t>
            </a:r>
            <a:r>
              <a:rPr lang="en-US" dirty="0" err="1">
                <a:hlinkClick r:id="rId3"/>
              </a:rPr>
              <a:t>Pincone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Rerankers</a:t>
            </a:r>
            <a:r>
              <a:rPr lang="en-US" dirty="0">
                <a:hlinkClick r:id="rId3"/>
              </a:rPr>
              <a:t> and Two-Stage Retrieval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815E2-67EC-034A-CEFA-90FCF39DC39B}"/>
              </a:ext>
            </a:extLst>
          </p:cNvPr>
          <p:cNvSpPr txBox="1"/>
          <p:nvPr/>
        </p:nvSpPr>
        <p:spPr>
          <a:xfrm>
            <a:off x="4184790" y="1861217"/>
            <a:ext cx="3456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Inputs are query and candidate document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BB8A49-B33D-F1A7-E760-FACEEF1CCFB2}"/>
              </a:ext>
            </a:extLst>
          </p:cNvPr>
          <p:cNvCxnSpPr>
            <a:cxnSpLocks/>
          </p:cNvCxnSpPr>
          <p:nvPr/>
        </p:nvCxnSpPr>
        <p:spPr>
          <a:xfrm>
            <a:off x="6000789" y="2692216"/>
            <a:ext cx="1308696" cy="46246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191F57-87E7-3B35-833E-FD0C7A92E069}"/>
              </a:ext>
            </a:extLst>
          </p:cNvPr>
          <p:cNvSpPr txBox="1"/>
          <p:nvPr/>
        </p:nvSpPr>
        <p:spPr>
          <a:xfrm>
            <a:off x="8191005" y="4576044"/>
            <a:ext cx="380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Transformer layers process both documents </a:t>
            </a:r>
            <a:r>
              <a:rPr lang="en-US" sz="2400" b="1" dirty="0"/>
              <a:t>bi-directionally</a:t>
            </a:r>
            <a:r>
              <a:rPr lang="en-US" sz="2400" dirty="0"/>
              <a:t> and simultaneously</a:t>
            </a:r>
            <a:endParaRPr 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4240A-82F9-81D8-B614-6DFAF481A0BC}"/>
              </a:ext>
            </a:extLst>
          </p:cNvPr>
          <p:cNvCxnSpPr>
            <a:cxnSpLocks/>
          </p:cNvCxnSpPr>
          <p:nvPr/>
        </p:nvCxnSpPr>
        <p:spPr>
          <a:xfrm flipH="1">
            <a:off x="7178040" y="4874895"/>
            <a:ext cx="101296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6E4189-BF42-12F8-6DB7-9EF64047AAF0}"/>
              </a:ext>
            </a:extLst>
          </p:cNvPr>
          <p:cNvSpPr txBox="1"/>
          <p:nvPr/>
        </p:nvSpPr>
        <p:spPr>
          <a:xfrm>
            <a:off x="348615" y="52399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Cross-attention </a:t>
            </a:r>
            <a:r>
              <a:rPr lang="en-US" sz="2400" dirty="0"/>
              <a:t>Similarity 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C6A6E0-706E-5977-1738-E40FA9075B51}"/>
              </a:ext>
            </a:extLst>
          </p:cNvPr>
          <p:cNvCxnSpPr>
            <a:cxnSpLocks/>
          </p:cNvCxnSpPr>
          <p:nvPr/>
        </p:nvCxnSpPr>
        <p:spPr>
          <a:xfrm>
            <a:off x="3742834" y="5747287"/>
            <a:ext cx="1389236" cy="21353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BF051-5AED-6DF9-C26E-DCC42055FE2B}"/>
              </a:ext>
            </a:extLst>
          </p:cNvPr>
          <p:cNvCxnSpPr>
            <a:cxnSpLocks/>
          </p:cNvCxnSpPr>
          <p:nvPr/>
        </p:nvCxnSpPr>
        <p:spPr>
          <a:xfrm flipH="1">
            <a:off x="4120515" y="2692215"/>
            <a:ext cx="1880274" cy="5134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8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C2BE-8269-04D6-701A-EACEB335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AF0-EDAF-C364-AD20-02FEF8D1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Sparse-Dense Retriever Receiver Pipelines</a:t>
            </a:r>
          </a:p>
        </p:txBody>
      </p:sp>
    </p:spTree>
    <p:extLst>
      <p:ext uri="{BB962C8B-B14F-4D97-AF65-F5344CB8AC3E}">
        <p14:creationId xmlns:p14="http://schemas.microsoft.com/office/powerpoint/2010/main" val="37065842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Sparse-Dense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Generally, we can improve performance of vector search concatenating sparse and dense searches </a:t>
            </a:r>
          </a:p>
          <a:p>
            <a:r>
              <a:rPr lang="en-US" dirty="0">
                <a:latin typeface="+mn-lt"/>
              </a:rPr>
              <a:t>Known as </a:t>
            </a:r>
            <a:r>
              <a:rPr lang="en-US" b="1" dirty="0">
                <a:latin typeface="+mn-lt"/>
              </a:rPr>
              <a:t>retriever (ranker) receiver (</a:t>
            </a:r>
            <a:r>
              <a:rPr lang="en-US" b="1" dirty="0" err="1">
                <a:latin typeface="+mn-lt"/>
              </a:rPr>
              <a:t>reranker</a:t>
            </a:r>
            <a:r>
              <a:rPr lang="en-US" b="1" dirty="0">
                <a:latin typeface="+mn-lt"/>
              </a:rPr>
              <a:t>) </a:t>
            </a:r>
            <a:r>
              <a:rPr lang="en-US" dirty="0">
                <a:latin typeface="+mn-lt"/>
              </a:rPr>
              <a:t>model   </a:t>
            </a:r>
          </a:p>
          <a:p>
            <a:r>
              <a:rPr lang="en-US" dirty="0">
                <a:latin typeface="+mn-lt"/>
              </a:rPr>
              <a:t>Retriever finds candidate list of near neighbors</a:t>
            </a:r>
          </a:p>
          <a:p>
            <a:r>
              <a:rPr lang="en-US" dirty="0">
                <a:latin typeface="+mn-lt"/>
              </a:rPr>
              <a:t>Receiver performs an high-accuracy search to improve ranking </a:t>
            </a:r>
          </a:p>
          <a:p>
            <a:r>
              <a:rPr lang="en-US" dirty="0">
                <a:latin typeface="+mn-lt"/>
              </a:rPr>
              <a:t>Choice of retriever and receiver algorithms on different operating points in the trade-off space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You can find an overview of retriever receiver model in </a:t>
            </a:r>
            <a:r>
              <a:rPr lang="en-US" sz="2000" dirty="0">
                <a:latin typeface="+mn-lt"/>
                <a:hlinkClick r:id="rId3"/>
              </a:rPr>
              <a:t>this post </a:t>
            </a:r>
            <a:endParaRPr lang="en-US" sz="2000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241B-924E-B48F-B460-9CE668D9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AD42-DAD5-4725-1403-878184EF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E21D285A-AA81-2874-6A31-2D7742CD17C7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254820-8DED-025F-488E-1D3F8A5AA4FD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E802C-66D0-0B39-6A0C-B55A2720EF0E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6E9696-0EE4-0CD9-4A16-84BCFB30630C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02177B-7C15-D713-2C11-3DA7DDDF2494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9BAB36B-7A81-FA08-5673-890D19087D8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D5F49486-F71E-0BD6-58D7-44DFB76186C0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E915D33-7457-6A08-AF80-2F19EDD8793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0D7E087-32A3-0AE6-4095-D061FA77B832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EF7EE66-53C2-A1E7-27CD-7F11430B620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67D4A1B-5D91-EC3A-1DE6-DE7D52FBF86B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Receiver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8A7D030-459E-179A-D05C-4320E2726E5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DDDB73-1AB4-F60F-CEE4-E647B14823A0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D8C90C4E-3DFE-7440-0183-398428CCFBBD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A9C8EA9-9FCA-916C-AF5D-809909A6AF4A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147B-7F19-3236-8F45-2B0C858E2592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F1497A-CEFE-3212-4668-AAB1FFCF3A3D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2BAECD-BB43-65DC-7657-10733FC86F71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BC3408-E57A-0168-157A-18DB30660C57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FAEFCBF-DD47-8526-D325-4E66F8529942}"/>
              </a:ext>
            </a:extLst>
          </p:cNvPr>
          <p:cNvSpPr txBox="1"/>
          <p:nvPr/>
        </p:nvSpPr>
        <p:spPr>
          <a:xfrm>
            <a:off x="1858198" y="2356503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Retriever crease list of candidates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B72E2-DA4B-B6C7-AFA6-6C1477AD41C4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187500"/>
            <a:ext cx="1142563" cy="1826247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D7374B-187F-A3A1-0F08-BA5017396965}"/>
              </a:ext>
            </a:extLst>
          </p:cNvPr>
          <p:cNvSpPr txBox="1"/>
          <p:nvPr/>
        </p:nvSpPr>
        <p:spPr>
          <a:xfrm>
            <a:off x="7181159" y="2854906"/>
            <a:ext cx="433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Ranker improves result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802B12-ABCC-00A0-81D3-01798920461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3316571"/>
            <a:ext cx="1732951" cy="1621692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7E4CF1-6BE6-4D23-89E3-8739C1744B96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43B75A-75FC-E9D0-B1AF-37501BBFBC4E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884EF7-CDDB-08B6-D029-62C040AFE467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8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9C05-0B4F-C9DA-FC9C-C39DEFDD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B811-C53E-5CCE-958D-F3474DAB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 are several possibilities to create retriever-ranker pipelines  </a:t>
            </a:r>
          </a:p>
          <a:p>
            <a:r>
              <a:rPr lang="en-US" dirty="0"/>
              <a:t>Sparse vector retriever followed by cross encoder transformer model   </a:t>
            </a:r>
          </a:p>
          <a:p>
            <a:pPr lvl="1"/>
            <a:r>
              <a:rPr lang="en-US" dirty="0"/>
              <a:t>Sparse retriever creates filtered set of candidate documents based on keywords 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/>
              <a:t>Dense vector retriever followed by sparse vector receiver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/>
              <a:t>Sparse vector receiver filters and </a:t>
            </a:r>
            <a:r>
              <a:rPr lang="en-US" dirty="0" err="1"/>
              <a:t>reranks</a:t>
            </a:r>
            <a:r>
              <a:rPr lang="en-US" dirty="0"/>
              <a:t> candidate documents</a:t>
            </a:r>
          </a:p>
          <a:p>
            <a:r>
              <a:rPr lang="en-US" dirty="0"/>
              <a:t>Dense vector retriever followed by cross encoder transformer model  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7F9355-DC65-78D8-0E79-6909AB21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</p:spTree>
    <p:extLst>
      <p:ext uri="{BB962C8B-B14F-4D97-AF65-F5344CB8AC3E}">
        <p14:creationId xmlns:p14="http://schemas.microsoft.com/office/powerpoint/2010/main" val="16751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F0CE-8636-4A19-F77F-FDF9994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85C2-17CC-5CC3-EF45-954D10BAF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6005945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use sparse and dense models in parallel to improve reranking </a:t>
            </a:r>
          </a:p>
          <a:p>
            <a:r>
              <a:rPr lang="en-US" dirty="0"/>
              <a:t>Sparse and dense receivers are used in parallel   </a:t>
            </a:r>
          </a:p>
          <a:p>
            <a:r>
              <a:rPr lang="en-US" dirty="0"/>
              <a:t>Dense and sparse scores are </a:t>
            </a:r>
            <a:r>
              <a:rPr lang="en-US" b="1" dirty="0"/>
              <a:t>integrated</a:t>
            </a:r>
            <a:r>
              <a:rPr lang="en-US" dirty="0"/>
              <a:t> to optimize results </a:t>
            </a:r>
          </a:p>
          <a:p>
            <a:pPr lvl="1"/>
            <a:r>
              <a:rPr lang="en-US" dirty="0"/>
              <a:t>Integrate by simple weighted sum 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374435-0392-E24E-F7DE-F58575D4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Hybrid </a:t>
            </a:r>
            <a:r>
              <a:rPr lang="en-US" dirty="0" err="1">
                <a:latin typeface="+mn-lt"/>
              </a:rPr>
              <a:t>Reranker</a:t>
            </a:r>
            <a:endParaRPr lang="en-US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609A7-27B6-98C2-46D3-26B09DB5AA14}"/>
              </a:ext>
            </a:extLst>
          </p:cNvPr>
          <p:cNvSpPr/>
          <p:nvPr/>
        </p:nvSpPr>
        <p:spPr>
          <a:xfrm>
            <a:off x="8488868" y="1407624"/>
            <a:ext cx="2358172" cy="104030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Ranks from dense ranker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01D451-E0CC-905C-FF68-5280EC92DD85}"/>
              </a:ext>
            </a:extLst>
          </p:cNvPr>
          <p:cNvSpPr/>
          <p:nvPr/>
        </p:nvSpPr>
        <p:spPr>
          <a:xfrm>
            <a:off x="9830269" y="3123988"/>
            <a:ext cx="1994135" cy="1182004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Dense embedding 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F19911-1DCB-E298-862D-B9B712B516F8}"/>
              </a:ext>
            </a:extLst>
          </p:cNvPr>
          <p:cNvSpPr/>
          <p:nvPr/>
        </p:nvSpPr>
        <p:spPr>
          <a:xfrm>
            <a:off x="7491801" y="3123987"/>
            <a:ext cx="1994135" cy="1182005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Sparse embedding Receiver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491498-5B26-8DC4-B5AE-FAADD0977781}"/>
              </a:ext>
            </a:extLst>
          </p:cNvPr>
          <p:cNvSpPr/>
          <p:nvPr/>
        </p:nvSpPr>
        <p:spPr>
          <a:xfrm>
            <a:off x="8626092" y="5052142"/>
            <a:ext cx="2083723" cy="133757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Integrate scores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4B7E13-924F-6602-2140-3B86C5697844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8488869" y="2447928"/>
            <a:ext cx="1179085" cy="676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E0CABC-4340-6C40-16F8-625D5B492C3A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9667954" y="2447928"/>
            <a:ext cx="1159383" cy="676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8B4F7F-6128-156A-2298-8BB9FA9E83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488869" y="4305992"/>
            <a:ext cx="1179085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98D381-A355-28EB-35CB-27F04345726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9667954" y="4305992"/>
            <a:ext cx="1159383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82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562-EEE9-3DCD-B693-2968FB34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C981-27CD-6C84-B6AB-046B44EB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Comparing retriever-ranker pipelines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BF00FB-E1A2-B4C4-1F2E-E0729151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61132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Hybrid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weighted improvement of hybrid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retriver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61132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61481" r="-363570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61481" r="-92629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160294" r="-363570" b="-2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62222" r="-363570" b="-16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50769" r="-363570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weighted improvement of hybrid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retriver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24388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1FB8-3CAC-AD70-8847-5A4CBCF6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EF80-C345-F027-BB42-47633E29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The Sparse Lexical and Expansion (SPLADE) model  </a:t>
            </a:r>
          </a:p>
        </p:txBody>
      </p:sp>
    </p:spTree>
    <p:extLst>
      <p:ext uri="{BB962C8B-B14F-4D97-AF65-F5344CB8AC3E}">
        <p14:creationId xmlns:p14="http://schemas.microsoft.com/office/powerpoint/2010/main" val="4183179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B2FF-07F2-BBDD-4FAF-37F86CEB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AF58-D2AD-B0FC-6D12-371CE1792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Older sparse embedding methods, TF-IDF and BM25, require exact word matches   </a:t>
            </a:r>
          </a:p>
          <a:p>
            <a:r>
              <a:rPr lang="en-US" dirty="0"/>
              <a:t>SPLADE models perform </a:t>
            </a:r>
            <a:r>
              <a:rPr lang="en-US" b="1" dirty="0"/>
              <a:t>sparse embedding </a:t>
            </a:r>
            <a:r>
              <a:rPr lang="en-US" dirty="0"/>
              <a:t>using </a:t>
            </a:r>
            <a:r>
              <a:rPr lang="en-US" b="1" dirty="0"/>
              <a:t>term expansion </a:t>
            </a:r>
          </a:p>
          <a:p>
            <a:pPr lvl="1"/>
            <a:r>
              <a:rPr lang="en-US" dirty="0"/>
              <a:t>Learn synonyms to terms in vocabulary </a:t>
            </a:r>
          </a:p>
          <a:p>
            <a:pPr lvl="1"/>
            <a:r>
              <a:rPr lang="en-US" dirty="0"/>
              <a:t>Match terms or synonyms</a:t>
            </a:r>
          </a:p>
          <a:p>
            <a:r>
              <a:rPr lang="en-US" dirty="0"/>
              <a:t>SPLADE models use term expansion to create </a:t>
            </a:r>
            <a:r>
              <a:rPr lang="en-US" b="1" dirty="0"/>
              <a:t>single stage </a:t>
            </a:r>
            <a:r>
              <a:rPr lang="en-US" b="1" dirty="0" err="1"/>
              <a:t>recievers</a:t>
            </a:r>
            <a:r>
              <a:rPr lang="en-US" b="1" dirty="0"/>
              <a:t> </a:t>
            </a:r>
            <a:r>
              <a:rPr lang="en-US" dirty="0"/>
              <a:t>with good recall </a:t>
            </a:r>
          </a:p>
          <a:p>
            <a:pPr marL="0" indent="0">
              <a:buNone/>
            </a:pPr>
            <a:r>
              <a:rPr lang="en-US" sz="2000" dirty="0"/>
              <a:t>The seminal papers on SPLADE algorithms are </a:t>
            </a:r>
            <a:r>
              <a:rPr lang="pl-PL" sz="2000" dirty="0">
                <a:hlinkClick r:id="rId2"/>
              </a:rPr>
              <a:t>Formal,</a:t>
            </a:r>
            <a:r>
              <a:rPr lang="en-US" sz="2000" dirty="0">
                <a:hlinkClick r:id="rId2"/>
              </a:rPr>
              <a:t> </a:t>
            </a:r>
            <a:r>
              <a:rPr lang="pl-PL" sz="2000" dirty="0">
                <a:hlinkClick r:id="rId2"/>
              </a:rPr>
              <a:t>Piwowarski, </a:t>
            </a:r>
            <a:r>
              <a:rPr lang="en-US" sz="2000" dirty="0">
                <a:hlinkClick r:id="rId2"/>
              </a:rPr>
              <a:t>and </a:t>
            </a:r>
            <a:r>
              <a:rPr lang="pl-PL" sz="2000" dirty="0">
                <a:hlinkClick r:id="rId2"/>
              </a:rPr>
              <a:t>Clinchant</a:t>
            </a:r>
            <a:r>
              <a:rPr lang="en-US" sz="2000" dirty="0">
                <a:hlinkClick r:id="rId2"/>
              </a:rPr>
              <a:t>, 2021</a:t>
            </a:r>
            <a:r>
              <a:rPr lang="en-US" sz="2000" dirty="0"/>
              <a:t> and </a:t>
            </a:r>
            <a:r>
              <a:rPr lang="en-US" sz="2000" dirty="0">
                <a:hlinkClick r:id="rId3"/>
              </a:rPr>
              <a:t>Formal, </a:t>
            </a:r>
            <a:r>
              <a:rPr lang="en-US" sz="2000" dirty="0" err="1">
                <a:hlinkClick r:id="rId3"/>
              </a:rPr>
              <a:t>Lassance</a:t>
            </a:r>
            <a:r>
              <a:rPr lang="en-US" sz="2000" dirty="0">
                <a:hlinkClick r:id="rId3"/>
              </a:rPr>
              <a:t>, Piwowarski, and </a:t>
            </a:r>
            <a:r>
              <a:rPr lang="en-US" sz="2000" dirty="0" err="1">
                <a:hlinkClick r:id="rId3"/>
              </a:rPr>
              <a:t>Clinchant</a:t>
            </a:r>
            <a:r>
              <a:rPr lang="en-US" sz="2000" dirty="0">
                <a:hlinkClick r:id="rId3"/>
              </a:rPr>
              <a:t>, 2021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78EC89-DB52-68F8-7A1C-ECC7761B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19593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5261-9D3D-F977-0765-42395529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9A46-E5AE-D0F4-E1BC-84B7383B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models perform term expansion so exact term match is not required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C08E2-D14C-FFDB-98D5-879D0DFC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83263-701D-E883-2872-E1A1EF2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" y="3021238"/>
            <a:ext cx="10064886" cy="3403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4398D-5004-3D4C-FEF1-1017890E3C7A}"/>
              </a:ext>
            </a:extLst>
          </p:cNvPr>
          <p:cNvSpPr txBox="1"/>
          <p:nvPr/>
        </p:nvSpPr>
        <p:spPr>
          <a:xfrm>
            <a:off x="3086911" y="6368610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Drawing from post by James Briggs of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012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FC9F-320B-F831-7714-E781FDC4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823B-6ADB-B576-F3C0-80C06841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200728" cy="5231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uses BERT with contrastive learning to find probabilities of alternative terms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45241C-3007-5608-61D8-90BB24B8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CC9D1-5575-773A-04E8-629142F93781}"/>
              </a:ext>
            </a:extLst>
          </p:cNvPr>
          <p:cNvSpPr txBox="1"/>
          <p:nvPr/>
        </p:nvSpPr>
        <p:spPr>
          <a:xfrm>
            <a:off x="6368375" y="6055032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Drawing from post by James Briggs of Pinecone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83332-D72A-77AE-197C-28C32FAD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37" y="1387812"/>
            <a:ext cx="6671192" cy="43831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2A0130-BB63-3C40-7F54-11A7343AABD8}"/>
              </a:ext>
            </a:extLst>
          </p:cNvPr>
          <p:cNvCxnSpPr>
            <a:cxnSpLocks/>
          </p:cNvCxnSpPr>
          <p:nvPr/>
        </p:nvCxnSpPr>
        <p:spPr>
          <a:xfrm flipV="1">
            <a:off x="4666211" y="2504902"/>
            <a:ext cx="2743200" cy="924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0563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06CE-F121-5206-FE51-76BAFFD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SPLADE model performance</a:t>
                </a:r>
              </a:p>
              <a:p>
                <a:r>
                  <a:rPr lang="en-US" dirty="0"/>
                  <a:t>Use of term expansion enables SPLADE models to produce higher recall compared to older models like BM25</a:t>
                </a:r>
              </a:p>
              <a:p>
                <a:r>
                  <a:rPr lang="en-US" dirty="0"/>
                  <a:t>SPLADE performs a linear scan of the corpus given a query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complexity</a:t>
                </a:r>
              </a:p>
              <a:p>
                <a:pPr lvl="1"/>
                <a:r>
                  <a:rPr lang="en-US" dirty="0"/>
                  <a:t>Slower calculation per document</a:t>
                </a:r>
              </a:p>
              <a:p>
                <a:r>
                  <a:rPr lang="en-US" dirty="0"/>
                  <a:t>Use of BERT model for term expansion for each query increases query time by a fixed constant</a:t>
                </a:r>
              </a:p>
              <a:p>
                <a:pPr lvl="1"/>
                <a:r>
                  <a:rPr lang="en-US" dirty="0"/>
                  <a:t>Perform term expansion once per query</a:t>
                </a:r>
              </a:p>
              <a:p>
                <a:r>
                  <a:rPr lang="en-US" dirty="0"/>
                  <a:t>SPADE is an effective model but not scalable to massive corpus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634DCC3-1775-09D1-C0B8-8D02D99A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43437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8DE5-95EA-6431-A18F-1D94D7B7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285-419C-C318-0340-383BED3C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Models for Image Embedding</a:t>
            </a:r>
          </a:p>
        </p:txBody>
      </p:sp>
    </p:spTree>
    <p:extLst>
      <p:ext uri="{BB962C8B-B14F-4D97-AF65-F5344CB8AC3E}">
        <p14:creationId xmlns:p14="http://schemas.microsoft.com/office/powerpoint/2010/main" val="688913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FD4F-4B28-50AF-F3B7-467956D6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8CF5-AE7F-A35E-5FF5-ADEE0488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Vector embeddings can be found for other data, not just natural language</a:t>
            </a:r>
          </a:p>
          <a:p>
            <a:r>
              <a:rPr lang="en-US" dirty="0"/>
              <a:t>Similar methods are used for videos, audio tracks, etc.</a:t>
            </a:r>
          </a:p>
          <a:p>
            <a:r>
              <a:rPr lang="en-US" dirty="0"/>
              <a:t>There are two commonly used methods to create embeddings for images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6BA1-81C4-8A49-2232-7E965A22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10081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24A2-AB9E-675E-A00B-ACD4E8B0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71E2-924A-388D-4854-3DF15340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commonly used methods to create embeddings for images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feature maps from convolutional neural networks or transformer networks    </a:t>
            </a:r>
          </a:p>
          <a:p>
            <a:pPr lvl="1"/>
            <a:r>
              <a:rPr lang="en-US" dirty="0"/>
              <a:t>Network pretrained </a:t>
            </a:r>
          </a:p>
          <a:p>
            <a:pPr lvl="1"/>
            <a:r>
              <a:rPr lang="en-US" dirty="0"/>
              <a:t>Flatten multi-dimensional feature map is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Contrastive language-image pre-training (CLIP) models </a:t>
            </a:r>
          </a:p>
          <a:p>
            <a:pPr lvl="1"/>
            <a:r>
              <a:rPr lang="en-US" dirty="0"/>
              <a:t>Model has both a text encoder and an image encoder  </a:t>
            </a:r>
          </a:p>
          <a:p>
            <a:pPr lvl="1"/>
            <a:r>
              <a:rPr lang="en-US" dirty="0"/>
              <a:t>Contrastive learning used to find embeddings for similarity between text query and image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288817-2F72-137B-39F8-8D665E0C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80892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6109-F91B-7FB7-E4E4-71D64B9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2724-41BB-288F-EEE8-E499F0DB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49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CBE795-70B7-0380-F7B4-5D5C9F69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0F71A58-6117-2A73-B7C3-536621711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A3E48-3684-3B3C-48AC-FFA5FA26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7" y="2133145"/>
            <a:ext cx="5619533" cy="4043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AAA6C-6F2D-137D-FA96-098A202CEAB3}"/>
              </a:ext>
            </a:extLst>
          </p:cNvPr>
          <p:cNvSpPr txBox="1"/>
          <p:nvPr/>
        </p:nvSpPr>
        <p:spPr>
          <a:xfrm>
            <a:off x="7410896" y="19816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Embedded text queries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C0FDE5-B679-43E1-D012-A40E2DD5713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505855" y="2397103"/>
            <a:ext cx="1905041" cy="19267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C8703C-624D-4210-1032-1A0C44179158}"/>
              </a:ext>
            </a:extLst>
          </p:cNvPr>
          <p:cNvSpPr txBox="1"/>
          <p:nvPr/>
        </p:nvSpPr>
        <p:spPr>
          <a:xfrm>
            <a:off x="7304783" y="5464148"/>
            <a:ext cx="469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Similarity scores computed between text and image embeddings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9A32BD-66C2-3E5C-7EAD-3290D33E40A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869021" y="5747288"/>
            <a:ext cx="1435762" cy="31702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3930AC-8A44-302E-E15D-05A3B86DFFD5}"/>
              </a:ext>
            </a:extLst>
          </p:cNvPr>
          <p:cNvSpPr txBox="1"/>
          <p:nvPr/>
        </p:nvSpPr>
        <p:spPr>
          <a:xfrm>
            <a:off x="7553567" y="381873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Embedded images from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72ED3F-1A19-96D0-970F-E4646497EF28}"/>
              </a:ext>
            </a:extLst>
          </p:cNvPr>
          <p:cNvCxnSpPr>
            <a:cxnSpLocks/>
          </p:cNvCxnSpPr>
          <p:nvPr/>
        </p:nvCxnSpPr>
        <p:spPr>
          <a:xfrm flipH="1">
            <a:off x="6310009" y="4410211"/>
            <a:ext cx="1310220" cy="68059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878FCF-CEC5-4918-988C-3CB7672E10F7}"/>
              </a:ext>
            </a:extLst>
          </p:cNvPr>
          <p:cNvSpPr txBox="1"/>
          <p:nvPr/>
        </p:nvSpPr>
        <p:spPr>
          <a:xfrm>
            <a:off x="1874196" y="6290553"/>
            <a:ext cx="35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Drawing from Radford, et. al.,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2CC0-C406-9CAC-71A7-E8CD0AF6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C2EB-6EDF-885B-28F1-8505FF37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The CLIP model was introduced by </a:t>
            </a:r>
            <a:r>
              <a:rPr lang="en-US" dirty="0">
                <a:hlinkClick r:id="rId2"/>
              </a:rPr>
              <a:t>Radford, et. al., 2021</a:t>
            </a:r>
            <a:endParaRPr lang="en-US" dirty="0"/>
          </a:p>
          <a:p>
            <a:r>
              <a:rPr lang="en-US" dirty="0"/>
              <a:t>You can find an example of using the </a:t>
            </a:r>
            <a:r>
              <a:rPr lang="en-US" dirty="0" err="1">
                <a:hlinkClick r:id="rId3"/>
              </a:rPr>
              <a:t>HuggingFace</a:t>
            </a:r>
            <a:r>
              <a:rPr lang="en-US" dirty="0">
                <a:hlinkClick r:id="rId3"/>
              </a:rPr>
              <a:t> CLIP models here</a:t>
            </a:r>
            <a:endParaRPr lang="en-US" dirty="0"/>
          </a:p>
          <a:p>
            <a:r>
              <a:rPr lang="en-US" dirty="0"/>
              <a:t>You can find another example of </a:t>
            </a:r>
            <a:r>
              <a:rPr lang="en-US" dirty="0">
                <a:hlinkClick r:id="rId4"/>
              </a:rPr>
              <a:t>image embeddings on the </a:t>
            </a:r>
            <a:r>
              <a:rPr lang="en-US" dirty="0" err="1">
                <a:hlinkClick r:id="rId4"/>
              </a:rPr>
              <a:t>HuggingFace</a:t>
            </a:r>
            <a:r>
              <a:rPr lang="en-US" dirty="0">
                <a:hlinkClick r:id="rId4"/>
              </a:rPr>
              <a:t> web site here</a:t>
            </a:r>
            <a:r>
              <a:rPr lang="en-US" dirty="0"/>
              <a:t>  </a:t>
            </a:r>
          </a:p>
          <a:p>
            <a:r>
              <a:rPr lang="en-US" dirty="0"/>
              <a:t>You can find a </a:t>
            </a:r>
            <a:r>
              <a:rPr lang="en-US" dirty="0">
                <a:hlinkClick r:id="rId5"/>
              </a:rPr>
              <a:t>post and video discussing semantic image search </a:t>
            </a:r>
            <a:r>
              <a:rPr lang="en-US" dirty="0"/>
              <a:t>on the </a:t>
            </a:r>
            <a:r>
              <a:rPr lang="en-US" dirty="0" err="1"/>
              <a:t>Ultralytics</a:t>
            </a:r>
            <a:r>
              <a:rPr lang="en-US" dirty="0"/>
              <a:t> web site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93B70C-29FE-8E4A-6281-E7BEE065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23982556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Overview of graph theory and web search   </a:t>
            </a:r>
          </a:p>
          <a:p>
            <a:r>
              <a:rPr lang="en-US" b="1" dirty="0"/>
              <a:t>Vector search </a:t>
            </a:r>
            <a:r>
              <a:rPr lang="en-US" dirty="0"/>
              <a:t>is used for the general </a:t>
            </a:r>
            <a:r>
              <a:rPr lang="en-US" b="1" dirty="0"/>
              <a:t>information retrieval problem </a:t>
            </a:r>
          </a:p>
          <a:p>
            <a:r>
              <a:rPr lang="en-US" dirty="0"/>
              <a:t>BERT family of models provide efficient and effective dense text embeddings</a:t>
            </a:r>
          </a:p>
          <a:p>
            <a:r>
              <a:rPr lang="en-US" dirty="0"/>
              <a:t>Sparse text embedding models require exact term matches</a:t>
            </a:r>
          </a:p>
          <a:p>
            <a:r>
              <a:rPr lang="en-US" dirty="0"/>
              <a:t>Dense-sparse, or sparse-dense, retriever-receiver, information retrieval pipelines improve recall</a:t>
            </a:r>
          </a:p>
          <a:p>
            <a:r>
              <a:rPr lang="en-US" dirty="0"/>
              <a:t>SPLADE models enable single stage </a:t>
            </a:r>
            <a:r>
              <a:rPr lang="en-US" dirty="0" err="1"/>
              <a:t>reciver</a:t>
            </a:r>
            <a:endParaRPr lang="en-US" dirty="0"/>
          </a:p>
          <a:p>
            <a:r>
              <a:rPr lang="en-US" dirty="0"/>
              <a:t>CLIP models used for embedding text queries and image databases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6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28913</TotalTime>
  <Words>4128</Words>
  <Application>Microsoft Office PowerPoint</Application>
  <PresentationFormat>Widescreen</PresentationFormat>
  <Paragraphs>610</Paragraphs>
  <Slides>66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Roboto Mono</vt:lpstr>
      <vt:lpstr>Segoe UI</vt:lpstr>
      <vt:lpstr>Segoe UI Light</vt:lpstr>
      <vt:lpstr>Office Theme</vt:lpstr>
      <vt:lpstr>CSCI E-96 Data Mining, Exploration and Discovery Information Retrieval and Search Algorithms</vt:lpstr>
      <vt:lpstr>Main topics in this course </vt:lpstr>
      <vt:lpstr>Lesson Overview</vt:lpstr>
      <vt:lpstr>Information Retrieval </vt:lpstr>
      <vt:lpstr>Introduction to Web Searching</vt:lpstr>
      <vt:lpstr>Introduction to Web Searching</vt:lpstr>
      <vt:lpstr>Introduction to Web Searching</vt:lpstr>
      <vt:lpstr>Similarity Search at Scale</vt:lpstr>
      <vt:lpstr>Components of Document Similarity Search Systems</vt:lpstr>
      <vt:lpstr>Components of a Document Search System</vt:lpstr>
      <vt:lpstr>Document Vector Similarity Search</vt:lpstr>
      <vt:lpstr>Text embeddings</vt:lpstr>
      <vt:lpstr>Improving Document Vector Similarity Search at Massive Scale</vt:lpstr>
      <vt:lpstr>Information Retrieval and Web Searching</vt:lpstr>
      <vt:lpstr>Evaluation for Information Retrieval</vt:lpstr>
      <vt:lpstr>Evaluation of ANNS</vt:lpstr>
      <vt:lpstr>Evaluation of ANNS</vt:lpstr>
      <vt:lpstr>Evaluation of ANNS</vt:lpstr>
      <vt:lpstr>Evaluation of ANNS</vt:lpstr>
      <vt:lpstr>Evaluation of Retrival</vt:lpstr>
      <vt:lpstr>Evaluation of ANNS</vt:lpstr>
      <vt:lpstr>Sparse Text Embedding</vt:lpstr>
      <vt:lpstr>Overview of Sparse Encoding</vt:lpstr>
      <vt:lpstr>Overview of Sparse Encoding</vt:lpstr>
      <vt:lpstr>The TF-IDF model</vt:lpstr>
      <vt:lpstr>The TF-IDF model</vt:lpstr>
      <vt:lpstr>The TF-IDF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Short Introduction to BERT Models for Dense Text Embedding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Reranking</vt:lpstr>
      <vt:lpstr>Reranking Can Greatly Improve Information Retrieval</vt:lpstr>
      <vt:lpstr>Reranking Can Greatly Improve Information Retrieval</vt:lpstr>
      <vt:lpstr>Reranking Can Greatly Improve Information Retrieval</vt:lpstr>
      <vt:lpstr>Reranking with Sentence BERT</vt:lpstr>
      <vt:lpstr>Sparse-Dense Retriever Receiver Pipelines</vt:lpstr>
      <vt:lpstr>Sparse-Dense Pipelines</vt:lpstr>
      <vt:lpstr>Improving Document Vector Similarity Search at Massive Scale</vt:lpstr>
      <vt:lpstr>Sparse-Dense Pipelines</vt:lpstr>
      <vt:lpstr>Hybrid Reranker</vt:lpstr>
      <vt:lpstr>Sparse-Dense Pipelines</vt:lpstr>
      <vt:lpstr>The Sparse Lexical and Expansion (SPLADE) model  </vt:lpstr>
      <vt:lpstr>The Sparse Lexical and Expansion (SPLADE) mode</vt:lpstr>
      <vt:lpstr>The Sparse Lexical and Expansion (SPLADE) mode</vt:lpstr>
      <vt:lpstr>The Sparse Lexical and Expansion (SPLADE) mode</vt:lpstr>
      <vt:lpstr>The Sparse Lexical and Expansion (SPLADE) mode</vt:lpstr>
      <vt:lpstr>Models for Image Embedding</vt:lpstr>
      <vt:lpstr>Image embeddings</vt:lpstr>
      <vt:lpstr>Image embeddings</vt:lpstr>
      <vt:lpstr>Image embeddings</vt:lpstr>
      <vt:lpstr>Image embeddings</vt:lpstr>
      <vt:lpstr>Lesson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Markov Processes</dc:title>
  <dc:creator>Stephen Elston</dc:creator>
  <cp:lastModifiedBy>Stephen Elston</cp:lastModifiedBy>
  <cp:revision>818</cp:revision>
  <cp:lastPrinted>2019-10-02T16:41:34Z</cp:lastPrinted>
  <dcterms:created xsi:type="dcterms:W3CDTF">2019-05-23T01:52:03Z</dcterms:created>
  <dcterms:modified xsi:type="dcterms:W3CDTF">2026-06-16T14:57:12Z</dcterms:modified>
</cp:coreProperties>
</file>