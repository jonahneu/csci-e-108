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56" r:id="rId2"/>
    <p:sldId id="383" r:id="rId3"/>
    <p:sldId id="257" r:id="rId4"/>
    <p:sldId id="354" r:id="rId5"/>
    <p:sldId id="353" r:id="rId6"/>
    <p:sldId id="356" r:id="rId7"/>
    <p:sldId id="712" r:id="rId8"/>
    <p:sldId id="288" r:id="rId9"/>
    <p:sldId id="732" r:id="rId10"/>
    <p:sldId id="733" r:id="rId11"/>
    <p:sldId id="724" r:id="rId12"/>
    <p:sldId id="397" r:id="rId13"/>
    <p:sldId id="718" r:id="rId14"/>
    <p:sldId id="723" r:id="rId15"/>
    <p:sldId id="396" r:id="rId16"/>
    <p:sldId id="400" r:id="rId17"/>
    <p:sldId id="352" r:id="rId18"/>
    <p:sldId id="388" r:id="rId19"/>
    <p:sldId id="721" r:id="rId20"/>
    <p:sldId id="381" r:id="rId21"/>
    <p:sldId id="722" r:id="rId22"/>
    <p:sldId id="395" r:id="rId23"/>
    <p:sldId id="402" r:id="rId24"/>
    <p:sldId id="725" r:id="rId25"/>
    <p:sldId id="401" r:id="rId26"/>
    <p:sldId id="713" r:id="rId27"/>
    <p:sldId id="387" r:id="rId28"/>
    <p:sldId id="720" r:id="rId29"/>
    <p:sldId id="382" r:id="rId30"/>
    <p:sldId id="357" r:id="rId31"/>
    <p:sldId id="385" r:id="rId32"/>
    <p:sldId id="359" r:id="rId33"/>
    <p:sldId id="727" r:id="rId34"/>
    <p:sldId id="386" r:id="rId35"/>
    <p:sldId id="714" r:id="rId36"/>
    <p:sldId id="360" r:id="rId37"/>
    <p:sldId id="731" r:id="rId38"/>
    <p:sldId id="374" r:id="rId39"/>
    <p:sldId id="375" r:id="rId40"/>
    <p:sldId id="376" r:id="rId41"/>
    <p:sldId id="728" r:id="rId42"/>
    <p:sldId id="377" r:id="rId43"/>
    <p:sldId id="729" r:id="rId44"/>
    <p:sldId id="730" r:id="rId45"/>
    <p:sldId id="378" r:id="rId46"/>
    <p:sldId id="379" r:id="rId47"/>
    <p:sldId id="380" r:id="rId48"/>
    <p:sldId id="715" r:id="rId49"/>
    <p:sldId id="362" r:id="rId50"/>
    <p:sldId id="364" r:id="rId51"/>
    <p:sldId id="366" r:id="rId52"/>
    <p:sldId id="365" r:id="rId53"/>
    <p:sldId id="726" r:id="rId54"/>
    <p:sldId id="363" r:id="rId55"/>
    <p:sldId id="372" r:id="rId56"/>
    <p:sldId id="716" r:id="rId57"/>
    <p:sldId id="361" r:id="rId58"/>
    <p:sldId id="368" r:id="rId59"/>
    <p:sldId id="390" r:id="rId60"/>
    <p:sldId id="391" r:id="rId61"/>
    <p:sldId id="392" r:id="rId62"/>
    <p:sldId id="393" r:id="rId63"/>
    <p:sldId id="394" r:id="rId64"/>
    <p:sldId id="717" r:id="rId65"/>
    <p:sldId id="371" r:id="rId66"/>
    <p:sldId id="369" r:id="rId67"/>
    <p:sldId id="373" r:id="rId68"/>
    <p:sldId id="399" r:id="rId69"/>
    <p:sldId id="370" r:id="rId70"/>
    <p:sldId id="398" r:id="rId71"/>
    <p:sldId id="384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9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93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061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28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367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764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261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212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wikipedia.org/wiki/Universal_hashing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wikipedia.org/wiki/Universal_hashing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sh_collision" TargetMode="External"/><Relationship Id="rId2" Type="http://schemas.openxmlformats.org/officeDocument/2006/relationships/hyperlink" Target="https://en.wikipedia.org/wiki/Birthday_proble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en.wikipedia.org/wiki/Hash_table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90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en.wikipedia.org/wiki/Simpson%27s_paradox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~hastie/CASI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and hashing</a:t>
            </a:r>
          </a:p>
          <a:p>
            <a:r>
              <a:rPr lang="en-US" dirty="0"/>
              <a:t>Knowledge discovery requires 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E39-E4CD-B6D2-21FE-E3DF31511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i="0" dirty="0">
                <a:solidFill>
                  <a:srgbClr val="000000"/>
                </a:solidFill>
                <a:effectLst/>
                <a:latin typeface="+mn-lt"/>
              </a:rPr>
              <a:t>Teaching Assistant: Tatyana Boland</a:t>
            </a:r>
            <a:br>
              <a:rPr lang="en-US" sz="4000" b="1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</a:b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949B7-1683-2432-EC26-A7F815D02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MBA in Finance from Texas A&amp;M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MLA from Harvard Extension School in Sustainability &amp; Environmental Management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BA in Political Science from University of Washington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Program manager for cloud products at Nvidia</a:t>
            </a:r>
            <a:endParaRPr lang="en-US" b="0" i="0" dirty="0">
              <a:solidFill>
                <a:srgbClr val="000000"/>
              </a:solidFill>
              <a:effectLst/>
              <a:latin typeface="Gill Sans MT" panose="020B05020201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Worked previously at Oracle OCI as Principal Technical Program Manager in Physical Networking team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L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oves playing the piano and playing and with my cats</a:t>
            </a:r>
            <a:endParaRPr lang="en-US" b="0" i="0" dirty="0">
              <a:solidFill>
                <a:srgbClr val="000000"/>
              </a:solidFill>
              <a:effectLst/>
              <a:latin typeface="Gill Sans MT" panose="020B0502020104020203" pitchFamily="34" charset="0"/>
            </a:endParaRP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415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0216" y="296446"/>
            <a:ext cx="9625781" cy="796413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341667" y="1345984"/>
            <a:ext cx="723162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ALM Student in Data Science at 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BS in Biology from Mount Saint Mary’s 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Disaster planning and information at the American Red Cross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Substitute teaching K-12 part-time for STEM subjects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Worked as a research technician at the California Institute of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Interned at the UCLA School of Engineering, researching a 6-degree-of-freedom robotic arm hand signal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Hobbies: Surfing, Hiking, Camping, Gardening, Zumba, Lying down and watching TV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6827" y="115529"/>
            <a:ext cx="2583057" cy="3429000"/>
          </a:xfrm>
          <a:prstGeom prst="rect">
            <a:avLst/>
          </a:prstGeom>
        </p:spPr>
      </p:pic>
      <p:pic>
        <p:nvPicPr>
          <p:cNvPr id="8" name="Picture 7" descr="A papaya tree with a white fence&#10;&#10;AI-generated content may be incorrect.">
            <a:extLst>
              <a:ext uri="{FF2B5EF4-FFF2-40B4-BE49-F238E27FC236}">
                <a16:creationId xmlns:a16="http://schemas.microsoft.com/office/drawing/2014/main" id="{19B050A4-3A39-40C6-8D62-D5CF77015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586" y="3313471"/>
            <a:ext cx="257175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Mondays and Wednesdays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Tuesdays and Thursdays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/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3 days late - less 20% 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small, discrete portions of code. </a:t>
            </a:r>
          </a:p>
          <a:p>
            <a:pPr lvl="1"/>
            <a:r>
              <a:rPr lang="en-US" dirty="0"/>
              <a:t>You may do so for up to 4 instances of up to 20 lines each in an assignment or a report</a:t>
            </a:r>
          </a:p>
          <a:p>
            <a:pPr lvl="1"/>
            <a:r>
              <a:rPr lang="en-US" dirty="0"/>
              <a:t>Required: Include the exact prompt(s) used to generate the code in your submission. 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 (e.g., "Code generated using [Tool Name] with prompt: ‘...’")</a:t>
            </a:r>
          </a:p>
          <a:p>
            <a:pPr lvl="1"/>
            <a:r>
              <a:rPr lang="en-US" dirty="0"/>
              <a:t>An exception message is a valid prompt 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pPr lvl="1"/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pPr lvl="1"/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pPr lvl="1"/>
            <a:r>
              <a:rPr lang="en-US" dirty="0"/>
              <a:t>We apply hashing and ‘sketches’ in future lessons</a:t>
            </a:r>
          </a:p>
          <a:p>
            <a:r>
              <a:rPr lang="en-US" sz="2800" dirty="0"/>
              <a:t>Complexity requires reliable inference methods  </a:t>
            </a:r>
          </a:p>
          <a:p>
            <a:pPr lvl="1"/>
            <a:r>
              <a:rPr lang="en-US" dirty="0"/>
              <a:t>Large number of variables makes </a:t>
            </a:r>
            <a:r>
              <a:rPr lang="en-US" b="1" dirty="0"/>
              <a:t>false positive inferences </a:t>
            </a:r>
            <a:r>
              <a:rPr lang="en-US" dirty="0"/>
              <a:t>likely </a:t>
            </a:r>
          </a:p>
          <a:p>
            <a:pPr lvl="1"/>
            <a:r>
              <a:rPr lang="en-US" dirty="0"/>
              <a:t>Example, </a:t>
            </a:r>
            <a:r>
              <a:rPr lang="en-US" b="1" dirty="0"/>
              <a:t>spurious correlations </a:t>
            </a:r>
          </a:p>
          <a:p>
            <a:pPr lvl="1"/>
            <a:r>
              <a:rPr lang="en-US" dirty="0"/>
              <a:t>Example, positive hypothesis test from random variation alone</a:t>
            </a:r>
          </a:p>
          <a:p>
            <a:pPr lvl="1"/>
            <a:r>
              <a:rPr lang="en-US" dirty="0"/>
              <a:t>Require methods to </a:t>
            </a:r>
            <a:r>
              <a:rPr lang="en-US" b="1" dirty="0"/>
              <a:t>control false positive rates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 dirty="0"/>
                  <a:t>Hashed 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384732"/>
                  </p:ext>
                </p:extLst>
              </p:nvPr>
            </p:nvGraphicFramePr>
            <p:xfrm>
              <a:off x="786352" y="2391253"/>
              <a:ext cx="10972800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94560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384732"/>
                  </p:ext>
                </p:extLst>
              </p:nvPr>
            </p:nvGraphicFramePr>
            <p:xfrm>
              <a:off x="786352" y="2391253"/>
              <a:ext cx="10972800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94560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1945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78" t="-165625" r="-30166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723" t="-165625" r="-200831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56" t="-165625" r="-10138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56" t="-165625" r="-1389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78" t="-289773" r="-30166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723" t="-289773" r="-200831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56" t="-289773" r="-10138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56" t="-289773" r="-1389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78" t="-408333" r="-30166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723" t="-408333" r="-200831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56" t="-408333" r="-10138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56" t="-408333" r="-1389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78" t="-284667" r="-30166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723" t="-284667" r="-200831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56" t="-284667" r="-10138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56" t="-284667" r="-1389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78" t="-472951" r="-30166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723" t="-472951" r="-200831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56" t="-472951" r="-10138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56" t="-472951" r="-1389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</a:t>
            </a:r>
            <a:r>
              <a:rPr lang="en-US" dirty="0" err="1"/>
              <a:t>invertable</a:t>
            </a:r>
            <a:r>
              <a:rPr lang="en-US" dirty="0"/>
              <a:t> encodings used to prevent unauthorized access.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tables. </a:t>
            </a:r>
          </a:p>
          <a:p>
            <a:r>
              <a:rPr lang="en-US" dirty="0"/>
              <a:t>There is a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function?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for the table or required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399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b="1" dirty="0">
                    <a:hlinkClick r:id="rId2"/>
                  </a:rPr>
                  <a:t>Universal hash function</a:t>
                </a:r>
                <a:r>
                  <a:rPr lang="en-US" sz="3000" b="1" dirty="0"/>
                  <a:t> </a:t>
                </a:r>
                <a:r>
                  <a:rPr lang="en-US" sz="3000" dirty="0"/>
                  <a:t>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3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 dirty="0">
                    <a:hlinkClick r:id="rId2"/>
                  </a:rPr>
                  <a:t>Universal hash function</a:t>
                </a:r>
                <a:r>
                  <a:rPr lang="en-US" sz="3000" dirty="0"/>
                  <a:t> is 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3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Hash key collisions   </a:t>
                </a:r>
              </a:p>
              <a:p>
                <a:r>
                  <a:rPr lang="en-US" dirty="0"/>
                  <a:t>Are hash keys always unique? </a:t>
                </a:r>
              </a:p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Consider a </a:t>
                </a:r>
                <a:r>
                  <a:rPr lang="en-US" b="1" dirty="0"/>
                  <a:t>division hash </a:t>
                </a:r>
                <a:r>
                  <a:rPr lang="en-US" dirty="0"/>
                  <a:t>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Table is limited to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But even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there is a probability of key collisions </a:t>
                </a:r>
              </a:p>
              <a:p>
                <a:pPr lvl="1"/>
                <a:r>
                  <a:rPr lang="en-US" dirty="0"/>
                  <a:t>Probabilities are derived analogous to the famous </a:t>
                </a:r>
                <a:r>
                  <a:rPr lang="en-US" b="1" dirty="0">
                    <a:hlinkClick r:id="rId2"/>
                  </a:rPr>
                  <a:t>birthday problem</a:t>
                </a:r>
                <a:endParaRPr lang="en-US" b="1" dirty="0"/>
              </a:p>
              <a:p>
                <a:r>
                  <a:rPr lang="en-US" dirty="0"/>
                  <a:t>Need a </a:t>
                </a:r>
                <a:r>
                  <a:rPr lang="en-US" b="1" dirty="0">
                    <a:hlinkClick r:id="rId3"/>
                  </a:rPr>
                  <a:t>hash collision </a:t>
                </a:r>
                <a:r>
                  <a:rPr lang="en-US" b="1" dirty="0"/>
                  <a:t>resolution </a:t>
                </a:r>
                <a:r>
                  <a:rPr lang="en-US" dirty="0"/>
                  <a:t>mechanism</a:t>
                </a:r>
              </a:p>
              <a:p>
                <a:pPr lvl="1"/>
                <a:r>
                  <a:rPr lang="en-US" dirty="0"/>
                  <a:t>Many algorithms in use</a:t>
                </a:r>
              </a:p>
              <a:p>
                <a:pPr lvl="1"/>
                <a:r>
                  <a:rPr lang="en-US" dirty="0"/>
                  <a:t>Chaining</a:t>
                </a:r>
              </a:p>
              <a:p>
                <a:pPr lvl="1"/>
                <a:r>
                  <a:rPr lang="en-US" dirty="0"/>
                  <a:t>Open Addressing</a:t>
                </a:r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4"/>
                <a:stretch>
                  <a:fillRect l="-1217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3194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Review of Hypothesis Tests</a:t>
            </a:r>
          </a:p>
        </p:txBody>
      </p:sp>
    </p:spTree>
    <p:extLst>
      <p:ext uri="{BB962C8B-B14F-4D97-AF65-F5344CB8AC3E}">
        <p14:creationId xmlns:p14="http://schemas.microsoft.com/office/powerpoint/2010/main" val="1508926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1800"/>
            <a:ext cx="10515600" cy="536415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Statistical inference is widely used to determine if </a:t>
            </a:r>
            <a:r>
              <a:rPr lang="en-US" b="1" dirty="0"/>
              <a:t>differences in populations are significant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Does a population mean have a specified value, e.g. 0?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there a significant difference between two means? 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Test a paired-response difference from zero	</a:t>
            </a:r>
          </a:p>
          <a:p>
            <a:pPr lvl="1"/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e.g. before/after drug treatment on patient.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there a significant differences in counts between discrete variables?  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variance significantly different between two variables?  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correlation between two variables significant?</a:t>
            </a:r>
          </a:p>
          <a:p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Test whether the slope of a line zero</a:t>
            </a:r>
          </a:p>
          <a:p>
            <a:pPr lvl="1"/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Important for testing the importance of variables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Statistical Inference</a:t>
            </a:r>
          </a:p>
        </p:txBody>
      </p:sp>
    </p:spTree>
    <p:extLst>
      <p:ext uri="{BB962C8B-B14F-4D97-AF65-F5344CB8AC3E}">
        <p14:creationId xmlns:p14="http://schemas.microsoft.com/office/powerpoint/2010/main" val="331118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1800"/>
                <a:ext cx="10515600" cy="536415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Steps in hypothesis testing</a:t>
                </a:r>
                <a:endParaRPr lang="en-US" b="1" dirty="0"/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State your hypothesis; Example:  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,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null hypothesis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: there is no difference in the means of the population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,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alternative hypothesis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: e.g. there is a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significant difference 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in the means of the population  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State a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significance level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Probability of a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false discovery 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we will accept –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Type I error or 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Smaller significance level increases the probability of not rejecting the null,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missed discovery 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–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Type II error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Select an appropriate test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Compute the </a:t>
                </a:r>
                <a:r>
                  <a:rPr lang="en-US" b="1" dirty="0">
                    <a:solidFill>
                      <a:schemeClr val="tx1">
                        <a:lumMod val="50000"/>
                      </a:schemeClr>
                    </a:solidFill>
                  </a:rPr>
                  <a:t>test statistic </a:t>
                </a: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and evaluate the result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1800"/>
                <a:ext cx="10515600" cy="5364154"/>
              </a:xfrm>
              <a:blipFill>
                <a:blip r:embed="rId2"/>
                <a:stretch>
                  <a:fillRect l="-1217" t="-1818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</p:spTree>
    <p:extLst>
      <p:ext uri="{BB962C8B-B14F-4D97-AF65-F5344CB8AC3E}">
        <p14:creationId xmlns:p14="http://schemas.microsoft.com/office/powerpoint/2010/main" val="3276165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EDCC4F-BB2A-479D-8EDF-923A1EE906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366" t="40934" r="10867" b="13544"/>
          <a:stretch/>
        </p:blipFill>
        <p:spPr>
          <a:xfrm flipH="1">
            <a:off x="42002" y="3249105"/>
            <a:ext cx="6690512" cy="2571184"/>
          </a:xfrm>
          <a:prstGeom prst="rect">
            <a:avLst/>
          </a:prstGeom>
        </p:spPr>
      </p:pic>
      <p:sp>
        <p:nvSpPr>
          <p:cNvPr id="15" name="Freeform 15">
            <a:extLst>
              <a:ext uri="{FF2B5EF4-FFF2-40B4-BE49-F238E27FC236}">
                <a16:creationId xmlns:a16="http://schemas.microsoft.com/office/drawing/2014/main" id="{516D2EB6-4120-498F-9AD7-078AE411C0C9}"/>
              </a:ext>
            </a:extLst>
          </p:cNvPr>
          <p:cNvSpPr/>
          <p:nvPr/>
        </p:nvSpPr>
        <p:spPr>
          <a:xfrm>
            <a:off x="5046497" y="5118648"/>
            <a:ext cx="1430447" cy="615636"/>
          </a:xfrm>
          <a:custGeom>
            <a:avLst/>
            <a:gdLst>
              <a:gd name="connsiteX0" fmla="*/ 9053 w 1430447"/>
              <a:gd name="connsiteY0" fmla="*/ 588475 h 615636"/>
              <a:gd name="connsiteX1" fmla="*/ 0 w 1430447"/>
              <a:gd name="connsiteY1" fmla="*/ 0 h 615636"/>
              <a:gd name="connsiteX2" fmla="*/ 181069 w 1430447"/>
              <a:gd name="connsiteY2" fmla="*/ 162962 h 615636"/>
              <a:gd name="connsiteX3" fmla="*/ 425513 w 1430447"/>
              <a:gd name="connsiteY3" fmla="*/ 325925 h 615636"/>
              <a:gd name="connsiteX4" fmla="*/ 805758 w 1430447"/>
              <a:gd name="connsiteY4" fmla="*/ 488887 h 615636"/>
              <a:gd name="connsiteX5" fmla="*/ 1186004 w 1430447"/>
              <a:gd name="connsiteY5" fmla="*/ 534154 h 615636"/>
              <a:gd name="connsiteX6" fmla="*/ 1421394 w 1430447"/>
              <a:gd name="connsiteY6" fmla="*/ 543208 h 615636"/>
              <a:gd name="connsiteX7" fmla="*/ 1430447 w 1430447"/>
              <a:gd name="connsiteY7" fmla="*/ 615636 h 615636"/>
              <a:gd name="connsiteX8" fmla="*/ 9053 w 1430447"/>
              <a:gd name="connsiteY8" fmla="*/ 588475 h 615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0447" h="615636">
                <a:moveTo>
                  <a:pt x="9053" y="588475"/>
                </a:moveTo>
                <a:lnTo>
                  <a:pt x="0" y="0"/>
                </a:lnTo>
                <a:lnTo>
                  <a:pt x="181069" y="162962"/>
                </a:lnTo>
                <a:lnTo>
                  <a:pt x="425513" y="325925"/>
                </a:lnTo>
                <a:lnTo>
                  <a:pt x="805758" y="488887"/>
                </a:lnTo>
                <a:lnTo>
                  <a:pt x="1186004" y="534154"/>
                </a:lnTo>
                <a:lnTo>
                  <a:pt x="1421394" y="543208"/>
                </a:lnTo>
                <a:lnTo>
                  <a:pt x="1430447" y="615636"/>
                </a:lnTo>
                <a:lnTo>
                  <a:pt x="9053" y="588475"/>
                </a:lnTo>
                <a:close/>
              </a:path>
            </a:pathLst>
          </a:custGeom>
          <a:solidFill>
            <a:srgbClr val="FFC000"/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356616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13232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69848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426464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783080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139696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496312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852928" algn="l" defTabSz="356616" rtl="0" eaLnBrk="1" latinLnBrk="0" hangingPunct="1">
              <a:defRPr sz="1404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128" y="1037711"/>
            <a:ext cx="10515600" cy="49339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How can we understand the </a:t>
            </a:r>
            <a:r>
              <a:rPr lang="en-US" b="1" dirty="0"/>
              <a:t>p-value? </a:t>
            </a:r>
            <a:r>
              <a:rPr lang="en-US" dirty="0"/>
              <a:t>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BB85D8-30C0-4190-A998-F86A6E9CC655}"/>
              </a:ext>
            </a:extLst>
          </p:cNvPr>
          <p:cNvCxnSpPr/>
          <p:nvPr/>
        </p:nvCxnSpPr>
        <p:spPr>
          <a:xfrm>
            <a:off x="3387258" y="3273598"/>
            <a:ext cx="0" cy="281110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F32B64-A094-4689-8FE4-51208C987238}"/>
              </a:ext>
            </a:extLst>
          </p:cNvPr>
          <p:cNvSpPr txBox="1"/>
          <p:nvPr/>
        </p:nvSpPr>
        <p:spPr>
          <a:xfrm>
            <a:off x="3149052" y="6060205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1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15s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103DC-961F-4466-B604-85D756F69020}"/>
                  </a:ext>
                </a:extLst>
              </p:cNvPr>
              <p:cNvSpPr txBox="1"/>
              <p:nvPr/>
            </p:nvSpPr>
            <p:spPr>
              <a:xfrm>
                <a:off x="2547744" y="4821329"/>
                <a:ext cx="5530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56616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713232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69848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426464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83080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139696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96312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852928" algn="l" defTabSz="356616" rtl="0" eaLnBrk="1" latinLnBrk="0" hangingPunct="1">
                  <a:defRPr sz="1404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US" sz="1400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103DC-961F-4466-B604-85D756F69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44" y="4821329"/>
                <a:ext cx="553037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F0E4251-0104-4598-A01C-E296FDBD4221}"/>
              </a:ext>
            </a:extLst>
          </p:cNvPr>
          <p:cNvSpPr txBox="1"/>
          <p:nvPr/>
        </p:nvSpPr>
        <p:spPr>
          <a:xfrm>
            <a:off x="4785425" y="60846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1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22s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BA7233-EA69-4ED5-99AE-02ECA28284F7}"/>
              </a:ext>
            </a:extLst>
          </p:cNvPr>
          <p:cNvCxnSpPr/>
          <p:nvPr/>
        </p:nvCxnSpPr>
        <p:spPr>
          <a:xfrm flipV="1">
            <a:off x="5039660" y="5773689"/>
            <a:ext cx="0" cy="2865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8806D83-A38A-479A-AA30-6328F2807F08}"/>
              </a:ext>
            </a:extLst>
          </p:cNvPr>
          <p:cNvSpPr txBox="1"/>
          <p:nvPr/>
        </p:nvSpPr>
        <p:spPr>
          <a:xfrm>
            <a:off x="778128" y="3540509"/>
            <a:ext cx="2046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1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Non-Rejection Region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524433-83D8-4352-AC3B-CB84E27CE5D9}"/>
              </a:ext>
            </a:extLst>
          </p:cNvPr>
          <p:cNvSpPr txBox="1"/>
          <p:nvPr/>
        </p:nvSpPr>
        <p:spPr>
          <a:xfrm>
            <a:off x="4822254" y="2838378"/>
            <a:ext cx="1393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1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356616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Rejection Region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761B1B-B9F5-4859-952F-DD49A2757433}"/>
              </a:ext>
            </a:extLst>
          </p:cNvPr>
          <p:cNvCxnSpPr/>
          <p:nvPr/>
        </p:nvCxnSpPr>
        <p:spPr>
          <a:xfrm>
            <a:off x="5039660" y="5076388"/>
            <a:ext cx="0" cy="69730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525E84E-DCE4-4E57-A5E0-8AA2C984B6FE}"/>
              </a:ext>
            </a:extLst>
          </p:cNvPr>
          <p:cNvSpPr/>
          <p:nvPr/>
        </p:nvSpPr>
        <p:spPr>
          <a:xfrm flipH="1">
            <a:off x="5401299" y="4055025"/>
            <a:ext cx="549369" cy="598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4C12931-6ED7-4D09-95B0-64C48944E8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39350" y="1541116"/>
                <a:ext cx="5422605" cy="500524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the distribution of a variable: time between arrivals</a:t>
                </a:r>
              </a:p>
              <a:p>
                <a:r>
                  <a:rPr lang="en-US" dirty="0"/>
                  <a:t>Mean = 15s</a:t>
                </a:r>
              </a:p>
              <a:p>
                <a:r>
                  <a:rPr lang="en-US" b="1" dirty="0"/>
                  <a:t>Reject the null hypothesis </a:t>
                </a:r>
                <a:r>
                  <a:rPr lang="en-US" dirty="0"/>
                  <a:t>at 0.9 confidence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=1.0 −0.9=0.1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Mean of second variable = 22s </a:t>
                </a:r>
              </a:p>
              <a:p>
                <a:r>
                  <a:rPr lang="en-US" dirty="0"/>
                  <a:t>Difference of means in t-distributed</a:t>
                </a:r>
              </a:p>
              <a:p>
                <a:r>
                  <a:rPr lang="en-US" dirty="0"/>
                  <a:t>We reject the null hypothesis since p-value &lt;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4C12931-6ED7-4D09-95B0-64C48944E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350" y="1541116"/>
                <a:ext cx="5422605" cy="5005248"/>
              </a:xfrm>
              <a:prstGeom prst="rect">
                <a:avLst/>
              </a:prstGeom>
              <a:blipFill>
                <a:blip r:embed="rId5"/>
                <a:stretch>
                  <a:fillRect l="-2025" t="-2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34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" grpId="0"/>
      <p:bldP spid="9" grpId="0"/>
      <p:bldP spid="10" grpId="0"/>
      <p:bldP spid="12" grpId="0"/>
      <p:bldP spid="13" grpId="0"/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544"/>
            <a:ext cx="10515600" cy="536415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Evaluate an hypothesis test using the </a:t>
            </a:r>
            <a:r>
              <a:rPr lang="en-US" b="1" dirty="0"/>
              <a:t>p-value 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The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p-value is the probability of obtaining the sample with results at least this extreme from random variation alone when the null hypothesis is true</a:t>
            </a:r>
            <a:endParaRPr lang="en-US" b="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Alternatively,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p-value is the probability that the evidence this extreme or greater </a:t>
            </a:r>
            <a:r>
              <a:rPr lang="en-US" b="1" dirty="0" err="1">
                <a:solidFill>
                  <a:schemeClr val="tx1">
                    <a:lumMod val="50000"/>
                  </a:schemeClr>
                </a:solidFill>
              </a:rPr>
              <a:t>arrises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 simply from random variation (random sampling) of the null distribution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</p:spTree>
    <p:extLst>
      <p:ext uri="{BB962C8B-B14F-4D97-AF65-F5344CB8AC3E}">
        <p14:creationId xmlns:p14="http://schemas.microsoft.com/office/powerpoint/2010/main" val="241765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3E1B-FD02-2EDB-FFEC-08309336D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B241-040C-CA14-3AD9-214145928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544"/>
            <a:ext cx="10515600" cy="536415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Evaluate an hypothesis test using the </a:t>
            </a:r>
            <a:r>
              <a:rPr lang="en-US" b="1" dirty="0"/>
              <a:t>p-value 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The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p-value is the probability of obtaining the sample with results at least this extreme from random variation alone when the null hypothesis is true</a:t>
            </a:r>
            <a:endParaRPr lang="en-US" b="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Lots of ways to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misuse the p-value</a:t>
            </a: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; some examples: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p-values are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order statistic;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we can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only reject the null hypothesis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based on the p-value</a:t>
            </a: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p-value mining: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test all relationships between variables to find the ‘significant’ ones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Assuming a smaller p-value is ‘more significant’: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p-values only indicate the probability of a value being at least this extreme</a:t>
            </a: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506B8E5-5030-5DCD-807B-AFB990CB4FB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</p:spTree>
    <p:extLst>
      <p:ext uri="{BB962C8B-B14F-4D97-AF65-F5344CB8AC3E}">
        <p14:creationId xmlns:p14="http://schemas.microsoft.com/office/powerpoint/2010/main" val="399191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1800"/>
                <a:ext cx="10515600" cy="536415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Statistical hypothesis tests are widely used methods to determine if </a:t>
                </a:r>
                <a:r>
                  <a:rPr lang="en-US" b="1" dirty="0"/>
                  <a:t>differences in populations are significant 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Tests are performed at a significance level specified by the user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For example, 0.05 is widely used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Other significance levels can be chosen – need to consider alternatives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Pick test for specific problem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Student’s t-test for difference of means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ANOVA for difference of variance 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Person’s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 for difference in counts 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Etc. </a:t>
                </a:r>
              </a:p>
              <a:p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The more assumptions we make, the easier it is to tell the difference between populations, but more restrictive the test conditions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1800"/>
                <a:ext cx="10515600" cy="5364154"/>
              </a:xfrm>
              <a:blipFill>
                <a:blip r:embed="rId2"/>
                <a:stretch>
                  <a:fillRect l="-1217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</p:spTree>
    <p:extLst>
      <p:ext uri="{BB962C8B-B14F-4D97-AF65-F5344CB8AC3E}">
        <p14:creationId xmlns:p14="http://schemas.microsoft.com/office/powerpoint/2010/main" val="4052069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1801"/>
            <a:ext cx="4831080" cy="52997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Errors in hypothesis testing</a:t>
            </a:r>
            <a:endParaRPr lang="en-US" b="1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Review: Hypothesis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3C409FF6-861E-4181-B4D9-DC78021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0466987"/>
                  </p:ext>
                </p:extLst>
              </p:nvPr>
            </p:nvGraphicFramePr>
            <p:xfrm>
              <a:off x="156174" y="2412612"/>
              <a:ext cx="664173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69568">
                      <a:extLst>
                        <a:ext uri="{9D8B030D-6E8A-4147-A177-3AD203B41FA5}">
                          <a16:colId xmlns:a16="http://schemas.microsoft.com/office/drawing/2014/main" val="2642431781"/>
                        </a:ext>
                      </a:extLst>
                    </a:gridCol>
                    <a:gridCol w="2408791">
                      <a:extLst>
                        <a:ext uri="{9D8B030D-6E8A-4147-A177-3AD203B41FA5}">
                          <a16:colId xmlns:a16="http://schemas.microsoft.com/office/drawing/2014/main" val="355101160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213873781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Fail </a:t>
                          </a:r>
                          <a:r>
                            <a:rPr lang="en-US" sz="2400">
                              <a:solidFill>
                                <a:schemeClr val="tx1"/>
                              </a:solidFill>
                            </a:rPr>
                            <a:t>to Reject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𝑯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oMath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Reject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𝑯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oMath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86929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/>
                            <a:t> 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Correct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rgbClr val="C00000"/>
                              </a:solidFill>
                            </a:rPr>
                            <a:t>False discovery</a:t>
                          </a:r>
                        </a:p>
                        <a:p>
                          <a:r>
                            <a:rPr lang="en-US" sz="2400" b="1" dirty="0"/>
                            <a:t>Type I error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9089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/>
                            <a:t> 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rgbClr val="C00000"/>
                              </a:solidFill>
                            </a:rPr>
                            <a:t>Undetected discovery</a:t>
                          </a:r>
                        </a:p>
                        <a:p>
                          <a:r>
                            <a:rPr lang="en-US" sz="2400" b="1" dirty="0"/>
                            <a:t>Type II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chemeClr val="tx1"/>
                              </a:solidFill>
                            </a:rPr>
                            <a:t>True discovery!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3503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3C409FF6-861E-4181-B4D9-DC78021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0466987"/>
                  </p:ext>
                </p:extLst>
              </p:nvPr>
            </p:nvGraphicFramePr>
            <p:xfrm>
              <a:off x="156174" y="2412612"/>
              <a:ext cx="664173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69568">
                      <a:extLst>
                        <a:ext uri="{9D8B030D-6E8A-4147-A177-3AD203B41FA5}">
                          <a16:colId xmlns:a16="http://schemas.microsoft.com/office/drawing/2014/main" val="2642431781"/>
                        </a:ext>
                      </a:extLst>
                    </a:gridCol>
                    <a:gridCol w="2408791">
                      <a:extLst>
                        <a:ext uri="{9D8B030D-6E8A-4147-A177-3AD203B41FA5}">
                          <a16:colId xmlns:a16="http://schemas.microsoft.com/office/drawing/2014/main" val="355101160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213873781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7071" t="-9333" r="-119697" b="-4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2340" t="-9333" r="-851" b="-47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8692995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60294" r="-386667" b="-16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Correct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rgbClr val="C00000"/>
                              </a:solidFill>
                            </a:rPr>
                            <a:t>False discovery</a:t>
                          </a:r>
                        </a:p>
                        <a:p>
                          <a:r>
                            <a:rPr lang="en-US" sz="2400" b="1" dirty="0"/>
                            <a:t>Type I error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908967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111795" r="-386667" b="-117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rgbClr val="C00000"/>
                              </a:solidFill>
                            </a:rPr>
                            <a:t>Undetected discovery</a:t>
                          </a:r>
                        </a:p>
                        <a:p>
                          <a:r>
                            <a:rPr lang="en-US" sz="2400" b="1" dirty="0"/>
                            <a:t>Type II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solidFill>
                                <a:schemeClr val="tx1"/>
                              </a:solidFill>
                            </a:rPr>
                            <a:t>True discovery!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3503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67D1363-968F-435A-8702-1637447E79B5}"/>
              </a:ext>
            </a:extLst>
          </p:cNvPr>
          <p:cNvSpPr txBox="1">
            <a:spLocks/>
          </p:cNvSpPr>
          <p:nvPr/>
        </p:nvSpPr>
        <p:spPr>
          <a:xfrm>
            <a:off x="6965116" y="1717710"/>
            <a:ext cx="5226884" cy="49025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Consider a truth table for the </a:t>
            </a:r>
            <a:r>
              <a:rPr lang="en-US" b="1" dirty="0"/>
              <a:t>decision rule</a:t>
            </a:r>
            <a:r>
              <a:rPr lang="en-US" dirty="0"/>
              <a:t> of any hypothesis test</a:t>
            </a:r>
          </a:p>
          <a:p>
            <a:r>
              <a:rPr lang="en-US" dirty="0"/>
              <a:t>Diagonal of table represent correct inferences </a:t>
            </a:r>
          </a:p>
          <a:p>
            <a:r>
              <a:rPr lang="en-US" b="1" dirty="0"/>
              <a:t>Type I error </a:t>
            </a:r>
            <a:r>
              <a:rPr lang="en-US" dirty="0"/>
              <a:t>is a </a:t>
            </a:r>
            <a:r>
              <a:rPr lang="en-US" b="1" dirty="0"/>
              <a:t>false discovery</a:t>
            </a:r>
          </a:p>
          <a:p>
            <a:r>
              <a:rPr lang="en-US" b="1" dirty="0"/>
              <a:t>Type II error </a:t>
            </a:r>
            <a:r>
              <a:rPr lang="en-US" dirty="0"/>
              <a:t>is an </a:t>
            </a:r>
            <a:r>
              <a:rPr lang="en-US" b="1" dirty="0"/>
              <a:t>undetected discovery </a:t>
            </a:r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113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438752" cy="2387600"/>
          </a:xfrm>
        </p:spPr>
        <p:txBody>
          <a:bodyPr>
            <a:normAutofit/>
          </a:bodyPr>
          <a:lstStyle/>
          <a:p>
            <a:r>
              <a:rPr lang="en-US" sz="4400" dirty="0"/>
              <a:t>Pitfalls of </a:t>
            </a:r>
            <a:r>
              <a:rPr lang="en-US" sz="4400"/>
              <a:t>Large-Scale Data Mining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0793014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Data mining easily produces </a:t>
                </a:r>
                <a:r>
                  <a:rPr lang="en-US" b="1" dirty="0"/>
                  <a:t>false positive</a:t>
                </a:r>
                <a:r>
                  <a:rPr lang="en-US" dirty="0"/>
                  <a:t> results   </a:t>
                </a:r>
              </a:p>
              <a:p>
                <a:r>
                  <a:rPr lang="en-US" dirty="0"/>
                  <a:t>Consider an example: </a:t>
                </a:r>
              </a:p>
              <a:p>
                <a:r>
                  <a:rPr lang="en-US" dirty="0"/>
                  <a:t>Perform an hypothesis test of differences of means with (2-way) significance of 0.05 for 1000 variables   </a:t>
                </a:r>
              </a:p>
              <a:p>
                <a:r>
                  <a:rPr lang="en-US" dirty="0"/>
                  <a:t>Compute the number of pairs,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, or </a:t>
                </a:r>
                <a:r>
                  <a:rPr lang="en-US" b="1" dirty="0"/>
                  <a:t>combinations,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=499,500</m:t>
                      </m:r>
                    </m:oMath>
                  </m:oMathPara>
                </a14:m>
                <a:endParaRPr lang="en-US" dirty="0"/>
              </a:p>
              <a:p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  <a:blipFill>
                <a:blip r:embed="rId2"/>
                <a:stretch>
                  <a:fillRect l="-1217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</p:spTree>
    <p:extLst>
      <p:ext uri="{BB962C8B-B14F-4D97-AF65-F5344CB8AC3E}">
        <p14:creationId xmlns:p14="http://schemas.microsoft.com/office/powerpoint/2010/main" val="3964249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Data mining easily produces </a:t>
                </a:r>
                <a:r>
                  <a:rPr lang="en-US" b="1" dirty="0"/>
                  <a:t>false positive</a:t>
                </a:r>
                <a:r>
                  <a:rPr lang="en-US" dirty="0"/>
                  <a:t> results   </a:t>
                </a:r>
              </a:p>
              <a:p>
                <a:r>
                  <a:rPr lang="en-US" dirty="0"/>
                  <a:t>Consider the </a:t>
                </a:r>
                <a:r>
                  <a:rPr lang="en-US" b="1" dirty="0"/>
                  <a:t>false discovery rate (FDR) </a:t>
                </a:r>
                <a:r>
                  <a:rPr lang="en-US" dirty="0"/>
                  <a:t>of a naïve approach: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𝐹𝑃𝑅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𝑐𝑢𝑡𝑜𝑓𝑓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𝑛𝑢𝑚𝑏𝑒𝑟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𝑝𝑎𝑖𝑟𝑠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𝐹𝑃𝑅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=0.05∗499500=24975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Nearly 25,000 false significant pairings from just random sampling!</a:t>
                </a:r>
              </a:p>
              <a:p>
                <a:r>
                  <a:rPr lang="en-US" dirty="0"/>
                  <a:t>Completely unmanageable with 1,000,000 or 100,000,000 variables! </a:t>
                </a:r>
              </a:p>
              <a:p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  <a:blipFill>
                <a:blip r:embed="rId2"/>
                <a:stretch>
                  <a:fillRect l="-1217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</p:spTree>
    <p:extLst>
      <p:ext uri="{BB962C8B-B14F-4D97-AF65-F5344CB8AC3E}">
        <p14:creationId xmlns:p14="http://schemas.microsoft.com/office/powerpoint/2010/main" val="14423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237" y="1154757"/>
            <a:ext cx="5128967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dredging leads often leads to </a:t>
            </a:r>
            <a:r>
              <a:rPr lang="en-US" b="1" dirty="0"/>
              <a:t>false positive</a:t>
            </a:r>
            <a:r>
              <a:rPr lang="en-US" dirty="0"/>
              <a:t> results   </a:t>
            </a:r>
          </a:p>
          <a:p>
            <a:r>
              <a:rPr lang="en-US" dirty="0"/>
              <a:t>Consider two </a:t>
            </a:r>
            <a:r>
              <a:rPr lang="en-US" dirty="0" err="1"/>
              <a:t>iid</a:t>
            </a:r>
            <a:r>
              <a:rPr lang="en-US" dirty="0"/>
              <a:t> Normal random variables   </a:t>
            </a:r>
          </a:p>
          <a:p>
            <a:r>
              <a:rPr lang="en-US" dirty="0"/>
              <a:t>Variables are independent and uncorrelated </a:t>
            </a:r>
          </a:p>
          <a:p>
            <a:r>
              <a:rPr lang="en-US" dirty="0"/>
              <a:t>Asymptotically, the slope of the regression line should be 0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7C2DE9-BC24-1D70-4D71-9B2D1296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920" y="1257450"/>
            <a:ext cx="6529080" cy="540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9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237" y="1154757"/>
            <a:ext cx="5128967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dredging leads often leads to </a:t>
            </a:r>
            <a:r>
              <a:rPr lang="en-US" b="1" dirty="0"/>
              <a:t>false positive</a:t>
            </a:r>
            <a:r>
              <a:rPr lang="en-US" dirty="0"/>
              <a:t> results   </a:t>
            </a:r>
          </a:p>
          <a:p>
            <a:r>
              <a:rPr lang="en-US" dirty="0"/>
              <a:t>Increase sample size one at a time</a:t>
            </a:r>
          </a:p>
          <a:p>
            <a:r>
              <a:rPr lang="en-US" dirty="0"/>
              <a:t>Compute regression line for sample </a:t>
            </a:r>
          </a:p>
          <a:p>
            <a:r>
              <a:rPr lang="en-US" dirty="0"/>
              <a:t>Compute p-value of slope coefficient  </a:t>
            </a:r>
          </a:p>
          <a:p>
            <a:r>
              <a:rPr lang="en-US" dirty="0"/>
              <a:t>Results in </a:t>
            </a:r>
            <a:r>
              <a:rPr lang="en-US" b="1" dirty="0"/>
              <a:t>false positive!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Full example and code in </a:t>
            </a:r>
            <a:r>
              <a:rPr lang="en-US" sz="2200" dirty="0" err="1">
                <a:solidFill>
                  <a:schemeClr val="accent1"/>
                </a:solidFill>
              </a:rPr>
              <a:t>SupplementaryMaterials</a:t>
            </a:r>
            <a:r>
              <a:rPr lang="en-US" sz="2200" dirty="0">
                <a:solidFill>
                  <a:schemeClr val="accent1"/>
                </a:solidFill>
              </a:rPr>
              <a:t> directory of GitHub repositor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8AFAC-2D77-00F0-1170-CD02E07F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204" y="1006719"/>
            <a:ext cx="6324961" cy="563917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E19C9-CCD0-0F7C-E4E0-6C9D12521EF8}"/>
              </a:ext>
            </a:extLst>
          </p:cNvPr>
          <p:cNvCxnSpPr>
            <a:cxnSpLocks/>
          </p:cNvCxnSpPr>
          <p:nvPr/>
        </p:nvCxnSpPr>
        <p:spPr>
          <a:xfrm>
            <a:off x="4527665" y="5015345"/>
            <a:ext cx="2189019" cy="92548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34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237" y="1154757"/>
            <a:ext cx="5128967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Correlations alone can be misleading</a:t>
            </a:r>
          </a:p>
          <a:p>
            <a:r>
              <a:rPr lang="en-US" dirty="0"/>
              <a:t>Can eating chocolate help you win a Nobel prize?</a:t>
            </a:r>
          </a:p>
          <a:p>
            <a:r>
              <a:rPr lang="en-US" dirty="0"/>
              <a:t>Consider log chocolate consumption and log Nobel prizes for 18 countries  </a:t>
            </a:r>
          </a:p>
          <a:p>
            <a:r>
              <a:rPr lang="en-US" dirty="0"/>
              <a:t>The high correlation between these variables looks promising!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B9E92-634C-5E76-1042-2328B2EE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101" y="947184"/>
            <a:ext cx="6523348" cy="58006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2BF97A-70C9-E5C8-51F8-B2FDF82AB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80" y="4849291"/>
            <a:ext cx="3290728" cy="106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637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237" y="1154757"/>
            <a:ext cx="5128967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Correlations alone can be misleading</a:t>
            </a:r>
          </a:p>
          <a:p>
            <a:r>
              <a:rPr lang="en-US" dirty="0"/>
              <a:t>Log of GDP is also a good predictor of  winning Nobel prizes    </a:t>
            </a:r>
          </a:p>
          <a:p>
            <a:r>
              <a:rPr lang="en-US" dirty="0"/>
              <a:t>And high correlation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BEE28-3651-C39F-DB99-013247C1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426" y="1036948"/>
            <a:ext cx="6210253" cy="5476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7DC88A-6B3E-6B20-44EA-5D2B0F437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0615" y="5076772"/>
            <a:ext cx="4582760" cy="83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08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237" y="1154757"/>
            <a:ext cx="5128967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Correlations alone can be misleading</a:t>
            </a:r>
          </a:p>
          <a:p>
            <a:r>
              <a:rPr lang="en-US" dirty="0"/>
              <a:t>Log of GDP is also a good predictor of  chocolate consumption     </a:t>
            </a:r>
          </a:p>
          <a:p>
            <a:r>
              <a:rPr lang="en-US" dirty="0"/>
              <a:t>With high correlation</a:t>
            </a:r>
          </a:p>
          <a:p>
            <a:r>
              <a:rPr lang="en-US" dirty="0"/>
              <a:t>This is an example of </a:t>
            </a:r>
            <a:r>
              <a:rPr lang="en-US" b="1" dirty="0">
                <a:hlinkClick r:id="rId2"/>
              </a:rPr>
              <a:t>Simpson’s </a:t>
            </a:r>
            <a:r>
              <a:rPr lang="en-US" b="1" dirty="0" err="1">
                <a:hlinkClick r:id="rId2"/>
              </a:rPr>
              <a:t>pardox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Full example and code in </a:t>
            </a:r>
            <a:r>
              <a:rPr lang="en-US" sz="2000" dirty="0" err="1">
                <a:solidFill>
                  <a:schemeClr val="accent1"/>
                </a:solidFill>
              </a:rPr>
              <a:t>SupplementaryMaterials</a:t>
            </a:r>
            <a:r>
              <a:rPr lang="en-US" sz="2000" dirty="0">
                <a:solidFill>
                  <a:schemeClr val="accent1"/>
                </a:solidFill>
              </a:rPr>
              <a:t> directory of GitHub repositor</a:t>
            </a:r>
          </a:p>
          <a:p>
            <a:endParaRPr lang="en-US" sz="3200" b="1" dirty="0"/>
          </a:p>
          <a:p>
            <a:endParaRPr lang="en-US" sz="3200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Pitfalls of Data Mining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E1B14-1F1D-FEA1-B32B-C4BAAAB71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363" y="1097361"/>
            <a:ext cx="6275532" cy="55655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AE6293-4F1B-A5AC-D8C8-2E3FD8A4C6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197" y="1375204"/>
            <a:ext cx="3627434" cy="6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Comparison at Large Scale</a:t>
            </a:r>
          </a:p>
        </p:txBody>
      </p:sp>
    </p:spTree>
    <p:extLst>
      <p:ext uri="{BB962C8B-B14F-4D97-AF65-F5344CB8AC3E}">
        <p14:creationId xmlns:p14="http://schemas.microsoft.com/office/powerpoint/2010/main" val="2510873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757"/>
            <a:ext cx="10515600" cy="5436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False discovery rate (FDR) </a:t>
            </a:r>
            <a:r>
              <a:rPr lang="en-US" sz="3200" dirty="0"/>
              <a:t>control methods</a:t>
            </a:r>
          </a:p>
          <a:p>
            <a:r>
              <a:rPr lang="en-US" dirty="0"/>
              <a:t>FDR control methods limit the false positive rate (Type I errors) </a:t>
            </a:r>
          </a:p>
          <a:p>
            <a:pPr lvl="1"/>
            <a:r>
              <a:rPr lang="en-US" dirty="0"/>
              <a:t>Must limit Type II errors – missed-discoveries   </a:t>
            </a:r>
          </a:p>
          <a:p>
            <a:r>
              <a:rPr lang="en-US" dirty="0"/>
              <a:t>Statistical methods   </a:t>
            </a:r>
          </a:p>
          <a:p>
            <a:pPr lvl="1"/>
            <a:r>
              <a:rPr lang="en-US" dirty="0"/>
              <a:t>Bonferroni correction </a:t>
            </a:r>
          </a:p>
          <a:p>
            <a:pPr lvl="1"/>
            <a:r>
              <a:rPr lang="en-US" dirty="0"/>
              <a:t>Holm’s method</a:t>
            </a:r>
          </a:p>
          <a:p>
            <a:pPr lvl="1"/>
            <a:r>
              <a:rPr lang="en-US" dirty="0"/>
              <a:t>Benjamini-Hochberg FDR control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</p:spTree>
    <p:extLst>
      <p:ext uri="{BB962C8B-B14F-4D97-AF65-F5344CB8AC3E}">
        <p14:creationId xmlns:p14="http://schemas.microsoft.com/office/powerpoint/2010/main" val="392678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Bonferroni correction</a:t>
                </a:r>
                <a:endParaRPr lang="en-US" dirty="0"/>
              </a:p>
              <a:p>
                <a:r>
                  <a:rPr lang="en-US" dirty="0"/>
                  <a:t>For N simultaneous hypothesis tests the Bonferroni corrected cut off is: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Correction is </a:t>
                </a:r>
                <a:r>
                  <a:rPr lang="en-US" b="1" dirty="0"/>
                  <a:t>very conservative  </a:t>
                </a:r>
              </a:p>
              <a:p>
                <a:pPr lvl="1"/>
                <a:r>
                  <a:rPr lang="en-US" dirty="0"/>
                  <a:t>Greatly </a:t>
                </a:r>
                <a:r>
                  <a:rPr lang="en-US" b="1" dirty="0"/>
                  <a:t>reduces detection probability  </a:t>
                </a:r>
              </a:p>
              <a:p>
                <a:pPr lvl="1"/>
                <a:r>
                  <a:rPr lang="en-US" dirty="0"/>
                  <a:t>Increase Type II errors </a:t>
                </a:r>
              </a:p>
              <a:p>
                <a:r>
                  <a:rPr lang="en-US" dirty="0"/>
                  <a:t>Example,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 decisions with threshold of 0.05:  </a:t>
                </a:r>
              </a:p>
              <a:p>
                <a:pPr marL="0" indent="0">
                  <a:buNone/>
                </a:pPr>
                <a:r>
                  <a:rPr lang="en-US" dirty="0"/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0.05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  <a:blipFill>
                <a:blip r:embed="rId3"/>
                <a:stretch>
                  <a:fillRect l="-1217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</p:spTree>
    <p:extLst>
      <p:ext uri="{BB962C8B-B14F-4D97-AF65-F5344CB8AC3E}">
        <p14:creationId xmlns:p14="http://schemas.microsoft.com/office/powerpoint/2010/main" val="1812177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Holm’s method</a:t>
                </a:r>
              </a:p>
              <a:p>
                <a:r>
                  <a:rPr lang="en-US" dirty="0"/>
                  <a:t>Set a </a:t>
                </a:r>
                <a:r>
                  <a:rPr lang="en-US" b="1" dirty="0"/>
                  <a:t>family-wise error rate (FWER)</a:t>
                </a:r>
                <a:r>
                  <a:rPr lang="en-US" dirty="0"/>
                  <a:t>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𝐹𝐸𝑊𝑅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Order the p-values of N hypothesis tests   </a:t>
                </a:r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Apply the cutoff threshold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𝑇h𝑟𝑒𝑠h𝑜𝑙𝑑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More dynamic (less conservative) than Bonferroni correction</a:t>
                </a:r>
              </a:p>
              <a:p>
                <a:pPr lvl="1"/>
                <a:r>
                  <a:rPr lang="en-US" dirty="0"/>
                  <a:t>Cutoff is based on ordered p-values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  <a:blipFill>
                <a:blip r:embed="rId3"/>
                <a:stretch>
                  <a:fillRect l="-1507" t="-23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</p:spTree>
    <p:extLst>
      <p:ext uri="{BB962C8B-B14F-4D97-AF65-F5344CB8AC3E}">
        <p14:creationId xmlns:p14="http://schemas.microsoft.com/office/powerpoint/2010/main" val="55864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757"/>
            <a:ext cx="10515600" cy="5917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Holm’s method: Example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DFA23-00D1-B39B-3DCA-07B91B921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0799" y="1746552"/>
            <a:ext cx="6477561" cy="50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4214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 err="1"/>
                  <a:t>Benjamini</a:t>
                </a:r>
                <a:r>
                  <a:rPr lang="en-US" sz="3200" dirty="0"/>
                  <a:t>-Hochberg FDR Control </a:t>
                </a:r>
              </a:p>
              <a:p>
                <a:r>
                  <a:rPr lang="en-US" dirty="0"/>
                  <a:t>Set threshold for FDR   </a:t>
                </a:r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FDR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Order the p-values of N hypothesis tests   </a:t>
                </a:r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Apply the cutoff threshold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𝑇h𝑟𝑒𝑠h𝑜𝑙𝑑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BH FDR Control is more </a:t>
                </a:r>
                <a:r>
                  <a:rPr lang="en-US" b="1" dirty="0"/>
                  <a:t>dynamic than Holm’s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now in the numerator </a:t>
                </a:r>
              </a:p>
              <a:p>
                <a:pPr marL="0" indent="0">
                  <a:buNone/>
                </a:pPr>
                <a:r>
                  <a:rPr lang="en-US" sz="2000" dirty="0"/>
                  <a:t>For mathematical details see </a:t>
                </a:r>
                <a:r>
                  <a:rPr lang="en-US" sz="2000" dirty="0" err="1">
                    <a:hlinkClick r:id="rId3"/>
                  </a:rPr>
                  <a:t>Efron</a:t>
                </a:r>
                <a:r>
                  <a:rPr lang="en-US" sz="2000" dirty="0">
                    <a:hlinkClick r:id="rId3"/>
                  </a:rPr>
                  <a:t> and Hastie 2016</a:t>
                </a:r>
                <a:r>
                  <a:rPr lang="en-US" sz="2000" dirty="0"/>
                  <a:t>, Sections 15.1, 15.2, 15.3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757"/>
                <a:ext cx="10515600" cy="5436747"/>
              </a:xfrm>
              <a:blipFill>
                <a:blip r:embed="rId4"/>
                <a:stretch>
                  <a:fillRect l="-1507" t="-23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</p:spTree>
    <p:extLst>
      <p:ext uri="{BB962C8B-B14F-4D97-AF65-F5344CB8AC3E}">
        <p14:creationId xmlns:p14="http://schemas.microsoft.com/office/powerpoint/2010/main" val="313045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757"/>
            <a:ext cx="10515600" cy="5655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/>
              <a:t>Benjamini</a:t>
            </a:r>
            <a:r>
              <a:rPr lang="en-US" sz="3200" dirty="0"/>
              <a:t>-Hochberg FDR Control: Example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65769" y="0"/>
            <a:ext cx="1135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Large-Scale Comparison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C56F0B-9A19-8FB2-E4DB-367B2EA0C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1526" y="1720312"/>
            <a:ext cx="6287045" cy="50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026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21652</TotalTime>
  <Words>4426</Words>
  <Application>Microsoft Office PowerPoint</Application>
  <PresentationFormat>Widescreen</PresentationFormat>
  <Paragraphs>627</Paragraphs>
  <Slides>71</Slides>
  <Notes>7</Notes>
  <HiddenSlides>4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Gill Sans MT</vt:lpstr>
      <vt:lpstr>Google Sans</vt:lpstr>
      <vt:lpstr>Rubik</vt:lpstr>
      <vt:lpstr>Wingdings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About This Course</vt:lpstr>
      <vt:lpstr>About your Instructor: Steve Elston</vt:lpstr>
      <vt:lpstr>Teaching Assistant: Tatyana Boland </vt:lpstr>
      <vt:lpstr>Teaching Assistant: Waree Protprommart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Review of Hypothesis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Pitfalls of Large-Scale Data Mining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Comparison at Large Scale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476</cp:revision>
  <cp:lastPrinted>2019-09-03T23:18:19Z</cp:lastPrinted>
  <dcterms:created xsi:type="dcterms:W3CDTF">2019-08-02T23:14:29Z</dcterms:created>
  <dcterms:modified xsi:type="dcterms:W3CDTF">2026-05-04T00:01:51Z</dcterms:modified>
</cp:coreProperties>
</file>