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6" r:id="rId2"/>
    <p:sldId id="383" r:id="rId3"/>
    <p:sldId id="257" r:id="rId4"/>
    <p:sldId id="354" r:id="rId5"/>
    <p:sldId id="353" r:id="rId6"/>
    <p:sldId id="356" r:id="rId7"/>
    <p:sldId id="712" r:id="rId8"/>
    <p:sldId id="288" r:id="rId9"/>
    <p:sldId id="733" r:id="rId10"/>
    <p:sldId id="732" r:id="rId11"/>
    <p:sldId id="724" r:id="rId12"/>
    <p:sldId id="397" r:id="rId13"/>
    <p:sldId id="718" r:id="rId14"/>
    <p:sldId id="723" r:id="rId15"/>
    <p:sldId id="396" r:id="rId16"/>
    <p:sldId id="400" r:id="rId17"/>
    <p:sldId id="352" r:id="rId18"/>
    <p:sldId id="388" r:id="rId19"/>
    <p:sldId id="721" r:id="rId20"/>
    <p:sldId id="402" r:id="rId21"/>
    <p:sldId id="381" r:id="rId22"/>
    <p:sldId id="722" r:id="rId23"/>
    <p:sldId id="395" r:id="rId24"/>
    <p:sldId id="725" r:id="rId25"/>
    <p:sldId id="401" r:id="rId26"/>
    <p:sldId id="713" r:id="rId27"/>
    <p:sldId id="387" r:id="rId28"/>
    <p:sldId id="720" r:id="rId29"/>
    <p:sldId id="382" r:id="rId30"/>
    <p:sldId id="357" r:id="rId31"/>
    <p:sldId id="385" r:id="rId32"/>
    <p:sldId id="359" r:id="rId33"/>
    <p:sldId id="727" r:id="rId34"/>
    <p:sldId id="386" r:id="rId35"/>
    <p:sldId id="714" r:id="rId36"/>
    <p:sldId id="360" r:id="rId37"/>
    <p:sldId id="731" r:id="rId38"/>
    <p:sldId id="374" r:id="rId39"/>
    <p:sldId id="375" r:id="rId40"/>
    <p:sldId id="376" r:id="rId41"/>
    <p:sldId id="734" r:id="rId42"/>
    <p:sldId id="737" r:id="rId43"/>
    <p:sldId id="736" r:id="rId44"/>
    <p:sldId id="735" r:id="rId45"/>
    <p:sldId id="728" r:id="rId46"/>
    <p:sldId id="377" r:id="rId47"/>
    <p:sldId id="729" r:id="rId48"/>
    <p:sldId id="730" r:id="rId49"/>
    <p:sldId id="378" r:id="rId50"/>
    <p:sldId id="379" r:id="rId51"/>
    <p:sldId id="380" r:id="rId52"/>
    <p:sldId id="384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9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sh_collision" TargetMode="External"/><Relationship Id="rId2" Type="http://schemas.openxmlformats.org/officeDocument/2006/relationships/hyperlink" Target="https://en.wikipedia.org/wiki/Birthday_proble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hyperlink" Target="https://en.wikipedia.org/wiki/Hash_table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TA: Eric </a:t>
            </a:r>
            <a:r>
              <a:rPr lang="en-US" dirty="0" err="1">
                <a:latin typeface="+mn-lt"/>
              </a:rPr>
              <a:t>Trucksess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095916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Patent attorney focused on the chemical arts, particularly pharmaceuticals, solid state devices and polymeric coatings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Founder/architect of </a:t>
            </a:r>
            <a:r>
              <a:rPr lang="en-US" sz="2933" dirty="0" err="1">
                <a:cs typeface="Arial" panose="020B0604020202020204" pitchFamily="34" charset="0"/>
              </a:rPr>
              <a:t>HasHave</a:t>
            </a:r>
            <a:r>
              <a:rPr lang="en-US" sz="2933" dirty="0">
                <a:cs typeface="Arial" panose="020B0604020202020204" pitchFamily="34" charset="0"/>
              </a:rPr>
              <a:t>, formerly an online bartering site which facilitated the exchange of goods and services amongst member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Counsel to </a:t>
            </a:r>
            <a:r>
              <a:rPr lang="en-US" sz="2933" dirty="0" err="1">
                <a:cs typeface="Arial" panose="020B0604020202020204" pitchFamily="34" charset="0"/>
              </a:rPr>
              <a:t>RocketFuel</a:t>
            </a:r>
            <a:r>
              <a:rPr lang="en-US" sz="2933" dirty="0">
                <a:cs typeface="Arial" panose="020B0604020202020204" pitchFamily="34" charset="0"/>
              </a:rPr>
              <a:t>, an early-generation targeted marketing firm that applied ML principles in online marketing campaigns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Currently, consultant to a Dubai-based horse racing betting platform assisting in the collection, analysis and digestion of racing data</a:t>
            </a:r>
          </a:p>
        </p:txBody>
      </p:sp>
    </p:spTree>
    <p:extLst>
      <p:ext uri="{BB962C8B-B14F-4D97-AF65-F5344CB8AC3E}">
        <p14:creationId xmlns:p14="http://schemas.microsoft.com/office/powerpoint/2010/main" val="2028118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infinite data –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Large-Scale Statistics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10.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Graph and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144370" y="4418977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058C5-0152-2390-D97D-AB6BB0B5C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78F3F2-F45D-ECCF-E9E9-805FBD9172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 is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78F3F2-F45D-ECCF-E9E9-805FBD9172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E988630-3E71-AF2E-A2B3-DE1DF5E9439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2410844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9F83D-5DFC-29AF-B4FF-9D0545A0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709B48-58A5-623B-9852-30181B5EE4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 startAt="2"/>
                </a:pPr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 is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the chance of success is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709B48-58A5-623B-9852-30181B5EE4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 r="-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CB3FB6-304E-F342-6AED-DDAE3A8C27F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15679491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12079E-A579-442A-F635-1F9B3989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34E94E-8B65-013C-A4FA-49F30AF8ED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34E94E-8B65-013C-A4FA-49F30AF8E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6C775A4-7225-18DA-6A31-640370B86EE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132873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EF50BD-DE05-3210-D4B9-8B33DAC1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FF2D76-4C35-A40C-9269-D6BC220EB9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FF2D76-4C35-A40C-9269-D6BC220EB9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4D4B1D6-DA17-4F02-0980-FCFD3F705CF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11143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function?   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Appropriate for the table or required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399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Hash key collisions   </a:t>
                </a:r>
              </a:p>
              <a:p>
                <a:r>
                  <a:rPr lang="en-US" dirty="0"/>
                  <a:t>Are hash keys always unique? </a:t>
                </a:r>
              </a:p>
              <a:p>
                <a:r>
                  <a:rPr lang="en-US" dirty="0"/>
                  <a:t>No!</a:t>
                </a:r>
              </a:p>
              <a:p>
                <a:r>
                  <a:rPr lang="en-US" dirty="0"/>
                  <a:t>Consider a </a:t>
                </a:r>
                <a:r>
                  <a:rPr lang="en-US" b="1" dirty="0"/>
                  <a:t>division hash </a:t>
                </a:r>
                <a:r>
                  <a:rPr lang="en-US" dirty="0"/>
                  <a:t>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Table is limited to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But even 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there is a probability of key collisions </a:t>
                </a:r>
              </a:p>
              <a:p>
                <a:pPr lvl="1"/>
                <a:r>
                  <a:rPr lang="en-US" dirty="0"/>
                  <a:t>Probabilities are derived analogous to the famous </a:t>
                </a:r>
                <a:r>
                  <a:rPr lang="en-US" b="1" dirty="0">
                    <a:hlinkClick r:id="rId2"/>
                  </a:rPr>
                  <a:t>birthday problem</a:t>
                </a:r>
                <a:endParaRPr lang="en-US" b="1" dirty="0"/>
              </a:p>
              <a:p>
                <a:r>
                  <a:rPr lang="en-US" dirty="0"/>
                  <a:t>Need a </a:t>
                </a:r>
                <a:r>
                  <a:rPr lang="en-US" b="1" dirty="0">
                    <a:hlinkClick r:id="rId3"/>
                  </a:rPr>
                  <a:t>hash collision </a:t>
                </a:r>
                <a:r>
                  <a:rPr lang="en-US" b="1" dirty="0"/>
                  <a:t>resolution </a:t>
                </a:r>
                <a:r>
                  <a:rPr lang="en-US" dirty="0"/>
                  <a:t>mechanism</a:t>
                </a:r>
              </a:p>
              <a:p>
                <a:pPr lvl="1"/>
                <a:r>
                  <a:rPr lang="en-US" dirty="0"/>
                  <a:t>Many algorithms in use</a:t>
                </a:r>
              </a:p>
              <a:p>
                <a:pPr lvl="1"/>
                <a:r>
                  <a:rPr lang="en-US" dirty="0"/>
                  <a:t>Chaining</a:t>
                </a:r>
              </a:p>
              <a:p>
                <a:pPr lvl="1"/>
                <a:r>
                  <a:rPr lang="en-US" dirty="0"/>
                  <a:t>Open Addressing</a:t>
                </a:r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4"/>
                <a:stretch>
                  <a:fillRect l="-1217" t="-2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3194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22179</TotalTime>
  <Words>3513</Words>
  <Application>Microsoft Office PowerPoint</Application>
  <PresentationFormat>Widescreen</PresentationFormat>
  <Paragraphs>492</Paragraphs>
  <Slides>52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Google Sans</vt:lpstr>
      <vt:lpstr>Rubik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About This Course</vt:lpstr>
      <vt:lpstr>About your Instructor: Steve Elston</vt:lpstr>
      <vt:lpstr>About your TA: Jacqueline Hardy</vt:lpstr>
      <vt:lpstr>About your TA: Eric Trucksess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498</cp:revision>
  <cp:lastPrinted>2019-09-03T23:18:19Z</cp:lastPrinted>
  <dcterms:created xsi:type="dcterms:W3CDTF">2019-08-02T23:14:29Z</dcterms:created>
  <dcterms:modified xsi:type="dcterms:W3CDTF">2026-05-20T03:33:49Z</dcterms:modified>
</cp:coreProperties>
</file>