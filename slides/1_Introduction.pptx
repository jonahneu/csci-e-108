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88" r:id="rId12"/>
    <p:sldId id="724" r:id="rId13"/>
    <p:sldId id="397" r:id="rId14"/>
    <p:sldId id="718" r:id="rId15"/>
    <p:sldId id="790" r:id="rId16"/>
    <p:sldId id="791" r:id="rId17"/>
    <p:sldId id="792" r:id="rId18"/>
    <p:sldId id="783" r:id="rId19"/>
    <p:sldId id="786" r:id="rId20"/>
    <p:sldId id="723" r:id="rId21"/>
    <p:sldId id="396" r:id="rId22"/>
    <p:sldId id="400" r:id="rId23"/>
    <p:sldId id="352" r:id="rId24"/>
    <p:sldId id="388" r:id="rId25"/>
    <p:sldId id="721" r:id="rId26"/>
    <p:sldId id="381" r:id="rId27"/>
    <p:sldId id="722" r:id="rId28"/>
    <p:sldId id="402" r:id="rId29"/>
    <p:sldId id="789" r:id="rId30"/>
    <p:sldId id="395" r:id="rId31"/>
    <p:sldId id="793" r:id="rId32"/>
    <p:sldId id="725" r:id="rId33"/>
    <p:sldId id="401" r:id="rId34"/>
    <p:sldId id="713" r:id="rId35"/>
    <p:sldId id="784" r:id="rId36"/>
    <p:sldId id="387" r:id="rId37"/>
    <p:sldId id="720" r:id="rId38"/>
    <p:sldId id="382" r:id="rId39"/>
    <p:sldId id="787" r:id="rId40"/>
    <p:sldId id="357" r:id="rId41"/>
    <p:sldId id="385" r:id="rId42"/>
    <p:sldId id="359" r:id="rId43"/>
    <p:sldId id="727" r:id="rId44"/>
    <p:sldId id="386" r:id="rId45"/>
    <p:sldId id="714" r:id="rId46"/>
    <p:sldId id="360" r:id="rId47"/>
    <p:sldId id="731" r:id="rId48"/>
    <p:sldId id="374" r:id="rId49"/>
    <p:sldId id="375" r:id="rId50"/>
    <p:sldId id="738" r:id="rId51"/>
    <p:sldId id="377" r:id="rId52"/>
    <p:sldId id="729" r:id="rId53"/>
    <p:sldId id="730" r:id="rId54"/>
    <p:sldId id="739" r:id="rId55"/>
    <p:sldId id="376" r:id="rId56"/>
    <p:sldId id="728" r:id="rId57"/>
    <p:sldId id="379" r:id="rId58"/>
    <p:sldId id="380" r:id="rId59"/>
    <p:sldId id="742" r:id="rId60"/>
    <p:sldId id="743" r:id="rId61"/>
    <p:sldId id="744" r:id="rId62"/>
    <p:sldId id="785" r:id="rId63"/>
    <p:sldId id="740" r:id="rId64"/>
    <p:sldId id="384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32D8-8557-DB3F-21D4-44232170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F28B5-2A3C-A662-5BB5-01105BF0A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79AF0-4020-16F8-FE7C-1DFA6EF33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BC192-EE75-6410-B5BC-D0850C0AE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3schools.com/git/git_intro.asp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3600" dirty="0">
                <a:latin typeface="+mn-lt"/>
              </a:rPr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LLMs have a growing impact on data mining     </a:t>
                </a:r>
              </a:p>
              <a:p>
                <a:r>
                  <a:rPr lang="en-US" dirty="0"/>
                  <a:t>LLMs can achieve high accuracy for some tasks   </a:t>
                </a:r>
              </a:p>
              <a:p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dirty="0"/>
                  <a:t>High computational costs at web scale</a:t>
                </a:r>
              </a:p>
              <a:p>
                <a:pPr lvl="1"/>
                <a:r>
                  <a:rPr lang="en-US" dirty="0"/>
                  <a:t>Long latency limits real-time response application</a:t>
                </a:r>
              </a:p>
              <a:p>
                <a:r>
                  <a:rPr lang="en-US" b="1" dirty="0"/>
                  <a:t>LLM costs are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large-scale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61C0-94BA-AAF3-1841-9ED3BEFB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4DCB-0BC6-C446-7D6F-3117CCC0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792A-FD07-5D4A-F979-A142BE750E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At massive scale we must consider the trade-off between </a:t>
            </a:r>
          </a:p>
          <a:p>
            <a:pPr lvl="1"/>
            <a:r>
              <a:rPr lang="en-US" dirty="0">
                <a:latin typeface="+mn-lt"/>
              </a:rPr>
              <a:t>Computational complexity  </a:t>
            </a:r>
          </a:p>
          <a:p>
            <a:pPr lvl="1"/>
            <a:r>
              <a:rPr lang="en-US" dirty="0">
                <a:latin typeface="+mn-lt"/>
              </a:rPr>
              <a:t>Memory requirements</a:t>
            </a:r>
          </a:p>
          <a:p>
            <a:pPr lvl="1"/>
            <a:r>
              <a:rPr lang="en-US" dirty="0">
                <a:latin typeface="+mn-lt"/>
              </a:rPr>
              <a:t>Accuracy of results  </a:t>
            </a:r>
          </a:p>
          <a:p>
            <a:r>
              <a:rPr lang="en-US" dirty="0">
                <a:latin typeface="+mn-lt"/>
              </a:rPr>
              <a:t>LLMs can achieve high accuracy at a high cost</a:t>
            </a:r>
          </a:p>
          <a:p>
            <a:r>
              <a:rPr lang="en-US" dirty="0">
                <a:latin typeface="+mn-lt"/>
              </a:rPr>
              <a:t>At massive scale we trade-off accuracy for scalability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E1FA1535-CB4E-24DD-A018-DF9111ADB986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D7A4-743A-327E-6122-5FDA10FAB93C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88049-66D1-78AC-E09E-24259CF542ED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6494F-27B6-7352-1B75-8AEF19C2B9AA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84D42-CB03-C7C9-C97A-8F0C43E3A4D2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76CC0-8974-8C5F-7CED-ADD2757D0E18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62949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73AC7-5FAE-B3F8-CB3D-7ABE322C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4F65C-AE3A-BA7F-19EA-7001BD7A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Where do LLMs fit into data </a:t>
            </a:r>
            <a:r>
              <a:rPr lang="en-US" sz="3200" dirty="0" err="1"/>
              <a:t>minning</a:t>
            </a:r>
            <a:r>
              <a:rPr lang="en-US" sz="3200" dirty="0"/>
              <a:t> at massive scale?</a:t>
            </a:r>
            <a:endParaRPr lang="en-US" sz="3200" b="1" dirty="0"/>
          </a:p>
          <a:p>
            <a:r>
              <a:rPr lang="en-US" dirty="0"/>
              <a:t>LLM algorithms use retrieval augmented generation (RAG) to guide generation  </a:t>
            </a:r>
          </a:p>
          <a:p>
            <a:pPr lvl="1"/>
            <a:r>
              <a:rPr lang="en-US" dirty="0"/>
              <a:t>RAG algorithms require massive scale similarity search, a core data mining topic </a:t>
            </a:r>
          </a:p>
          <a:p>
            <a:r>
              <a:rPr lang="en-US" dirty="0"/>
              <a:t>Often use highly scalable algorithms as filter then apply LLM</a:t>
            </a:r>
          </a:p>
          <a:p>
            <a:pPr lvl="1"/>
            <a:r>
              <a:rPr lang="en-US" dirty="0"/>
              <a:t>Example: in document search use massively scalable algorithm as filter, with LLM used as </a:t>
            </a:r>
            <a:r>
              <a:rPr lang="en-US" b="1" dirty="0" err="1"/>
              <a:t>reranker</a:t>
            </a:r>
            <a:r>
              <a:rPr lang="en-US" dirty="0"/>
              <a:t> for refinement </a:t>
            </a:r>
          </a:p>
          <a:p>
            <a:pPr lvl="1"/>
            <a:r>
              <a:rPr lang="en-US" dirty="0"/>
              <a:t>More efficient methods available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689192-8B3A-A810-B0C6-30704ECCBFA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91837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Expect 8 assignment in 7 weeks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/>
              <a:t>Updated assignment notebooks and slides will be placed in the repository 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LLM generated code lets us test ideas quickly </a:t>
            </a:r>
          </a:p>
          <a:p>
            <a:pPr lvl="1"/>
            <a:r>
              <a:rPr lang="en-US" dirty="0"/>
              <a:t>It’s the way we do things these days!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Hashing and key-value pair management are foundations of working with massive datasets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a scalar, typically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24195</TotalTime>
  <Words>4266</Words>
  <Application>Microsoft Office PowerPoint</Application>
  <PresentationFormat>Widescreen</PresentationFormat>
  <Paragraphs>599</Paragraphs>
  <Slides>64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3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T.A.: Eric Trucksess 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545</cp:revision>
  <cp:lastPrinted>2019-09-03T23:18:19Z</cp:lastPrinted>
  <dcterms:created xsi:type="dcterms:W3CDTF">2019-08-02T23:14:29Z</dcterms:created>
  <dcterms:modified xsi:type="dcterms:W3CDTF">2026-06-21T14:58:45Z</dcterms:modified>
</cp:coreProperties>
</file>