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57"/>
  </p:notesMasterIdLst>
  <p:sldIdLst>
    <p:sldId id="256" r:id="rId2"/>
    <p:sldId id="383" r:id="rId3"/>
    <p:sldId id="257" r:id="rId4"/>
    <p:sldId id="354" r:id="rId5"/>
    <p:sldId id="353" r:id="rId6"/>
    <p:sldId id="356" r:id="rId7"/>
    <p:sldId id="782" r:id="rId8"/>
    <p:sldId id="712" r:id="rId9"/>
    <p:sldId id="288" r:id="rId10"/>
    <p:sldId id="733" r:id="rId11"/>
    <p:sldId id="732" r:id="rId12"/>
    <p:sldId id="724" r:id="rId13"/>
    <p:sldId id="397" r:id="rId14"/>
    <p:sldId id="718" r:id="rId15"/>
    <p:sldId id="723" r:id="rId16"/>
    <p:sldId id="783" r:id="rId17"/>
    <p:sldId id="396" r:id="rId18"/>
    <p:sldId id="400" r:id="rId19"/>
    <p:sldId id="352" r:id="rId20"/>
    <p:sldId id="388" r:id="rId21"/>
    <p:sldId id="721" r:id="rId22"/>
    <p:sldId id="402" r:id="rId23"/>
    <p:sldId id="381" r:id="rId24"/>
    <p:sldId id="722" r:id="rId25"/>
    <p:sldId id="395" r:id="rId26"/>
    <p:sldId id="725" r:id="rId27"/>
    <p:sldId id="401" r:id="rId28"/>
    <p:sldId id="713" r:id="rId29"/>
    <p:sldId id="387" r:id="rId30"/>
    <p:sldId id="720" r:id="rId31"/>
    <p:sldId id="382" r:id="rId32"/>
    <p:sldId id="357" r:id="rId33"/>
    <p:sldId id="385" r:id="rId34"/>
    <p:sldId id="359" r:id="rId35"/>
    <p:sldId id="727" r:id="rId36"/>
    <p:sldId id="386" r:id="rId37"/>
    <p:sldId id="714" r:id="rId38"/>
    <p:sldId id="360" r:id="rId39"/>
    <p:sldId id="731" r:id="rId40"/>
    <p:sldId id="374" r:id="rId41"/>
    <p:sldId id="375" r:id="rId42"/>
    <p:sldId id="738" r:id="rId43"/>
    <p:sldId id="377" r:id="rId44"/>
    <p:sldId id="729" r:id="rId45"/>
    <p:sldId id="730" r:id="rId46"/>
    <p:sldId id="739" r:id="rId47"/>
    <p:sldId id="376" r:id="rId48"/>
    <p:sldId id="728" r:id="rId49"/>
    <p:sldId id="379" r:id="rId50"/>
    <p:sldId id="380" r:id="rId51"/>
    <p:sldId id="742" r:id="rId52"/>
    <p:sldId id="743" r:id="rId53"/>
    <p:sldId id="744" r:id="rId54"/>
    <p:sldId id="740" r:id="rId55"/>
    <p:sldId id="384" r:id="rId5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0" d="100"/>
          <a:sy n="70" d="100"/>
        </p:scale>
        <p:origin x="82" y="11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presProps" Target="presProps.xml"/><Relationship Id="rId5" Type="http://schemas.openxmlformats.org/officeDocument/2006/relationships/slide" Target="slides/slide4.xml"/><Relationship Id="rId61" Type="http://schemas.openxmlformats.org/officeDocument/2006/relationships/tableStyles" Target="tableStyles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viewProps" Target="view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F3ABF1A-8818-4472-8518-E71DC7B5D2F7}" type="datetimeFigureOut">
              <a:rPr lang="en-US" smtClean="0"/>
              <a:t>6/16/2026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33E01E3-981B-4CB5-81ED-65C622C255C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928927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79087D-0DC7-6EEE-97E4-397D8D5393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ECD0DAB-0CC1-C222-2E07-FB5FDB4F089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5B64B4D-5979-0A6D-0EC2-F12F11AC3E8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305FF45-43DE-E9BB-8216-D041F138DD5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865817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F86250-30B3-4440-B9CA-6CD89E84219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76C1D0E-F224-4DFC-B433-DDBEB8C695A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C52B76A-D542-4D6C-BC2A-9D5525ACBD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4A31BF-7266-4BEB-918B-ADC21C630A6F}" type="datetimeFigureOut">
              <a:rPr lang="en-US" smtClean="0"/>
              <a:t>6/16/2026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3D8C785-3E64-4E7E-98F2-79BBF4577A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87E6299-FBED-46F4-A1D3-99A0644991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75037E-CA28-4CDA-B6A5-29C59D4F28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646538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0CBD87-9830-4447-9A42-E70DBB0CC5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DFAC98E-45EF-45BA-976D-099EB8DA420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8D6A0C5-2664-4154-9CF3-A792DC121C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4A31BF-7266-4BEB-918B-ADC21C630A6F}" type="datetimeFigureOut">
              <a:rPr lang="en-US" smtClean="0"/>
              <a:t>6/16/2026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03AC4A1-FBD2-4367-957A-935CAAE2C2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4564DFC-3150-4671-90C7-B0ED2580A2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75037E-CA28-4CDA-B6A5-29C59D4F28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562139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8C3A94-80B1-417B-9F26-32486FD2D8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54A8258-5E15-4DA3-BD35-585D0038DA8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15EBE7A-D80D-4349-88B2-488A581A4F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4A31BF-7266-4BEB-918B-ADC21C630A6F}" type="datetimeFigureOut">
              <a:rPr lang="en-US" smtClean="0"/>
              <a:t>6/16/2026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AB7FBCF-C82F-4BD2-B20D-9D01D88DB3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280174E-D45E-4CF5-9882-29D8EA2127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75037E-CA28-4CDA-B6A5-29C59D4F28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281714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AF22EE-D66A-4384-8FBF-AE9323A945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9457945-5425-4641-9A85-0724E332253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3702B06-7F24-4709-A7AF-77EA3DFE846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90C8399-DF95-481E-B8B8-A3FB0B0077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4A31BF-7266-4BEB-918B-ADC21C630A6F}" type="datetimeFigureOut">
              <a:rPr lang="en-US" smtClean="0"/>
              <a:t>6/16/2026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525B9E1-00EB-4CA2-BED7-78A8153852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963F716-9AC8-4D98-BEDB-857C00CA8B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75037E-CA28-4CDA-B6A5-29C59D4F28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508076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1B6F69-C710-4DA5-A3D7-E64030260B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256E246-481C-4B82-9AC7-7B2337E2083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B678B35-3306-4056-8457-1A8FC16700D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DA9624D-F9B2-45D2-98DB-ECB59C206FD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13D4646-020E-4233-86AE-5CE820054B7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6528D41-33BB-4B17-8AC2-2106431BD9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4A31BF-7266-4BEB-918B-ADC21C630A6F}" type="datetimeFigureOut">
              <a:rPr lang="en-US" smtClean="0"/>
              <a:t>6/16/2026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A23C38A-C699-4D18-AD06-A4621D5B6B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E85F1D2-3D93-4037-AA24-D8751337F6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75037E-CA28-4CDA-B6A5-29C59D4F28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071248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D7CF31-9AA8-4EE2-B6AB-127334CFB0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86D4985-EFCD-400D-BB88-D85EDEF05D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4A31BF-7266-4BEB-918B-ADC21C630A6F}" type="datetimeFigureOut">
              <a:rPr lang="en-US" smtClean="0"/>
              <a:t>6/16/2026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6BB81C6-D770-48CD-BD8A-B8935628C5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9B224D0-B6EF-4B28-A989-BDD4DC8640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75037E-CA28-4CDA-B6A5-29C59D4F28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99270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083803B-67FD-4A0B-A677-3220D1F81C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4A31BF-7266-4BEB-918B-ADC21C630A6F}" type="datetimeFigureOut">
              <a:rPr lang="en-US" smtClean="0"/>
              <a:t>6/16/2026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D936502-1388-404F-94BD-9C3DA6852B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B2CC76E-3282-460C-84B6-4D6B6352F3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75037E-CA28-4CDA-B6A5-29C59D4F28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910190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E0AA7C-2267-4709-A257-F71289FF25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1713FF-D5EF-4654-B7CC-C038F73F5B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0D6FAF7-52CF-49B6-9F27-9EA41739A12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3FC308E-739E-4EA4-BA18-D65202608D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4A31BF-7266-4BEB-918B-ADC21C630A6F}" type="datetimeFigureOut">
              <a:rPr lang="en-US" smtClean="0"/>
              <a:t>6/16/2026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E5D6736-265F-4B5C-9E70-82FD586142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1C94178-C5F6-4C8A-9D8D-DBBB0A8C48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75037E-CA28-4CDA-B6A5-29C59D4F28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187984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711154-F589-4F2B-8983-57CFD19459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58E3F7B-7142-4D69-A621-2DD003311C6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899B56F-F30F-4059-82A6-F673E474469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090AC98-FA8A-42C8-A825-FBC2E537DD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4A31BF-7266-4BEB-918B-ADC21C630A6F}" type="datetimeFigureOut">
              <a:rPr lang="en-US" smtClean="0"/>
              <a:t>6/16/2026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840DC8D-DB4A-47BC-999E-80DD8D8F06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40DA44B-31A1-41AB-A99A-BD9A91A195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75037E-CA28-4CDA-B6A5-29C59D4F28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488185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E516EB-AEB6-4719-A991-E1B5007A8F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9C601E9-1673-4529-8E82-4D2328D5E00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29D1A43-853D-4BDC-B5E3-CFE7AE2AAB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4A31BF-7266-4BEB-918B-ADC21C630A6F}" type="datetimeFigureOut">
              <a:rPr lang="en-US" smtClean="0"/>
              <a:t>6/16/2026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D2D5CC1-1AD5-4BB9-A44A-D37C157B7C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2C1E12C-CA02-4235-90BB-F6DF596100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75037E-CA28-4CDA-B6A5-29C59D4F28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086376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641E0C5-28B4-4838-8E2B-1BD5D4C259F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9C560D2-302D-4DD4-AA00-D9CEA6D2388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F2E13BB-C370-4AE0-9CBF-7E1E19FBCA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4A31BF-7266-4BEB-918B-ADC21C630A6F}" type="datetimeFigureOut">
              <a:rPr lang="en-US" smtClean="0"/>
              <a:t>6/16/2026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0ABF809-056F-4465-8874-D899218E01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3469C55-4EC9-48A6-88D7-99BED028FD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75037E-CA28-4CDA-B6A5-29C59D4F28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767154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latin typeface="Segoe UI" panose="020B05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10"/>
          </p:nvPr>
        </p:nvSpPr>
        <p:spPr>
          <a:xfrm>
            <a:off x="379413" y="1388226"/>
            <a:ext cx="11525250" cy="5290388"/>
          </a:xfrm>
          <a:prstGeom prst="rect">
            <a:avLst/>
          </a:prstGeom>
        </p:spPr>
        <p:txBody>
          <a:bodyPr/>
          <a:lstStyle>
            <a:lvl1pPr>
              <a:spcBef>
                <a:spcPts val="1400"/>
              </a:spcBef>
              <a:defRPr b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>
              <a:defRPr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>
              <a:defRPr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>
              <a:defRPr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>
              <a:defRPr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13062994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4A17A88-BD75-4F29-BB74-11A272EE56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C912DA4-722C-4380-AB08-EEA9F8D9F5D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96934F8-D72B-4919-920A-B3D01C66679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E4A31BF-7266-4BEB-918B-ADC21C630A6F}" type="datetimeFigureOut">
              <a:rPr lang="en-US" smtClean="0"/>
              <a:t>6/16/2026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569615E-63DF-436B-99F6-DD30AF2FE37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92725D5-D116-40CF-A73B-BD45313E6B9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B75037E-CA28-4CDA-B6A5-29C59D4F28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6931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StephenElston/CSCI-E-108" TargetMode="Externa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hyperlink" Target="https://global.oup.com/academic/product/networks-9780198805090?cc=us&amp;lang=en&amp;" TargetMode="External"/><Relationship Id="rId2" Type="http://schemas.openxmlformats.org/officeDocument/2006/relationships/hyperlink" Target="http://mmds.org/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shop.elsevier.com/books/data-mining/han/978-0-12-811760-6" TargetMode="External"/><Relationship Id="rId5" Type="http://schemas.openxmlformats.org/officeDocument/2006/relationships/hyperlink" Target="https://www.manning.com/books/advanced-algorithms-and-data-structures" TargetMode="External"/><Relationship Id="rId4" Type="http://schemas.openxmlformats.org/officeDocument/2006/relationships/hyperlink" Target="https://www.manning.com/books/algorithms-and-data-structures-for-massive-datasets" TargetMode="Externa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tutorialspoint.com/data_structures_algorithms/hash_data_structure.htm" TargetMode="External"/><Relationship Id="rId2" Type="http://schemas.openxmlformats.org/officeDocument/2006/relationships/hyperlink" Target="https://www.tutorialspoint.com/Hash-Functions-and-Hash-Tables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1.png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0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0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0.png"/><Relationship Id="rId2" Type="http://schemas.openxmlformats.org/officeDocument/2006/relationships/hyperlink" Target="https://en.wikipedia.org/wiki/Hash_table#Separate_chaining" TargetMode="Externa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en.wikipedia.org/wiki/Hash_table" TargetMode="External"/><Relationship Id="rId4" Type="http://schemas.openxmlformats.org/officeDocument/2006/relationships/image" Target="../media/image11.png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Linear_probing" TargetMode="External"/><Relationship Id="rId2" Type="http://schemas.openxmlformats.org/officeDocument/2006/relationships/hyperlink" Target="https://en.wikipedia.org/wiki/Open_addressing" TargetMode="Externa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2.png"/><Relationship Id="rId4" Type="http://schemas.openxmlformats.org/officeDocument/2006/relationships/hyperlink" Target="https://en.wikipedia.org/wiki/Hash_table" TargetMode="Externa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DEAD34-FE4D-4A41-82A2-22361563126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78294" y="1122363"/>
            <a:ext cx="9601200" cy="2387600"/>
          </a:xfrm>
        </p:spPr>
        <p:txBody>
          <a:bodyPr>
            <a:normAutofit fontScale="90000"/>
          </a:bodyPr>
          <a:lstStyle/>
          <a:p>
            <a:r>
              <a:rPr lang="en-US" dirty="0">
                <a:latin typeface="+mn-lt"/>
              </a:rPr>
              <a:t>CSCI E-108</a:t>
            </a:r>
            <a:br>
              <a:rPr lang="en-US" dirty="0">
                <a:latin typeface="+mn-lt"/>
              </a:rPr>
            </a:br>
            <a:r>
              <a:rPr lang="en-US" dirty="0">
                <a:latin typeface="+mn-lt"/>
              </a:rPr>
              <a:t>Data Mining, Discovery and Exploration</a:t>
            </a:r>
            <a:br>
              <a:rPr lang="en-US" dirty="0">
                <a:latin typeface="+mn-lt"/>
              </a:rPr>
            </a:br>
            <a:r>
              <a:rPr lang="en-US" dirty="0">
                <a:latin typeface="+mn-lt"/>
              </a:rPr>
              <a:t>Introduction and Pitfalls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25A855A-A2B4-41D5-81C1-CAA6D45AA9D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494102"/>
          </a:xfrm>
        </p:spPr>
        <p:txBody>
          <a:bodyPr/>
          <a:lstStyle/>
          <a:p>
            <a:r>
              <a:rPr lang="en-US" dirty="0"/>
              <a:t>Steve Elston</a:t>
            </a:r>
          </a:p>
          <a:p>
            <a:endParaRPr lang="en-US" dirty="0"/>
          </a:p>
        </p:txBody>
      </p:sp>
      <p:pic>
        <p:nvPicPr>
          <p:cNvPr id="1026" name="Picture 2" descr="Image result for harvard extension school logo">
            <a:extLst>
              <a:ext uri="{FF2B5EF4-FFF2-40B4-BE49-F238E27FC236}">
                <a16:creationId xmlns:a16="http://schemas.microsoft.com/office/drawing/2014/main" id="{0512F5AD-ED64-4E88-80AB-F8D75DDF288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17158" y="4791269"/>
            <a:ext cx="3333750" cy="1371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E89681F1-0F76-4799-8371-9552B4345F58}"/>
              </a:ext>
            </a:extLst>
          </p:cNvPr>
          <p:cNvSpPr txBox="1"/>
          <p:nvPr/>
        </p:nvSpPr>
        <p:spPr>
          <a:xfrm>
            <a:off x="3348567" y="6421967"/>
            <a:ext cx="574463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/>
              <a:t>Copyright 2021, 2022, 2023 2024, 2025, 2026 Stephen F Elston. All rights reserved</a:t>
            </a:r>
            <a:r>
              <a:rPr lang="en-US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36505672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What is data mining? </a:t>
            </a:r>
          </a:p>
          <a:p>
            <a:pPr lvl="1"/>
            <a:r>
              <a:rPr lang="en-US" dirty="0"/>
              <a:t>Data mining is the science of </a:t>
            </a:r>
            <a:r>
              <a:rPr lang="en-US" b="1" dirty="0"/>
              <a:t>knowledge discovery  </a:t>
            </a:r>
          </a:p>
          <a:p>
            <a:r>
              <a:rPr lang="en-US" dirty="0"/>
              <a:t>About this course  </a:t>
            </a:r>
          </a:p>
          <a:p>
            <a:r>
              <a:rPr lang="en-US" dirty="0"/>
              <a:t>Data mining often uses massive data sets</a:t>
            </a:r>
          </a:p>
          <a:p>
            <a:pPr lvl="1"/>
            <a:r>
              <a:rPr lang="en-US" dirty="0"/>
              <a:t>Manage massive data with key-values pairs </a:t>
            </a:r>
          </a:p>
          <a:p>
            <a:pPr lvl="1"/>
            <a:r>
              <a:rPr lang="en-US" dirty="0"/>
              <a:t>Efficient management of key-value pairs requires hashing </a:t>
            </a:r>
          </a:p>
          <a:p>
            <a:endParaRPr lang="en-US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Overview of Today’s Lesson</a:t>
            </a:r>
          </a:p>
        </p:txBody>
      </p:sp>
    </p:spTree>
    <p:extLst>
      <p:ext uri="{BB962C8B-B14F-4D97-AF65-F5344CB8AC3E}">
        <p14:creationId xmlns:p14="http://schemas.microsoft.com/office/powerpoint/2010/main" val="24824265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Data mining is the science of </a:t>
            </a:r>
            <a:r>
              <a:rPr lang="en-US" b="1" dirty="0"/>
              <a:t>actionable knowledge discovery</a:t>
            </a:r>
            <a:r>
              <a:rPr lang="en-US" dirty="0"/>
              <a:t> from inferences on massive datasets </a:t>
            </a:r>
            <a:endParaRPr lang="en-US" b="1" dirty="0"/>
          </a:p>
          <a:p>
            <a:r>
              <a:rPr lang="en-US" dirty="0"/>
              <a:t>Known as </a:t>
            </a:r>
            <a:r>
              <a:rPr lang="en-US" b="1" dirty="0"/>
              <a:t>knowledge discovery and data mining (KDD) </a:t>
            </a:r>
          </a:p>
          <a:p>
            <a:r>
              <a:rPr lang="en-US" dirty="0"/>
              <a:t>Data mining is an </a:t>
            </a:r>
            <a:r>
              <a:rPr lang="en-US" b="1" dirty="0"/>
              <a:t>iterative process of exploration   </a:t>
            </a:r>
          </a:p>
          <a:p>
            <a:r>
              <a:rPr lang="en-US" dirty="0"/>
              <a:t>Exploration is difficult   </a:t>
            </a:r>
          </a:p>
          <a:p>
            <a:pPr lvl="1"/>
            <a:r>
              <a:rPr lang="en-US" dirty="0"/>
              <a:t>Many steps</a:t>
            </a:r>
          </a:p>
          <a:p>
            <a:pPr lvl="1"/>
            <a:r>
              <a:rPr lang="en-US" dirty="0"/>
              <a:t>Only some attempts work </a:t>
            </a:r>
          </a:p>
          <a:p>
            <a:r>
              <a:rPr lang="en-US" b="1" dirty="0">
                <a:solidFill>
                  <a:srgbClr val="C00000"/>
                </a:solidFill>
              </a:rPr>
              <a:t>Try lots of ideas, fail fast, keep the ones that work! </a:t>
            </a:r>
          </a:p>
          <a:p>
            <a:pPr lvl="1"/>
            <a:r>
              <a:rPr lang="en-US" b="1" dirty="0"/>
              <a:t>Keep this in mind when doing your graduate project!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What is data mining?</a:t>
            </a:r>
          </a:p>
        </p:txBody>
      </p:sp>
    </p:spTree>
    <p:extLst>
      <p:ext uri="{BB962C8B-B14F-4D97-AF65-F5344CB8AC3E}">
        <p14:creationId xmlns:p14="http://schemas.microsoft.com/office/powerpoint/2010/main" val="1154201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Data mining (KDD) is generally performed at </a:t>
            </a:r>
            <a:r>
              <a:rPr lang="en-US" b="1" dirty="0"/>
              <a:t>large scale </a:t>
            </a:r>
          </a:p>
          <a:p>
            <a:r>
              <a:rPr lang="en-US" dirty="0"/>
              <a:t>Dataset size has grown nearly exponentially  </a:t>
            </a:r>
          </a:p>
          <a:p>
            <a:r>
              <a:rPr lang="en-US" dirty="0"/>
              <a:t>More importantly, </a:t>
            </a:r>
            <a:r>
              <a:rPr lang="en-US" b="1" dirty="0"/>
              <a:t>dataset and problem complexity has grown</a:t>
            </a:r>
          </a:p>
          <a:p>
            <a:r>
              <a:rPr lang="en-US" dirty="0"/>
              <a:t>Data mining is at the intersection of several subjects   </a:t>
            </a:r>
          </a:p>
          <a:p>
            <a:pPr lvl="1"/>
            <a:r>
              <a:rPr lang="en-US" b="1" dirty="0"/>
              <a:t>Statistics:</a:t>
            </a:r>
            <a:r>
              <a:rPr lang="en-US" dirty="0"/>
              <a:t> What of significance can we learn from the data? </a:t>
            </a:r>
          </a:p>
          <a:p>
            <a:pPr lvl="1"/>
            <a:r>
              <a:rPr lang="en-US" b="1" dirty="0"/>
              <a:t>Mathematics:</a:t>
            </a:r>
            <a:r>
              <a:rPr lang="en-US" dirty="0"/>
              <a:t> How do we represent a model of the data as, say, a graph?</a:t>
            </a:r>
          </a:p>
          <a:p>
            <a:pPr lvl="1"/>
            <a:r>
              <a:rPr lang="en-US" b="1" dirty="0"/>
              <a:t>Algorithms: </a:t>
            </a:r>
            <a:r>
              <a:rPr lang="en-US" dirty="0"/>
              <a:t>How do we efficiently find important relationships in massive datasets? </a:t>
            </a:r>
          </a:p>
          <a:p>
            <a:pPr lvl="1"/>
            <a:r>
              <a:rPr lang="en-US" b="1" dirty="0"/>
              <a:t>Technology:</a:t>
            </a:r>
            <a:r>
              <a:rPr lang="en-US" dirty="0"/>
              <a:t> How do we manage and process massive datasets? </a:t>
            </a:r>
            <a:endParaRPr lang="en-US" b="1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What is data mining?</a:t>
            </a:r>
          </a:p>
        </p:txBody>
      </p:sp>
    </p:spTree>
    <p:extLst>
      <p:ext uri="{BB962C8B-B14F-4D97-AF65-F5344CB8AC3E}">
        <p14:creationId xmlns:p14="http://schemas.microsoft.com/office/powerpoint/2010/main" val="699869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17458"/>
            <a:ext cx="10515600" cy="5640542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sz="3200" dirty="0"/>
              <a:t>What is the KDD process?   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>
              <a:solidFill>
                <a:schemeClr val="accent1"/>
              </a:solidFill>
            </a:endParaRPr>
          </a:p>
          <a:p>
            <a:pPr marL="0" indent="0">
              <a:buNone/>
            </a:pPr>
            <a:endParaRPr lang="en-US" dirty="0">
              <a:solidFill>
                <a:schemeClr val="accent1"/>
              </a:solidFill>
            </a:endParaRPr>
          </a:p>
          <a:p>
            <a:pPr marL="0" indent="0">
              <a:buNone/>
            </a:pPr>
            <a:endParaRPr lang="en-US" dirty="0">
              <a:solidFill>
                <a:schemeClr val="accent1"/>
              </a:solidFill>
            </a:endParaRPr>
          </a:p>
          <a:p>
            <a:pPr marL="0" indent="0">
              <a:buNone/>
            </a:pPr>
            <a:r>
              <a:rPr lang="en-US" dirty="0">
                <a:solidFill>
                  <a:schemeClr val="accent1"/>
                </a:solidFill>
              </a:rPr>
              <a:t>Is this old diagram representative?  - e.g. Fayyad et.al. 1996 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KDD process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1A10601-345E-4A04-878A-28FFF71506B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1375" y="1651145"/>
            <a:ext cx="8488232" cy="44047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113507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17458"/>
            <a:ext cx="10515600" cy="485939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sz="3200" dirty="0"/>
              <a:t>What is the KDD process?   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KDD process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1A10601-345E-4A04-878A-28FFF71506B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6610" y="2168435"/>
            <a:ext cx="6121998" cy="3176886"/>
          </a:xfrm>
          <a:prstGeom prst="rect">
            <a:avLst/>
          </a:prstGeom>
        </p:spPr>
      </p:pic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DBC99F37-3CFD-4C3B-8CF6-AEDE11B202D2}"/>
              </a:ext>
            </a:extLst>
          </p:cNvPr>
          <p:cNvSpPr txBox="1">
            <a:spLocks/>
          </p:cNvSpPr>
          <p:nvPr/>
        </p:nvSpPr>
        <p:spPr>
          <a:xfrm>
            <a:off x="6787461" y="1217458"/>
            <a:ext cx="5116757" cy="5310803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/>
              <a:t>Is this diagram representative of today’s process?</a:t>
            </a:r>
          </a:p>
          <a:p>
            <a:r>
              <a:rPr lang="en-US" dirty="0"/>
              <a:t>Perhaps or perhaps not? 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dirty="0"/>
              <a:t>Must have a clear idea of goal!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dirty="0"/>
              <a:t>Multiple complex data sources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dirty="0"/>
              <a:t>Need to perform in-depth exploration of data and inferences at every step!!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dirty="0"/>
              <a:t>Storage of intermediate results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dirty="0"/>
              <a:t>Privacy and deidentification </a:t>
            </a:r>
          </a:p>
          <a:p>
            <a:r>
              <a:rPr lang="en-US" dirty="0"/>
              <a:t>KDD is an iterative process</a:t>
            </a:r>
          </a:p>
          <a:p>
            <a:pPr lvl="1"/>
            <a:r>
              <a:rPr lang="en-US" sz="2800" dirty="0"/>
              <a:t>The results of one step informs updates to previous steps  </a:t>
            </a:r>
          </a:p>
          <a:p>
            <a:pPr lvl="1"/>
            <a:r>
              <a:rPr lang="en-US" sz="2800" dirty="0"/>
              <a:t>Process is a series of overlapping cycles </a:t>
            </a:r>
          </a:p>
        </p:txBody>
      </p:sp>
    </p:spTree>
    <p:extLst>
      <p:ext uri="{BB962C8B-B14F-4D97-AF65-F5344CB8AC3E}">
        <p14:creationId xmlns:p14="http://schemas.microsoft.com/office/powerpoint/2010/main" val="26573095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63D48E-7DDD-6156-0A05-4EB2033943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631A44-874E-8831-E915-8CFF2A4FB7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Dimensions of Data Mining 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B0CBF9-87CC-11AC-AD83-94CE226B28CC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33375" y="896079"/>
            <a:ext cx="7187198" cy="569899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>
                <a:latin typeface="+mn-lt"/>
              </a:rPr>
              <a:t>Scalability is a key consideration </a:t>
            </a:r>
            <a:r>
              <a:rPr lang="en-US" dirty="0">
                <a:latin typeface="+mn-lt"/>
              </a:rPr>
              <a:t>when dealing with massive datasets!</a:t>
            </a:r>
          </a:p>
          <a:p>
            <a:r>
              <a:rPr lang="en-US" dirty="0">
                <a:latin typeface="+mn-lt"/>
              </a:rPr>
              <a:t>Scalability requires tradeoffs between three factors</a:t>
            </a:r>
          </a:p>
          <a:p>
            <a:pPr lvl="1"/>
            <a:r>
              <a:rPr lang="en-US" dirty="0">
                <a:latin typeface="+mn-lt"/>
              </a:rPr>
              <a:t>Low memory use</a:t>
            </a:r>
          </a:p>
          <a:p>
            <a:pPr lvl="1"/>
            <a:r>
              <a:rPr lang="en-US" dirty="0">
                <a:latin typeface="+mn-lt"/>
              </a:rPr>
              <a:t>Low computational complexity</a:t>
            </a:r>
          </a:p>
          <a:p>
            <a:pPr lvl="1"/>
            <a:r>
              <a:rPr lang="en-US" dirty="0">
                <a:latin typeface="+mn-lt"/>
              </a:rPr>
              <a:t>Accuracy of results</a:t>
            </a:r>
          </a:p>
          <a:p>
            <a:r>
              <a:rPr lang="en-US" dirty="0">
                <a:latin typeface="+mn-lt"/>
              </a:rPr>
              <a:t>Must </a:t>
            </a:r>
            <a:r>
              <a:rPr lang="en-US" b="1" dirty="0">
                <a:latin typeface="+mn-lt"/>
              </a:rPr>
              <a:t>accept approximate results </a:t>
            </a:r>
            <a:r>
              <a:rPr lang="en-US" dirty="0">
                <a:latin typeface="+mn-lt"/>
              </a:rPr>
              <a:t>for massive scalability, low memory and complexity   </a:t>
            </a:r>
          </a:p>
          <a:p>
            <a:r>
              <a:rPr lang="en-US" dirty="0">
                <a:latin typeface="+mn-lt"/>
              </a:rPr>
              <a:t>LLMs have low scalability </a:t>
            </a:r>
          </a:p>
          <a:p>
            <a:pPr lvl="1"/>
            <a:r>
              <a:rPr lang="en-US" dirty="0">
                <a:latin typeface="+mn-lt"/>
              </a:rPr>
              <a:t>Slow</a:t>
            </a:r>
          </a:p>
          <a:p>
            <a:pPr lvl="1"/>
            <a:r>
              <a:rPr lang="en-US" dirty="0">
                <a:latin typeface="+mn-lt"/>
              </a:rPr>
              <a:t>Expensive</a:t>
            </a:r>
          </a:p>
          <a:p>
            <a:pPr lvl="1"/>
            <a:r>
              <a:rPr lang="en-US" dirty="0">
                <a:latin typeface="+mn-lt"/>
              </a:rPr>
              <a:t>Accuracy?? – hard to quantify </a:t>
            </a:r>
          </a:p>
          <a:p>
            <a:pPr lvl="1"/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  <p:sp>
        <p:nvSpPr>
          <p:cNvPr id="4" name="Isosceles Triangle 3">
            <a:extLst>
              <a:ext uri="{FF2B5EF4-FFF2-40B4-BE49-F238E27FC236}">
                <a16:creationId xmlns:a16="http://schemas.microsoft.com/office/drawing/2014/main" id="{9725A6CF-0B0D-044D-B5B6-DE9B7965339A}"/>
              </a:ext>
            </a:extLst>
          </p:cNvPr>
          <p:cNvSpPr/>
          <p:nvPr/>
        </p:nvSpPr>
        <p:spPr>
          <a:xfrm>
            <a:off x="8131804" y="2645404"/>
            <a:ext cx="3618482" cy="2919234"/>
          </a:xfrm>
          <a:prstGeom prst="triangle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16EA804-9933-F229-12BD-74D194299BD8}"/>
              </a:ext>
            </a:extLst>
          </p:cNvPr>
          <p:cNvSpPr txBox="1"/>
          <p:nvPr/>
        </p:nvSpPr>
        <p:spPr>
          <a:xfrm>
            <a:off x="9002152" y="1814407"/>
            <a:ext cx="187778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Low Memory -Scalable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22A55F2-3C05-63F7-9CF9-01D795678EB1}"/>
              </a:ext>
            </a:extLst>
          </p:cNvPr>
          <p:cNvSpPr txBox="1"/>
          <p:nvPr/>
        </p:nvSpPr>
        <p:spPr>
          <a:xfrm>
            <a:off x="7179129" y="5577562"/>
            <a:ext cx="2661557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Low Computational Complexity-Scalable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02E1CDF-2012-FB77-C632-1BA165B1028C}"/>
              </a:ext>
            </a:extLst>
          </p:cNvPr>
          <p:cNvSpPr txBox="1"/>
          <p:nvPr/>
        </p:nvSpPr>
        <p:spPr>
          <a:xfrm>
            <a:off x="10510157" y="5577562"/>
            <a:ext cx="168184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High Accuracy</a:t>
            </a:r>
          </a:p>
        </p:txBody>
      </p:sp>
    </p:spTree>
    <p:extLst>
      <p:ext uri="{BB962C8B-B14F-4D97-AF65-F5344CB8AC3E}">
        <p14:creationId xmlns:p14="http://schemas.microsoft.com/office/powerpoint/2010/main" val="30477310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/>
      <p:bldP spid="6" grpId="0"/>
      <p:bldP spid="7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A33362-6456-0F5B-5570-FA2A30C5C24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sz="4400" dirty="0"/>
              <a:t>About This Course</a:t>
            </a:r>
          </a:p>
        </p:txBody>
      </p:sp>
    </p:spTree>
    <p:extLst>
      <p:ext uri="{BB962C8B-B14F-4D97-AF65-F5344CB8AC3E}">
        <p14:creationId xmlns:p14="http://schemas.microsoft.com/office/powerpoint/2010/main" val="8822934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3EA3CE-8DB0-40A5-B4A6-AFCE2156CC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486573"/>
          </a:xfrm>
        </p:spPr>
        <p:txBody>
          <a:bodyPr>
            <a:normAutofit fontScale="90000"/>
          </a:bodyPr>
          <a:lstStyle/>
          <a:p>
            <a:r>
              <a:rPr lang="en-US" dirty="0">
                <a:latin typeface="+mn-lt"/>
              </a:rPr>
              <a:t>About your Instructor: Steve Elston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03134D-F068-4BC9-B038-F3D5CBDDE3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2105" y="1478300"/>
            <a:ext cx="10515600" cy="4814924"/>
          </a:xfrm>
        </p:spPr>
        <p:txBody>
          <a:bodyPr>
            <a:normAutofit lnSpcReduction="10000"/>
          </a:bodyPr>
          <a:lstStyle/>
          <a:p>
            <a:pPr>
              <a:spcBef>
                <a:spcPts val="300"/>
              </a:spcBef>
            </a:pPr>
            <a:r>
              <a:rPr lang="en-US" sz="2800" b="0" dirty="0">
                <a:cs typeface="Arial" panose="020B0604020202020204" pitchFamily="34" charset="0"/>
              </a:rPr>
              <a:t>Instructor for Harvard since 2017</a:t>
            </a:r>
          </a:p>
          <a:p>
            <a:pPr>
              <a:spcBef>
                <a:spcPts val="300"/>
              </a:spcBef>
            </a:pPr>
            <a:r>
              <a:rPr lang="en-US" sz="2800" b="0" dirty="0">
                <a:cs typeface="Arial" panose="020B0604020202020204" pitchFamily="34" charset="0"/>
              </a:rPr>
              <a:t>Data science consultant with several decades of experience</a:t>
            </a:r>
          </a:p>
          <a:p>
            <a:pPr>
              <a:spcBef>
                <a:spcPts val="300"/>
              </a:spcBef>
            </a:pPr>
            <a:r>
              <a:rPr lang="en-US" sz="2800" b="0" dirty="0">
                <a:cs typeface="Arial" panose="020B0604020202020204" pitchFamily="34" charset="0"/>
              </a:rPr>
              <a:t>Lead team that commercialized Bell Labs S, now open-source R</a:t>
            </a:r>
          </a:p>
          <a:p>
            <a:pPr>
              <a:spcBef>
                <a:spcPts val="300"/>
              </a:spcBef>
            </a:pPr>
            <a:r>
              <a:rPr lang="en-US" sz="2800" b="0" dirty="0">
                <a:cs typeface="Arial" panose="020B0604020202020204" pitchFamily="34" charset="0"/>
              </a:rPr>
              <a:t>Company co-founder and held executive positions in several industries </a:t>
            </a:r>
          </a:p>
          <a:p>
            <a:pPr>
              <a:spcBef>
                <a:spcPts val="300"/>
              </a:spcBef>
            </a:pPr>
            <a:r>
              <a:rPr lang="en-US" sz="2800" b="0" dirty="0">
                <a:cs typeface="Arial" panose="020B0604020202020204" pitchFamily="34" charset="0"/>
              </a:rPr>
              <a:t>Creator of multiple edX courses, author of books and articles </a:t>
            </a:r>
          </a:p>
          <a:p>
            <a:pPr>
              <a:spcBef>
                <a:spcPts val="300"/>
              </a:spcBef>
            </a:pPr>
            <a:r>
              <a:rPr lang="en-US" sz="2800" b="0" dirty="0">
                <a:cs typeface="Arial" panose="020B0604020202020204" pitchFamily="34" charset="0"/>
              </a:rPr>
              <a:t>Inventor/coinventor on 5 issued patents</a:t>
            </a:r>
          </a:p>
          <a:p>
            <a:pPr>
              <a:spcBef>
                <a:spcPts val="300"/>
              </a:spcBef>
            </a:pPr>
            <a:r>
              <a:rPr lang="en-US" sz="2800" b="0" dirty="0">
                <a:cs typeface="Arial" panose="020B0604020202020204" pitchFamily="34" charset="0"/>
              </a:rPr>
              <a:t>Consulting clients include Microsoft, SAP, Lloyds Banking Group</a:t>
            </a:r>
          </a:p>
          <a:p>
            <a:pPr>
              <a:spcBef>
                <a:spcPts val="300"/>
              </a:spcBef>
            </a:pPr>
            <a:r>
              <a:rPr lang="en-US" sz="2800" b="0" dirty="0">
                <a:cs typeface="Arial" panose="020B0604020202020204" pitchFamily="34" charset="0"/>
              </a:rPr>
              <a:t>BS, physics and math (minor), University of New Mexico</a:t>
            </a:r>
          </a:p>
          <a:p>
            <a:pPr>
              <a:spcBef>
                <a:spcPts val="300"/>
              </a:spcBef>
            </a:pPr>
            <a:r>
              <a:rPr lang="en-US" sz="2800" b="0" dirty="0">
                <a:cs typeface="Arial" panose="020B0604020202020204" pitchFamily="34" charset="0"/>
              </a:rPr>
              <a:t>MS and PhD, geophysics, Princeton University – John von Neuman Supercomputing Fellow</a:t>
            </a:r>
          </a:p>
          <a:p>
            <a:pPr>
              <a:spcBef>
                <a:spcPts val="300"/>
              </a:spcBef>
            </a:pPr>
            <a:r>
              <a:rPr lang="en-US" dirty="0">
                <a:cs typeface="Arial" panose="020B0604020202020204" pitchFamily="34" charset="0"/>
              </a:rPr>
              <a:t>I love anything to do with natural history and the outdoors</a:t>
            </a:r>
            <a:endParaRPr lang="en-US" sz="2800" b="0" dirty="0"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0599272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1BCE2B5B-E165-AFE7-3BF6-9F7655565A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About your TA: Jacqueline Hardy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0E53D9F3-C1CB-AE91-44FA-A9A184CF447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DE" dirty="0"/>
              <a:t>Bachelor’s Degree from Harvard Extension School (2015-2018)</a:t>
            </a:r>
          </a:p>
          <a:p>
            <a:pPr lvl="1"/>
            <a:r>
              <a:rPr lang="en-DE" dirty="0"/>
              <a:t>Field of Study: International Relations</a:t>
            </a:r>
          </a:p>
          <a:p>
            <a:pPr lvl="1"/>
            <a:r>
              <a:rPr lang="en-DE" dirty="0"/>
              <a:t>Minors: Quantitative Analysis &amp; Government</a:t>
            </a:r>
          </a:p>
          <a:p>
            <a:r>
              <a:rPr lang="en-DE" dirty="0"/>
              <a:t>Master’s Degree from Harvard Extension School (2022-2024)</a:t>
            </a:r>
          </a:p>
          <a:p>
            <a:pPr lvl="1"/>
            <a:r>
              <a:rPr lang="en-DE" dirty="0"/>
              <a:t>Field of Study: Data Science</a:t>
            </a:r>
          </a:p>
          <a:p>
            <a:r>
              <a:rPr lang="en-DE" dirty="0"/>
              <a:t>LG Electronics: </a:t>
            </a:r>
          </a:p>
          <a:p>
            <a:pPr lvl="1"/>
            <a:r>
              <a:rPr lang="en-DE" dirty="0"/>
              <a:t>Product Specialist </a:t>
            </a:r>
          </a:p>
          <a:p>
            <a:pPr lvl="1"/>
            <a:r>
              <a:rPr lang="en-DE" dirty="0"/>
              <a:t>Go-to-Market Manager</a:t>
            </a:r>
          </a:p>
          <a:p>
            <a:pPr lvl="1"/>
            <a:r>
              <a:rPr lang="en-DE" dirty="0"/>
              <a:t>Data Analytics Specialist </a:t>
            </a:r>
          </a:p>
          <a:p>
            <a:r>
              <a:rPr lang="en-DE" dirty="0"/>
              <a:t>SharkNinja </a:t>
            </a:r>
          </a:p>
          <a:p>
            <a:pPr lvl="1"/>
            <a:r>
              <a:rPr lang="en-DE" dirty="0"/>
              <a:t>Strategic Planning and Operations Data Scientist </a:t>
            </a:r>
          </a:p>
          <a:p>
            <a:r>
              <a:rPr lang="en-DE" dirty="0"/>
              <a:t>Building my own Data Science Consulting Firm</a:t>
            </a:r>
          </a:p>
        </p:txBody>
      </p:sp>
    </p:spTree>
    <p:extLst>
      <p:ext uri="{BB962C8B-B14F-4D97-AF65-F5344CB8AC3E}">
        <p14:creationId xmlns:p14="http://schemas.microsoft.com/office/powerpoint/2010/main" val="229248726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3EA3CE-8DB0-40A5-B4A6-AFCE2156CC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486573"/>
          </a:xfrm>
        </p:spPr>
        <p:txBody>
          <a:bodyPr>
            <a:normAutofit fontScale="90000"/>
          </a:bodyPr>
          <a:lstStyle/>
          <a:p>
            <a:r>
              <a:rPr lang="en-US" dirty="0">
                <a:latin typeface="+mn-lt"/>
              </a:rPr>
              <a:t>About your TA: Eric </a:t>
            </a:r>
            <a:r>
              <a:rPr lang="en-US" dirty="0" err="1">
                <a:latin typeface="+mn-lt"/>
              </a:rPr>
              <a:t>Trucksess</a:t>
            </a:r>
            <a:endParaRPr lang="en-US" dirty="0">
              <a:latin typeface="+mn-lt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03134D-F068-4BC9-B038-F3D5CBDDE3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2105" y="1095916"/>
            <a:ext cx="10515600" cy="4538867"/>
          </a:xfrm>
        </p:spPr>
        <p:txBody>
          <a:bodyPr>
            <a:noAutofit/>
          </a:bodyPr>
          <a:lstStyle/>
          <a:p>
            <a:pPr>
              <a:spcBef>
                <a:spcPts val="600"/>
              </a:spcBef>
            </a:pPr>
            <a:r>
              <a:rPr lang="en-US" sz="2933" dirty="0">
                <a:cs typeface="Arial" panose="020B0604020202020204" pitchFamily="34" charset="0"/>
              </a:rPr>
              <a:t>Patent attorney focused on the chemical arts, particularly pharmaceuticals, solid state devices and polymeric coatings</a:t>
            </a:r>
          </a:p>
          <a:p>
            <a:pPr>
              <a:spcBef>
                <a:spcPts val="600"/>
              </a:spcBef>
            </a:pPr>
            <a:r>
              <a:rPr lang="en-US" sz="2933" dirty="0">
                <a:cs typeface="Arial" panose="020B0604020202020204" pitchFamily="34" charset="0"/>
              </a:rPr>
              <a:t>Founder/architect of </a:t>
            </a:r>
            <a:r>
              <a:rPr lang="en-US" sz="2933" dirty="0" err="1">
                <a:cs typeface="Arial" panose="020B0604020202020204" pitchFamily="34" charset="0"/>
              </a:rPr>
              <a:t>HasHave</a:t>
            </a:r>
            <a:r>
              <a:rPr lang="en-US" sz="2933" dirty="0">
                <a:cs typeface="Arial" panose="020B0604020202020204" pitchFamily="34" charset="0"/>
              </a:rPr>
              <a:t>, formerly an online bartering site which facilitated the exchange of goods and services amongst member</a:t>
            </a:r>
          </a:p>
          <a:p>
            <a:pPr>
              <a:spcBef>
                <a:spcPts val="600"/>
              </a:spcBef>
            </a:pPr>
            <a:r>
              <a:rPr lang="en-US" sz="2933" dirty="0">
                <a:cs typeface="Arial" panose="020B0604020202020204" pitchFamily="34" charset="0"/>
              </a:rPr>
              <a:t>Counsel to </a:t>
            </a:r>
            <a:r>
              <a:rPr lang="en-US" sz="2933" dirty="0" err="1">
                <a:cs typeface="Arial" panose="020B0604020202020204" pitchFamily="34" charset="0"/>
              </a:rPr>
              <a:t>RocketFuel</a:t>
            </a:r>
            <a:r>
              <a:rPr lang="en-US" sz="2933" dirty="0">
                <a:cs typeface="Arial" panose="020B0604020202020204" pitchFamily="34" charset="0"/>
              </a:rPr>
              <a:t>, an early-generation targeted marketing firm that applied ML principles in online marketing campaigns</a:t>
            </a:r>
          </a:p>
          <a:p>
            <a:pPr>
              <a:spcBef>
                <a:spcPts val="600"/>
              </a:spcBef>
            </a:pPr>
            <a:r>
              <a:rPr lang="en-US" sz="2933" dirty="0">
                <a:cs typeface="Arial" panose="020B0604020202020204" pitchFamily="34" charset="0"/>
              </a:rPr>
              <a:t>Currently, consultant to a Dubai-based horse racing betting platform assisting in the collection, analysis and digestion of racing data</a:t>
            </a:r>
          </a:p>
        </p:txBody>
      </p:sp>
    </p:spTree>
    <p:extLst>
      <p:ext uri="{BB962C8B-B14F-4D97-AF65-F5344CB8AC3E}">
        <p14:creationId xmlns:p14="http://schemas.microsoft.com/office/powerpoint/2010/main" val="202811868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77AD32-5699-EC1B-3B03-D92EF1BFAC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CB0C85-07BA-B000-8199-63349C0E51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154002"/>
            <a:ext cx="10515600" cy="558120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Our overarching objective is giving you a deep understand of the algorithms forming the backbone of todays massive scale analytics </a:t>
            </a:r>
            <a:r>
              <a:rPr lang="en-US" b="1" dirty="0"/>
              <a:t> </a:t>
            </a:r>
          </a:p>
          <a:p>
            <a:r>
              <a:rPr lang="en-US" dirty="0"/>
              <a:t>Lean how to work with </a:t>
            </a:r>
            <a:r>
              <a:rPr lang="en-US" b="1" dirty="0"/>
              <a:t>highly scalable analytic KDD methods and algorithms for massive datasets     </a:t>
            </a:r>
          </a:p>
          <a:p>
            <a:pPr lvl="1"/>
            <a:r>
              <a:rPr lang="en-US" dirty="0"/>
              <a:t>Good algorithms have </a:t>
            </a:r>
            <a:r>
              <a:rPr lang="en-US" b="1" dirty="0"/>
              <a:t>long staying power   </a:t>
            </a:r>
          </a:p>
          <a:p>
            <a:pPr lvl="1"/>
            <a:r>
              <a:rPr lang="en-US" dirty="0"/>
              <a:t>Understand algorithm performance analysis</a:t>
            </a:r>
          </a:p>
          <a:p>
            <a:r>
              <a:rPr lang="en-US" dirty="0"/>
              <a:t>Good algorithms are the essential to scaling </a:t>
            </a:r>
          </a:p>
          <a:p>
            <a:pPr lvl="1"/>
            <a:r>
              <a:rPr lang="en-US" dirty="0"/>
              <a:t>Good algorithm can </a:t>
            </a:r>
            <a:r>
              <a:rPr lang="en-US" b="1" dirty="0"/>
              <a:t>scale analysis by orders of magnitude  </a:t>
            </a:r>
          </a:p>
          <a:p>
            <a:pPr lvl="1"/>
            <a:r>
              <a:rPr lang="en-US" dirty="0"/>
              <a:t>Better algorithms beats throwing hardware at the problem </a:t>
            </a:r>
          </a:p>
          <a:p>
            <a:r>
              <a:rPr lang="en-US" dirty="0"/>
              <a:t>Deliberately minimize data engineering required for course </a:t>
            </a:r>
          </a:p>
          <a:p>
            <a:pPr lvl="1"/>
            <a:r>
              <a:rPr lang="en-US" dirty="0"/>
              <a:t>Wide and constantly changing landscape of </a:t>
            </a:r>
            <a:r>
              <a:rPr lang="en-US" i="1" dirty="0"/>
              <a:t>Big Data</a:t>
            </a:r>
            <a:r>
              <a:rPr lang="en-US" dirty="0"/>
              <a:t> platforms</a:t>
            </a:r>
          </a:p>
          <a:p>
            <a:pPr lvl="1"/>
            <a:r>
              <a:rPr lang="en-US" dirty="0"/>
              <a:t>Other Harvard DCE courses explore big data engineering  </a:t>
            </a:r>
          </a:p>
          <a:p>
            <a:pPr marL="0" indent="0">
              <a:buNone/>
            </a:pPr>
            <a:endParaRPr lang="en-US" b="1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DDBA2B2D-64B5-7A2E-1C31-A4059D780EA6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What can you gain from this course?</a:t>
            </a:r>
          </a:p>
        </p:txBody>
      </p:sp>
    </p:spTree>
    <p:extLst>
      <p:ext uri="{BB962C8B-B14F-4D97-AF65-F5344CB8AC3E}">
        <p14:creationId xmlns:p14="http://schemas.microsoft.com/office/powerpoint/2010/main" val="39351506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154002"/>
            <a:ext cx="10515600" cy="558120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Data mining is </a:t>
            </a:r>
            <a:r>
              <a:rPr lang="en-US" b="1" dirty="0"/>
              <a:t>exploratory</a:t>
            </a:r>
            <a:r>
              <a:rPr lang="en-US" dirty="0"/>
              <a:t> and is often </a:t>
            </a:r>
            <a:r>
              <a:rPr lang="en-US" b="1" dirty="0"/>
              <a:t>Unsupervised  </a:t>
            </a:r>
          </a:p>
          <a:p>
            <a:r>
              <a:rPr lang="en-US" dirty="0"/>
              <a:t>Use algorithms with massive scalability </a:t>
            </a:r>
          </a:p>
          <a:p>
            <a:pPr lvl="1"/>
            <a:r>
              <a:rPr lang="en-US" dirty="0"/>
              <a:t>Key-value management and hashing algorithms </a:t>
            </a:r>
          </a:p>
          <a:p>
            <a:pPr lvl="1"/>
            <a:r>
              <a:rPr lang="en-US" dirty="0"/>
              <a:t>Scalable approximate algorithms analytic algorithms </a:t>
            </a:r>
          </a:p>
          <a:p>
            <a:r>
              <a:rPr lang="en-US" dirty="0"/>
              <a:t>Focus on unsupervised learning</a:t>
            </a:r>
          </a:p>
          <a:p>
            <a:pPr lvl="1"/>
            <a:r>
              <a:rPr lang="en-US" dirty="0"/>
              <a:t>Approximate similarity search algorithms are massively scalable</a:t>
            </a:r>
          </a:p>
          <a:p>
            <a:pPr lvl="1"/>
            <a:r>
              <a:rPr lang="en-US" dirty="0"/>
              <a:t>Ranking for recommenders, web search, RAG algorithms, etc. </a:t>
            </a:r>
          </a:p>
          <a:p>
            <a:pPr lvl="1"/>
            <a:r>
              <a:rPr lang="en-US" dirty="0"/>
              <a:t>Clustering models for exploration of complex data sets</a:t>
            </a:r>
          </a:p>
          <a:p>
            <a:r>
              <a:rPr lang="en-US" dirty="0"/>
              <a:t>Algorithms for infinite data – streaming data </a:t>
            </a:r>
          </a:p>
          <a:p>
            <a:r>
              <a:rPr lang="en-US" dirty="0"/>
              <a:t>Dimensionality reduction algorithms</a:t>
            </a:r>
          </a:p>
          <a:p>
            <a:r>
              <a:rPr lang="en-US" dirty="0"/>
              <a:t>Graphs models</a:t>
            </a:r>
          </a:p>
          <a:p>
            <a:pPr lvl="1"/>
            <a:r>
              <a:rPr lang="en-US" dirty="0"/>
              <a:t>How to apply efficient graph representations and algorithms?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What is the focus of this course?</a:t>
            </a:r>
          </a:p>
        </p:txBody>
      </p:sp>
    </p:spTree>
    <p:extLst>
      <p:ext uri="{BB962C8B-B14F-4D97-AF65-F5344CB8AC3E}">
        <p14:creationId xmlns:p14="http://schemas.microsoft.com/office/powerpoint/2010/main" val="18020657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154002"/>
            <a:ext cx="10515600" cy="558120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3200" dirty="0"/>
              <a:t>Topics we (mostly) avoid in this course </a:t>
            </a:r>
            <a:endParaRPr lang="en-US" sz="3200" b="1" dirty="0"/>
          </a:p>
          <a:p>
            <a:r>
              <a:rPr lang="en-US" dirty="0"/>
              <a:t>Supervised machine learning</a:t>
            </a:r>
          </a:p>
          <a:p>
            <a:pPr lvl="1"/>
            <a:r>
              <a:rPr lang="en-US" dirty="0"/>
              <a:t>Data mining is focused on exploration and knowledge discovery, not prediction! </a:t>
            </a:r>
          </a:p>
          <a:p>
            <a:pPr lvl="1"/>
            <a:r>
              <a:rPr lang="en-US" dirty="0"/>
              <a:t>Some supervised machine learning is useful in data mining</a:t>
            </a:r>
            <a:endParaRPr lang="en-US" b="1" dirty="0"/>
          </a:p>
          <a:p>
            <a:pPr lvl="1"/>
            <a:r>
              <a:rPr lang="en-US" dirty="0"/>
              <a:t>Supervised machine learning covered in-depth in other DCE courses</a:t>
            </a:r>
          </a:p>
          <a:p>
            <a:r>
              <a:rPr lang="en-US" dirty="0"/>
              <a:t>Most deep learning</a:t>
            </a:r>
          </a:p>
          <a:p>
            <a:pPr lvl="1"/>
            <a:r>
              <a:rPr lang="en-US" dirty="0"/>
              <a:t>Promising deep NN data mining algorithms are emerging  </a:t>
            </a:r>
          </a:p>
          <a:p>
            <a:pPr lvl="1"/>
            <a:r>
              <a:rPr lang="en-US" dirty="0"/>
              <a:t>In some cases, deep NN algorithm provide more accurate results  </a:t>
            </a:r>
          </a:p>
          <a:p>
            <a:pPr lvl="1"/>
            <a:r>
              <a:rPr lang="en-US" dirty="0"/>
              <a:t>But, </a:t>
            </a:r>
            <a:r>
              <a:rPr lang="en-US" b="1" dirty="0"/>
              <a:t>NN algorithms are generally much less scalable!</a:t>
            </a:r>
            <a:endParaRPr lang="en-US" dirty="0"/>
          </a:p>
          <a:p>
            <a:pPr lvl="1"/>
            <a:r>
              <a:rPr lang="en-US" dirty="0"/>
              <a:t>In practice, </a:t>
            </a:r>
            <a:r>
              <a:rPr lang="en-US" b="1" dirty="0"/>
              <a:t>more and better data is usually more important!  </a:t>
            </a:r>
          </a:p>
          <a:p>
            <a:pPr marL="0" indent="0">
              <a:buNone/>
            </a:pPr>
            <a:endParaRPr lang="en-US" b="1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What is the focus of this course?</a:t>
            </a:r>
          </a:p>
        </p:txBody>
      </p:sp>
    </p:spTree>
    <p:extLst>
      <p:ext uri="{BB962C8B-B14F-4D97-AF65-F5344CB8AC3E}">
        <p14:creationId xmlns:p14="http://schemas.microsoft.com/office/powerpoint/2010/main" val="25396891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C5696D-354D-62CB-0192-218008228D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2B7BCFB8-BA4E-440E-F296-C6B2AAFDF708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How are the topics in this course connected?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93C2DC2-2848-DED5-529E-AA5AC0982CFB}"/>
              </a:ext>
            </a:extLst>
          </p:cNvPr>
          <p:cNvSpPr/>
          <p:nvPr/>
        </p:nvSpPr>
        <p:spPr>
          <a:xfrm>
            <a:off x="3534926" y="5536709"/>
            <a:ext cx="1738627" cy="974927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1. Hashing and K-V pair management 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D095083-8BEB-8B08-7E66-FDC56E9B749C}"/>
              </a:ext>
            </a:extLst>
          </p:cNvPr>
          <p:cNvSpPr/>
          <p:nvPr/>
        </p:nvSpPr>
        <p:spPr>
          <a:xfrm>
            <a:off x="6030249" y="5536708"/>
            <a:ext cx="1738627" cy="974927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2. Distance and Similarity Metrics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7E6AE79-4919-8796-C045-45AAD80B8591}"/>
              </a:ext>
            </a:extLst>
          </p:cNvPr>
          <p:cNvSpPr/>
          <p:nvPr/>
        </p:nvSpPr>
        <p:spPr>
          <a:xfrm>
            <a:off x="8404918" y="5536707"/>
            <a:ext cx="1738627" cy="974927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3. Graph Algorithms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968DB67-0DA8-A1EC-A865-219CC8E2924A}"/>
              </a:ext>
            </a:extLst>
          </p:cNvPr>
          <p:cNvSpPr/>
          <p:nvPr/>
        </p:nvSpPr>
        <p:spPr>
          <a:xfrm>
            <a:off x="1424242" y="4295126"/>
            <a:ext cx="2110684" cy="974927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2. Dimensionality Reduction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BBB2418-B096-6DF9-524E-E46A63BC1B41}"/>
              </a:ext>
            </a:extLst>
          </p:cNvPr>
          <p:cNvSpPr/>
          <p:nvPr/>
        </p:nvSpPr>
        <p:spPr>
          <a:xfrm>
            <a:off x="10250858" y="4341585"/>
            <a:ext cx="1738627" cy="974927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6. Similarity Search and NN Algorithms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BEC54F3-DE9D-99B4-64BF-88FC35D43917}"/>
              </a:ext>
            </a:extLst>
          </p:cNvPr>
          <p:cNvSpPr/>
          <p:nvPr/>
        </p:nvSpPr>
        <p:spPr>
          <a:xfrm>
            <a:off x="6025459" y="1162406"/>
            <a:ext cx="1961803" cy="1198456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7. Recommender Algorithms</a:t>
            </a:r>
          </a:p>
          <a:p>
            <a:pPr algn="ctr"/>
            <a:r>
              <a:rPr lang="en-US" sz="2000" dirty="0">
                <a:solidFill>
                  <a:schemeClr val="tx1"/>
                </a:solidFill>
              </a:rPr>
              <a:t>11. Association Models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8CA27A3-15C9-D6F9-D488-CA7C0F3325D5}"/>
              </a:ext>
            </a:extLst>
          </p:cNvPr>
          <p:cNvSpPr/>
          <p:nvPr/>
        </p:nvSpPr>
        <p:spPr>
          <a:xfrm>
            <a:off x="3724850" y="1385932"/>
            <a:ext cx="2085982" cy="974927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8. Web/Document Search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9368F19E-5C0B-62E5-14AB-6E96C6F326C5}"/>
              </a:ext>
            </a:extLst>
          </p:cNvPr>
          <p:cNvSpPr/>
          <p:nvPr/>
        </p:nvSpPr>
        <p:spPr>
          <a:xfrm>
            <a:off x="8201889" y="1385935"/>
            <a:ext cx="1834342" cy="974927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3. Streaming Algorithms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B3CF73E-D779-E0A5-977B-A8C1B10177CB}"/>
              </a:ext>
            </a:extLst>
          </p:cNvPr>
          <p:cNvSpPr/>
          <p:nvPr/>
        </p:nvSpPr>
        <p:spPr>
          <a:xfrm>
            <a:off x="1424241" y="1385932"/>
            <a:ext cx="2085982" cy="974927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3. Social Network Analysis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4C269AD5-F4F6-0FAB-A473-3001BF8F0B95}"/>
              </a:ext>
            </a:extLst>
          </p:cNvPr>
          <p:cNvSpPr/>
          <p:nvPr/>
        </p:nvSpPr>
        <p:spPr>
          <a:xfrm>
            <a:off x="10250858" y="1385934"/>
            <a:ext cx="1738627" cy="974927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9. Clustering Algorithms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2A84A998-91B5-666C-E6F6-DCDDC35121EC}"/>
              </a:ext>
            </a:extLst>
          </p:cNvPr>
          <p:cNvCxnSpPr>
            <a:cxnSpLocks/>
          </p:cNvCxnSpPr>
          <p:nvPr/>
        </p:nvCxnSpPr>
        <p:spPr>
          <a:xfrm>
            <a:off x="1790007" y="3945774"/>
            <a:ext cx="9809018" cy="82696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CF4312E4-A6C2-A99F-A49C-758C030D626C}"/>
              </a:ext>
            </a:extLst>
          </p:cNvPr>
          <p:cNvCxnSpPr>
            <a:cxnSpLocks/>
          </p:cNvCxnSpPr>
          <p:nvPr/>
        </p:nvCxnSpPr>
        <p:spPr>
          <a:xfrm>
            <a:off x="1790007" y="3945771"/>
            <a:ext cx="0" cy="349353"/>
          </a:xfrm>
          <a:prstGeom prst="line">
            <a:avLst/>
          </a:prstGeom>
          <a:ln w="1905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348E543F-8175-4E87-9961-D443C0497EBA}"/>
              </a:ext>
            </a:extLst>
          </p:cNvPr>
          <p:cNvCxnSpPr>
            <a:cxnSpLocks/>
          </p:cNvCxnSpPr>
          <p:nvPr/>
        </p:nvCxnSpPr>
        <p:spPr>
          <a:xfrm>
            <a:off x="11612880" y="3987122"/>
            <a:ext cx="0" cy="349353"/>
          </a:xfrm>
          <a:prstGeom prst="line">
            <a:avLst/>
          </a:prstGeom>
          <a:ln w="1905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9C82ABB2-A1D1-5DBF-CEE1-86D3F8FF02B8}"/>
              </a:ext>
            </a:extLst>
          </p:cNvPr>
          <p:cNvCxnSpPr>
            <a:cxnSpLocks/>
            <a:stCxn id="5" idx="0"/>
          </p:cNvCxnSpPr>
          <p:nvPr/>
        </p:nvCxnSpPr>
        <p:spPr>
          <a:xfrm flipV="1">
            <a:off x="4404240" y="3987122"/>
            <a:ext cx="0" cy="1549587"/>
          </a:xfrm>
          <a:prstGeom prst="line">
            <a:avLst/>
          </a:prstGeom>
          <a:ln w="19050">
            <a:solidFill>
              <a:schemeClr val="accent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4866CD7E-2D66-5C71-8CDD-06786BB045DE}"/>
              </a:ext>
            </a:extLst>
          </p:cNvPr>
          <p:cNvCxnSpPr>
            <a:cxnSpLocks/>
          </p:cNvCxnSpPr>
          <p:nvPr/>
        </p:nvCxnSpPr>
        <p:spPr>
          <a:xfrm flipV="1">
            <a:off x="1790007" y="2394994"/>
            <a:ext cx="0" cy="1550777"/>
          </a:xfrm>
          <a:prstGeom prst="line">
            <a:avLst/>
          </a:prstGeom>
          <a:ln w="1905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95BC78BF-A0E4-4286-6C8B-58ADD2AF41AA}"/>
              </a:ext>
            </a:extLst>
          </p:cNvPr>
          <p:cNvCxnSpPr>
            <a:cxnSpLocks/>
          </p:cNvCxnSpPr>
          <p:nvPr/>
        </p:nvCxnSpPr>
        <p:spPr>
          <a:xfrm flipH="1" flipV="1">
            <a:off x="11558847" y="2360859"/>
            <a:ext cx="47106" cy="1626263"/>
          </a:xfrm>
          <a:prstGeom prst="line">
            <a:avLst/>
          </a:prstGeom>
          <a:ln w="1905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2E639F16-021F-6A3B-4FBC-5D0462ABC9C7}"/>
              </a:ext>
            </a:extLst>
          </p:cNvPr>
          <p:cNvCxnSpPr>
            <a:cxnSpLocks/>
          </p:cNvCxnSpPr>
          <p:nvPr/>
        </p:nvCxnSpPr>
        <p:spPr>
          <a:xfrm flipV="1">
            <a:off x="9700954" y="2360859"/>
            <a:ext cx="0" cy="1626263"/>
          </a:xfrm>
          <a:prstGeom prst="line">
            <a:avLst/>
          </a:prstGeom>
          <a:ln w="1905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CCCFB714-AEBF-837A-53F2-BD83D59B23A1}"/>
              </a:ext>
            </a:extLst>
          </p:cNvPr>
          <p:cNvCxnSpPr>
            <a:cxnSpLocks/>
          </p:cNvCxnSpPr>
          <p:nvPr/>
        </p:nvCxnSpPr>
        <p:spPr>
          <a:xfrm flipV="1">
            <a:off x="7697587" y="2360859"/>
            <a:ext cx="0" cy="1626263"/>
          </a:xfrm>
          <a:prstGeom prst="line">
            <a:avLst/>
          </a:prstGeom>
          <a:ln w="1905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A0B36884-7468-A7E0-65A3-A9211FBDF344}"/>
              </a:ext>
            </a:extLst>
          </p:cNvPr>
          <p:cNvCxnSpPr>
            <a:cxnSpLocks/>
          </p:cNvCxnSpPr>
          <p:nvPr/>
        </p:nvCxnSpPr>
        <p:spPr>
          <a:xfrm flipV="1">
            <a:off x="5533507" y="2360859"/>
            <a:ext cx="0" cy="1626263"/>
          </a:xfrm>
          <a:prstGeom prst="line">
            <a:avLst/>
          </a:prstGeom>
          <a:ln w="1905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5CD146D8-6FBF-807D-7DB6-AFB4CCCF6780}"/>
              </a:ext>
            </a:extLst>
          </p:cNvPr>
          <p:cNvCxnSpPr>
            <a:cxnSpLocks/>
          </p:cNvCxnSpPr>
          <p:nvPr/>
        </p:nvCxnSpPr>
        <p:spPr>
          <a:xfrm>
            <a:off x="1995053" y="3616683"/>
            <a:ext cx="9336579" cy="62435"/>
          </a:xfrm>
          <a:prstGeom prst="line">
            <a:avLst/>
          </a:prstGeom>
          <a:ln w="1905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B7BC23A8-D0F6-E440-0D62-E59C8DD09EF4}"/>
              </a:ext>
            </a:extLst>
          </p:cNvPr>
          <p:cNvCxnSpPr>
            <a:cxnSpLocks/>
          </p:cNvCxnSpPr>
          <p:nvPr/>
        </p:nvCxnSpPr>
        <p:spPr>
          <a:xfrm flipV="1">
            <a:off x="1995053" y="2360859"/>
            <a:ext cx="0" cy="1287041"/>
          </a:xfrm>
          <a:prstGeom prst="line">
            <a:avLst/>
          </a:prstGeom>
          <a:ln w="19050"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1A7314B7-3D8B-DC71-3E73-D36CB8E0A023}"/>
              </a:ext>
            </a:extLst>
          </p:cNvPr>
          <p:cNvCxnSpPr>
            <a:cxnSpLocks/>
          </p:cNvCxnSpPr>
          <p:nvPr/>
        </p:nvCxnSpPr>
        <p:spPr>
          <a:xfrm>
            <a:off x="1995053" y="3616683"/>
            <a:ext cx="0" cy="678441"/>
          </a:xfrm>
          <a:prstGeom prst="line">
            <a:avLst/>
          </a:prstGeom>
          <a:ln w="19050"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78BAF0BF-5D7F-1AA8-A1C1-5A4979DFB3E5}"/>
              </a:ext>
            </a:extLst>
          </p:cNvPr>
          <p:cNvCxnSpPr>
            <a:cxnSpLocks/>
            <a:stCxn id="7" idx="0"/>
          </p:cNvCxnSpPr>
          <p:nvPr/>
        </p:nvCxnSpPr>
        <p:spPr>
          <a:xfrm flipH="1" flipV="1">
            <a:off x="6890182" y="3647900"/>
            <a:ext cx="9381" cy="1888808"/>
          </a:xfrm>
          <a:prstGeom prst="line">
            <a:avLst/>
          </a:prstGeom>
          <a:ln w="19050">
            <a:solidFill>
              <a:schemeClr val="accent2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2CB447D4-587D-1C9A-5C3A-E1E2681ECD5F}"/>
              </a:ext>
            </a:extLst>
          </p:cNvPr>
          <p:cNvCxnSpPr>
            <a:cxnSpLocks/>
          </p:cNvCxnSpPr>
          <p:nvPr/>
        </p:nvCxnSpPr>
        <p:spPr>
          <a:xfrm>
            <a:off x="11331632" y="3679118"/>
            <a:ext cx="0" cy="678031"/>
          </a:xfrm>
          <a:prstGeom prst="line">
            <a:avLst/>
          </a:prstGeom>
          <a:ln w="19050"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2AD38C7F-A95B-9722-3EB2-F0EFB4774481}"/>
              </a:ext>
            </a:extLst>
          </p:cNvPr>
          <p:cNvCxnSpPr>
            <a:cxnSpLocks/>
          </p:cNvCxnSpPr>
          <p:nvPr/>
        </p:nvCxnSpPr>
        <p:spPr>
          <a:xfrm flipV="1">
            <a:off x="11331632" y="2360859"/>
            <a:ext cx="0" cy="1318259"/>
          </a:xfrm>
          <a:prstGeom prst="line">
            <a:avLst/>
          </a:prstGeom>
          <a:ln w="19050"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5EC8C89E-F09D-F837-779F-9BF3E060EEAD}"/>
              </a:ext>
            </a:extLst>
          </p:cNvPr>
          <p:cNvCxnSpPr>
            <a:cxnSpLocks/>
          </p:cNvCxnSpPr>
          <p:nvPr/>
        </p:nvCxnSpPr>
        <p:spPr>
          <a:xfrm flipV="1">
            <a:off x="7419109" y="2360859"/>
            <a:ext cx="0" cy="1333612"/>
          </a:xfrm>
          <a:prstGeom prst="line">
            <a:avLst/>
          </a:prstGeom>
          <a:ln w="19050"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Straight Connector 57">
            <a:extLst>
              <a:ext uri="{FF2B5EF4-FFF2-40B4-BE49-F238E27FC236}">
                <a16:creationId xmlns:a16="http://schemas.microsoft.com/office/drawing/2014/main" id="{1EF39D1B-B36C-621E-C8B7-B70DE37DD1C9}"/>
              </a:ext>
            </a:extLst>
          </p:cNvPr>
          <p:cNvCxnSpPr>
            <a:cxnSpLocks/>
          </p:cNvCxnSpPr>
          <p:nvPr/>
        </p:nvCxnSpPr>
        <p:spPr>
          <a:xfrm flipV="1">
            <a:off x="5191299" y="2360859"/>
            <a:ext cx="0" cy="1333611"/>
          </a:xfrm>
          <a:prstGeom prst="line">
            <a:avLst/>
          </a:prstGeom>
          <a:ln w="19050"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232800C7-969F-1806-862D-2AFF6CE99925}"/>
              </a:ext>
            </a:extLst>
          </p:cNvPr>
          <p:cNvCxnSpPr>
            <a:cxnSpLocks/>
            <a:stCxn id="8" idx="1"/>
            <a:endCxn id="7" idx="3"/>
          </p:cNvCxnSpPr>
          <p:nvPr/>
        </p:nvCxnSpPr>
        <p:spPr>
          <a:xfrm flipH="1">
            <a:off x="7768876" y="6024171"/>
            <a:ext cx="636042" cy="1"/>
          </a:xfrm>
          <a:prstGeom prst="line">
            <a:avLst/>
          </a:prstGeom>
          <a:ln w="19050"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Straight Connector 61">
            <a:extLst>
              <a:ext uri="{FF2B5EF4-FFF2-40B4-BE49-F238E27FC236}">
                <a16:creationId xmlns:a16="http://schemas.microsoft.com/office/drawing/2014/main" id="{BCB8E056-DC8C-68B8-53C4-730EF45B56A5}"/>
              </a:ext>
            </a:extLst>
          </p:cNvPr>
          <p:cNvCxnSpPr>
            <a:cxnSpLocks/>
          </p:cNvCxnSpPr>
          <p:nvPr/>
        </p:nvCxnSpPr>
        <p:spPr>
          <a:xfrm>
            <a:off x="2255519" y="3349410"/>
            <a:ext cx="8783782" cy="61378"/>
          </a:xfrm>
          <a:prstGeom prst="line">
            <a:avLst/>
          </a:prstGeom>
          <a:ln w="190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68A21FEF-607F-FE2A-8AFE-863FC850EF45}"/>
              </a:ext>
            </a:extLst>
          </p:cNvPr>
          <p:cNvCxnSpPr>
            <a:cxnSpLocks/>
          </p:cNvCxnSpPr>
          <p:nvPr/>
        </p:nvCxnSpPr>
        <p:spPr>
          <a:xfrm flipH="1" flipV="1">
            <a:off x="9232668" y="3410788"/>
            <a:ext cx="41563" cy="2120762"/>
          </a:xfrm>
          <a:prstGeom prst="line">
            <a:avLst/>
          </a:prstGeom>
          <a:ln w="19050">
            <a:solidFill>
              <a:srgbClr val="C0000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Straight Connector 65">
            <a:extLst>
              <a:ext uri="{FF2B5EF4-FFF2-40B4-BE49-F238E27FC236}">
                <a16:creationId xmlns:a16="http://schemas.microsoft.com/office/drawing/2014/main" id="{34ED33F5-4C4B-20F8-0025-AE7D7EC6B8CE}"/>
              </a:ext>
            </a:extLst>
          </p:cNvPr>
          <p:cNvCxnSpPr>
            <a:cxnSpLocks/>
          </p:cNvCxnSpPr>
          <p:nvPr/>
        </p:nvCxnSpPr>
        <p:spPr>
          <a:xfrm>
            <a:off x="9191859" y="5010669"/>
            <a:ext cx="1018190" cy="1"/>
          </a:xfrm>
          <a:prstGeom prst="line">
            <a:avLst/>
          </a:prstGeom>
          <a:ln w="1905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Straight Connector 69">
            <a:extLst>
              <a:ext uri="{FF2B5EF4-FFF2-40B4-BE49-F238E27FC236}">
                <a16:creationId xmlns:a16="http://schemas.microsoft.com/office/drawing/2014/main" id="{7F563E98-9F10-86B5-7A38-A4DC3F8D226F}"/>
              </a:ext>
            </a:extLst>
          </p:cNvPr>
          <p:cNvCxnSpPr>
            <a:cxnSpLocks/>
          </p:cNvCxnSpPr>
          <p:nvPr/>
        </p:nvCxnSpPr>
        <p:spPr>
          <a:xfrm flipH="1" flipV="1">
            <a:off x="3514144" y="4964212"/>
            <a:ext cx="5739305" cy="46458"/>
          </a:xfrm>
          <a:prstGeom prst="line">
            <a:avLst/>
          </a:prstGeom>
          <a:ln w="1905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E10D1E9E-17F4-D241-B88B-E1207EF8167E}"/>
              </a:ext>
            </a:extLst>
          </p:cNvPr>
          <p:cNvCxnSpPr>
            <a:cxnSpLocks/>
          </p:cNvCxnSpPr>
          <p:nvPr/>
        </p:nvCxnSpPr>
        <p:spPr>
          <a:xfrm flipV="1">
            <a:off x="11025447" y="2360859"/>
            <a:ext cx="0" cy="1049929"/>
          </a:xfrm>
          <a:prstGeom prst="line">
            <a:avLst/>
          </a:prstGeom>
          <a:ln w="1905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B24D1D8D-40CC-4966-2F2D-A0F4F9F3F604}"/>
              </a:ext>
            </a:extLst>
          </p:cNvPr>
          <p:cNvCxnSpPr>
            <a:cxnSpLocks/>
            <a:endCxn id="11" idx="2"/>
          </p:cNvCxnSpPr>
          <p:nvPr/>
        </p:nvCxnSpPr>
        <p:spPr>
          <a:xfrm flipH="1" flipV="1">
            <a:off x="7006361" y="2360862"/>
            <a:ext cx="26212" cy="1013795"/>
          </a:xfrm>
          <a:prstGeom prst="line">
            <a:avLst/>
          </a:prstGeom>
          <a:ln w="1905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Straight Connector 75">
            <a:extLst>
              <a:ext uri="{FF2B5EF4-FFF2-40B4-BE49-F238E27FC236}">
                <a16:creationId xmlns:a16="http://schemas.microsoft.com/office/drawing/2014/main" id="{1FAB035D-F65C-5770-074C-7E06DD366086}"/>
              </a:ext>
            </a:extLst>
          </p:cNvPr>
          <p:cNvCxnSpPr>
            <a:cxnSpLocks/>
            <a:endCxn id="12" idx="2"/>
          </p:cNvCxnSpPr>
          <p:nvPr/>
        </p:nvCxnSpPr>
        <p:spPr>
          <a:xfrm flipV="1">
            <a:off x="4747530" y="2360859"/>
            <a:ext cx="20311" cy="988548"/>
          </a:xfrm>
          <a:prstGeom prst="line">
            <a:avLst/>
          </a:prstGeom>
          <a:ln w="1905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Straight Connector 76">
            <a:extLst>
              <a:ext uri="{FF2B5EF4-FFF2-40B4-BE49-F238E27FC236}">
                <a16:creationId xmlns:a16="http://schemas.microsoft.com/office/drawing/2014/main" id="{21D00F7A-84C3-3975-6C01-3FA99F66FA63}"/>
              </a:ext>
            </a:extLst>
          </p:cNvPr>
          <p:cNvCxnSpPr>
            <a:cxnSpLocks/>
          </p:cNvCxnSpPr>
          <p:nvPr/>
        </p:nvCxnSpPr>
        <p:spPr>
          <a:xfrm flipV="1">
            <a:off x="2272144" y="2360859"/>
            <a:ext cx="0" cy="1015402"/>
          </a:xfrm>
          <a:prstGeom prst="line">
            <a:avLst/>
          </a:prstGeom>
          <a:ln w="1905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Straight Connector 95">
            <a:extLst>
              <a:ext uri="{FF2B5EF4-FFF2-40B4-BE49-F238E27FC236}">
                <a16:creationId xmlns:a16="http://schemas.microsoft.com/office/drawing/2014/main" id="{FE2AF664-E6A7-4C39-D2B3-80CDEC737773}"/>
              </a:ext>
            </a:extLst>
          </p:cNvPr>
          <p:cNvCxnSpPr>
            <a:cxnSpLocks/>
          </p:cNvCxnSpPr>
          <p:nvPr/>
        </p:nvCxnSpPr>
        <p:spPr>
          <a:xfrm flipH="1" flipV="1">
            <a:off x="10773296" y="3027664"/>
            <a:ext cx="8433" cy="1308811"/>
          </a:xfrm>
          <a:prstGeom prst="line">
            <a:avLst/>
          </a:prstGeom>
          <a:ln w="19050">
            <a:solidFill>
              <a:schemeClr val="accent6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" name="Straight Connector 98">
            <a:extLst>
              <a:ext uri="{FF2B5EF4-FFF2-40B4-BE49-F238E27FC236}">
                <a16:creationId xmlns:a16="http://schemas.microsoft.com/office/drawing/2014/main" id="{987D9015-CFA0-53E2-D048-34EFE52BAB8E}"/>
              </a:ext>
            </a:extLst>
          </p:cNvPr>
          <p:cNvCxnSpPr>
            <a:cxnSpLocks/>
          </p:cNvCxnSpPr>
          <p:nvPr/>
        </p:nvCxnSpPr>
        <p:spPr>
          <a:xfrm>
            <a:off x="2576945" y="3004379"/>
            <a:ext cx="8196351" cy="63080"/>
          </a:xfrm>
          <a:prstGeom prst="line">
            <a:avLst/>
          </a:prstGeom>
          <a:ln w="19050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" name="Straight Connector 102">
            <a:extLst>
              <a:ext uri="{FF2B5EF4-FFF2-40B4-BE49-F238E27FC236}">
                <a16:creationId xmlns:a16="http://schemas.microsoft.com/office/drawing/2014/main" id="{17383971-CF30-8626-5B5A-9A87C7C1DAED}"/>
              </a:ext>
            </a:extLst>
          </p:cNvPr>
          <p:cNvCxnSpPr>
            <a:cxnSpLocks/>
          </p:cNvCxnSpPr>
          <p:nvPr/>
        </p:nvCxnSpPr>
        <p:spPr>
          <a:xfrm flipH="1" flipV="1">
            <a:off x="10759443" y="2323848"/>
            <a:ext cx="8433" cy="1308811"/>
          </a:xfrm>
          <a:prstGeom prst="line">
            <a:avLst/>
          </a:prstGeom>
          <a:ln w="19050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" name="Straight Connector 103">
            <a:extLst>
              <a:ext uri="{FF2B5EF4-FFF2-40B4-BE49-F238E27FC236}">
                <a16:creationId xmlns:a16="http://schemas.microsoft.com/office/drawing/2014/main" id="{5A77C1F1-5992-08F9-F794-D5F6701A2CFA}"/>
              </a:ext>
            </a:extLst>
          </p:cNvPr>
          <p:cNvCxnSpPr>
            <a:cxnSpLocks/>
          </p:cNvCxnSpPr>
          <p:nvPr/>
        </p:nvCxnSpPr>
        <p:spPr>
          <a:xfrm flipH="1" flipV="1">
            <a:off x="9394583" y="2370307"/>
            <a:ext cx="4217" cy="697152"/>
          </a:xfrm>
          <a:prstGeom prst="line">
            <a:avLst/>
          </a:prstGeom>
          <a:ln w="19050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" name="Straight Connector 105">
            <a:extLst>
              <a:ext uri="{FF2B5EF4-FFF2-40B4-BE49-F238E27FC236}">
                <a16:creationId xmlns:a16="http://schemas.microsoft.com/office/drawing/2014/main" id="{5D1F2E38-2627-20F9-E2E8-07A7C99A87ED}"/>
              </a:ext>
            </a:extLst>
          </p:cNvPr>
          <p:cNvCxnSpPr>
            <a:cxnSpLocks/>
          </p:cNvCxnSpPr>
          <p:nvPr/>
        </p:nvCxnSpPr>
        <p:spPr>
          <a:xfrm flipH="1" flipV="1">
            <a:off x="6723667" y="2360859"/>
            <a:ext cx="4217" cy="697152"/>
          </a:xfrm>
          <a:prstGeom prst="line">
            <a:avLst/>
          </a:prstGeom>
          <a:ln w="19050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7" name="Straight Connector 106">
            <a:extLst>
              <a:ext uri="{FF2B5EF4-FFF2-40B4-BE49-F238E27FC236}">
                <a16:creationId xmlns:a16="http://schemas.microsoft.com/office/drawing/2014/main" id="{8474D118-4B8C-7E0E-70DD-ED4BCF164E23}"/>
              </a:ext>
            </a:extLst>
          </p:cNvPr>
          <p:cNvCxnSpPr>
            <a:cxnSpLocks/>
          </p:cNvCxnSpPr>
          <p:nvPr/>
        </p:nvCxnSpPr>
        <p:spPr>
          <a:xfrm flipH="1" flipV="1">
            <a:off x="4363998" y="2346624"/>
            <a:ext cx="4217" cy="697152"/>
          </a:xfrm>
          <a:prstGeom prst="line">
            <a:avLst/>
          </a:prstGeom>
          <a:ln w="19050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Straight Connector 107">
            <a:extLst>
              <a:ext uri="{FF2B5EF4-FFF2-40B4-BE49-F238E27FC236}">
                <a16:creationId xmlns:a16="http://schemas.microsoft.com/office/drawing/2014/main" id="{30F2FDEE-F33D-F0D6-22D2-6E3A92A75569}"/>
              </a:ext>
            </a:extLst>
          </p:cNvPr>
          <p:cNvCxnSpPr>
            <a:cxnSpLocks/>
          </p:cNvCxnSpPr>
          <p:nvPr/>
        </p:nvCxnSpPr>
        <p:spPr>
          <a:xfrm flipH="1" flipV="1">
            <a:off x="2575405" y="2338767"/>
            <a:ext cx="12620" cy="650259"/>
          </a:xfrm>
          <a:prstGeom prst="line">
            <a:avLst/>
          </a:prstGeom>
          <a:ln w="19050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0" name="Straight Connector 109">
            <a:extLst>
              <a:ext uri="{FF2B5EF4-FFF2-40B4-BE49-F238E27FC236}">
                <a16:creationId xmlns:a16="http://schemas.microsoft.com/office/drawing/2014/main" id="{C7525B06-B889-78D6-0193-CB7FFBEC8861}"/>
              </a:ext>
            </a:extLst>
          </p:cNvPr>
          <p:cNvCxnSpPr>
            <a:cxnSpLocks/>
          </p:cNvCxnSpPr>
          <p:nvPr/>
        </p:nvCxnSpPr>
        <p:spPr>
          <a:xfrm>
            <a:off x="2941172" y="2709435"/>
            <a:ext cx="7549489" cy="42957"/>
          </a:xfrm>
          <a:prstGeom prst="line">
            <a:avLst/>
          </a:prstGeom>
          <a:ln w="1905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2" name="Straight Connector 111">
            <a:extLst>
              <a:ext uri="{FF2B5EF4-FFF2-40B4-BE49-F238E27FC236}">
                <a16:creationId xmlns:a16="http://schemas.microsoft.com/office/drawing/2014/main" id="{0BB53509-9119-750E-AE40-43134C22E633}"/>
              </a:ext>
            </a:extLst>
          </p:cNvPr>
          <p:cNvCxnSpPr>
            <a:cxnSpLocks/>
          </p:cNvCxnSpPr>
          <p:nvPr/>
        </p:nvCxnSpPr>
        <p:spPr>
          <a:xfrm>
            <a:off x="4038452" y="2718883"/>
            <a:ext cx="0" cy="1848175"/>
          </a:xfrm>
          <a:prstGeom prst="line">
            <a:avLst/>
          </a:prstGeom>
          <a:ln w="1905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6" name="Straight Connector 115">
            <a:extLst>
              <a:ext uri="{FF2B5EF4-FFF2-40B4-BE49-F238E27FC236}">
                <a16:creationId xmlns:a16="http://schemas.microsoft.com/office/drawing/2014/main" id="{7049D95A-65B1-ED84-8C41-95441B1608B0}"/>
              </a:ext>
            </a:extLst>
          </p:cNvPr>
          <p:cNvCxnSpPr>
            <a:cxnSpLocks/>
          </p:cNvCxnSpPr>
          <p:nvPr/>
        </p:nvCxnSpPr>
        <p:spPr>
          <a:xfrm>
            <a:off x="2941172" y="2389321"/>
            <a:ext cx="0" cy="305879"/>
          </a:xfrm>
          <a:prstGeom prst="line">
            <a:avLst/>
          </a:prstGeom>
          <a:ln w="19050">
            <a:solidFill>
              <a:schemeClr val="accent4"/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Straight Connector 117">
            <a:extLst>
              <a:ext uri="{FF2B5EF4-FFF2-40B4-BE49-F238E27FC236}">
                <a16:creationId xmlns:a16="http://schemas.microsoft.com/office/drawing/2014/main" id="{A384B72B-8324-7E55-9B92-6B5EC91BA314}"/>
              </a:ext>
            </a:extLst>
          </p:cNvPr>
          <p:cNvCxnSpPr>
            <a:cxnSpLocks/>
          </p:cNvCxnSpPr>
          <p:nvPr/>
        </p:nvCxnSpPr>
        <p:spPr>
          <a:xfrm>
            <a:off x="4038452" y="2370307"/>
            <a:ext cx="0" cy="305879"/>
          </a:xfrm>
          <a:prstGeom prst="line">
            <a:avLst/>
          </a:prstGeom>
          <a:ln w="19050">
            <a:solidFill>
              <a:schemeClr val="accent4"/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9" name="Straight Connector 118">
            <a:extLst>
              <a:ext uri="{FF2B5EF4-FFF2-40B4-BE49-F238E27FC236}">
                <a16:creationId xmlns:a16="http://schemas.microsoft.com/office/drawing/2014/main" id="{136FD3F0-6DC4-F510-AE53-716AE1880F43}"/>
              </a:ext>
            </a:extLst>
          </p:cNvPr>
          <p:cNvCxnSpPr>
            <a:cxnSpLocks/>
          </p:cNvCxnSpPr>
          <p:nvPr/>
        </p:nvCxnSpPr>
        <p:spPr>
          <a:xfrm>
            <a:off x="6338306" y="2389321"/>
            <a:ext cx="0" cy="305879"/>
          </a:xfrm>
          <a:prstGeom prst="line">
            <a:avLst/>
          </a:prstGeom>
          <a:ln w="19050">
            <a:solidFill>
              <a:schemeClr val="accent4"/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0" name="Straight Connector 119">
            <a:extLst>
              <a:ext uri="{FF2B5EF4-FFF2-40B4-BE49-F238E27FC236}">
                <a16:creationId xmlns:a16="http://schemas.microsoft.com/office/drawing/2014/main" id="{63256FDD-5F65-6AC4-5075-61C237EE7D38}"/>
              </a:ext>
            </a:extLst>
          </p:cNvPr>
          <p:cNvCxnSpPr>
            <a:cxnSpLocks/>
          </p:cNvCxnSpPr>
          <p:nvPr/>
        </p:nvCxnSpPr>
        <p:spPr>
          <a:xfrm>
            <a:off x="9034400" y="2413004"/>
            <a:ext cx="0" cy="305879"/>
          </a:xfrm>
          <a:prstGeom prst="line">
            <a:avLst/>
          </a:prstGeom>
          <a:ln w="19050">
            <a:solidFill>
              <a:schemeClr val="accent4"/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" name="Straight Connector 120">
            <a:extLst>
              <a:ext uri="{FF2B5EF4-FFF2-40B4-BE49-F238E27FC236}">
                <a16:creationId xmlns:a16="http://schemas.microsoft.com/office/drawing/2014/main" id="{0D13D74C-D122-18BF-6F92-819D416983A1}"/>
              </a:ext>
            </a:extLst>
          </p:cNvPr>
          <p:cNvCxnSpPr>
            <a:cxnSpLocks/>
          </p:cNvCxnSpPr>
          <p:nvPr/>
        </p:nvCxnSpPr>
        <p:spPr>
          <a:xfrm>
            <a:off x="10455876" y="2386892"/>
            <a:ext cx="0" cy="305879"/>
          </a:xfrm>
          <a:prstGeom prst="line">
            <a:avLst/>
          </a:prstGeom>
          <a:ln w="19050">
            <a:solidFill>
              <a:schemeClr val="accent4"/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Straight Connector 122">
            <a:extLst>
              <a:ext uri="{FF2B5EF4-FFF2-40B4-BE49-F238E27FC236}">
                <a16:creationId xmlns:a16="http://schemas.microsoft.com/office/drawing/2014/main" id="{A390D177-2A29-0AD2-9907-6250C53F18D7}"/>
              </a:ext>
            </a:extLst>
          </p:cNvPr>
          <p:cNvCxnSpPr>
            <a:cxnSpLocks/>
          </p:cNvCxnSpPr>
          <p:nvPr/>
        </p:nvCxnSpPr>
        <p:spPr>
          <a:xfrm flipH="1" flipV="1">
            <a:off x="3534926" y="4567058"/>
            <a:ext cx="6710512" cy="66101"/>
          </a:xfrm>
          <a:prstGeom prst="line">
            <a:avLst/>
          </a:prstGeom>
          <a:ln w="19050">
            <a:solidFill>
              <a:schemeClr val="accent4"/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9" name="Left Brace 128">
            <a:extLst>
              <a:ext uri="{FF2B5EF4-FFF2-40B4-BE49-F238E27FC236}">
                <a16:creationId xmlns:a16="http://schemas.microsoft.com/office/drawing/2014/main" id="{6043DBE9-E725-19BE-AEAA-ECF2B906006A}"/>
              </a:ext>
            </a:extLst>
          </p:cNvPr>
          <p:cNvSpPr/>
          <p:nvPr/>
        </p:nvSpPr>
        <p:spPr>
          <a:xfrm>
            <a:off x="3108203" y="5531550"/>
            <a:ext cx="252151" cy="974927"/>
          </a:xfrm>
          <a:prstGeom prst="leftBrac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0" name="TextBox 129">
            <a:extLst>
              <a:ext uri="{FF2B5EF4-FFF2-40B4-BE49-F238E27FC236}">
                <a16:creationId xmlns:a16="http://schemas.microsoft.com/office/drawing/2014/main" id="{B7310E1D-4922-9C44-9B80-1DD1DA8CFFB6}"/>
              </a:ext>
            </a:extLst>
          </p:cNvPr>
          <p:cNvSpPr txBox="1"/>
          <p:nvPr/>
        </p:nvSpPr>
        <p:spPr>
          <a:xfrm rot="16200000">
            <a:off x="2113086" y="5818958"/>
            <a:ext cx="157159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Foundations </a:t>
            </a:r>
          </a:p>
        </p:txBody>
      </p:sp>
      <p:sp>
        <p:nvSpPr>
          <p:cNvPr id="131" name="Left Brace 130">
            <a:extLst>
              <a:ext uri="{FF2B5EF4-FFF2-40B4-BE49-F238E27FC236}">
                <a16:creationId xmlns:a16="http://schemas.microsoft.com/office/drawing/2014/main" id="{D23C0DA0-B215-DAF9-AFE7-D383C1D0BC43}"/>
              </a:ext>
            </a:extLst>
          </p:cNvPr>
          <p:cNvSpPr/>
          <p:nvPr/>
        </p:nvSpPr>
        <p:spPr>
          <a:xfrm>
            <a:off x="1032678" y="4285457"/>
            <a:ext cx="252151" cy="974927"/>
          </a:xfrm>
          <a:prstGeom prst="leftBrac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2" name="TextBox 131">
            <a:extLst>
              <a:ext uri="{FF2B5EF4-FFF2-40B4-BE49-F238E27FC236}">
                <a16:creationId xmlns:a16="http://schemas.microsoft.com/office/drawing/2014/main" id="{555449FE-DD32-E85F-30EF-949E04C879C3}"/>
              </a:ext>
            </a:extLst>
          </p:cNvPr>
          <p:cNvSpPr txBox="1"/>
          <p:nvPr/>
        </p:nvSpPr>
        <p:spPr>
          <a:xfrm rot="16200000">
            <a:off x="-99031" y="4377626"/>
            <a:ext cx="157159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Core Algorithms</a:t>
            </a:r>
          </a:p>
        </p:txBody>
      </p:sp>
      <p:sp>
        <p:nvSpPr>
          <p:cNvPr id="134" name="Left Brace 133">
            <a:extLst>
              <a:ext uri="{FF2B5EF4-FFF2-40B4-BE49-F238E27FC236}">
                <a16:creationId xmlns:a16="http://schemas.microsoft.com/office/drawing/2014/main" id="{A7BE64C7-125C-19D8-05C5-A8ABCF019D81}"/>
              </a:ext>
            </a:extLst>
          </p:cNvPr>
          <p:cNvSpPr/>
          <p:nvPr/>
        </p:nvSpPr>
        <p:spPr>
          <a:xfrm>
            <a:off x="998926" y="1382764"/>
            <a:ext cx="252151" cy="974927"/>
          </a:xfrm>
          <a:prstGeom prst="leftBrac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5" name="TextBox 134">
            <a:extLst>
              <a:ext uri="{FF2B5EF4-FFF2-40B4-BE49-F238E27FC236}">
                <a16:creationId xmlns:a16="http://schemas.microsoft.com/office/drawing/2014/main" id="{0156C23A-A711-2A26-2C5B-FE202AAAFC6E}"/>
              </a:ext>
            </a:extLst>
          </p:cNvPr>
          <p:cNvSpPr txBox="1"/>
          <p:nvPr/>
        </p:nvSpPr>
        <p:spPr>
          <a:xfrm rot="16200000">
            <a:off x="-178122" y="1516284"/>
            <a:ext cx="157159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Taks </a:t>
            </a:r>
            <a:r>
              <a:rPr lang="en-US" sz="2000"/>
              <a:t>Speific </a:t>
            </a:r>
            <a:r>
              <a:rPr lang="en-US" sz="2000" dirty="0"/>
              <a:t>Algorithms</a:t>
            </a:r>
          </a:p>
        </p:txBody>
      </p:sp>
    </p:spTree>
    <p:extLst>
      <p:ext uri="{BB962C8B-B14F-4D97-AF65-F5344CB8AC3E}">
        <p14:creationId xmlns:p14="http://schemas.microsoft.com/office/powerpoint/2010/main" val="111865267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6CF8BA-E77D-C360-AD5B-2CB98FDCA5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6187" y="249623"/>
            <a:ext cx="10515600" cy="662230"/>
          </a:xfrm>
        </p:spPr>
        <p:txBody>
          <a:bodyPr>
            <a:normAutofit fontScale="90000"/>
          </a:bodyPr>
          <a:lstStyle/>
          <a:p>
            <a:r>
              <a:rPr lang="en-US" sz="4900" dirty="0">
                <a:latin typeface="+mn-lt"/>
              </a:rPr>
              <a:t>Main topics in this course</a:t>
            </a:r>
            <a:br>
              <a:rPr lang="en-US" sz="4000" dirty="0">
                <a:latin typeface="+mn-lt"/>
              </a:rPr>
            </a:br>
            <a:endParaRPr lang="en-US" sz="4000" dirty="0">
              <a:latin typeface="+mn-lt"/>
            </a:endParaRPr>
          </a:p>
        </p:txBody>
      </p:sp>
      <p:sp>
        <p:nvSpPr>
          <p:cNvPr id="3" name="Left Brace 2">
            <a:extLst>
              <a:ext uri="{FF2B5EF4-FFF2-40B4-BE49-F238E27FC236}">
                <a16:creationId xmlns:a16="http://schemas.microsoft.com/office/drawing/2014/main" id="{722482C5-08B3-A90B-94B0-26B76C9150F3}"/>
              </a:ext>
            </a:extLst>
          </p:cNvPr>
          <p:cNvSpPr/>
          <p:nvPr/>
        </p:nvSpPr>
        <p:spPr>
          <a:xfrm>
            <a:off x="756889" y="1964356"/>
            <a:ext cx="225209" cy="1273261"/>
          </a:xfrm>
          <a:prstGeom prst="leftBrac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0A58A67-EE46-2F4C-3457-22DB787F6AD6}"/>
              </a:ext>
            </a:extLst>
          </p:cNvPr>
          <p:cNvSpPr txBox="1"/>
          <p:nvPr/>
        </p:nvSpPr>
        <p:spPr>
          <a:xfrm rot="16200000">
            <a:off x="-238228" y="2251765"/>
            <a:ext cx="157159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Foundations 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CD484FE-4881-3835-B8E6-5EB721D74315}"/>
              </a:ext>
            </a:extLst>
          </p:cNvPr>
          <p:cNvSpPr/>
          <p:nvPr/>
        </p:nvSpPr>
        <p:spPr>
          <a:xfrm>
            <a:off x="1259812" y="1983695"/>
            <a:ext cx="1951346" cy="1253922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1. Hashing and K-V pair management 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4CF4665-3B44-EC27-8017-63E9AAA04CB1}"/>
              </a:ext>
            </a:extLst>
          </p:cNvPr>
          <p:cNvSpPr/>
          <p:nvPr/>
        </p:nvSpPr>
        <p:spPr>
          <a:xfrm>
            <a:off x="3740233" y="2021536"/>
            <a:ext cx="2157426" cy="117823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2. Distance and Similarity Metrics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3C8FAA9-78A8-E1CB-4EE1-8C4AA2B9313B}"/>
              </a:ext>
            </a:extLst>
          </p:cNvPr>
          <p:cNvSpPr/>
          <p:nvPr/>
        </p:nvSpPr>
        <p:spPr>
          <a:xfrm>
            <a:off x="6408020" y="2037908"/>
            <a:ext cx="2058805" cy="1213337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3. Graph Algorithms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E6405B6-04C8-5532-70BF-8921F993525F}"/>
              </a:ext>
            </a:extLst>
          </p:cNvPr>
          <p:cNvSpPr/>
          <p:nvPr/>
        </p:nvSpPr>
        <p:spPr>
          <a:xfrm>
            <a:off x="1215334" y="3591320"/>
            <a:ext cx="2085982" cy="1074244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2. Dimensionality Reduction</a:t>
            </a:r>
          </a:p>
        </p:txBody>
      </p:sp>
      <p:sp>
        <p:nvSpPr>
          <p:cNvPr id="10" name="Left Brace 9">
            <a:extLst>
              <a:ext uri="{FF2B5EF4-FFF2-40B4-BE49-F238E27FC236}">
                <a16:creationId xmlns:a16="http://schemas.microsoft.com/office/drawing/2014/main" id="{4DF74A6A-43A3-532A-27C0-C25A4F8EBA58}"/>
              </a:ext>
            </a:extLst>
          </p:cNvPr>
          <p:cNvSpPr/>
          <p:nvPr/>
        </p:nvSpPr>
        <p:spPr>
          <a:xfrm>
            <a:off x="865089" y="3571535"/>
            <a:ext cx="172578" cy="1094029"/>
          </a:xfrm>
          <a:prstGeom prst="leftBrac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BA2D2F7-0D25-9291-81E1-B95A85194ECD}"/>
              </a:ext>
            </a:extLst>
          </p:cNvPr>
          <p:cNvSpPr txBox="1"/>
          <p:nvPr/>
        </p:nvSpPr>
        <p:spPr>
          <a:xfrm rot="16200000">
            <a:off x="-286998" y="3724841"/>
            <a:ext cx="157159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Core Algorithms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4FA9D0A-8D01-9127-4D33-1A9F6023056A}"/>
              </a:ext>
            </a:extLst>
          </p:cNvPr>
          <p:cNvSpPr/>
          <p:nvPr/>
        </p:nvSpPr>
        <p:spPr>
          <a:xfrm>
            <a:off x="1280175" y="5154275"/>
            <a:ext cx="1961804" cy="1264023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3. Social Network Analysis</a:t>
            </a:r>
          </a:p>
        </p:txBody>
      </p:sp>
      <p:sp>
        <p:nvSpPr>
          <p:cNvPr id="14" name="Left Brace 13">
            <a:extLst>
              <a:ext uri="{FF2B5EF4-FFF2-40B4-BE49-F238E27FC236}">
                <a16:creationId xmlns:a16="http://schemas.microsoft.com/office/drawing/2014/main" id="{109C88A7-820F-F45D-06B9-AC6695899726}"/>
              </a:ext>
            </a:extLst>
          </p:cNvPr>
          <p:cNvSpPr/>
          <p:nvPr/>
        </p:nvSpPr>
        <p:spPr>
          <a:xfrm>
            <a:off x="858563" y="5154275"/>
            <a:ext cx="164275" cy="1264024"/>
          </a:xfrm>
          <a:prstGeom prst="leftBrac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89A544B-C64D-C26D-379D-546D41202910}"/>
              </a:ext>
            </a:extLst>
          </p:cNvPr>
          <p:cNvSpPr txBox="1"/>
          <p:nvPr/>
        </p:nvSpPr>
        <p:spPr>
          <a:xfrm rot="16200000">
            <a:off x="-322189" y="5405146"/>
            <a:ext cx="157159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Taks </a:t>
            </a:r>
            <a:r>
              <a:rPr lang="en-US" sz="2000"/>
              <a:t>Speific </a:t>
            </a:r>
            <a:r>
              <a:rPr lang="en-US" sz="2000" dirty="0"/>
              <a:t>Algorithms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F224B6E8-EE62-D057-75D7-D8EF7E5CA802}"/>
              </a:ext>
            </a:extLst>
          </p:cNvPr>
          <p:cNvSpPr/>
          <p:nvPr/>
        </p:nvSpPr>
        <p:spPr>
          <a:xfrm>
            <a:off x="3811677" y="3631085"/>
            <a:ext cx="2085982" cy="109402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5. Similarity Search and NN Algorithms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4E8CF822-5DC8-788F-175C-7F3FAAECF89C}"/>
              </a:ext>
            </a:extLst>
          </p:cNvPr>
          <p:cNvSpPr/>
          <p:nvPr/>
        </p:nvSpPr>
        <p:spPr>
          <a:xfrm>
            <a:off x="6408020" y="3640978"/>
            <a:ext cx="2038966" cy="1123564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4. Online Algorithms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260E78D0-AC72-D4B1-530C-9DBE1AAF53B3}"/>
              </a:ext>
            </a:extLst>
          </p:cNvPr>
          <p:cNvSpPr/>
          <p:nvPr/>
        </p:nvSpPr>
        <p:spPr>
          <a:xfrm>
            <a:off x="8985680" y="5155489"/>
            <a:ext cx="1894527" cy="126280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8. Clustering Algorithms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1D5B69D8-949F-A5E1-038A-D7B3D5FE6133}"/>
              </a:ext>
            </a:extLst>
          </p:cNvPr>
          <p:cNvSpPr/>
          <p:nvPr/>
        </p:nvSpPr>
        <p:spPr>
          <a:xfrm>
            <a:off x="6470354" y="5154275"/>
            <a:ext cx="2016833" cy="124568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7. Recommender  Algorithms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66940847-DA8B-171F-5B55-F8479F15B7DD}"/>
              </a:ext>
            </a:extLst>
          </p:cNvPr>
          <p:cNvSpPr/>
          <p:nvPr/>
        </p:nvSpPr>
        <p:spPr>
          <a:xfrm>
            <a:off x="3760595" y="5172609"/>
            <a:ext cx="2085981" cy="124568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6. Web/Document ranking and search</a:t>
            </a:r>
          </a:p>
        </p:txBody>
      </p:sp>
    </p:spTree>
    <p:extLst>
      <p:ext uri="{BB962C8B-B14F-4D97-AF65-F5344CB8AC3E}">
        <p14:creationId xmlns:p14="http://schemas.microsoft.com/office/powerpoint/2010/main" val="46166371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41417"/>
            <a:ext cx="10515600" cy="4635546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Schedule for live class meetings </a:t>
            </a:r>
          </a:p>
          <a:p>
            <a:r>
              <a:rPr lang="en-US" dirty="0"/>
              <a:t>Wednesdays – Lectures focused on theoretical foundations – 6:00 to 8:00 pm US Eastern Time</a:t>
            </a:r>
          </a:p>
          <a:p>
            <a:r>
              <a:rPr lang="en-US" dirty="0"/>
              <a:t>Mondays – Section meeting to address your questions, review and background – starting at 6:00 pm US Eastern Time  </a:t>
            </a:r>
          </a:p>
          <a:p>
            <a:pPr marL="0" indent="0">
              <a:buNone/>
            </a:pPr>
            <a:r>
              <a:rPr lang="en-US" dirty="0">
                <a:solidFill>
                  <a:srgbClr val="FF0000"/>
                </a:solidFill>
              </a:rPr>
              <a:t>All class meetings are recorded and available on-demand – See Class Recordings tab in Canvas</a:t>
            </a:r>
          </a:p>
          <a:p>
            <a:endParaRPr lang="en-US" b="1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Schedule </a:t>
            </a:r>
          </a:p>
        </p:txBody>
      </p:sp>
    </p:spTree>
    <p:extLst>
      <p:ext uri="{BB962C8B-B14F-4D97-AF65-F5344CB8AC3E}">
        <p14:creationId xmlns:p14="http://schemas.microsoft.com/office/powerpoint/2010/main" val="21161588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41417"/>
            <a:ext cx="10515600" cy="4635546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dirty="0"/>
              <a:t>Schedule for live class meetings </a:t>
            </a:r>
          </a:p>
          <a:p>
            <a:r>
              <a:rPr lang="en-US" dirty="0"/>
              <a:t>Tuesdays and Thursdays – Lectures focused on theoretical foundations - 6:30-9:30 pm US Eastern Time</a:t>
            </a:r>
          </a:p>
          <a:p>
            <a:pPr lvl="1"/>
            <a:r>
              <a:rPr lang="en-US" dirty="0"/>
              <a:t>Most lessons less than 3 hours</a:t>
            </a:r>
          </a:p>
          <a:p>
            <a:r>
              <a:rPr lang="en-US" dirty="0"/>
              <a:t>Mondays and Wednesdays – Section meeting to address questions, discuss code, background review – starting at 6:30 pm US Eastern Time  </a:t>
            </a:r>
          </a:p>
          <a:p>
            <a:r>
              <a:rPr lang="en-US" dirty="0"/>
              <a:t>One-on-one meetings can be held by arrangement</a:t>
            </a:r>
          </a:p>
          <a:p>
            <a:pPr marL="0" indent="0">
              <a:buNone/>
            </a:pPr>
            <a:endParaRPr lang="en-US" dirty="0">
              <a:solidFill>
                <a:srgbClr val="C00000"/>
              </a:solidFill>
            </a:endParaRPr>
          </a:p>
          <a:p>
            <a:pPr marL="0" indent="0">
              <a:buNone/>
            </a:pPr>
            <a:r>
              <a:rPr lang="en-US" dirty="0">
                <a:solidFill>
                  <a:srgbClr val="C00000"/>
                </a:solidFill>
              </a:rPr>
              <a:t>All class meetings are recorded and available on-demand – See Class Recordings tab in Canvas</a:t>
            </a:r>
          </a:p>
          <a:p>
            <a:endParaRPr lang="en-US" b="1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Schedule </a:t>
            </a:r>
          </a:p>
        </p:txBody>
      </p:sp>
    </p:spTree>
    <p:extLst>
      <p:ext uri="{BB962C8B-B14F-4D97-AF65-F5344CB8AC3E}">
        <p14:creationId xmlns:p14="http://schemas.microsoft.com/office/powerpoint/2010/main" val="1770779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41417"/>
            <a:ext cx="10515600" cy="4635546"/>
          </a:xfrm>
        </p:spPr>
        <p:txBody>
          <a:bodyPr/>
          <a:lstStyle/>
          <a:p>
            <a:pPr marL="0" indent="0">
              <a:buNone/>
            </a:pPr>
            <a:r>
              <a:rPr lang="en-US" sz="3200" dirty="0"/>
              <a:t>Harvard Summer School session is only </a:t>
            </a:r>
            <a:r>
              <a:rPr lang="en-US" sz="3200" b="1" dirty="0"/>
              <a:t>7 weeks</a:t>
            </a:r>
            <a:r>
              <a:rPr lang="en-US" sz="3200" dirty="0"/>
              <a:t>!</a:t>
            </a:r>
            <a:endParaRPr lang="en-US" sz="3200" b="1" dirty="0"/>
          </a:p>
          <a:p>
            <a:r>
              <a:rPr lang="en-US" dirty="0">
                <a:solidFill>
                  <a:srgbClr val="C00000"/>
                </a:solidFill>
              </a:rPr>
              <a:t>Expect an </a:t>
            </a:r>
            <a:r>
              <a:rPr lang="en-US" b="1" dirty="0">
                <a:solidFill>
                  <a:srgbClr val="C00000"/>
                </a:solidFill>
              </a:rPr>
              <a:t>intense pace!</a:t>
            </a:r>
          </a:p>
          <a:p>
            <a:pPr lvl="1"/>
            <a:r>
              <a:rPr lang="en-US" dirty="0"/>
              <a:t>Course moves at twice the rate of a regular semester</a:t>
            </a:r>
          </a:p>
          <a:p>
            <a:pPr lvl="1"/>
            <a:r>
              <a:rPr lang="en-US" dirty="0"/>
              <a:t>Lesson and assignments cover </a:t>
            </a:r>
            <a:r>
              <a:rPr lang="en-US" b="1" dirty="0"/>
              <a:t>all material of the regular 15-week semester</a:t>
            </a:r>
            <a:endParaRPr lang="en-US" dirty="0"/>
          </a:p>
          <a:p>
            <a:r>
              <a:rPr lang="en-US" dirty="0"/>
              <a:t>Assignment deadlines are important</a:t>
            </a:r>
          </a:p>
          <a:p>
            <a:pPr lvl="1"/>
            <a:r>
              <a:rPr lang="en-US" dirty="0"/>
              <a:t>One or two assignments due every week!   </a:t>
            </a:r>
          </a:p>
          <a:p>
            <a:pPr lvl="1"/>
            <a:r>
              <a:rPr lang="en-US" b="1" dirty="0"/>
              <a:t>Do not fall behind!!</a:t>
            </a:r>
          </a:p>
          <a:p>
            <a:pPr lvl="1"/>
            <a:r>
              <a:rPr lang="en-US" dirty="0"/>
              <a:t>Expect </a:t>
            </a:r>
            <a:r>
              <a:rPr lang="en-US" b="1" dirty="0"/>
              <a:t>9 assignments </a:t>
            </a:r>
            <a:r>
              <a:rPr lang="en-US" dirty="0"/>
              <a:t>plus online discussion questions</a:t>
            </a:r>
          </a:p>
          <a:p>
            <a:r>
              <a:rPr lang="en-US" sz="3200" b="1" dirty="0">
                <a:solidFill>
                  <a:srgbClr val="C00000"/>
                </a:solidFill>
              </a:rPr>
              <a:t>There is no time to ‘catch up’!</a:t>
            </a:r>
          </a:p>
          <a:p>
            <a:pPr lvl="1"/>
            <a:endParaRPr lang="en-US" dirty="0"/>
          </a:p>
          <a:p>
            <a:endParaRPr lang="en-US" b="1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Pace of this course</a:t>
            </a:r>
          </a:p>
        </p:txBody>
      </p:sp>
    </p:spTree>
    <p:extLst>
      <p:ext uri="{BB962C8B-B14F-4D97-AF65-F5344CB8AC3E}">
        <p14:creationId xmlns:p14="http://schemas.microsoft.com/office/powerpoint/2010/main" val="16370318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24927"/>
            <a:ext cx="10515600" cy="489821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Students enrolled for undergraduate credit are evaluated by the following weights: </a:t>
            </a:r>
          </a:p>
          <a:p>
            <a:r>
              <a:rPr lang="en-US" b="1" dirty="0"/>
              <a:t>10% Class Participation </a:t>
            </a:r>
            <a:r>
              <a:rPr lang="en-US" dirty="0"/>
              <a:t>– Class participation in online discussions</a:t>
            </a:r>
          </a:p>
          <a:p>
            <a:r>
              <a:rPr lang="en-US" b="1" dirty="0"/>
              <a:t>90%	Assignments </a:t>
            </a:r>
            <a:r>
              <a:rPr lang="en-US" dirty="0"/>
              <a:t>– Hands-on assignments for most lessons </a:t>
            </a:r>
          </a:p>
          <a:p>
            <a:pPr lvl="1"/>
            <a:r>
              <a:rPr lang="en-US" dirty="0"/>
              <a:t>Expect 9 assignments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Undergraduate Credit Grading</a:t>
            </a:r>
          </a:p>
        </p:txBody>
      </p:sp>
    </p:spTree>
    <p:extLst>
      <p:ext uri="{BB962C8B-B14F-4D97-AF65-F5344CB8AC3E}">
        <p14:creationId xmlns:p14="http://schemas.microsoft.com/office/powerpoint/2010/main" val="324535704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24927"/>
            <a:ext cx="10515600" cy="489821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Students enrolled for graduate credit are evaluated by the following weights: </a:t>
            </a:r>
          </a:p>
          <a:p>
            <a:r>
              <a:rPr lang="en-US" b="1" dirty="0"/>
              <a:t>10% Class Participation </a:t>
            </a:r>
            <a:r>
              <a:rPr lang="en-US" dirty="0"/>
              <a:t>– Class participation in online discussions</a:t>
            </a:r>
          </a:p>
          <a:p>
            <a:r>
              <a:rPr lang="en-US" b="1" dirty="0"/>
              <a:t>65%	Assignments </a:t>
            </a:r>
            <a:r>
              <a:rPr lang="en-US" dirty="0"/>
              <a:t>– Hands-on assignments for most lessons</a:t>
            </a:r>
          </a:p>
          <a:p>
            <a:pPr lvl="1"/>
            <a:r>
              <a:rPr lang="en-US" dirty="0"/>
              <a:t>Expect 9 assignments</a:t>
            </a:r>
          </a:p>
          <a:p>
            <a:r>
              <a:rPr lang="en-US" b="1" dirty="0"/>
              <a:t>5% Project proposal </a:t>
            </a:r>
            <a:r>
              <a:rPr lang="en-US" dirty="0"/>
              <a:t>– Proposal describing the problem you wish to address and methods you plan to apply. Based on your proposal, your instructor will approve your project as appropriate for the course. </a:t>
            </a:r>
          </a:p>
          <a:p>
            <a:r>
              <a:rPr lang="en-US" b="1" dirty="0"/>
              <a:t>20%	Project </a:t>
            </a:r>
            <a:r>
              <a:rPr lang="en-US" dirty="0"/>
              <a:t>– Independent data mining project report – More on this next class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Graduate Credit Grading</a:t>
            </a:r>
          </a:p>
        </p:txBody>
      </p:sp>
    </p:spTree>
    <p:extLst>
      <p:ext uri="{BB962C8B-B14F-4D97-AF65-F5344CB8AC3E}">
        <p14:creationId xmlns:p14="http://schemas.microsoft.com/office/powerpoint/2010/main" val="348567120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24927"/>
            <a:ext cx="10515600" cy="531100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Timely release of assignment solutions is an important part of the learning process </a:t>
            </a:r>
          </a:p>
          <a:p>
            <a:r>
              <a:rPr lang="en-US" b="1" dirty="0">
                <a:solidFill>
                  <a:srgbClr val="C00000"/>
                </a:solidFill>
              </a:rPr>
              <a:t>Harvard Summer School moves at an intense pace!!</a:t>
            </a:r>
          </a:p>
          <a:p>
            <a:r>
              <a:rPr lang="en-US" dirty="0"/>
              <a:t>Late assignment policy:   </a:t>
            </a:r>
          </a:p>
          <a:p>
            <a:pPr lvl="1"/>
            <a:r>
              <a:rPr lang="en-US" dirty="0"/>
              <a:t>Up to one day late - no penalty  </a:t>
            </a:r>
          </a:p>
          <a:p>
            <a:pPr lvl="1"/>
            <a:r>
              <a:rPr lang="en-US" dirty="0"/>
              <a:t>Up to 2 days late - less 10% </a:t>
            </a:r>
          </a:p>
          <a:p>
            <a:pPr lvl="1"/>
            <a:r>
              <a:rPr lang="en-US" dirty="0"/>
              <a:t>Up to 3 days late – less 20%</a:t>
            </a:r>
          </a:p>
          <a:p>
            <a:pPr lvl="1"/>
            <a:r>
              <a:rPr lang="en-US" dirty="0"/>
              <a:t>More than 3 days late - no credit   </a:t>
            </a:r>
          </a:p>
          <a:p>
            <a:r>
              <a:rPr lang="en-US" b="1" dirty="0">
                <a:solidFill>
                  <a:srgbClr val="C00000"/>
                </a:solidFill>
              </a:rPr>
              <a:t>Make sure you turn in work on time!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Late Assignment Policy</a:t>
            </a:r>
          </a:p>
        </p:txBody>
      </p:sp>
    </p:spTree>
    <p:extLst>
      <p:ext uri="{BB962C8B-B14F-4D97-AF65-F5344CB8AC3E}">
        <p14:creationId xmlns:p14="http://schemas.microsoft.com/office/powerpoint/2010/main" val="29406858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154002"/>
            <a:ext cx="10515600" cy="5581207"/>
          </a:xfrm>
        </p:spPr>
        <p:txBody>
          <a:bodyPr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en-US" dirty="0"/>
              <a:t>Read and understand the Syllabus!  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Material specific to this course are in the </a:t>
            </a:r>
            <a:r>
              <a:rPr lang="en-US" dirty="0" err="1">
                <a:hlinkClick r:id="rId2"/>
              </a:rPr>
              <a:t>Github</a:t>
            </a:r>
            <a:r>
              <a:rPr lang="en-US" dirty="0">
                <a:hlinkClick r:id="rId2"/>
              </a:rPr>
              <a:t> repository</a:t>
            </a:r>
            <a:endParaRPr lang="en-US" dirty="0"/>
          </a:p>
          <a:p>
            <a:pPr lvl="1"/>
            <a:r>
              <a:rPr lang="en-US" dirty="0"/>
              <a:t>Slides</a:t>
            </a:r>
          </a:p>
          <a:p>
            <a:pPr lvl="1"/>
            <a:r>
              <a:rPr lang="en-US" dirty="0"/>
              <a:t>Notebooks for assignments</a:t>
            </a:r>
          </a:p>
          <a:p>
            <a:pPr lvl="1"/>
            <a:r>
              <a:rPr lang="en-US" dirty="0"/>
              <a:t>Data</a:t>
            </a:r>
          </a:p>
          <a:p>
            <a:pPr lvl="1"/>
            <a:r>
              <a:rPr lang="en-US" dirty="0"/>
              <a:t>Supplementary materials for review   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Assignment due dates, submissions, and grading in </a:t>
            </a:r>
            <a:r>
              <a:rPr lang="en-US" b="1" dirty="0"/>
              <a:t>Canvas</a:t>
            </a:r>
          </a:p>
          <a:p>
            <a:pPr lvl="1"/>
            <a:r>
              <a:rPr lang="en-US" dirty="0"/>
              <a:t>Class assignments </a:t>
            </a:r>
          </a:p>
          <a:p>
            <a:pPr lvl="1"/>
            <a:r>
              <a:rPr lang="en-US" dirty="0"/>
              <a:t>Graduate independent projects   </a:t>
            </a:r>
          </a:p>
          <a:p>
            <a:pPr lvl="1"/>
            <a:r>
              <a:rPr lang="en-US" dirty="0"/>
              <a:t>Solutions and examples under </a:t>
            </a:r>
            <a:r>
              <a:rPr lang="en-US" b="1" dirty="0"/>
              <a:t>Modules</a:t>
            </a:r>
            <a:r>
              <a:rPr lang="en-US" dirty="0"/>
              <a:t> 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solidFill>
                  <a:srgbClr val="C00000"/>
                </a:solidFill>
              </a:rPr>
              <a:t>Assignments are being revised!</a:t>
            </a:r>
          </a:p>
          <a:p>
            <a:pPr lvl="1"/>
            <a:r>
              <a:rPr lang="en-US" dirty="0">
                <a:solidFill>
                  <a:srgbClr val="C00000"/>
                </a:solidFill>
              </a:rPr>
              <a:t>Do not start assignments before they are posted in Canvas</a:t>
            </a:r>
          </a:p>
          <a:p>
            <a:pPr lvl="1"/>
            <a:r>
              <a:rPr lang="en-US" dirty="0">
                <a:solidFill>
                  <a:srgbClr val="C00000"/>
                </a:solidFill>
              </a:rPr>
              <a:t>Do a pull on the GitHub repository to get updated notebooks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Where can you find the course materials?</a:t>
            </a:r>
          </a:p>
        </p:txBody>
      </p:sp>
    </p:spTree>
    <p:extLst>
      <p:ext uri="{BB962C8B-B14F-4D97-AF65-F5344CB8AC3E}">
        <p14:creationId xmlns:p14="http://schemas.microsoft.com/office/powerpoint/2010/main" val="33872547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3814A0-7A36-C94D-3414-9130111AAC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21C102-0F95-A89F-31BC-40B62F8140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154002"/>
            <a:ext cx="10515600" cy="5581207"/>
          </a:xfrm>
        </p:spPr>
        <p:txBody>
          <a:bodyPr>
            <a:normAutofit/>
          </a:bodyPr>
          <a:lstStyle/>
          <a:p>
            <a:pPr marL="514350" indent="-514350">
              <a:buFont typeface="+mj-lt"/>
              <a:buAutoNum type="arabicPeriod" startAt="4"/>
            </a:pPr>
            <a:r>
              <a:rPr lang="en-US" dirty="0"/>
              <a:t>Recommended reading primarily from these texts: </a:t>
            </a:r>
          </a:p>
          <a:p>
            <a:pPr lvl="1"/>
            <a:r>
              <a:rPr lang="en-US" dirty="0">
                <a:hlinkClick r:id="rId2"/>
              </a:rPr>
              <a:t>Mining of Massive Datasets</a:t>
            </a:r>
            <a:r>
              <a:rPr lang="en-US" dirty="0"/>
              <a:t>, 3</a:t>
            </a:r>
            <a:r>
              <a:rPr lang="en-US" baseline="30000" dirty="0"/>
              <a:t>rd</a:t>
            </a:r>
            <a:r>
              <a:rPr lang="en-US" dirty="0"/>
              <a:t> Ed - .pdf download available</a:t>
            </a:r>
          </a:p>
          <a:p>
            <a:pPr lvl="1"/>
            <a:r>
              <a:rPr lang="en-US" u="sng" dirty="0">
                <a:hlinkClick r:id="rId3"/>
              </a:rPr>
              <a:t>Networks, 2</a:t>
            </a:r>
            <a:r>
              <a:rPr lang="en-US" u="sng" baseline="30000" dirty="0">
                <a:hlinkClick r:id="rId3"/>
              </a:rPr>
              <a:t>nd</a:t>
            </a:r>
            <a:r>
              <a:rPr lang="en-US" u="sng" dirty="0">
                <a:hlinkClick r:id="rId3"/>
              </a:rPr>
              <a:t> edition, Mark Newman</a:t>
            </a:r>
            <a:r>
              <a:rPr lang="en-US" u="sng" dirty="0"/>
              <a:t> </a:t>
            </a:r>
            <a:r>
              <a:rPr lang="en-US" dirty="0"/>
              <a:t>Available through the Harvard Coop</a:t>
            </a:r>
          </a:p>
          <a:p>
            <a:pPr lvl="1"/>
            <a:r>
              <a:rPr lang="en-US" b="0" i="0" dirty="0">
                <a:solidFill>
                  <a:srgbClr val="222222"/>
                </a:solidFill>
                <a:effectLst/>
                <a:latin typeface="Rubik"/>
                <a:hlinkClick r:id="rId4"/>
              </a:rPr>
              <a:t>Algorithms and data structures for massive datasets</a:t>
            </a:r>
            <a:r>
              <a:rPr lang="en-US" b="0" i="0" dirty="0">
                <a:solidFill>
                  <a:srgbClr val="222222"/>
                </a:solidFill>
                <a:effectLst/>
                <a:latin typeface="Rubik"/>
              </a:rPr>
              <a:t>, </a:t>
            </a:r>
            <a:r>
              <a:rPr lang="en-US" dirty="0" err="1">
                <a:effectLst/>
              </a:rPr>
              <a:t>Medjedovic</a:t>
            </a:r>
            <a:r>
              <a:rPr lang="en-US" dirty="0">
                <a:effectLst/>
              </a:rPr>
              <a:t>, </a:t>
            </a:r>
            <a:r>
              <a:rPr lang="en-US" dirty="0" err="1">
                <a:effectLst/>
              </a:rPr>
              <a:t>Dzejla</a:t>
            </a:r>
            <a:r>
              <a:rPr lang="en-US" dirty="0">
                <a:effectLst/>
              </a:rPr>
              <a:t>, </a:t>
            </a:r>
            <a:r>
              <a:rPr lang="en-US" dirty="0" err="1">
                <a:effectLst/>
              </a:rPr>
              <a:t>Tahirovic</a:t>
            </a:r>
            <a:r>
              <a:rPr lang="en-US" dirty="0">
                <a:effectLst/>
              </a:rPr>
              <a:t>, Emin, Manning, 2022</a:t>
            </a:r>
          </a:p>
          <a:p>
            <a:pPr lvl="1"/>
            <a:r>
              <a:rPr lang="en-US" b="0" i="0" dirty="0">
                <a:solidFill>
                  <a:srgbClr val="222222"/>
                </a:solidFill>
                <a:effectLst/>
                <a:latin typeface="Rubik"/>
                <a:hlinkClick r:id="rId5"/>
              </a:rPr>
              <a:t>Advanced algorithms and data structures</a:t>
            </a:r>
            <a:r>
              <a:rPr lang="en-US" b="0" i="0" dirty="0">
                <a:solidFill>
                  <a:srgbClr val="222222"/>
                </a:solidFill>
                <a:effectLst/>
                <a:latin typeface="Rubik"/>
              </a:rPr>
              <a:t>, </a:t>
            </a:r>
            <a:r>
              <a:rPr lang="en-US" dirty="0">
                <a:effectLst/>
              </a:rPr>
              <a:t>La Rocca, Marcello, Manning, 2021</a:t>
            </a:r>
          </a:p>
          <a:p>
            <a:pPr lvl="1"/>
            <a:r>
              <a:rPr lang="en-US" dirty="0">
                <a:hlinkClick r:id="rId6"/>
              </a:rPr>
              <a:t>Data Mining, Concepts and Techniques</a:t>
            </a:r>
            <a:r>
              <a:rPr lang="en-US" dirty="0"/>
              <a:t>, 4th Edition, Jiawei Han, Jian Pei, </a:t>
            </a:r>
            <a:r>
              <a:rPr lang="en-US" dirty="0" err="1"/>
              <a:t>Hanghang</a:t>
            </a:r>
            <a:r>
              <a:rPr lang="en-US" dirty="0"/>
              <a:t> Tong, Morgan Kaufmann, 2022</a:t>
            </a:r>
          </a:p>
          <a:p>
            <a:pPr lvl="1"/>
            <a:r>
              <a:rPr lang="en-US" b="1" dirty="0"/>
              <a:t>Available as Library Reserves – See tab in Canvas 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F84C156F-E05C-F5B9-AAF7-820254AA67BD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Where can you find the course materials?</a:t>
            </a:r>
          </a:p>
        </p:txBody>
      </p:sp>
    </p:spTree>
    <p:extLst>
      <p:ext uri="{BB962C8B-B14F-4D97-AF65-F5344CB8AC3E}">
        <p14:creationId xmlns:p14="http://schemas.microsoft.com/office/powerpoint/2010/main" val="342803736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24927"/>
            <a:ext cx="10515600" cy="5311004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b="1" dirty="0"/>
              <a:t>Ed Discussion is the primary means of communication </a:t>
            </a:r>
            <a:r>
              <a:rPr lang="en-US" dirty="0"/>
              <a:t>for this course  </a:t>
            </a:r>
          </a:p>
          <a:p>
            <a:r>
              <a:rPr lang="en-US" dirty="0"/>
              <a:t>Use Ed Discussion to get help with assignments and projects </a:t>
            </a:r>
          </a:p>
          <a:p>
            <a:pPr lvl="1"/>
            <a:r>
              <a:rPr lang="en-US" dirty="0"/>
              <a:t>It’s </a:t>
            </a:r>
            <a:r>
              <a:rPr lang="en-US" b="1" dirty="0"/>
              <a:t>okay to post code for your question!</a:t>
            </a:r>
          </a:p>
          <a:p>
            <a:pPr lvl="1"/>
            <a:r>
              <a:rPr lang="en-US" b="1" dirty="0">
                <a:solidFill>
                  <a:srgbClr val="C00000"/>
                </a:solidFill>
              </a:rPr>
              <a:t>Post code and complete exception messages if you are dealing with code problem!</a:t>
            </a:r>
          </a:p>
          <a:p>
            <a:r>
              <a:rPr lang="en-US" dirty="0"/>
              <a:t>Graded online class discussions take place in Ed    </a:t>
            </a:r>
          </a:p>
          <a:p>
            <a:r>
              <a:rPr lang="en-US" dirty="0"/>
              <a:t>Private communications regarding matters such as grades</a:t>
            </a:r>
          </a:p>
          <a:p>
            <a:pPr lvl="1"/>
            <a:r>
              <a:rPr lang="en-US" dirty="0"/>
              <a:t>Use private messages in Ed Discussion for fastest response </a:t>
            </a:r>
          </a:p>
          <a:p>
            <a:pPr lvl="1"/>
            <a:r>
              <a:rPr lang="en-US" dirty="0"/>
              <a:t>Or, Steve Elston: </a:t>
            </a:r>
            <a:r>
              <a:rPr lang="en-US" dirty="0" err="1"/>
              <a:t>stephen_elston</a:t>
            </a:r>
            <a:r>
              <a:rPr lang="en-US" dirty="0"/>
              <a:t> at g dot </a:t>
            </a:r>
            <a:r>
              <a:rPr lang="en-US" dirty="0" err="1"/>
              <a:t>harvard</a:t>
            </a:r>
            <a:r>
              <a:rPr lang="en-US" dirty="0"/>
              <a:t> dot </a:t>
            </a:r>
            <a:r>
              <a:rPr lang="en-US" dirty="0" err="1"/>
              <a:t>edu</a:t>
            </a:r>
            <a:r>
              <a:rPr lang="en-US" dirty="0"/>
              <a:t>, Tatyana Boland: </a:t>
            </a:r>
            <a:r>
              <a:rPr lang="en-US" dirty="0">
                <a:latin typeface="Google Sans"/>
              </a:rPr>
              <a:t>tab840 at </a:t>
            </a:r>
            <a:r>
              <a:rPr lang="en-US" b="0" i="0" dirty="0">
                <a:effectLst/>
                <a:latin typeface="Google Sans"/>
              </a:rPr>
              <a:t>g dot Harvard dot </a:t>
            </a:r>
            <a:r>
              <a:rPr lang="en-US" b="0" i="0" dirty="0" err="1">
                <a:effectLst/>
                <a:latin typeface="Google Sans"/>
              </a:rPr>
              <a:t>edu</a:t>
            </a:r>
            <a:r>
              <a:rPr lang="en-US" dirty="0">
                <a:latin typeface="Google Sans"/>
              </a:rPr>
              <a:t>, or </a:t>
            </a:r>
            <a:r>
              <a:rPr lang="en-US" dirty="0" err="1">
                <a:latin typeface="Google Sans"/>
              </a:rPr>
              <a:t>Waree</a:t>
            </a:r>
            <a:r>
              <a:rPr lang="en-US" dirty="0">
                <a:latin typeface="Google Sans"/>
              </a:rPr>
              <a:t> </a:t>
            </a:r>
            <a:r>
              <a:rPr lang="en-US" dirty="0" err="1">
                <a:latin typeface="Google Sans"/>
              </a:rPr>
              <a:t>Porprommart</a:t>
            </a:r>
            <a:r>
              <a:rPr lang="en-US" dirty="0">
                <a:latin typeface="Google Sans"/>
              </a:rPr>
              <a:t>: wap185 at g dot Harvard dot </a:t>
            </a:r>
            <a:r>
              <a:rPr lang="en-US" dirty="0" err="1">
                <a:latin typeface="Google Sans"/>
              </a:rPr>
              <a:t>edu</a:t>
            </a:r>
            <a:endParaRPr lang="en-US" b="0" i="0" dirty="0">
              <a:effectLst/>
              <a:latin typeface="Google Sans"/>
            </a:endParaRPr>
          </a:p>
          <a:p>
            <a:pPr lvl="1"/>
            <a:r>
              <a:rPr lang="en-US" b="1" dirty="0">
                <a:latin typeface="Google Sans"/>
              </a:rPr>
              <a:t>Private one-on-one appointments on request</a:t>
            </a:r>
            <a:endParaRPr lang="en-US" b="1" i="0" dirty="0">
              <a:effectLst/>
              <a:latin typeface="Google Sans"/>
            </a:endParaRPr>
          </a:p>
          <a:p>
            <a:r>
              <a:rPr lang="en-US" b="1" dirty="0">
                <a:solidFill>
                  <a:srgbClr val="C00000"/>
                </a:solidFill>
              </a:rPr>
              <a:t>Do not use Canvas messages, unless you want a delayed response!   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Communication </a:t>
            </a:r>
          </a:p>
        </p:txBody>
      </p:sp>
    </p:spTree>
    <p:extLst>
      <p:ext uri="{BB962C8B-B14F-4D97-AF65-F5344CB8AC3E}">
        <p14:creationId xmlns:p14="http://schemas.microsoft.com/office/powerpoint/2010/main" val="12285200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A7D7DD-7AF9-FA05-2177-A254C493D0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B2EEC0-807D-1936-07D1-132231394C2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126210"/>
            <a:ext cx="10515600" cy="556389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As AI (LLMs) is becoming a standard tool for professional data scientists, limited use is allowed for this course  </a:t>
            </a:r>
          </a:p>
          <a:p>
            <a:pPr lvl="0"/>
            <a:r>
              <a:rPr lang="en-US" b="1" dirty="0"/>
              <a:t>Writing &amp; Analysis: </a:t>
            </a:r>
            <a:r>
              <a:rPr lang="en-US" dirty="0"/>
              <a:t>Your written reports, question responses and discussion post </a:t>
            </a:r>
            <a:r>
              <a:rPr lang="en-US" b="1" dirty="0"/>
              <a:t>must be your own original work!</a:t>
            </a:r>
            <a:endParaRPr lang="en-US" dirty="0"/>
          </a:p>
          <a:p>
            <a:pPr lvl="0"/>
            <a:r>
              <a:rPr lang="en-US" b="1" dirty="0"/>
              <a:t>Code Generation: </a:t>
            </a:r>
            <a:r>
              <a:rPr lang="en-US" dirty="0"/>
              <a:t>You may use AI to generate discrete portions of code and to resolve exceptions </a:t>
            </a:r>
          </a:p>
          <a:p>
            <a:pPr lvl="0"/>
            <a:r>
              <a:rPr lang="en-US" b="1" dirty="0"/>
              <a:t>Validation of Results: </a:t>
            </a:r>
            <a:r>
              <a:rPr lang="en-US" dirty="0"/>
              <a:t>You are responsible for validating the correctness, efficiency, and security of any AI-generated code. </a:t>
            </a:r>
          </a:p>
          <a:p>
            <a:pPr lvl="0"/>
            <a:r>
              <a:rPr lang="en-US" b="1" dirty="0"/>
              <a:t>Attribution &amp; Integrity:</a:t>
            </a:r>
            <a:r>
              <a:rPr lang="en-US" dirty="0"/>
              <a:t> Cite AI use per the Harvard Academic Integrity Policy</a:t>
            </a:r>
          </a:p>
          <a:p>
            <a:pPr lvl="0"/>
            <a:r>
              <a:rPr lang="en-US" dirty="0"/>
              <a:t>See course syllabus in Canvas for additional details 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79A07D1A-2593-EA96-9F4B-0D7D49DF3736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Using AI for this course</a:t>
            </a:r>
          </a:p>
        </p:txBody>
      </p:sp>
    </p:spTree>
    <p:extLst>
      <p:ext uri="{BB962C8B-B14F-4D97-AF65-F5344CB8AC3E}">
        <p14:creationId xmlns:p14="http://schemas.microsoft.com/office/powerpoint/2010/main" val="18499803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24927"/>
            <a:ext cx="10515600" cy="489821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Timely release of assignment solutions is an important part of the learning process </a:t>
            </a:r>
          </a:p>
          <a:p>
            <a:r>
              <a:rPr lang="en-US" b="1" dirty="0"/>
              <a:t>Do not fall behind! </a:t>
            </a:r>
            <a:r>
              <a:rPr lang="en-US" dirty="0"/>
              <a:t>With 9-10 assignments and a project, there is very </a:t>
            </a:r>
            <a:r>
              <a:rPr lang="en-US" b="1" dirty="0"/>
              <a:t>little time to “catch-up”</a:t>
            </a:r>
            <a:endParaRPr lang="en-US" dirty="0"/>
          </a:p>
          <a:p>
            <a:r>
              <a:rPr lang="en-US" dirty="0"/>
              <a:t>Late assignment policy:   </a:t>
            </a:r>
          </a:p>
          <a:p>
            <a:pPr lvl="1"/>
            <a:r>
              <a:rPr lang="en-US" dirty="0"/>
              <a:t>Up to one day late - no penalty  </a:t>
            </a:r>
          </a:p>
          <a:p>
            <a:pPr lvl="1"/>
            <a:r>
              <a:rPr lang="en-US" dirty="0"/>
              <a:t>Up to 6 days late - less 20% </a:t>
            </a:r>
          </a:p>
          <a:p>
            <a:pPr lvl="1"/>
            <a:r>
              <a:rPr lang="en-US" dirty="0"/>
              <a:t>More than 6 days late - no credit   </a:t>
            </a:r>
          </a:p>
          <a:p>
            <a:pPr marL="0" indent="0">
              <a:buNone/>
            </a:pPr>
            <a:r>
              <a:rPr lang="en-US" b="1" dirty="0">
                <a:solidFill>
                  <a:srgbClr val="C00000"/>
                </a:solidFill>
              </a:rPr>
              <a:t>Make sure you turn in work on time!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Late Assignment Policy – For regular semester</a:t>
            </a:r>
          </a:p>
        </p:txBody>
      </p:sp>
    </p:spTree>
    <p:extLst>
      <p:ext uri="{BB962C8B-B14F-4D97-AF65-F5344CB8AC3E}">
        <p14:creationId xmlns:p14="http://schemas.microsoft.com/office/powerpoint/2010/main" val="142493259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A33362-6456-0F5B-5570-FA2A30C5C24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sz="4400" dirty="0"/>
              <a:t>Foundations of Large-Scale Data-Mining</a:t>
            </a:r>
          </a:p>
        </p:txBody>
      </p:sp>
    </p:spTree>
    <p:extLst>
      <p:ext uri="{BB962C8B-B14F-4D97-AF65-F5344CB8AC3E}">
        <p14:creationId xmlns:p14="http://schemas.microsoft.com/office/powerpoint/2010/main" val="246229467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24927"/>
            <a:ext cx="10515600" cy="489821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Mastering tools for working with and performing inference on massive and complex of data is a core goal for this course</a:t>
            </a:r>
          </a:p>
          <a:p>
            <a:r>
              <a:rPr lang="en-US" dirty="0"/>
              <a:t>Massive size requires efficient storage and retrieval  </a:t>
            </a:r>
          </a:p>
          <a:p>
            <a:r>
              <a:rPr lang="en-US" dirty="0"/>
              <a:t>Manage data with </a:t>
            </a:r>
            <a:r>
              <a:rPr lang="en-US" b="1" dirty="0"/>
              <a:t>key-value pairs</a:t>
            </a:r>
            <a:r>
              <a:rPr lang="en-US" dirty="0"/>
              <a:t>  </a:t>
            </a:r>
          </a:p>
          <a:p>
            <a:r>
              <a:rPr lang="en-US" b="1" dirty="0"/>
              <a:t>Hash keys </a:t>
            </a:r>
            <a:r>
              <a:rPr lang="en-US" dirty="0"/>
              <a:t>for efficient storage and retrieval </a:t>
            </a:r>
          </a:p>
          <a:p>
            <a:r>
              <a:rPr lang="en-US" dirty="0"/>
              <a:t>We apply hashing and ‘sketches’ in future lessons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Foundations for Large-Scale Data Mining</a:t>
            </a:r>
          </a:p>
        </p:txBody>
      </p:sp>
    </p:spTree>
    <p:extLst>
      <p:ext uri="{BB962C8B-B14F-4D97-AF65-F5344CB8AC3E}">
        <p14:creationId xmlns:p14="http://schemas.microsoft.com/office/powerpoint/2010/main" val="9942441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A33362-6456-0F5B-5570-FA2A30C5C24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sz="4400" dirty="0"/>
              <a:t>Data Management with Key-Value Pairs</a:t>
            </a:r>
          </a:p>
        </p:txBody>
      </p:sp>
    </p:spTree>
    <p:extLst>
      <p:ext uri="{BB962C8B-B14F-4D97-AF65-F5344CB8AC3E}">
        <p14:creationId xmlns:p14="http://schemas.microsoft.com/office/powerpoint/2010/main" val="119397392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58E6AF3-7615-4BD1-878E-A94C93E98F9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324927"/>
                <a:ext cx="10515600" cy="4898217"/>
              </a:xfrm>
            </p:spPr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:r>
                  <a:rPr lang="en-US" dirty="0"/>
                  <a:t>Need to store and retrieve massive quantities of data  </a:t>
                </a:r>
              </a:p>
              <a:p>
                <a:r>
                  <a:rPr lang="en-US" dirty="0"/>
                  <a:t>Manage with key-value pairs as a tuple,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𝐾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 </a:t>
                </a:r>
              </a:p>
              <a:p>
                <a:r>
                  <a:rPr lang="en-US" dirty="0"/>
                  <a:t>The key,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lang="en-US" dirty="0"/>
                  <a:t>, is index or identifier for the value,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𝑉</m:t>
                    </m:r>
                  </m:oMath>
                </a14:m>
                <a:r>
                  <a:rPr lang="en-US" dirty="0"/>
                  <a:t> </a:t>
                </a:r>
              </a:p>
              <a:p>
                <a:r>
                  <a:rPr lang="en-US" dirty="0"/>
                  <a:t>Value can be any type of object</a:t>
                </a:r>
              </a:p>
              <a:p>
                <a:pPr lvl="1"/>
                <a:r>
                  <a:rPr lang="en-US" sz="2800" dirty="0"/>
                  <a:t>Scaler value  </a:t>
                </a:r>
              </a:p>
              <a:p>
                <a:pPr lvl="1"/>
                <a:r>
                  <a:rPr lang="en-US" sz="2800" dirty="0"/>
                  <a:t>List </a:t>
                </a:r>
              </a:p>
              <a:p>
                <a:pPr lvl="1"/>
                <a:r>
                  <a:rPr lang="en-US" sz="2800" dirty="0"/>
                  <a:t>Vector</a:t>
                </a:r>
              </a:p>
              <a:p>
                <a:pPr lvl="1"/>
                <a:r>
                  <a:rPr lang="en-US" sz="2800" dirty="0"/>
                  <a:t>Array or table </a:t>
                </a:r>
              </a:p>
              <a:p>
                <a:pPr lvl="1"/>
                <a:r>
                  <a:rPr lang="en-US" sz="2800" dirty="0"/>
                  <a:t>Document, text token, etc.</a:t>
                </a:r>
              </a:p>
              <a:p>
                <a:pPr lvl="1"/>
                <a:r>
                  <a:rPr lang="en-US" sz="2800" dirty="0"/>
                  <a:t>Image</a:t>
                </a:r>
              </a:p>
              <a:p>
                <a:pPr lvl="1"/>
                <a:r>
                  <a:rPr lang="en-US" sz="2800" dirty="0"/>
                  <a:t>... </a:t>
                </a:r>
              </a:p>
              <a:p>
                <a:endParaRPr lang="en-US" b="1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58E6AF3-7615-4BD1-878E-A94C93E98F9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324927"/>
                <a:ext cx="10515600" cy="4898217"/>
              </a:xfrm>
              <a:blipFill>
                <a:blip r:embed="rId2"/>
                <a:stretch>
                  <a:fillRect l="-1217" t="-27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Introduction to key-value indexing</a:t>
            </a:r>
          </a:p>
        </p:txBody>
      </p:sp>
    </p:spTree>
    <p:extLst>
      <p:ext uri="{BB962C8B-B14F-4D97-AF65-F5344CB8AC3E}">
        <p14:creationId xmlns:p14="http://schemas.microsoft.com/office/powerpoint/2010/main" val="27861965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58E6AF3-7615-4BD1-878E-A94C93E98F9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541417"/>
                <a:ext cx="10515600" cy="4635546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b="1" dirty="0"/>
                  <a:t>Key-value indexing </a:t>
                </a:r>
                <a:r>
                  <a:rPr lang="en-US" dirty="0"/>
                  <a:t>used to manage massive quantities of data   </a:t>
                </a:r>
              </a:p>
              <a:p>
                <a:r>
                  <a:rPr lang="en-US" dirty="0"/>
                  <a:t>Address values,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𝑉</m:t>
                    </m:r>
                  </m:oMath>
                </a14:m>
                <a:r>
                  <a:rPr lang="en-US" dirty="0"/>
                  <a:t>, by key,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lang="en-US" dirty="0"/>
                  <a:t>, as a tuple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𝐾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 </a:t>
                </a:r>
              </a:p>
              <a:p>
                <a:r>
                  <a:rPr lang="en-US" dirty="0"/>
                  <a:t>Example: In-memory </a:t>
                </a:r>
                <a:r>
                  <a:rPr lang="en-US" b="1" dirty="0"/>
                  <a:t>dictionaries</a:t>
                </a:r>
              </a:p>
              <a:p>
                <a:pPr lvl="1"/>
                <a:r>
                  <a:rPr lang="en-US" dirty="0"/>
                  <a:t>Fast lookup</a:t>
                </a:r>
              </a:p>
              <a:p>
                <a:pPr lvl="1"/>
                <a:r>
                  <a:rPr lang="en-US" dirty="0"/>
                  <a:t>Size limited by main memory</a:t>
                </a:r>
              </a:p>
              <a:p>
                <a:pPr lvl="1"/>
                <a:r>
                  <a:rPr lang="en-US" dirty="0"/>
                  <a:t>Supported in Python and many other languages</a:t>
                </a:r>
              </a:p>
              <a:p>
                <a:r>
                  <a:rPr lang="en-US" dirty="0"/>
                  <a:t>NoSQL data bases – scalable object storage   </a:t>
                </a:r>
              </a:p>
              <a:p>
                <a:r>
                  <a:rPr lang="en-US" dirty="0"/>
                  <a:t>Map-reduce, scalable parallel processing</a:t>
                </a:r>
              </a:p>
              <a:p>
                <a:endParaRPr lang="en-US" dirty="0"/>
              </a:p>
              <a:p>
                <a:endParaRPr lang="en-US" b="1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58E6AF3-7615-4BD1-878E-A94C93E98F9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541417"/>
                <a:ext cx="10515600" cy="4635546"/>
              </a:xfrm>
              <a:blipFill>
                <a:blip r:embed="rId2"/>
                <a:stretch>
                  <a:fillRect l="-1217" t="-22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Introduction to key-value indexing</a:t>
            </a:r>
          </a:p>
        </p:txBody>
      </p:sp>
    </p:spTree>
    <p:extLst>
      <p:ext uri="{BB962C8B-B14F-4D97-AF65-F5344CB8AC3E}">
        <p14:creationId xmlns:p14="http://schemas.microsoft.com/office/powerpoint/2010/main" val="19709603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41417"/>
            <a:ext cx="10515600" cy="463554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How can we do data management with key-value pairs?  </a:t>
            </a:r>
          </a:p>
          <a:p>
            <a:r>
              <a:rPr lang="en-US" dirty="0"/>
              <a:t>Linear list  </a:t>
            </a:r>
          </a:p>
          <a:p>
            <a:r>
              <a:rPr lang="en-US" dirty="0"/>
              <a:t>Sorted list</a:t>
            </a:r>
          </a:p>
          <a:p>
            <a:r>
              <a:rPr lang="en-US" dirty="0"/>
              <a:t>Linked list</a:t>
            </a:r>
          </a:p>
          <a:p>
            <a:r>
              <a:rPr lang="en-US" dirty="0"/>
              <a:t>Balanced trees (B-trees)</a:t>
            </a:r>
          </a:p>
          <a:p>
            <a:r>
              <a:rPr lang="en-US" b="1" dirty="0"/>
              <a:t>Hash tables </a:t>
            </a:r>
          </a:p>
          <a:p>
            <a:endParaRPr lang="en-US" dirty="0"/>
          </a:p>
          <a:p>
            <a:pPr marL="0" indent="0">
              <a:buNone/>
            </a:pPr>
            <a:endParaRPr lang="en-US" b="1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Introduction to key-value indexing</a:t>
            </a:r>
          </a:p>
        </p:txBody>
      </p:sp>
    </p:spTree>
    <p:extLst>
      <p:ext uri="{BB962C8B-B14F-4D97-AF65-F5344CB8AC3E}">
        <p14:creationId xmlns:p14="http://schemas.microsoft.com/office/powerpoint/2010/main" val="40381508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58E6AF3-7615-4BD1-878E-A94C93E98F9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541417"/>
                <a:ext cx="10515600" cy="4635546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Key-value indexing used to manage massive quantities of data   </a:t>
                </a:r>
              </a:p>
              <a:p>
                <a:r>
                  <a:rPr lang="en-US" dirty="0"/>
                  <a:t>Massive data sets require a very large numbers of keys   </a:t>
                </a:r>
              </a:p>
              <a:p>
                <a:r>
                  <a:rPr lang="en-US" dirty="0"/>
                  <a:t>Linear search on large set of keys is slow  </a:t>
                </a:r>
              </a:p>
              <a:p>
                <a:pPr lvl="1"/>
                <a:r>
                  <a:rPr lang="en-US" dirty="0"/>
                  <a:t>Linear search has </a:t>
                </a:r>
                <a:r>
                  <a:rPr lang="en-US" b="1" dirty="0"/>
                  <a:t>average time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𝑂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</m:oMath>
                </a14:m>
                <a:endParaRPr lang="en-US" b="0" dirty="0"/>
              </a:p>
              <a:p>
                <a:pPr lvl="1"/>
                <a:r>
                  <a:rPr lang="en-US" dirty="0"/>
                  <a:t>Too slow for massive data sets  </a:t>
                </a:r>
              </a:p>
              <a:p>
                <a:r>
                  <a:rPr lang="en-US" b="1" dirty="0"/>
                  <a:t>Hashing</a:t>
                </a:r>
                <a:r>
                  <a:rPr lang="en-US" dirty="0"/>
                  <a:t> is a core technique for massively scaling data mining algorithms</a:t>
                </a:r>
              </a:p>
              <a:p>
                <a:pPr lvl="1"/>
                <a:r>
                  <a:rPr lang="en-US" dirty="0"/>
                  <a:t>Massive scalability is a theme of this course  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endParaRPr lang="en-US" b="1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58E6AF3-7615-4BD1-878E-A94C93E98F9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541417"/>
                <a:ext cx="10515600" cy="4635546"/>
              </a:xfrm>
              <a:blipFill>
                <a:blip r:embed="rId2"/>
                <a:stretch>
                  <a:fillRect l="-1217" t="-22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Introduction to key-value indexing</a:t>
            </a:r>
          </a:p>
        </p:txBody>
      </p:sp>
    </p:spTree>
    <p:extLst>
      <p:ext uri="{BB962C8B-B14F-4D97-AF65-F5344CB8AC3E}">
        <p14:creationId xmlns:p14="http://schemas.microsoft.com/office/powerpoint/2010/main" val="28732335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BC3470-78F3-E979-6FC2-66938DBECD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4A316F7-7F13-56EA-0547-0149F95A0B0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541417"/>
                <a:ext cx="10515600" cy="4635546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Key-value indexing used to manage massive quantities of data   </a:t>
                </a:r>
              </a:p>
              <a:p>
                <a:r>
                  <a:rPr lang="en-US" dirty="0"/>
                  <a:t>Massive data sets require a very large numbers of keys   </a:t>
                </a:r>
              </a:p>
              <a:p>
                <a:r>
                  <a:rPr lang="en-US" b="1" dirty="0"/>
                  <a:t>Hashing</a:t>
                </a:r>
                <a:r>
                  <a:rPr lang="en-US" dirty="0"/>
                  <a:t> is a core technique for scaling data mining algorithms   </a:t>
                </a:r>
              </a:p>
              <a:p>
                <a:r>
                  <a:rPr lang="en-US" dirty="0"/>
                  <a:t>Apply</a:t>
                </a:r>
                <a:r>
                  <a:rPr lang="en-US" b="0" dirty="0"/>
                  <a:t> </a:t>
                </a:r>
                <a:r>
                  <a:rPr lang="en-US" b="1" dirty="0"/>
                  <a:t>hash function</a:t>
                </a:r>
                <a:r>
                  <a:rPr lang="en-US" dirty="0"/>
                  <a:t> to </a:t>
                </a:r>
                <a:r>
                  <a:rPr lang="en-US" b="0" dirty="0"/>
                  <a:t>key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lang="en-US" b="0" dirty="0"/>
                  <a:t>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h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𝐾</m:t>
                        </m:r>
                      </m:e>
                    </m:d>
                  </m:oMath>
                </a14:m>
                <a:endParaRPr lang="en-US" dirty="0"/>
              </a:p>
              <a:p>
                <a:r>
                  <a:rPr lang="en-US" dirty="0"/>
                  <a:t>Hashing to a key gives nearly direct access, with </a:t>
                </a:r>
                <a:r>
                  <a:rPr lang="en-US" b="1" dirty="0"/>
                  <a:t>average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𝑶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𝟏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b="1" dirty="0"/>
                  <a:t> access time  </a:t>
                </a:r>
                <a:endParaRPr lang="en-US" dirty="0"/>
              </a:p>
              <a:p>
                <a:pPr lvl="1"/>
                <a:r>
                  <a:rPr lang="en-US" dirty="0"/>
                  <a:t>Hash value, </a:t>
                </a:r>
                <a:r>
                  <a:rPr lang="en-US" i="1" dirty="0"/>
                  <a:t>h</a:t>
                </a:r>
                <a:r>
                  <a:rPr lang="en-US" dirty="0"/>
                  <a:t>, is memory address for look up</a:t>
                </a:r>
              </a:p>
              <a:p>
                <a:pPr lvl="1"/>
                <a:r>
                  <a:rPr lang="en-US" b="1"/>
                  <a:t>Hashed </a:t>
                </a:r>
                <a:r>
                  <a:rPr lang="en-US" b="1" dirty="0"/>
                  <a:t>key-value pairs </a:t>
                </a:r>
                <a:r>
                  <a:rPr lang="en-US" dirty="0"/>
                  <a:t>as a tuple,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h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 </a:t>
                </a:r>
              </a:p>
              <a:p>
                <a:pPr lvl="1"/>
                <a:endParaRPr lang="en-US" b="1" dirty="0"/>
              </a:p>
              <a:p>
                <a:endParaRPr lang="en-US" dirty="0"/>
              </a:p>
              <a:p>
                <a:endParaRPr lang="en-US" b="1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4A316F7-7F13-56EA-0547-0149F95A0B0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541417"/>
                <a:ext cx="10515600" cy="4635546"/>
              </a:xfrm>
              <a:blipFill>
                <a:blip r:embed="rId2"/>
                <a:stretch>
                  <a:fillRect l="-1217" t="-2237" r="-69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50CC498F-4DB2-C68E-EFA7-021A6C9BE0A2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Introduction to key-value indexing</a:t>
            </a:r>
          </a:p>
        </p:txBody>
      </p:sp>
    </p:spTree>
    <p:extLst>
      <p:ext uri="{BB962C8B-B14F-4D97-AF65-F5344CB8AC3E}">
        <p14:creationId xmlns:p14="http://schemas.microsoft.com/office/powerpoint/2010/main" val="42616157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6352" y="1211805"/>
            <a:ext cx="10515600" cy="94254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How can we compare data structure options for storage and retrieval of key-value pairs?     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Introduction to key-value indexing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2" name="Table 3">
                <a:extLst>
                  <a:ext uri="{FF2B5EF4-FFF2-40B4-BE49-F238E27FC236}">
                    <a16:creationId xmlns:a16="http://schemas.microsoft.com/office/drawing/2014/main" id="{9778E807-9A37-1E31-7CAC-4F4939719A19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456537298"/>
                  </p:ext>
                </p:extLst>
              </p:nvPr>
            </p:nvGraphicFramePr>
            <p:xfrm>
              <a:off x="412786" y="2391253"/>
              <a:ext cx="11346365" cy="420751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2185559">
                      <a:extLst>
                        <a:ext uri="{9D8B030D-6E8A-4147-A177-3AD203B41FA5}">
                          <a16:colId xmlns:a16="http://schemas.microsoft.com/office/drawing/2014/main" val="3020660733"/>
                        </a:ext>
                      </a:extLst>
                    </a:gridCol>
                    <a:gridCol w="2276713">
                      <a:extLst>
                        <a:ext uri="{9D8B030D-6E8A-4147-A177-3AD203B41FA5}">
                          <a16:colId xmlns:a16="http://schemas.microsoft.com/office/drawing/2014/main" val="1578647662"/>
                        </a:ext>
                      </a:extLst>
                    </a:gridCol>
                    <a:gridCol w="2466268">
                      <a:extLst>
                        <a:ext uri="{9D8B030D-6E8A-4147-A177-3AD203B41FA5}">
                          <a16:colId xmlns:a16="http://schemas.microsoft.com/office/drawing/2014/main" val="3531154754"/>
                        </a:ext>
                      </a:extLst>
                    </a:gridCol>
                    <a:gridCol w="2403565">
                      <a:extLst>
                        <a:ext uri="{9D8B030D-6E8A-4147-A177-3AD203B41FA5}">
                          <a16:colId xmlns:a16="http://schemas.microsoft.com/office/drawing/2014/main" val="3376111091"/>
                        </a:ext>
                      </a:extLst>
                    </a:gridCol>
                    <a:gridCol w="2014260">
                      <a:extLst>
                        <a:ext uri="{9D8B030D-6E8A-4147-A177-3AD203B41FA5}">
                          <a16:colId xmlns:a16="http://schemas.microsoft.com/office/drawing/2014/main" val="754635136"/>
                        </a:ext>
                      </a:extLst>
                    </a:gridCol>
                  </a:tblGrid>
                  <a:tr h="917872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Data Structure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Lookup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Insert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Delete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Predecessor/ Successor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546599685"/>
                      </a:ext>
                    </a:extLst>
                  </a:tr>
                  <a:tr h="588650">
                    <a:tc>
                      <a:txBody>
                        <a:bodyPr/>
                        <a:lstStyle/>
                        <a:p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Unsorted Array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 xmlns:m="http://schemas.openxmlformats.org/officeDocument/2006/math">
                              <m:r>
                                <a:rPr lang="en-US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𝑂</m:t>
                              </m:r>
                              <m:r>
                                <a:rPr lang="en-US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</m:oMath>
                          </a14:m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n)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 xmlns:m="http://schemas.openxmlformats.org/officeDocument/2006/math">
                              <m:r>
                                <a:rPr lang="en-US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𝑂</m:t>
                              </m:r>
                              <m:r>
                                <a:rPr lang="en-US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sz="2400" b="0" i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oMath>
                          </a14:m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 xmlns:m="http://schemas.openxmlformats.org/officeDocument/2006/math">
                              <m:r>
                                <a:rPr lang="en-US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𝑂</m:t>
                              </m:r>
                              <m:r>
                                <a:rPr lang="en-US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m:rPr>
                                  <m:sty m:val="p"/>
                                </m:rPr>
                                <a:rPr lang="en-US" sz="2400" b="0" i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n</m:t>
                              </m:r>
                            </m:oMath>
                          </a14:m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 xmlns:m="http://schemas.openxmlformats.org/officeDocument/2006/math">
                              <m:r>
                                <a:rPr lang="en-US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𝑂</m:t>
                              </m:r>
                              <m:r>
                                <a:rPr lang="en-US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m:rPr>
                                  <m:sty m:val="p"/>
                                </m:rPr>
                                <a:rPr lang="en-US" sz="2400" b="0" i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n</m:t>
                              </m:r>
                            </m:oMath>
                          </a14:m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)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451648459"/>
                      </a:ext>
                    </a:extLst>
                  </a:tr>
                  <a:tr h="533195">
                    <a:tc>
                      <a:txBody>
                        <a:bodyPr/>
                        <a:lstStyle/>
                        <a:p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Sorted Array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𝑂</m:t>
                                </m:r>
                                <m:r>
                                  <a:rPr lang="en-US" sz="2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func>
                                  <m:funcPr>
                                    <m:ctrlPr>
                                      <a:rPr lang="en-US" sz="24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sz="2400" b="0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log</m:t>
                                    </m:r>
                                  </m:fName>
                                  <m:e>
                                    <m:r>
                                      <a:rPr lang="en-US" sz="24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e>
                                </m:func>
                                <m:r>
                                  <a:rPr lang="en-US" sz="2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2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𝑂</m:t>
                                </m:r>
                                <m:r>
                                  <a:rPr lang="en-US" sz="2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sz="2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  <m:r>
                                  <a:rPr lang="en-US" sz="2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2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𝑂</m:t>
                                </m:r>
                                <m:r>
                                  <a:rPr lang="en-US" sz="2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sz="2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  <m:r>
                                  <a:rPr lang="en-US" sz="2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2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𝑂</m:t>
                                </m:r>
                                <m:r>
                                  <a:rPr lang="en-US" sz="2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(1)</m:t>
                                </m:r>
                              </m:oMath>
                            </m:oMathPara>
                          </a14:m>
                          <a:endParaRPr lang="en-US" sz="2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640325602"/>
                      </a:ext>
                    </a:extLst>
                  </a:tr>
                  <a:tr h="509930">
                    <a:tc>
                      <a:txBody>
                        <a:bodyPr/>
                        <a:lstStyle/>
                        <a:p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Linked List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 xmlns:m="http://schemas.openxmlformats.org/officeDocument/2006/math">
                              <m:r>
                                <a:rPr lang="en-US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𝑂</m:t>
                              </m:r>
                              <m:r>
                                <a:rPr lang="en-US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</m:oMath>
                          </a14:m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n)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 xmlns:m="http://schemas.openxmlformats.org/officeDocument/2006/math">
                              <m:r>
                                <a:rPr lang="en-US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𝑂</m:t>
                              </m:r>
                              <m:r>
                                <a:rPr lang="en-US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sz="2400" b="0" i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oMath>
                          </a14:m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 xmlns:m="http://schemas.openxmlformats.org/officeDocument/2006/math">
                              <m:r>
                                <a:rPr lang="en-US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𝑂</m:t>
                              </m:r>
                              <m:r>
                                <a:rPr lang="en-US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sz="2400" b="0" i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oMath>
                          </a14:m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 xmlns:m="http://schemas.openxmlformats.org/officeDocument/2006/math">
                              <m:r>
                                <a:rPr lang="en-US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𝑂</m:t>
                              </m:r>
                              <m:r>
                                <a:rPr lang="en-US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</m:oMath>
                          </a14:m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n)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463950354"/>
                      </a:ext>
                    </a:extLst>
                  </a:tr>
                  <a:tr h="917872">
                    <a:tc>
                      <a:txBody>
                        <a:bodyPr/>
                        <a:lstStyle/>
                        <a:p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Balanced Binary Tree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𝑂</m:t>
                                </m:r>
                                <m:r>
                                  <a:rPr lang="en-US" sz="2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func>
                                  <m:funcPr>
                                    <m:ctrlPr>
                                      <a:rPr lang="en-US" sz="24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sz="2400" b="0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log</m:t>
                                    </m:r>
                                  </m:fName>
                                  <m:e>
                                    <m:r>
                                      <a:rPr lang="en-US" sz="24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e>
                                </m:func>
                                <m:r>
                                  <a:rPr lang="en-US" sz="2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2400" dirty="0">
                            <a:solidFill>
                              <a:schemeClr val="tx1"/>
                            </a:solidFill>
                          </a:endParaRPr>
                        </a:p>
                        <a:p>
                          <a:pPr algn="ctr"/>
                          <a:endParaRPr lang="en-US" sz="2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𝑂</m:t>
                                </m:r>
                                <m:r>
                                  <a:rPr lang="en-US" sz="2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func>
                                  <m:funcPr>
                                    <m:ctrlPr>
                                      <a:rPr lang="en-US" sz="24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sz="2400" b="0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log</m:t>
                                    </m:r>
                                  </m:fName>
                                  <m:e>
                                    <m:r>
                                      <a:rPr lang="en-US" sz="24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e>
                                </m:func>
                                <m:r>
                                  <a:rPr lang="en-US" sz="2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2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𝑂</m:t>
                                </m:r>
                                <m:r>
                                  <a:rPr lang="en-US" sz="2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func>
                                  <m:funcPr>
                                    <m:ctrlPr>
                                      <a:rPr lang="en-US" sz="24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sz="2400" b="0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log</m:t>
                                    </m:r>
                                  </m:fName>
                                  <m:e>
                                    <m:r>
                                      <a:rPr lang="en-US" sz="24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e>
                                </m:func>
                                <m:r>
                                  <a:rPr lang="en-US" sz="2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2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𝑂</m:t>
                                </m:r>
                                <m:r>
                                  <a:rPr lang="en-US" sz="2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(1)</m:t>
                                </m:r>
                              </m:oMath>
                            </m:oMathPara>
                          </a14:m>
                          <a:endParaRPr lang="en-US" sz="2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87697526"/>
                      </a:ext>
                    </a:extLst>
                  </a:tr>
                  <a:tr h="739991">
                    <a:tc>
                      <a:txBody>
                        <a:bodyPr/>
                        <a:lstStyle/>
                        <a:p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Hash Table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 xmlns:m="http://schemas.openxmlformats.org/officeDocument/2006/math">
                              <m:r>
                                <a:rPr lang="en-US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𝑂</m:t>
                              </m:r>
                              <m:r>
                                <a:rPr lang="en-US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sz="2400" b="0" i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oMath>
                          </a14:m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) - expected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 xmlns:m="http://schemas.openxmlformats.org/officeDocument/2006/math">
                              <m:r>
                                <a:rPr lang="en-US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𝑂</m:t>
                              </m:r>
                              <m:d>
                                <m:dPr>
                                  <m:ctrlPr>
                                    <a:rPr lang="en-US" sz="2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2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e>
                              </m:d>
                              <m:r>
                                <a:rPr lang="en-US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≤</m:t>
                              </m:r>
                            </m:oMath>
                          </a14:m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 expected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 xmlns:m="http://schemas.openxmlformats.org/officeDocument/2006/math">
                              <m:r>
                                <a:rPr lang="en-US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𝑂</m:t>
                              </m:r>
                              <m:d>
                                <m:dPr>
                                  <m:ctrlPr>
                                    <a:rPr lang="en-US" sz="2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2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e>
                              </m:d>
                              <m:r>
                                <a:rPr lang="en-US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≤</m:t>
                              </m:r>
                            </m:oMath>
                          </a14:m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 expected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 xmlns:m="http://schemas.openxmlformats.org/officeDocument/2006/math">
                              <m:r>
                                <a:rPr lang="en-US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𝑂</m:t>
                              </m:r>
                              <m:r>
                                <a:rPr lang="en-US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m:rPr>
                                  <m:sty m:val="p"/>
                                </m:rPr>
                                <a:rPr lang="en-US" sz="2400" b="0" i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n</m:t>
                              </m:r>
                            </m:oMath>
                          </a14:m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)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996191513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2" name="Table 3">
                <a:extLst>
                  <a:ext uri="{FF2B5EF4-FFF2-40B4-BE49-F238E27FC236}">
                    <a16:creationId xmlns:a16="http://schemas.microsoft.com/office/drawing/2014/main" id="{9778E807-9A37-1E31-7CAC-4F4939719A19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456537298"/>
                  </p:ext>
                </p:extLst>
              </p:nvPr>
            </p:nvGraphicFramePr>
            <p:xfrm>
              <a:off x="412786" y="2391253"/>
              <a:ext cx="11346365" cy="420751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2185559">
                      <a:extLst>
                        <a:ext uri="{9D8B030D-6E8A-4147-A177-3AD203B41FA5}">
                          <a16:colId xmlns:a16="http://schemas.microsoft.com/office/drawing/2014/main" val="3020660733"/>
                        </a:ext>
                      </a:extLst>
                    </a:gridCol>
                    <a:gridCol w="2276713">
                      <a:extLst>
                        <a:ext uri="{9D8B030D-6E8A-4147-A177-3AD203B41FA5}">
                          <a16:colId xmlns:a16="http://schemas.microsoft.com/office/drawing/2014/main" val="1578647662"/>
                        </a:ext>
                      </a:extLst>
                    </a:gridCol>
                    <a:gridCol w="2466268">
                      <a:extLst>
                        <a:ext uri="{9D8B030D-6E8A-4147-A177-3AD203B41FA5}">
                          <a16:colId xmlns:a16="http://schemas.microsoft.com/office/drawing/2014/main" val="3531154754"/>
                        </a:ext>
                      </a:extLst>
                    </a:gridCol>
                    <a:gridCol w="2403565">
                      <a:extLst>
                        <a:ext uri="{9D8B030D-6E8A-4147-A177-3AD203B41FA5}">
                          <a16:colId xmlns:a16="http://schemas.microsoft.com/office/drawing/2014/main" val="3376111091"/>
                        </a:ext>
                      </a:extLst>
                    </a:gridCol>
                    <a:gridCol w="2014260">
                      <a:extLst>
                        <a:ext uri="{9D8B030D-6E8A-4147-A177-3AD203B41FA5}">
                          <a16:colId xmlns:a16="http://schemas.microsoft.com/office/drawing/2014/main" val="754635136"/>
                        </a:ext>
                      </a:extLst>
                    </a:gridCol>
                  </a:tblGrid>
                  <a:tr h="917872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Data Structure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Lookup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Insert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Delete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Predecessor/ Successor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546599685"/>
                      </a:ext>
                    </a:extLst>
                  </a:tr>
                  <a:tr h="588650">
                    <a:tc>
                      <a:txBody>
                        <a:bodyPr/>
                        <a:lstStyle/>
                        <a:p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Unsorted Array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96515" t="-165625" r="-304290" b="-46458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80988" t="-165625" r="-180247" b="-46458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88832" t="-165625" r="-85279" b="-46458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462840" t="-165625" r="-1511" b="-46458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451648459"/>
                      </a:ext>
                    </a:extLst>
                  </a:tr>
                  <a:tr h="533195">
                    <a:tc>
                      <a:txBody>
                        <a:bodyPr/>
                        <a:lstStyle/>
                        <a:p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Sorted Array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96515" t="-289773" r="-304290" b="-40681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80988" t="-289773" r="-180247" b="-40681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88832" t="-289773" r="-85279" b="-40681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462840" t="-289773" r="-1511" b="-406818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640325602"/>
                      </a:ext>
                    </a:extLst>
                  </a:tr>
                  <a:tr h="509930">
                    <a:tc>
                      <a:txBody>
                        <a:bodyPr/>
                        <a:lstStyle/>
                        <a:p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Linked List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96515" t="-408333" r="-304290" b="-3261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80988" t="-408333" r="-180247" b="-3261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88832" t="-408333" r="-85279" b="-3261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462840" t="-408333" r="-1511" b="-32619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463950354"/>
                      </a:ext>
                    </a:extLst>
                  </a:tr>
                  <a:tr h="917872">
                    <a:tc>
                      <a:txBody>
                        <a:bodyPr/>
                        <a:lstStyle/>
                        <a:p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Balanced Binary Tree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96515" t="-284667" r="-304290" b="-8266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80988" t="-284667" r="-180247" b="-8266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88832" t="-284667" r="-85279" b="-8266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462840" t="-284667" r="-1511" b="-8266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887697526"/>
                      </a:ext>
                    </a:extLst>
                  </a:tr>
                  <a:tr h="739991">
                    <a:tc>
                      <a:txBody>
                        <a:bodyPr/>
                        <a:lstStyle/>
                        <a:p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Hash Table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96515" t="-472951" r="-304290" b="-163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80988" t="-472951" r="-180247" b="-163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88832" t="-472951" r="-85279" b="-163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462840" t="-472951" r="-1511" b="-163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996191513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235916429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A33362-6456-0F5B-5570-FA2A30C5C24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sz="4400" dirty="0"/>
              <a:t>Introduction to Hashing</a:t>
            </a:r>
          </a:p>
        </p:txBody>
      </p:sp>
    </p:spTree>
    <p:extLst>
      <p:ext uri="{BB962C8B-B14F-4D97-AF65-F5344CB8AC3E}">
        <p14:creationId xmlns:p14="http://schemas.microsoft.com/office/powerpoint/2010/main" val="3957708175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58E6AF3-7615-4BD1-878E-A94C93E98F9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324928"/>
                <a:ext cx="10515600" cy="5133349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What are </a:t>
                </a:r>
                <a:r>
                  <a:rPr lang="en-US" b="1" dirty="0"/>
                  <a:t>hash functions</a:t>
                </a:r>
                <a:r>
                  <a:rPr lang="en-US" dirty="0"/>
                  <a:t>?   </a:t>
                </a:r>
              </a:p>
              <a:p>
                <a:r>
                  <a:rPr lang="en-US" dirty="0"/>
                  <a:t>Hash keys used to index </a:t>
                </a:r>
                <a:r>
                  <a:rPr lang="en-US" b="1" dirty="0"/>
                  <a:t>hash tables</a:t>
                </a:r>
              </a:p>
              <a:p>
                <a:r>
                  <a:rPr lang="en-US" dirty="0"/>
                  <a:t>Hash function is a deterministic map from key to a memory address</a:t>
                </a:r>
              </a:p>
              <a:p>
                <a:r>
                  <a:rPr lang="en-US" dirty="0"/>
                  <a:t>Hash address index,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h</m:t>
                    </m:r>
                  </m:oMath>
                </a14:m>
                <a:r>
                  <a:rPr lang="en-US" dirty="0"/>
                  <a:t>, is computed from a key,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lang="en-US" dirty="0"/>
                  <a:t>, using a </a:t>
                </a:r>
                <a:r>
                  <a:rPr lang="en-US" b="1" dirty="0"/>
                  <a:t>hash function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h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𝐾</m:t>
                          </m:r>
                        </m:e>
                      </m:d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Same hash function used for insertions, look-ups and deletions in table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sz="2000" dirty="0"/>
                  <a:t>You can find more about hash functions and hash tables, in Chapter 2 of </a:t>
                </a:r>
                <a:r>
                  <a:rPr lang="en-US" sz="2000" dirty="0" err="1"/>
                  <a:t>Medjodovic</a:t>
                </a:r>
                <a:r>
                  <a:rPr lang="en-US" sz="2000" dirty="0"/>
                  <a:t> and </a:t>
                </a:r>
                <a:r>
                  <a:rPr lang="en-US" sz="2000" dirty="0" err="1"/>
                  <a:t>Tahirovic</a:t>
                </a:r>
                <a:r>
                  <a:rPr lang="en-US" sz="2000" dirty="0"/>
                  <a:t> and in many sources online, including </a:t>
                </a:r>
                <a:r>
                  <a:rPr lang="en-US" sz="2000" dirty="0">
                    <a:hlinkClick r:id="rId2">
                      <a:extLst>
                        <a:ext uri="{A12FA001-AC4F-418D-AE19-62706E023703}">
                          <ahyp:hlinkClr xmlns:ahyp="http://schemas.microsoft.com/office/drawing/2018/hyperlinkcolor" val="tx"/>
                        </a:ext>
                      </a:extLst>
                    </a:hlinkClick>
                  </a:rPr>
                  <a:t>here</a:t>
                </a:r>
                <a:r>
                  <a:rPr lang="en-US" sz="2000" dirty="0"/>
                  <a:t> and </a:t>
                </a:r>
                <a:r>
                  <a:rPr lang="en-US" sz="2000" dirty="0">
                    <a:hlinkClick r:id="rId3">
                      <a:extLst>
                        <a:ext uri="{A12FA001-AC4F-418D-AE19-62706E023703}">
                          <ahyp:hlinkClr xmlns:ahyp="http://schemas.microsoft.com/office/drawing/2018/hyperlinkcolor" val="tx"/>
                        </a:ext>
                      </a:extLst>
                    </a:hlinkClick>
                  </a:rPr>
                  <a:t>here</a:t>
                </a:r>
                <a:endParaRPr lang="en-US" sz="20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58E6AF3-7615-4BD1-878E-A94C93E98F9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324928"/>
                <a:ext cx="10515600" cy="5133349"/>
              </a:xfrm>
              <a:blipFill>
                <a:blip r:embed="rId4"/>
                <a:stretch>
                  <a:fillRect l="-1217" t="-19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Introduction to Hashing</a:t>
            </a:r>
          </a:p>
        </p:txBody>
      </p:sp>
    </p:spTree>
    <p:extLst>
      <p:ext uri="{BB962C8B-B14F-4D97-AF65-F5344CB8AC3E}">
        <p14:creationId xmlns:p14="http://schemas.microsoft.com/office/powerpoint/2010/main" val="39039154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456253-7795-52CD-DC89-671E47B625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E6F3064-C916-6D77-2E17-FC76AE5BB95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24928"/>
            <a:ext cx="10515600" cy="513334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Generally speaking, there are two major types of hash functions </a:t>
            </a:r>
          </a:p>
          <a:p>
            <a:r>
              <a:rPr lang="en-US" b="1" dirty="0"/>
              <a:t>Cryptographic hash functions </a:t>
            </a:r>
            <a:r>
              <a:rPr lang="en-US" dirty="0"/>
              <a:t>are invertible encodings used to prevent unauthorized access </a:t>
            </a:r>
          </a:p>
          <a:p>
            <a:r>
              <a:rPr lang="en-US" b="1" dirty="0"/>
              <a:t>Address hash functions </a:t>
            </a:r>
            <a:r>
              <a:rPr lang="en-US" dirty="0"/>
              <a:t>compute a sequence of address values for access to buckets of data tables</a:t>
            </a:r>
          </a:p>
          <a:p>
            <a:pPr lvl="1"/>
            <a:r>
              <a:rPr lang="en-US" dirty="0"/>
              <a:t>There is no need for invertibility  </a:t>
            </a:r>
          </a:p>
          <a:p>
            <a:r>
              <a:rPr lang="en-US" dirty="0"/>
              <a:t>There is a common body of theory underlying both types of hashes   </a:t>
            </a:r>
          </a:p>
          <a:p>
            <a:r>
              <a:rPr lang="en-US" dirty="0"/>
              <a:t>For data mining we apply address hashes to manage massive datasets</a:t>
            </a:r>
          </a:p>
          <a:p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E66018C-A4DB-87C6-4869-5EAC4E862118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Introduction to Hashing</a:t>
            </a:r>
          </a:p>
        </p:txBody>
      </p:sp>
    </p:spTree>
    <p:extLst>
      <p:ext uri="{BB962C8B-B14F-4D97-AF65-F5344CB8AC3E}">
        <p14:creationId xmlns:p14="http://schemas.microsoft.com/office/powerpoint/2010/main" val="5866825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6836" y="1289913"/>
            <a:ext cx="10515600" cy="72257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A hash table uses a hash of a key to index values</a:t>
            </a:r>
          </a:p>
          <a:p>
            <a:pPr marL="0" indent="0">
              <a:buNone/>
            </a:pPr>
            <a:endParaRPr lang="en-US" dirty="0"/>
          </a:p>
          <a:p>
            <a:endParaRPr lang="en-US" b="1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Introduction to Hashing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4A30D2E-9D6D-4721-8DF7-471103EB0B3B}"/>
              </a:ext>
            </a:extLst>
          </p:cNvPr>
          <p:cNvSpPr/>
          <p:nvPr/>
        </p:nvSpPr>
        <p:spPr>
          <a:xfrm>
            <a:off x="3704345" y="2841041"/>
            <a:ext cx="1178451" cy="372823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tx1"/>
                </a:solidFill>
              </a:rPr>
              <a:t>h</a:t>
            </a:r>
            <a:r>
              <a:rPr lang="en-US" sz="2400" baseline="-25000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3BBBB78-E73D-4C34-B6E5-E752D8FEBC51}"/>
              </a:ext>
            </a:extLst>
          </p:cNvPr>
          <p:cNvSpPr/>
          <p:nvPr/>
        </p:nvSpPr>
        <p:spPr>
          <a:xfrm>
            <a:off x="5063720" y="2847455"/>
            <a:ext cx="1582608" cy="372823"/>
          </a:xfrm>
          <a:prstGeom prst="rect">
            <a:avLst/>
          </a:prstGeom>
          <a:solidFill>
            <a:schemeClr val="bg2">
              <a:lumMod val="9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tx1"/>
                </a:solidFill>
              </a:rPr>
              <a:t>v</a:t>
            </a:r>
            <a:r>
              <a:rPr lang="en-US" sz="2400" baseline="-25000" dirty="0">
                <a:solidFill>
                  <a:schemeClr val="tx1"/>
                </a:solidFill>
              </a:rPr>
              <a:t>1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BAA18318-BD7F-4259-81CC-99C0F03E93A8}"/>
              </a:ext>
            </a:extLst>
          </p:cNvPr>
          <p:cNvGrpSpPr/>
          <p:nvPr/>
        </p:nvGrpSpPr>
        <p:grpSpPr>
          <a:xfrm>
            <a:off x="129572" y="3217071"/>
            <a:ext cx="2761059" cy="376030"/>
            <a:chOff x="129572" y="3217071"/>
            <a:chExt cx="2761059" cy="376030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39804EAE-867A-40B5-A072-508CF684DAD9}"/>
                </a:ext>
              </a:extLst>
            </p:cNvPr>
            <p:cNvSpPr/>
            <p:nvPr/>
          </p:nvSpPr>
          <p:spPr>
            <a:xfrm>
              <a:off x="129572" y="3217071"/>
              <a:ext cx="1178451" cy="372823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400" dirty="0" err="1">
                  <a:solidFill>
                    <a:schemeClr val="tx1"/>
                  </a:solidFill>
                </a:rPr>
                <a:t>key</a:t>
              </a:r>
              <a:r>
                <a:rPr lang="en-US" sz="2400" baseline="-25000" dirty="0" err="1">
                  <a:solidFill>
                    <a:schemeClr val="tx1"/>
                  </a:solidFill>
                </a:rPr>
                <a:t>i</a:t>
              </a:r>
              <a:endParaRPr lang="en-US" sz="2400" baseline="-25000" dirty="0">
                <a:solidFill>
                  <a:schemeClr val="tx1"/>
                </a:solidFill>
              </a:endParaRPr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267AB54C-F3D0-4BAE-BFAB-27B9B35CFACC}"/>
                </a:ext>
              </a:extLst>
            </p:cNvPr>
            <p:cNvSpPr/>
            <p:nvPr/>
          </p:nvSpPr>
          <p:spPr>
            <a:xfrm>
              <a:off x="1308023" y="3220278"/>
              <a:ext cx="1582608" cy="372823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400" dirty="0">
                  <a:solidFill>
                    <a:schemeClr val="tx1"/>
                  </a:solidFill>
                </a:rPr>
                <a:t>v</a:t>
              </a:r>
              <a:r>
                <a:rPr lang="en-US" sz="2400" baseline="-25000" dirty="0">
                  <a:solidFill>
                    <a:schemeClr val="tx1"/>
                  </a:solidFill>
                </a:rPr>
                <a:t>i</a:t>
              </a:r>
            </a:p>
          </p:txBody>
        </p:sp>
      </p:grpSp>
      <p:sp>
        <p:nvSpPr>
          <p:cNvPr id="11" name="Rectangle 10">
            <a:extLst>
              <a:ext uri="{FF2B5EF4-FFF2-40B4-BE49-F238E27FC236}">
                <a16:creationId xmlns:a16="http://schemas.microsoft.com/office/drawing/2014/main" id="{D8FA5D43-DD6A-45A9-999E-FF5DB3BA0AD9}"/>
              </a:ext>
            </a:extLst>
          </p:cNvPr>
          <p:cNvSpPr/>
          <p:nvPr/>
        </p:nvSpPr>
        <p:spPr>
          <a:xfrm>
            <a:off x="3704345" y="3213864"/>
            <a:ext cx="1178451" cy="372823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tx1"/>
                </a:solidFill>
              </a:rPr>
              <a:t>h</a:t>
            </a:r>
            <a:r>
              <a:rPr lang="en-US" sz="2400" baseline="-25000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53A0E273-D7FF-48E0-BE46-925D1F57B05E}"/>
              </a:ext>
            </a:extLst>
          </p:cNvPr>
          <p:cNvSpPr/>
          <p:nvPr/>
        </p:nvSpPr>
        <p:spPr>
          <a:xfrm>
            <a:off x="5063720" y="3220278"/>
            <a:ext cx="1582608" cy="372823"/>
          </a:xfrm>
          <a:prstGeom prst="rect">
            <a:avLst/>
          </a:prstGeom>
          <a:solidFill>
            <a:schemeClr val="bg2">
              <a:lumMod val="9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tx1"/>
                </a:solidFill>
              </a:rPr>
              <a:t>v</a:t>
            </a:r>
            <a:r>
              <a:rPr lang="en-US" sz="2400" baseline="-25000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A58D9FE-A609-48AA-B396-A2EF9A274ED5}"/>
              </a:ext>
            </a:extLst>
          </p:cNvPr>
          <p:cNvSpPr/>
          <p:nvPr/>
        </p:nvSpPr>
        <p:spPr>
          <a:xfrm>
            <a:off x="3704345" y="3586687"/>
            <a:ext cx="1178451" cy="372823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tx1"/>
                </a:solidFill>
              </a:rPr>
              <a:t>h</a:t>
            </a:r>
            <a:r>
              <a:rPr lang="en-US" sz="2400" baseline="-25000" dirty="0">
                <a:solidFill>
                  <a:schemeClr val="tx1"/>
                </a:solidFill>
              </a:rPr>
              <a:t>3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8C53CFF0-A324-43B8-A23D-996EC7CF9151}"/>
              </a:ext>
            </a:extLst>
          </p:cNvPr>
          <p:cNvSpPr/>
          <p:nvPr/>
        </p:nvSpPr>
        <p:spPr>
          <a:xfrm>
            <a:off x="5063720" y="3593101"/>
            <a:ext cx="1582608" cy="372823"/>
          </a:xfrm>
          <a:prstGeom prst="rect">
            <a:avLst/>
          </a:prstGeom>
          <a:solidFill>
            <a:schemeClr val="bg2">
              <a:lumMod val="9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tx1"/>
                </a:solidFill>
              </a:rPr>
              <a:t>v</a:t>
            </a:r>
            <a:r>
              <a:rPr lang="en-US" sz="2400" baseline="-25000" dirty="0">
                <a:solidFill>
                  <a:schemeClr val="tx1"/>
                </a:solidFill>
              </a:rPr>
              <a:t>3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E54C2BB3-1085-4A35-B172-F542E78B0496}"/>
              </a:ext>
            </a:extLst>
          </p:cNvPr>
          <p:cNvSpPr/>
          <p:nvPr/>
        </p:nvSpPr>
        <p:spPr>
          <a:xfrm>
            <a:off x="3704345" y="4659838"/>
            <a:ext cx="1178451" cy="372823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tx1"/>
                </a:solidFill>
              </a:rPr>
              <a:t>h</a:t>
            </a:r>
            <a:r>
              <a:rPr lang="en-US" sz="2400" baseline="-25000" dirty="0">
                <a:solidFill>
                  <a:schemeClr val="tx1"/>
                </a:solidFill>
              </a:rPr>
              <a:t>i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82B3B1C8-4C79-4B20-94B4-072363FED7C0}"/>
              </a:ext>
            </a:extLst>
          </p:cNvPr>
          <p:cNvSpPr/>
          <p:nvPr/>
        </p:nvSpPr>
        <p:spPr>
          <a:xfrm>
            <a:off x="5063720" y="4666252"/>
            <a:ext cx="1582608" cy="372823"/>
          </a:xfrm>
          <a:prstGeom prst="rect">
            <a:avLst/>
          </a:prstGeom>
          <a:solidFill>
            <a:schemeClr val="bg2">
              <a:lumMod val="9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tx1"/>
                </a:solidFill>
              </a:rPr>
              <a:t>v</a:t>
            </a:r>
            <a:r>
              <a:rPr lang="en-US" sz="2400" baseline="-25000" dirty="0">
                <a:solidFill>
                  <a:schemeClr val="tx1"/>
                </a:solidFill>
              </a:rPr>
              <a:t>i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9F9CDCFD-E073-49CB-BAEF-86358A473DED}"/>
              </a:ext>
            </a:extLst>
          </p:cNvPr>
          <p:cNvSpPr/>
          <p:nvPr/>
        </p:nvSpPr>
        <p:spPr>
          <a:xfrm>
            <a:off x="3704345" y="5732989"/>
            <a:ext cx="1178451" cy="372823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 err="1">
                <a:solidFill>
                  <a:schemeClr val="tx1"/>
                </a:solidFill>
              </a:rPr>
              <a:t>h</a:t>
            </a:r>
            <a:r>
              <a:rPr lang="en-US" sz="2400" baseline="-25000" dirty="0" err="1">
                <a:solidFill>
                  <a:schemeClr val="tx1"/>
                </a:solidFill>
              </a:rPr>
              <a:t>n</a:t>
            </a:r>
            <a:endParaRPr lang="en-US" sz="2400" baseline="-25000" dirty="0">
              <a:solidFill>
                <a:schemeClr val="tx1"/>
              </a:solidFill>
            </a:endParaRP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41420F77-7C2D-4FEC-A873-04FBB65DA4EE}"/>
              </a:ext>
            </a:extLst>
          </p:cNvPr>
          <p:cNvSpPr/>
          <p:nvPr/>
        </p:nvSpPr>
        <p:spPr>
          <a:xfrm>
            <a:off x="5063720" y="5739403"/>
            <a:ext cx="1582608" cy="372823"/>
          </a:xfrm>
          <a:prstGeom prst="rect">
            <a:avLst/>
          </a:prstGeom>
          <a:solidFill>
            <a:schemeClr val="bg2">
              <a:lumMod val="9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 err="1">
                <a:solidFill>
                  <a:schemeClr val="tx1"/>
                </a:solidFill>
              </a:rPr>
              <a:t>v</a:t>
            </a:r>
            <a:r>
              <a:rPr lang="en-US" sz="2400" baseline="-25000" dirty="0" err="1">
                <a:solidFill>
                  <a:schemeClr val="tx1"/>
                </a:solidFill>
              </a:rPr>
              <a:t>n</a:t>
            </a:r>
            <a:endParaRPr lang="en-US" sz="2400" baseline="-25000" dirty="0">
              <a:solidFill>
                <a:schemeClr val="tx1"/>
              </a:solidFill>
            </a:endParaRPr>
          </a:p>
        </p:txBody>
      </p:sp>
      <p:sp>
        <p:nvSpPr>
          <p:cNvPr id="31" name="Oval 30">
            <a:extLst>
              <a:ext uri="{FF2B5EF4-FFF2-40B4-BE49-F238E27FC236}">
                <a16:creationId xmlns:a16="http://schemas.microsoft.com/office/drawing/2014/main" id="{3984E095-C61E-4D9C-A010-5667D9A30C31}"/>
              </a:ext>
            </a:extLst>
          </p:cNvPr>
          <p:cNvSpPr/>
          <p:nvPr/>
        </p:nvSpPr>
        <p:spPr>
          <a:xfrm>
            <a:off x="5011540" y="4058795"/>
            <a:ext cx="104361" cy="10436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Oval 31">
            <a:extLst>
              <a:ext uri="{FF2B5EF4-FFF2-40B4-BE49-F238E27FC236}">
                <a16:creationId xmlns:a16="http://schemas.microsoft.com/office/drawing/2014/main" id="{4568B3FF-37F3-4648-9AB9-43E68A6A9F80}"/>
              </a:ext>
            </a:extLst>
          </p:cNvPr>
          <p:cNvSpPr/>
          <p:nvPr/>
        </p:nvSpPr>
        <p:spPr>
          <a:xfrm>
            <a:off x="5011539" y="4260701"/>
            <a:ext cx="104361" cy="10436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Oval 32">
            <a:extLst>
              <a:ext uri="{FF2B5EF4-FFF2-40B4-BE49-F238E27FC236}">
                <a16:creationId xmlns:a16="http://schemas.microsoft.com/office/drawing/2014/main" id="{1D8AA4AE-8F61-4BC5-96AA-6C6D8565A8D8}"/>
              </a:ext>
            </a:extLst>
          </p:cNvPr>
          <p:cNvSpPr/>
          <p:nvPr/>
        </p:nvSpPr>
        <p:spPr>
          <a:xfrm>
            <a:off x="5011538" y="4462607"/>
            <a:ext cx="104361" cy="10436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Oval 35">
            <a:extLst>
              <a:ext uri="{FF2B5EF4-FFF2-40B4-BE49-F238E27FC236}">
                <a16:creationId xmlns:a16="http://schemas.microsoft.com/office/drawing/2014/main" id="{AF1BAD3B-DE36-40BF-8285-2B2F3AC32255}"/>
              </a:ext>
            </a:extLst>
          </p:cNvPr>
          <p:cNvSpPr/>
          <p:nvPr/>
        </p:nvSpPr>
        <p:spPr>
          <a:xfrm>
            <a:off x="5011540" y="5110470"/>
            <a:ext cx="104361" cy="10436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Oval 36">
            <a:extLst>
              <a:ext uri="{FF2B5EF4-FFF2-40B4-BE49-F238E27FC236}">
                <a16:creationId xmlns:a16="http://schemas.microsoft.com/office/drawing/2014/main" id="{2F40760D-0123-4BB3-843F-A4C8E057816B}"/>
              </a:ext>
            </a:extLst>
          </p:cNvPr>
          <p:cNvSpPr/>
          <p:nvPr/>
        </p:nvSpPr>
        <p:spPr>
          <a:xfrm>
            <a:off x="5011539" y="5312376"/>
            <a:ext cx="104361" cy="10436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Oval 37">
            <a:extLst>
              <a:ext uri="{FF2B5EF4-FFF2-40B4-BE49-F238E27FC236}">
                <a16:creationId xmlns:a16="http://schemas.microsoft.com/office/drawing/2014/main" id="{E899B308-EDC1-4B6B-82E0-229CDBF58334}"/>
              </a:ext>
            </a:extLst>
          </p:cNvPr>
          <p:cNvSpPr/>
          <p:nvPr/>
        </p:nvSpPr>
        <p:spPr>
          <a:xfrm>
            <a:off x="5011538" y="5514282"/>
            <a:ext cx="104361" cy="10436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7F03893C-D0F3-4FF5-86CA-F0925D9FEA72}"/>
              </a:ext>
            </a:extLst>
          </p:cNvPr>
          <p:cNvSpPr txBox="1"/>
          <p:nvPr/>
        </p:nvSpPr>
        <p:spPr>
          <a:xfrm>
            <a:off x="501926" y="2622335"/>
            <a:ext cx="229097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Key-value pair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E1D3B574-604B-4DB6-940F-48BAB0E1BD52}"/>
              </a:ext>
            </a:extLst>
          </p:cNvPr>
          <p:cNvSpPr txBox="1"/>
          <p:nvPr/>
        </p:nvSpPr>
        <p:spPr>
          <a:xfrm>
            <a:off x="3969026" y="2311188"/>
            <a:ext cx="229097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/>
              <a:t>Hash table</a:t>
            </a:r>
            <a:endParaRPr lang="en-US" sz="24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2" name="Content Placeholder 2">
                <a:extLst>
                  <a:ext uri="{FF2B5EF4-FFF2-40B4-BE49-F238E27FC236}">
                    <a16:creationId xmlns:a16="http://schemas.microsoft.com/office/drawing/2014/main" id="{0584C6A8-2283-47FA-8E91-B827D1865B9C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7163615" y="1828800"/>
                <a:ext cx="4904456" cy="4979561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 lnSpcReduction="10000"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en-US" dirty="0"/>
                  <a:t>Start with a </a:t>
                </a:r>
                <a:r>
                  <a:rPr lang="en-US" b="1" dirty="0"/>
                  <a:t>key-value pair</a:t>
                </a:r>
              </a:p>
              <a:p>
                <a:r>
                  <a:rPr lang="en-US" dirty="0"/>
                  <a:t>Want to insert the value into a </a:t>
                </a:r>
                <a:r>
                  <a:rPr lang="en-US" b="1" dirty="0"/>
                  <a:t>hash table</a:t>
                </a:r>
              </a:p>
              <a:p>
                <a:r>
                  <a:rPr lang="en-US" dirty="0"/>
                  <a:t>Values held in buckets</a:t>
                </a:r>
              </a:p>
              <a:p>
                <a:r>
                  <a:rPr lang="en-US" dirty="0"/>
                  <a:t>Hash table </a:t>
                </a:r>
                <a:r>
                  <a:rPr lang="en-US" b="1" dirty="0"/>
                  <a:t>buckets addressed by hashed key value</a:t>
                </a:r>
              </a:p>
              <a:p>
                <a:r>
                  <a:rPr lang="en-US" dirty="0"/>
                  <a:t>Hash the key to an address in the table</a:t>
                </a:r>
              </a:p>
              <a:p>
                <a:r>
                  <a:rPr lang="en-US" dirty="0"/>
                  <a:t>Insert the value into the bucket by hash address</a:t>
                </a:r>
              </a:p>
              <a:p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  <m:r>
                      <a:rPr lang="en-US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𝑶</m:t>
                    </m:r>
                    <m:r>
                      <a:rPr lang="en-US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en-US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𝟏</m:t>
                    </m:r>
                    <m:r>
                      <a:rPr lang="en-US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b="1" dirty="0"/>
                  <a:t> average time</a:t>
                </a:r>
              </a:p>
              <a:p>
                <a:endParaRPr lang="en-US" dirty="0"/>
              </a:p>
              <a:p>
                <a:endParaRPr lang="en-US" b="1" dirty="0"/>
              </a:p>
            </p:txBody>
          </p:sp>
        </mc:Choice>
        <mc:Fallback xmlns="">
          <p:sp>
            <p:nvSpPr>
              <p:cNvPr id="42" name="Content Placeholder 2">
                <a:extLst>
                  <a:ext uri="{FF2B5EF4-FFF2-40B4-BE49-F238E27FC236}">
                    <a16:creationId xmlns:a16="http://schemas.microsoft.com/office/drawing/2014/main" id="{0584C6A8-2283-47FA-8E91-B827D1865B9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63615" y="1828800"/>
                <a:ext cx="4904456" cy="4979561"/>
              </a:xfrm>
              <a:prstGeom prst="rect">
                <a:avLst/>
              </a:prstGeom>
              <a:blipFill>
                <a:blip r:embed="rId2"/>
                <a:stretch>
                  <a:fillRect l="-2236" t="-2693" r="-198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54A9E263-3098-46A9-A485-AFFCD608289D}"/>
                  </a:ext>
                </a:extLst>
              </p:cNvPr>
              <p:cNvSpPr txBox="1"/>
              <p:nvPr/>
            </p:nvSpPr>
            <p:spPr>
              <a:xfrm>
                <a:off x="1013783" y="4277608"/>
                <a:ext cx="2171088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𝑓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𝑘𝑒𝑦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54A9E263-3098-46A9-A485-AFFCD608289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13783" y="4277608"/>
                <a:ext cx="2171088" cy="52322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AAC02339-7B42-DB7F-AC72-D22B48D27812}"/>
              </a:ext>
            </a:extLst>
          </p:cNvPr>
          <p:cNvCxnSpPr>
            <a:stCxn id="7" idx="2"/>
            <a:endCxn id="16" idx="0"/>
          </p:cNvCxnSpPr>
          <p:nvPr/>
        </p:nvCxnSpPr>
        <p:spPr>
          <a:xfrm>
            <a:off x="718798" y="3589894"/>
            <a:ext cx="1380529" cy="687714"/>
          </a:xfrm>
          <a:prstGeom prst="straightConnector1">
            <a:avLst/>
          </a:prstGeom>
          <a:ln w="22225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1A390D01-0010-F11B-5B67-6238264FD85B}"/>
              </a:ext>
            </a:extLst>
          </p:cNvPr>
          <p:cNvCxnSpPr>
            <a:cxnSpLocks/>
            <a:stCxn id="16" idx="3"/>
            <a:endCxn id="23" idx="1"/>
          </p:cNvCxnSpPr>
          <p:nvPr/>
        </p:nvCxnSpPr>
        <p:spPr>
          <a:xfrm>
            <a:off x="3184871" y="4539218"/>
            <a:ext cx="519474" cy="307032"/>
          </a:xfrm>
          <a:prstGeom prst="straightConnector1">
            <a:avLst/>
          </a:prstGeom>
          <a:ln w="22225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598428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5" grpId="0" animBg="1"/>
      <p:bldP spid="11" grpId="0" animBg="1"/>
      <p:bldP spid="12" grpId="0" animBg="1"/>
      <p:bldP spid="14" grpId="0" animBg="1"/>
      <p:bldP spid="15" grpId="0" animBg="1"/>
      <p:bldP spid="23" grpId="0" animBg="1"/>
      <p:bldP spid="24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6" grpId="0" animBg="1"/>
      <p:bldP spid="37" grpId="0" animBg="1"/>
      <p:bldP spid="38" grpId="0" animBg="1"/>
      <p:bldP spid="40" grpId="0"/>
      <p:bldP spid="41" grpId="0"/>
      <p:bldP spid="16" grpId="0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6836" y="1289913"/>
            <a:ext cx="10515600" cy="72257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A hash table uses a hash of a key to index values</a:t>
            </a:r>
          </a:p>
          <a:p>
            <a:endParaRPr lang="en-US" b="1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Introduction to Hashing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4A30D2E-9D6D-4721-8DF7-471103EB0B3B}"/>
              </a:ext>
            </a:extLst>
          </p:cNvPr>
          <p:cNvSpPr/>
          <p:nvPr/>
        </p:nvSpPr>
        <p:spPr>
          <a:xfrm>
            <a:off x="3704345" y="2841041"/>
            <a:ext cx="1178451" cy="372823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tx1"/>
                </a:solidFill>
              </a:rPr>
              <a:t>h</a:t>
            </a:r>
            <a:r>
              <a:rPr lang="en-US" sz="2400" baseline="-25000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3BBBB78-E73D-4C34-B6E5-E752D8FEBC51}"/>
              </a:ext>
            </a:extLst>
          </p:cNvPr>
          <p:cNvSpPr/>
          <p:nvPr/>
        </p:nvSpPr>
        <p:spPr>
          <a:xfrm>
            <a:off x="5063720" y="2847455"/>
            <a:ext cx="1582608" cy="372823"/>
          </a:xfrm>
          <a:prstGeom prst="rect">
            <a:avLst/>
          </a:prstGeom>
          <a:solidFill>
            <a:schemeClr val="bg2">
              <a:lumMod val="9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tx1"/>
                </a:solidFill>
              </a:rPr>
              <a:t>v</a:t>
            </a:r>
            <a:r>
              <a:rPr lang="en-US" sz="2400" baseline="-25000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67AB54C-F3D0-4BAE-BFAB-27B9B35CFACC}"/>
              </a:ext>
            </a:extLst>
          </p:cNvPr>
          <p:cNvSpPr/>
          <p:nvPr/>
        </p:nvSpPr>
        <p:spPr>
          <a:xfrm>
            <a:off x="1403465" y="5366580"/>
            <a:ext cx="1582608" cy="372823"/>
          </a:xfrm>
          <a:prstGeom prst="rect">
            <a:avLst/>
          </a:prstGeom>
          <a:solidFill>
            <a:schemeClr val="bg2">
              <a:lumMod val="9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tx1"/>
                </a:solidFill>
              </a:rPr>
              <a:t>v</a:t>
            </a:r>
            <a:r>
              <a:rPr lang="en-US" sz="2400" baseline="-25000" dirty="0">
                <a:solidFill>
                  <a:schemeClr val="tx1"/>
                </a:solidFill>
              </a:rPr>
              <a:t>i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D8FA5D43-DD6A-45A9-999E-FF5DB3BA0AD9}"/>
              </a:ext>
            </a:extLst>
          </p:cNvPr>
          <p:cNvSpPr/>
          <p:nvPr/>
        </p:nvSpPr>
        <p:spPr>
          <a:xfrm>
            <a:off x="3704345" y="3213864"/>
            <a:ext cx="1178451" cy="372823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tx1"/>
                </a:solidFill>
              </a:rPr>
              <a:t>h</a:t>
            </a:r>
            <a:r>
              <a:rPr lang="en-US" sz="2400" baseline="-25000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53A0E273-D7FF-48E0-BE46-925D1F57B05E}"/>
              </a:ext>
            </a:extLst>
          </p:cNvPr>
          <p:cNvSpPr/>
          <p:nvPr/>
        </p:nvSpPr>
        <p:spPr>
          <a:xfrm>
            <a:off x="5063720" y="3220278"/>
            <a:ext cx="1582608" cy="372823"/>
          </a:xfrm>
          <a:prstGeom prst="rect">
            <a:avLst/>
          </a:prstGeom>
          <a:solidFill>
            <a:schemeClr val="bg2">
              <a:lumMod val="9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tx1"/>
                </a:solidFill>
              </a:rPr>
              <a:t>v</a:t>
            </a:r>
            <a:r>
              <a:rPr lang="en-US" sz="2400" baseline="-25000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A58D9FE-A609-48AA-B396-A2EF9A274ED5}"/>
              </a:ext>
            </a:extLst>
          </p:cNvPr>
          <p:cNvSpPr/>
          <p:nvPr/>
        </p:nvSpPr>
        <p:spPr>
          <a:xfrm>
            <a:off x="3704345" y="3586687"/>
            <a:ext cx="1178451" cy="372823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tx1"/>
                </a:solidFill>
              </a:rPr>
              <a:t>h</a:t>
            </a:r>
            <a:r>
              <a:rPr lang="en-US" sz="2400" baseline="-25000" dirty="0">
                <a:solidFill>
                  <a:schemeClr val="tx1"/>
                </a:solidFill>
              </a:rPr>
              <a:t>3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8C53CFF0-A324-43B8-A23D-996EC7CF9151}"/>
              </a:ext>
            </a:extLst>
          </p:cNvPr>
          <p:cNvSpPr/>
          <p:nvPr/>
        </p:nvSpPr>
        <p:spPr>
          <a:xfrm>
            <a:off x="5063720" y="3593101"/>
            <a:ext cx="1582608" cy="372823"/>
          </a:xfrm>
          <a:prstGeom prst="rect">
            <a:avLst/>
          </a:prstGeom>
          <a:solidFill>
            <a:schemeClr val="bg2">
              <a:lumMod val="9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tx1"/>
                </a:solidFill>
              </a:rPr>
              <a:t>v</a:t>
            </a:r>
            <a:r>
              <a:rPr lang="en-US" sz="2400" baseline="-25000" dirty="0">
                <a:solidFill>
                  <a:schemeClr val="tx1"/>
                </a:solidFill>
              </a:rPr>
              <a:t>3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E54C2BB3-1085-4A35-B172-F542E78B0496}"/>
              </a:ext>
            </a:extLst>
          </p:cNvPr>
          <p:cNvSpPr/>
          <p:nvPr/>
        </p:nvSpPr>
        <p:spPr>
          <a:xfrm>
            <a:off x="3704345" y="4659838"/>
            <a:ext cx="1178451" cy="372823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tx1"/>
                </a:solidFill>
              </a:rPr>
              <a:t>h</a:t>
            </a:r>
            <a:r>
              <a:rPr lang="en-US" sz="2400" baseline="-25000" dirty="0">
                <a:solidFill>
                  <a:schemeClr val="tx1"/>
                </a:solidFill>
              </a:rPr>
              <a:t>i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82B3B1C8-4C79-4B20-94B4-072363FED7C0}"/>
              </a:ext>
            </a:extLst>
          </p:cNvPr>
          <p:cNvSpPr/>
          <p:nvPr/>
        </p:nvSpPr>
        <p:spPr>
          <a:xfrm>
            <a:off x="5063720" y="4666252"/>
            <a:ext cx="1582608" cy="372823"/>
          </a:xfrm>
          <a:prstGeom prst="rect">
            <a:avLst/>
          </a:prstGeom>
          <a:solidFill>
            <a:schemeClr val="bg2">
              <a:lumMod val="9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tx1"/>
                </a:solidFill>
              </a:rPr>
              <a:t>v</a:t>
            </a:r>
            <a:r>
              <a:rPr lang="en-US" sz="2400" baseline="-25000" dirty="0">
                <a:solidFill>
                  <a:schemeClr val="tx1"/>
                </a:solidFill>
              </a:rPr>
              <a:t>i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9F9CDCFD-E073-49CB-BAEF-86358A473DED}"/>
              </a:ext>
            </a:extLst>
          </p:cNvPr>
          <p:cNvSpPr/>
          <p:nvPr/>
        </p:nvSpPr>
        <p:spPr>
          <a:xfrm>
            <a:off x="3704345" y="5732989"/>
            <a:ext cx="1178451" cy="372823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 err="1">
                <a:solidFill>
                  <a:schemeClr val="tx1"/>
                </a:solidFill>
              </a:rPr>
              <a:t>h</a:t>
            </a:r>
            <a:r>
              <a:rPr lang="en-US" sz="2400" baseline="-25000" dirty="0" err="1">
                <a:solidFill>
                  <a:schemeClr val="tx1"/>
                </a:solidFill>
              </a:rPr>
              <a:t>n</a:t>
            </a:r>
            <a:endParaRPr lang="en-US" sz="2400" baseline="-25000" dirty="0">
              <a:solidFill>
                <a:schemeClr val="tx1"/>
              </a:solidFill>
            </a:endParaRP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41420F77-7C2D-4FEC-A873-04FBB65DA4EE}"/>
              </a:ext>
            </a:extLst>
          </p:cNvPr>
          <p:cNvSpPr/>
          <p:nvPr/>
        </p:nvSpPr>
        <p:spPr>
          <a:xfrm>
            <a:off x="5063720" y="5739403"/>
            <a:ext cx="1582608" cy="372823"/>
          </a:xfrm>
          <a:prstGeom prst="rect">
            <a:avLst/>
          </a:prstGeom>
          <a:solidFill>
            <a:schemeClr val="bg2">
              <a:lumMod val="9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 err="1">
                <a:solidFill>
                  <a:schemeClr val="tx1"/>
                </a:solidFill>
              </a:rPr>
              <a:t>v</a:t>
            </a:r>
            <a:r>
              <a:rPr lang="en-US" sz="2400" baseline="-25000" dirty="0" err="1">
                <a:solidFill>
                  <a:schemeClr val="tx1"/>
                </a:solidFill>
              </a:rPr>
              <a:t>n</a:t>
            </a:r>
            <a:endParaRPr lang="en-US" sz="2400" baseline="-25000" dirty="0">
              <a:solidFill>
                <a:schemeClr val="tx1"/>
              </a:solidFill>
            </a:endParaRPr>
          </a:p>
        </p:txBody>
      </p:sp>
      <p:sp>
        <p:nvSpPr>
          <p:cNvPr id="31" name="Oval 30">
            <a:extLst>
              <a:ext uri="{FF2B5EF4-FFF2-40B4-BE49-F238E27FC236}">
                <a16:creationId xmlns:a16="http://schemas.microsoft.com/office/drawing/2014/main" id="{3984E095-C61E-4D9C-A010-5667D9A30C31}"/>
              </a:ext>
            </a:extLst>
          </p:cNvPr>
          <p:cNvSpPr/>
          <p:nvPr/>
        </p:nvSpPr>
        <p:spPr>
          <a:xfrm>
            <a:off x="5011540" y="4058795"/>
            <a:ext cx="104361" cy="10436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Oval 31">
            <a:extLst>
              <a:ext uri="{FF2B5EF4-FFF2-40B4-BE49-F238E27FC236}">
                <a16:creationId xmlns:a16="http://schemas.microsoft.com/office/drawing/2014/main" id="{4568B3FF-37F3-4648-9AB9-43E68A6A9F80}"/>
              </a:ext>
            </a:extLst>
          </p:cNvPr>
          <p:cNvSpPr/>
          <p:nvPr/>
        </p:nvSpPr>
        <p:spPr>
          <a:xfrm>
            <a:off x="5011539" y="4260701"/>
            <a:ext cx="104361" cy="10436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Oval 32">
            <a:extLst>
              <a:ext uri="{FF2B5EF4-FFF2-40B4-BE49-F238E27FC236}">
                <a16:creationId xmlns:a16="http://schemas.microsoft.com/office/drawing/2014/main" id="{1D8AA4AE-8F61-4BC5-96AA-6C6D8565A8D8}"/>
              </a:ext>
            </a:extLst>
          </p:cNvPr>
          <p:cNvSpPr/>
          <p:nvPr/>
        </p:nvSpPr>
        <p:spPr>
          <a:xfrm>
            <a:off x="5011538" y="4462607"/>
            <a:ext cx="104361" cy="10436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Oval 35">
            <a:extLst>
              <a:ext uri="{FF2B5EF4-FFF2-40B4-BE49-F238E27FC236}">
                <a16:creationId xmlns:a16="http://schemas.microsoft.com/office/drawing/2014/main" id="{AF1BAD3B-DE36-40BF-8285-2B2F3AC32255}"/>
              </a:ext>
            </a:extLst>
          </p:cNvPr>
          <p:cNvSpPr/>
          <p:nvPr/>
        </p:nvSpPr>
        <p:spPr>
          <a:xfrm>
            <a:off x="5011540" y="5110470"/>
            <a:ext cx="104361" cy="10436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Oval 36">
            <a:extLst>
              <a:ext uri="{FF2B5EF4-FFF2-40B4-BE49-F238E27FC236}">
                <a16:creationId xmlns:a16="http://schemas.microsoft.com/office/drawing/2014/main" id="{2F40760D-0123-4BB3-843F-A4C8E057816B}"/>
              </a:ext>
            </a:extLst>
          </p:cNvPr>
          <p:cNvSpPr/>
          <p:nvPr/>
        </p:nvSpPr>
        <p:spPr>
          <a:xfrm>
            <a:off x="5011539" y="5312376"/>
            <a:ext cx="104361" cy="10436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Oval 37">
            <a:extLst>
              <a:ext uri="{FF2B5EF4-FFF2-40B4-BE49-F238E27FC236}">
                <a16:creationId xmlns:a16="http://schemas.microsoft.com/office/drawing/2014/main" id="{E899B308-EDC1-4B6B-82E0-229CDBF58334}"/>
              </a:ext>
            </a:extLst>
          </p:cNvPr>
          <p:cNvSpPr/>
          <p:nvPr/>
        </p:nvSpPr>
        <p:spPr>
          <a:xfrm>
            <a:off x="5011538" y="5514282"/>
            <a:ext cx="104361" cy="10436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Freeform: Shape 38">
            <a:extLst>
              <a:ext uri="{FF2B5EF4-FFF2-40B4-BE49-F238E27FC236}">
                <a16:creationId xmlns:a16="http://schemas.microsoft.com/office/drawing/2014/main" id="{A0F3A16B-F1E0-4516-84F7-8345A3187441}"/>
              </a:ext>
            </a:extLst>
          </p:cNvPr>
          <p:cNvSpPr/>
          <p:nvPr/>
        </p:nvSpPr>
        <p:spPr>
          <a:xfrm>
            <a:off x="976785" y="3460911"/>
            <a:ext cx="2723322" cy="1267239"/>
          </a:xfrm>
          <a:custGeom>
            <a:avLst/>
            <a:gdLst>
              <a:gd name="connsiteX0" fmla="*/ 0 w 2723322"/>
              <a:gd name="connsiteY0" fmla="*/ 0 h 1267239"/>
              <a:gd name="connsiteX1" fmla="*/ 54666 w 2723322"/>
              <a:gd name="connsiteY1" fmla="*/ 506896 h 1267239"/>
              <a:gd name="connsiteX2" fmla="*/ 288235 w 2723322"/>
              <a:gd name="connsiteY2" fmla="*/ 854765 h 1267239"/>
              <a:gd name="connsiteX3" fmla="*/ 1500809 w 2723322"/>
              <a:gd name="connsiteY3" fmla="*/ 1217543 h 1267239"/>
              <a:gd name="connsiteX4" fmla="*/ 2723322 w 2723322"/>
              <a:gd name="connsiteY4" fmla="*/ 1267239 h 12672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23322" h="1267239">
                <a:moveTo>
                  <a:pt x="0" y="0"/>
                </a:moveTo>
                <a:cubicBezTo>
                  <a:pt x="3313" y="182217"/>
                  <a:pt x="6627" y="364435"/>
                  <a:pt x="54666" y="506896"/>
                </a:cubicBezTo>
                <a:cubicBezTo>
                  <a:pt x="102705" y="649357"/>
                  <a:pt x="47211" y="736324"/>
                  <a:pt x="288235" y="854765"/>
                </a:cubicBezTo>
                <a:cubicBezTo>
                  <a:pt x="529259" y="973206"/>
                  <a:pt x="1094961" y="1148797"/>
                  <a:pt x="1500809" y="1217543"/>
                </a:cubicBezTo>
                <a:cubicBezTo>
                  <a:pt x="1906657" y="1286289"/>
                  <a:pt x="2514600" y="1258956"/>
                  <a:pt x="2723322" y="1267239"/>
                </a:cubicBezTo>
              </a:path>
            </a:pathLst>
          </a:custGeom>
          <a:noFill/>
          <a:ln w="25400">
            <a:solidFill>
              <a:schemeClr val="tx1"/>
            </a:solidFill>
            <a:prstDash val="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E1D3B574-604B-4DB6-940F-48BAB0E1BD52}"/>
              </a:ext>
            </a:extLst>
          </p:cNvPr>
          <p:cNvSpPr txBox="1"/>
          <p:nvPr/>
        </p:nvSpPr>
        <p:spPr>
          <a:xfrm>
            <a:off x="3969026" y="2311188"/>
            <a:ext cx="229097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/>
              <a:t>Hash table</a:t>
            </a:r>
            <a:endParaRPr lang="en-US" sz="24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2" name="Content Placeholder 2">
                <a:extLst>
                  <a:ext uri="{FF2B5EF4-FFF2-40B4-BE49-F238E27FC236}">
                    <a16:creationId xmlns:a16="http://schemas.microsoft.com/office/drawing/2014/main" id="{0584C6A8-2283-47FA-8E91-B827D1865B9C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7163615" y="2191388"/>
                <a:ext cx="4904456" cy="4616973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en-US" dirty="0"/>
                  <a:t>Given a hash table, how do we look up a value? </a:t>
                </a:r>
                <a:endParaRPr lang="en-US" b="1" dirty="0"/>
              </a:p>
              <a:p>
                <a:r>
                  <a:rPr lang="en-US" dirty="0"/>
                  <a:t>Start with the key</a:t>
                </a:r>
              </a:p>
              <a:p>
                <a:r>
                  <a:rPr lang="en-US" dirty="0"/>
                  <a:t>Hash the key to hash value (address) in hash table</a:t>
                </a:r>
              </a:p>
              <a:p>
                <a:r>
                  <a:rPr lang="en-US" dirty="0"/>
                  <a:t>Value is now available for processing</a:t>
                </a:r>
              </a:p>
              <a:p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𝑶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𝟏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b="1" dirty="0"/>
                  <a:t> average time!</a:t>
                </a:r>
              </a:p>
              <a:p>
                <a:endParaRPr lang="en-US" dirty="0"/>
              </a:p>
              <a:p>
                <a:endParaRPr lang="en-US" b="1" dirty="0"/>
              </a:p>
            </p:txBody>
          </p:sp>
        </mc:Choice>
        <mc:Fallback xmlns="">
          <p:sp>
            <p:nvSpPr>
              <p:cNvPr id="42" name="Content Placeholder 2">
                <a:extLst>
                  <a:ext uri="{FF2B5EF4-FFF2-40B4-BE49-F238E27FC236}">
                    <a16:creationId xmlns:a16="http://schemas.microsoft.com/office/drawing/2014/main" id="{0584C6A8-2283-47FA-8E91-B827D1865B9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63615" y="2191388"/>
                <a:ext cx="4904456" cy="4616973"/>
              </a:xfrm>
              <a:prstGeom prst="rect">
                <a:avLst/>
              </a:prstGeom>
              <a:blipFill>
                <a:blip r:embed="rId2"/>
                <a:stretch>
                  <a:fillRect l="-2236" t="-2111" r="-260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54A9E263-3098-46A9-A485-AFFCD608289D}"/>
                  </a:ext>
                </a:extLst>
              </p:cNvPr>
              <p:cNvSpPr txBox="1"/>
              <p:nvPr/>
            </p:nvSpPr>
            <p:spPr>
              <a:xfrm>
                <a:off x="1297251" y="3880803"/>
                <a:ext cx="2171088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𝑓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𝑘𝑒𝑦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54A9E263-3098-46A9-A485-AFFCD608289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97251" y="3880803"/>
                <a:ext cx="2171088" cy="52322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4" name="Rectangle 33">
            <a:extLst>
              <a:ext uri="{FF2B5EF4-FFF2-40B4-BE49-F238E27FC236}">
                <a16:creationId xmlns:a16="http://schemas.microsoft.com/office/drawing/2014/main" id="{6304F30E-893B-4A5A-A67B-C0D999F41BFE}"/>
              </a:ext>
            </a:extLst>
          </p:cNvPr>
          <p:cNvSpPr/>
          <p:nvPr/>
        </p:nvSpPr>
        <p:spPr>
          <a:xfrm>
            <a:off x="450772" y="3071851"/>
            <a:ext cx="1178451" cy="372823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 err="1">
                <a:solidFill>
                  <a:schemeClr val="tx1"/>
                </a:solidFill>
              </a:rPr>
              <a:t>key</a:t>
            </a:r>
            <a:r>
              <a:rPr lang="en-US" sz="2400" baseline="-25000" dirty="0" err="1">
                <a:solidFill>
                  <a:schemeClr val="tx1"/>
                </a:solidFill>
              </a:rPr>
              <a:t>i</a:t>
            </a:r>
            <a:endParaRPr lang="en-US" sz="2400" baseline="-25000" dirty="0">
              <a:solidFill>
                <a:schemeClr val="tx1"/>
              </a:solidFill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EB276967-A8EC-4E40-8B68-18A9EA5749E1}"/>
              </a:ext>
            </a:extLst>
          </p:cNvPr>
          <p:cNvSpPr/>
          <p:nvPr/>
        </p:nvSpPr>
        <p:spPr>
          <a:xfrm>
            <a:off x="2267712" y="4937760"/>
            <a:ext cx="1442139" cy="418011"/>
          </a:xfrm>
          <a:custGeom>
            <a:avLst/>
            <a:gdLst>
              <a:gd name="connsiteX0" fmla="*/ 1442139 w 1442139"/>
              <a:gd name="connsiteY0" fmla="*/ 0 h 418011"/>
              <a:gd name="connsiteX1" fmla="*/ 945751 w 1442139"/>
              <a:gd name="connsiteY1" fmla="*/ 10450 h 418011"/>
              <a:gd name="connsiteX2" fmla="*/ 423237 w 1442139"/>
              <a:gd name="connsiteY2" fmla="*/ 62702 h 418011"/>
              <a:gd name="connsiteX3" fmla="*/ 156754 w 1442139"/>
              <a:gd name="connsiteY3" fmla="*/ 209006 h 418011"/>
              <a:gd name="connsiteX4" fmla="*/ 41801 w 1442139"/>
              <a:gd name="connsiteY4" fmla="*/ 344859 h 418011"/>
              <a:gd name="connsiteX5" fmla="*/ 0 w 1442139"/>
              <a:gd name="connsiteY5" fmla="*/ 418011 h 41801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442139" h="418011">
                <a:moveTo>
                  <a:pt x="1442139" y="0"/>
                </a:moveTo>
                <a:cubicBezTo>
                  <a:pt x="1278853" y="0"/>
                  <a:pt x="1115568" y="0"/>
                  <a:pt x="945751" y="10450"/>
                </a:cubicBezTo>
                <a:cubicBezTo>
                  <a:pt x="775934" y="20900"/>
                  <a:pt x="554736" y="29609"/>
                  <a:pt x="423237" y="62702"/>
                </a:cubicBezTo>
                <a:cubicBezTo>
                  <a:pt x="291738" y="95795"/>
                  <a:pt x="220327" y="161980"/>
                  <a:pt x="156754" y="209006"/>
                </a:cubicBezTo>
                <a:cubicBezTo>
                  <a:pt x="93181" y="256032"/>
                  <a:pt x="67927" y="310025"/>
                  <a:pt x="41801" y="344859"/>
                </a:cubicBezTo>
                <a:cubicBezTo>
                  <a:pt x="15675" y="379693"/>
                  <a:pt x="7837" y="398852"/>
                  <a:pt x="0" y="418011"/>
                </a:cubicBezTo>
              </a:path>
            </a:pathLst>
          </a:custGeom>
          <a:noFill/>
          <a:ln w="28575">
            <a:prstDash val="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29445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5" grpId="0" animBg="1"/>
      <p:bldP spid="8" grpId="0" animBg="1"/>
      <p:bldP spid="11" grpId="0" animBg="1"/>
      <p:bldP spid="12" grpId="0" animBg="1"/>
      <p:bldP spid="14" grpId="0" animBg="1"/>
      <p:bldP spid="15" grpId="0" animBg="1"/>
      <p:bldP spid="23" grpId="0" animBg="1"/>
      <p:bldP spid="24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6" grpId="0" animBg="1"/>
      <p:bldP spid="37" grpId="0" animBg="1"/>
      <p:bldP spid="38" grpId="0" animBg="1"/>
      <p:bldP spid="39" grpId="0" animBg="1"/>
      <p:bldP spid="41" grpId="0"/>
      <p:bldP spid="16" grpId="0"/>
      <p:bldP spid="34" grpId="0" animBg="1"/>
      <p:bldP spid="4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B4C975-B64B-4985-7BB7-F3995B17CF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D7C15A-15E9-AC73-BE5F-B25552E48A1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sz="4400" dirty="0"/>
              <a:t>Hash Functions</a:t>
            </a:r>
          </a:p>
        </p:txBody>
      </p:sp>
    </p:spTree>
    <p:extLst>
      <p:ext uri="{BB962C8B-B14F-4D97-AF65-F5344CB8AC3E}">
        <p14:creationId xmlns:p14="http://schemas.microsoft.com/office/powerpoint/2010/main" val="1330754712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01783"/>
            <a:ext cx="10515600" cy="549684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3200" dirty="0"/>
              <a:t>Commonly used </a:t>
            </a:r>
            <a:r>
              <a:rPr lang="en-US" sz="3200" b="1" dirty="0"/>
              <a:t>hash functions</a:t>
            </a:r>
            <a:r>
              <a:rPr lang="en-US" sz="3200" dirty="0"/>
              <a:t>  </a:t>
            </a:r>
          </a:p>
          <a:p>
            <a:r>
              <a:rPr lang="en-US" sz="3000" dirty="0"/>
              <a:t>A great many hash functions are used in practice   </a:t>
            </a:r>
          </a:p>
          <a:p>
            <a:r>
              <a:rPr lang="en-US" sz="3000" dirty="0"/>
              <a:t>Simple hash functions operate on numeric keys  </a:t>
            </a:r>
          </a:p>
          <a:p>
            <a:pPr lvl="1"/>
            <a:r>
              <a:rPr lang="en-US" sz="2600" dirty="0"/>
              <a:t>Binary or integer </a:t>
            </a:r>
          </a:p>
          <a:p>
            <a:r>
              <a:rPr lang="en-US" sz="3000" dirty="0"/>
              <a:t>Binary representation of strings, e.g. ASCII or Unicode  </a:t>
            </a:r>
            <a:endParaRPr lang="en-US" sz="2000" dirty="0"/>
          </a:p>
          <a:p>
            <a:pPr lvl="1"/>
            <a:r>
              <a:rPr lang="en-US" sz="2600" dirty="0"/>
              <a:t>Hash a binary or integer representation of a string 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Introduction to Hashing</a:t>
            </a:r>
          </a:p>
        </p:txBody>
      </p:sp>
    </p:spTree>
    <p:extLst>
      <p:ext uri="{BB962C8B-B14F-4D97-AF65-F5344CB8AC3E}">
        <p14:creationId xmlns:p14="http://schemas.microsoft.com/office/powerpoint/2010/main" val="39330978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C9ACE2-7EE6-1471-3563-CA26754EA4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74FEC52-06E4-E99A-FFBA-7E99A4BFCAE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201783"/>
                <a:ext cx="10515600" cy="5496849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sz="3200" dirty="0"/>
                  <a:t>Commonly used </a:t>
                </a:r>
                <a:r>
                  <a:rPr lang="en-US" sz="3200" b="1" dirty="0"/>
                  <a:t>hash functions</a:t>
                </a:r>
                <a:r>
                  <a:rPr lang="en-US" sz="3200" dirty="0"/>
                  <a:t>  </a:t>
                </a:r>
              </a:p>
              <a:p>
                <a:r>
                  <a:rPr lang="en-US" sz="3000" dirty="0"/>
                  <a:t>A great many hash functions are used in practice   </a:t>
                </a:r>
              </a:p>
              <a:p>
                <a:r>
                  <a:rPr lang="en-US" sz="3000" dirty="0"/>
                  <a:t>Simple hash function for integer key, </a:t>
                </a:r>
                <a14:m>
                  <m:oMath xmlns:m="http://schemas.openxmlformats.org/officeDocument/2006/math">
                    <m:r>
                      <a:rPr lang="en-US" sz="3000" i="1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endParaRPr lang="en-US" sz="30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3000" i="1" smtClean="0">
                          <a:latin typeface="Cambria Math" panose="02040503050406030204" pitchFamily="18" charset="0"/>
                        </a:rPr>
                        <m:t>f</m:t>
                      </m:r>
                      <m:d>
                        <m:dPr>
                          <m:ctrlPr>
                            <a:rPr lang="en-US" sz="3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300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</m:d>
                      <m:r>
                        <a:rPr lang="en-US" sz="300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30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ctrlPr>
                                <a:rPr lang="en-US" sz="300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3000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  <m:r>
                                <a:rPr lang="en-US" sz="3000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sz="3000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US" sz="3000" b="0" i="1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sz="3000" b="0" i="1" smtClean="0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</m:d>
                          <m:r>
                            <a:rPr lang="en-US" sz="30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3000" b="0" i="1" smtClean="0">
                              <a:latin typeface="Cambria Math" panose="02040503050406030204" pitchFamily="18" charset="0"/>
                            </a:rPr>
                            <m:t>𝑚𝑜𝑑</m:t>
                          </m:r>
                          <m:r>
                            <a:rPr lang="en-US" sz="30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3000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</m:d>
                      <m:r>
                        <a:rPr lang="en-US" sz="30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3000" i="1" smtClean="0">
                          <a:latin typeface="Cambria Math" panose="02040503050406030204" pitchFamily="18" charset="0"/>
                        </a:rPr>
                        <m:t>𝑚𝑜𝑑</m:t>
                      </m:r>
                      <m:r>
                        <a:rPr lang="en-US" sz="300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3000" b="0" i="1" smtClean="0">
                          <a:latin typeface="Cambria Math" panose="02040503050406030204" pitchFamily="18" charset="0"/>
                        </a:rPr>
                        <m:t>𝑚</m:t>
                      </m:r>
                      <m:r>
                        <a:rPr lang="en-US" sz="3000" i="1" smtClean="0"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en-US" sz="3000" dirty="0"/>
              </a:p>
              <a:p>
                <a:pPr lvl="1"/>
                <a:r>
                  <a:rPr lang="en-US" sz="2600" dirty="0"/>
                  <a:t>a = multiplier, </a:t>
                </a:r>
                <a14:m>
                  <m:oMath xmlns:m="http://schemas.openxmlformats.org/officeDocument/2006/math">
                    <m:r>
                      <a:rPr lang="en-US" sz="2600" b="0" i="1" smtClean="0">
                        <a:latin typeface="Cambria Math" panose="02040503050406030204" pitchFamily="18" charset="0"/>
                      </a:rPr>
                      <m:t>0</m:t>
                    </m:r>
                    <m:r>
                      <a:rPr lang="en-US" sz="2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&lt;</m:t>
                    </m:r>
                    <m:r>
                      <a:rPr lang="en-US" sz="2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𝑎</m:t>
                    </m:r>
                    <m:r>
                      <a:rPr lang="en-US" sz="2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&lt;</m:t>
                    </m:r>
                    <m:r>
                      <a:rPr lang="en-US" sz="2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𝑝</m:t>
                    </m:r>
                    <m:r>
                      <a:rPr lang="en-US" sz="2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−1</m:t>
                    </m:r>
                  </m:oMath>
                </a14:m>
                <a:endParaRPr lang="en-US" sz="2600" dirty="0"/>
              </a:p>
              <a:p>
                <a:pPr lvl="1"/>
                <a:r>
                  <a:rPr lang="en-US" sz="2600" dirty="0"/>
                  <a:t>b = additive constant</a:t>
                </a:r>
              </a:p>
              <a:p>
                <a:pPr lvl="1"/>
                <a:r>
                  <a:rPr lang="en-US" sz="2600" dirty="0"/>
                  <a:t>p = constant, generally prime, </a:t>
                </a:r>
                <a14:m>
                  <m:oMath xmlns:m="http://schemas.openxmlformats.org/officeDocument/2006/math">
                    <m:r>
                      <a:rPr lang="en-US" sz="2600" b="0" i="1" smtClean="0"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US" sz="2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&gt;</m:t>
                    </m:r>
                    <m:d>
                      <m:dPr>
                        <m:begChr m:val="|"/>
                        <m:endChr m:val="|"/>
                        <m:ctrlPr>
                          <a:rPr lang="en-US" sz="26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6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𝑈</m:t>
                        </m:r>
                      </m:e>
                    </m:d>
                  </m:oMath>
                </a14:m>
                <a:r>
                  <a:rPr lang="en-US" sz="2600" dirty="0"/>
                  <a:t>, the size of the set to be hashed</a:t>
                </a:r>
              </a:p>
              <a:p>
                <a:pPr lvl="1"/>
                <a:r>
                  <a:rPr lang="en-US" sz="2600" dirty="0"/>
                  <a:t>m = size of the hash table, typically, </a:t>
                </a:r>
                <a14:m>
                  <m:oMath xmlns:m="http://schemas.openxmlformats.org/officeDocument/2006/math">
                    <m:r>
                      <a:rPr lang="en-US" sz="2600" b="0" i="1" smtClean="0">
                        <a:latin typeface="Cambria Math" panose="02040503050406030204" pitchFamily="18" charset="0"/>
                      </a:rPr>
                      <m:t>𝑚</m:t>
                    </m:r>
                    <m:r>
                      <a:rPr lang="en-US" sz="2600" b="0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sz="26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6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sz="26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𝛼</m:t>
                        </m:r>
                      </m:sup>
                    </m:sSup>
                  </m:oMath>
                </a14:m>
                <a:endParaRPr lang="en-US" sz="26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74FEC52-06E4-E99A-FFBA-7E99A4BFCAE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201783"/>
                <a:ext cx="10515600" cy="5496849"/>
              </a:xfrm>
              <a:blipFill>
                <a:blip r:embed="rId2"/>
                <a:stretch>
                  <a:fillRect l="-1507" t="-232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33862DDE-E9C6-C1EA-E9EB-C9E690CE8327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Introduction to Hashing</a:t>
            </a:r>
          </a:p>
        </p:txBody>
      </p:sp>
    </p:spTree>
    <p:extLst>
      <p:ext uri="{BB962C8B-B14F-4D97-AF65-F5344CB8AC3E}">
        <p14:creationId xmlns:p14="http://schemas.microsoft.com/office/powerpoint/2010/main" val="3865072304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45231A-D19F-C328-7E94-6A71FE8910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104C4A7-4785-6851-D918-50EAE50F970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201783"/>
                <a:ext cx="10515600" cy="5496849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sz="3200" dirty="0"/>
                  <a:t>Commonly used </a:t>
                </a:r>
                <a:r>
                  <a:rPr lang="en-US" sz="3200" b="1" dirty="0"/>
                  <a:t>hash functions</a:t>
                </a:r>
                <a:r>
                  <a:rPr lang="en-US" sz="3200" dirty="0"/>
                  <a:t>  </a:t>
                </a:r>
                <a:endParaRPr lang="en-US" sz="3000" dirty="0"/>
              </a:p>
              <a:p>
                <a:r>
                  <a:rPr lang="en-US" sz="3000"/>
                  <a:t>Hash function is </a:t>
                </a:r>
                <a:r>
                  <a:rPr lang="en-US" sz="3000" dirty="0"/>
                  <a:t>applied to a </a:t>
                </a:r>
                <a:r>
                  <a:rPr lang="en-US" sz="3000" b="1" dirty="0"/>
                  <a:t>scalar key, </a:t>
                </a:r>
                <a14:m>
                  <m:oMath xmlns:m="http://schemas.openxmlformats.org/officeDocument/2006/math">
                    <m:r>
                      <a:rPr lang="en-US" sz="3000" b="1" i="1" smtClean="0">
                        <a:latin typeface="Cambria Math" panose="02040503050406030204" pitchFamily="18" charset="0"/>
                      </a:rPr>
                      <m:t>𝒌</m:t>
                    </m:r>
                  </m:oMath>
                </a14:m>
                <a:r>
                  <a:rPr lang="en-US" sz="3000" b="1" dirty="0"/>
                  <a:t>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3000" i="1" smtClean="0">
                          <a:latin typeface="Cambria Math" panose="02040503050406030204" pitchFamily="18" charset="0"/>
                        </a:rPr>
                        <m:t>f</m:t>
                      </m:r>
                      <m:d>
                        <m:dPr>
                          <m:ctrlPr>
                            <a:rPr lang="en-US" sz="3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300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</m:d>
                      <m:r>
                        <a:rPr lang="en-US" sz="300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30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ctrlPr>
                                <a:rPr lang="en-US" sz="300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3000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  <m:r>
                                <a:rPr lang="en-US" sz="3000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sz="3000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US" sz="3000" b="0" i="1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sz="3000" b="0" i="1" smtClean="0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</m:d>
                          <m:r>
                            <a:rPr lang="en-US" sz="30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3000" b="0" i="1" smtClean="0">
                              <a:latin typeface="Cambria Math" panose="02040503050406030204" pitchFamily="18" charset="0"/>
                            </a:rPr>
                            <m:t>𝑚𝑜𝑑</m:t>
                          </m:r>
                          <m:r>
                            <a:rPr lang="en-US" sz="30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3000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</m:d>
                      <m:r>
                        <a:rPr lang="en-US" sz="30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3000" i="1" smtClean="0">
                          <a:latin typeface="Cambria Math" panose="02040503050406030204" pitchFamily="18" charset="0"/>
                        </a:rPr>
                        <m:t>𝑚𝑜𝑑</m:t>
                      </m:r>
                      <m:r>
                        <a:rPr lang="en-US" sz="300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3000" b="0" i="1" smtClean="0">
                          <a:latin typeface="Cambria Math" panose="02040503050406030204" pitchFamily="18" charset="0"/>
                        </a:rPr>
                        <m:t>𝑚</m:t>
                      </m:r>
                      <m:r>
                        <a:rPr lang="en-US" sz="3000" i="1" smtClean="0"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en-US" sz="3000" dirty="0"/>
              </a:p>
              <a:p>
                <a:r>
                  <a:rPr lang="en-US" sz="3000" dirty="0"/>
                  <a:t>How do we handle vector (multi) valued keys?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3000" b="0" i="0" smtClean="0">
                          <a:latin typeface="Cambria Math" panose="02040503050406030204" pitchFamily="18" charset="0"/>
                        </a:rPr>
                        <m:t>K</m:t>
                      </m:r>
                      <m:r>
                        <a:rPr lang="en-US" sz="3000" b="0" i="0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30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30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000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e>
                            <m:sub>
                              <m:r>
                                <a:rPr lang="en-US" sz="30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30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30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00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e>
                            <m:sub>
                              <m:r>
                                <a:rPr lang="en-US" sz="30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sz="3000" b="0" i="1" smtClean="0">
                              <a:latin typeface="Cambria Math" panose="02040503050406030204" pitchFamily="18" charset="0"/>
                            </a:rPr>
                            <m:t>,…,</m:t>
                          </m:r>
                          <m:sSub>
                            <m:sSubPr>
                              <m:ctrlPr>
                                <a:rPr lang="en-US" sz="30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00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e>
                            <m:sub>
                              <m:r>
                                <a:rPr lang="en-US" sz="3000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sz="3000" dirty="0"/>
              </a:p>
              <a:p>
                <a:r>
                  <a:rPr lang="en-US" sz="3000" dirty="0"/>
                  <a:t>We can sum the hashes,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30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3000" b="0" i="1" smtClean="0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US" sz="30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d>
                      <m:dPr>
                        <m:ctrlPr>
                          <a:rPr lang="en-US" sz="3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3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3000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e>
                          <m:sub>
                            <m:r>
                              <a:rPr lang="en-US" sz="30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sz="3000" dirty="0"/>
                  <a:t>, modulo the table length</a:t>
                </a:r>
              </a:p>
              <a:p>
                <a:pPr lvl="2"/>
                <a:endParaRPr lang="en-US" sz="22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000" b="0" i="1" smtClean="0">
                          <a:latin typeface="Cambria Math" panose="02040503050406030204" pitchFamily="18" charset="0"/>
                        </a:rPr>
                        <m:t>h</m:t>
                      </m:r>
                      <m:d>
                        <m:dPr>
                          <m:ctrlPr>
                            <a:rPr lang="en-US" sz="30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3000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</m:e>
                      </m:d>
                      <m:r>
                        <a:rPr lang="en-US" sz="30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30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nary>
                            <m:naryPr>
                              <m:chr m:val="∑"/>
                              <m:ctrlPr>
                                <a:rPr lang="en-US" sz="3000" b="0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en-US" sz="30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sz="3000" b="0" i="1" smtClean="0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en-US" sz="3000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p>
                            <m:e>
                              <m:sSub>
                                <m:sSubPr>
                                  <m:ctrlPr>
                                    <a:rPr lang="en-US" sz="30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3000" b="0" i="1" smtClean="0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en-US" sz="30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en-US" sz="30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30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3000" i="1"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</m:e>
                                    <m:sub>
                                      <m:r>
                                        <a:rPr lang="en-US" sz="30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nary>
                        </m:e>
                      </m:d>
                      <m:r>
                        <a:rPr lang="en-US" sz="3000" b="0" i="1" smtClean="0">
                          <a:latin typeface="Cambria Math" panose="02040503050406030204" pitchFamily="18" charset="0"/>
                        </a:rPr>
                        <m:t>𝑚𝑜𝑑</m:t>
                      </m:r>
                      <m:r>
                        <a:rPr lang="en-US" sz="30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3000" b="0" i="1" smtClean="0">
                          <a:latin typeface="Cambria Math" panose="02040503050406030204" pitchFamily="18" charset="0"/>
                        </a:rPr>
                        <m:t>𝑚</m:t>
                      </m:r>
                    </m:oMath>
                  </m:oMathPara>
                </a14:m>
                <a:endParaRPr lang="en-US" sz="3000" dirty="0"/>
              </a:p>
              <a:p>
                <a:pPr marL="457200" lvl="1" indent="0">
                  <a:buNone/>
                </a:pPr>
                <a:r>
                  <a:rPr lang="en-US" sz="2600" dirty="0"/>
                  <a:t>Where each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d>
                      <m:d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8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800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e>
                          <m:sub>
                            <m:r>
                              <a:rPr lang="en-US" sz="28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sz="2600" dirty="0"/>
                  <a:t> is a unique or independent hash function  </a:t>
                </a:r>
              </a:p>
              <a:p>
                <a:endParaRPr lang="en-US" sz="30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104C4A7-4785-6851-D918-50EAE50F970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201783"/>
                <a:ext cx="10515600" cy="5496849"/>
              </a:xfrm>
              <a:blipFill>
                <a:blip r:embed="rId2"/>
                <a:stretch>
                  <a:fillRect l="-1507" t="-232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29BFFD6E-8309-3B28-4A70-4F5373832514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Introduction to Hashing</a:t>
            </a:r>
          </a:p>
        </p:txBody>
      </p:sp>
    </p:spTree>
    <p:extLst>
      <p:ext uri="{BB962C8B-B14F-4D97-AF65-F5344CB8AC3E}">
        <p14:creationId xmlns:p14="http://schemas.microsoft.com/office/powerpoint/2010/main" val="26667309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2348CF-3DE8-C147-4B0C-26587F28C1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F2A4D2-70CD-4CEA-D93E-4759FF44341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sz="4400" dirty="0"/>
              <a:t>Hash Collisions</a:t>
            </a:r>
          </a:p>
        </p:txBody>
      </p:sp>
    </p:spTree>
    <p:extLst>
      <p:ext uri="{BB962C8B-B14F-4D97-AF65-F5344CB8AC3E}">
        <p14:creationId xmlns:p14="http://schemas.microsoft.com/office/powerpoint/2010/main" val="2491891260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58E6AF3-7615-4BD1-878E-A94C93E98F9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123406"/>
                <a:ext cx="10515600" cy="5470724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What are the properties of a good hash function?  </a:t>
                </a:r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US" dirty="0"/>
                  <a:t>For key values,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lang="en-US" dirty="0"/>
                  <a:t>, want a </a:t>
                </a:r>
                <a:r>
                  <a:rPr lang="en-US" b="1" dirty="0"/>
                  <a:t>uniform distribution over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𝒎</m:t>
                    </m:r>
                  </m:oMath>
                </a14:m>
                <a:r>
                  <a:rPr lang="en-US" b="1" dirty="0"/>
                  <a:t> hash values</a:t>
                </a:r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>
                          <a:latin typeface="Cambria Math" panose="02040503050406030204" pitchFamily="18" charset="0"/>
                        </a:rPr>
                        <m:t>𝒇</m:t>
                      </m:r>
                      <m:r>
                        <a:rPr lang="en-US" b="1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1" i="1">
                          <a:latin typeface="Cambria Math" panose="02040503050406030204" pitchFamily="18" charset="0"/>
                        </a:rPr>
                        <m:t>𝒌</m:t>
                      </m:r>
                      <m:r>
                        <a:rPr lang="en-US" b="1" i="1">
                          <a:latin typeface="Cambria Math" panose="02040503050406030204" pitchFamily="18" charset="0"/>
                        </a:rPr>
                        <m:t>)~</m:t>
                      </m:r>
                      <m:r>
                        <a:rPr lang="en-US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𝑼</m:t>
                      </m:r>
                      <m:r>
                        <a:rPr lang="en-US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r>
                        <a:rPr lang="en-US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𝟎</m:t>
                      </m:r>
                      <m:r>
                        <a:rPr lang="en-US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</m:t>
                      </m:r>
                      <m:r>
                        <a:rPr lang="en-US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𝒎</m:t>
                      </m:r>
                      <m:r>
                        <a:rPr lang="en-US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b="1" dirty="0"/>
              </a:p>
              <a:p>
                <a:pPr lvl="1"/>
                <a:r>
                  <a:rPr lang="en-US" dirty="0"/>
                  <a:t>For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n-US" dirty="0"/>
                  <a:t> length hash table probability of bucket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US" dirty="0"/>
                  <a:t>: </a:t>
                </a:r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P</m:t>
                      </m:r>
                      <m:d>
                        <m:d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>
                              <a:latin typeface="Cambria Math" panose="02040503050406030204" pitchFamily="18" charset="0"/>
                            </a:rPr>
                            <m:t>𝑓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e>
                          </m:d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</m:den>
                      </m:f>
                    </m:oMath>
                  </m:oMathPara>
                </a14:m>
                <a:endParaRPr lang="en-US" dirty="0"/>
              </a:p>
              <a:p>
                <a:pPr lvl="1"/>
                <a:r>
                  <a:rPr lang="en-US" b="1" dirty="0"/>
                  <a:t>Lumpy hash values </a:t>
                </a:r>
                <a:r>
                  <a:rPr lang="en-US" dirty="0"/>
                  <a:t>lead to increased </a:t>
                </a:r>
                <a:r>
                  <a:rPr lang="en-US" b="1" dirty="0"/>
                  <a:t>hash collisions </a:t>
                </a:r>
              </a:p>
              <a:p>
                <a:pPr lvl="1"/>
                <a:r>
                  <a:rPr lang="en-US" dirty="0"/>
                  <a:t>Can verify with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𝜒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dirty="0"/>
                  <a:t> test</a:t>
                </a:r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US" dirty="0"/>
                  <a:t>Resolution method for inevitable hash collisions</a:t>
                </a:r>
              </a:p>
              <a:p>
                <a:pPr lvl="1"/>
                <a:r>
                  <a:rPr lang="en-US" dirty="0"/>
                  <a:t>Probability of collision increases as table fills 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58E6AF3-7615-4BD1-878E-A94C93E98F9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123406"/>
                <a:ext cx="10515600" cy="5470724"/>
              </a:xfrm>
              <a:blipFill>
                <a:blip r:embed="rId2"/>
                <a:stretch>
                  <a:fillRect l="-1217" t="-17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Introduction to Hashing</a:t>
            </a:r>
          </a:p>
        </p:txBody>
      </p:sp>
    </p:spTree>
    <p:extLst>
      <p:ext uri="{BB962C8B-B14F-4D97-AF65-F5344CB8AC3E}">
        <p14:creationId xmlns:p14="http://schemas.microsoft.com/office/powerpoint/2010/main" val="3028992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71966D-4FEB-4376-ED9A-7E24B5D5C4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3B713D0-5220-5B90-B085-A26344BE90C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123406"/>
            <a:ext cx="10515600" cy="547072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What are the properties of a good hash tables?   </a:t>
            </a:r>
          </a:p>
          <a:p>
            <a:pPr marL="514350" indent="-514350">
              <a:buFont typeface="+mj-lt"/>
              <a:buAutoNum type="arabicPeriod" startAt="3"/>
            </a:pPr>
            <a:r>
              <a:rPr lang="en-US" dirty="0"/>
              <a:t>Appropriate table size</a:t>
            </a:r>
          </a:p>
          <a:p>
            <a:pPr lvl="1"/>
            <a:r>
              <a:rPr lang="en-US" dirty="0"/>
              <a:t>Hash functions produce limited range of hash values   </a:t>
            </a:r>
          </a:p>
          <a:p>
            <a:pPr lvl="1"/>
            <a:r>
              <a:rPr lang="en-US" dirty="0"/>
              <a:t>Too large wastes space</a:t>
            </a:r>
          </a:p>
          <a:p>
            <a:pPr lvl="1"/>
            <a:r>
              <a:rPr lang="en-US" dirty="0"/>
              <a:t>Too small leads to collisions</a:t>
            </a:r>
          </a:p>
          <a:p>
            <a:pPr lvl="1"/>
            <a:r>
              <a:rPr lang="en-US" dirty="0"/>
              <a:t>Ideally make hash table resizable - Half or double as needed </a:t>
            </a:r>
          </a:p>
          <a:p>
            <a:pPr marL="514350" indent="-514350">
              <a:buFont typeface="+mj-lt"/>
              <a:buAutoNum type="arabicPeriod" startAt="3"/>
            </a:pPr>
            <a:r>
              <a:rPr lang="en-US" dirty="0"/>
              <a:t>Ability to merge hash tables </a:t>
            </a:r>
          </a:p>
          <a:p>
            <a:pPr lvl="1"/>
            <a:r>
              <a:rPr lang="en-US" dirty="0"/>
              <a:t>Enables parallel processing </a:t>
            </a:r>
          </a:p>
          <a:p>
            <a:pPr lvl="1"/>
            <a:r>
              <a:rPr lang="en-US" dirty="0"/>
              <a:t>Hash multiple data streams </a:t>
            </a:r>
          </a:p>
          <a:p>
            <a:pPr lvl="1"/>
            <a:r>
              <a:rPr lang="en-US" dirty="0"/>
              <a:t>More on this later in the course</a:t>
            </a:r>
          </a:p>
          <a:p>
            <a:endParaRPr lang="en-US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6A499FEE-81C5-CA87-ABD6-FE7C5C870E57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Introduction to Hashing</a:t>
            </a:r>
          </a:p>
        </p:txBody>
      </p:sp>
    </p:spTree>
    <p:extLst>
      <p:ext uri="{BB962C8B-B14F-4D97-AF65-F5344CB8AC3E}">
        <p14:creationId xmlns:p14="http://schemas.microsoft.com/office/powerpoint/2010/main" val="6910317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58E6AF3-7615-4BD1-878E-A94C93E98F9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123406"/>
                <a:ext cx="5431971" cy="5470724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Resolving hash key collisions   </a:t>
                </a:r>
              </a:p>
              <a:p>
                <a:r>
                  <a:rPr lang="en-US" b="1" dirty="0">
                    <a:hlinkClick r:id="rId2"/>
                  </a:rPr>
                  <a:t>Separate chaining</a:t>
                </a:r>
                <a:endParaRPr lang="en-US" b="1" dirty="0"/>
              </a:p>
              <a:p>
                <a:r>
                  <a:rPr lang="en-US" dirty="0"/>
                  <a:t>Key collisions resolved by creating linked list</a:t>
                </a:r>
              </a:p>
              <a:p>
                <a:r>
                  <a:rPr lang="en-US" dirty="0"/>
                  <a:t>Search list in linear time,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𝑂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</m:d>
                  </m:oMath>
                </a14:m>
                <a:endParaRPr lang="en-US" dirty="0"/>
              </a:p>
              <a:p>
                <a:r>
                  <a:rPr lang="en-US" dirty="0"/>
                  <a:t>Efficient if number of collisions,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𝑐</m:t>
                    </m:r>
                  </m:oMath>
                </a14:m>
                <a:r>
                  <a:rPr lang="en-US" dirty="0"/>
                  <a:t>, is small</a:t>
                </a:r>
              </a:p>
              <a:p>
                <a:endParaRPr lang="en-US" dirty="0"/>
              </a:p>
              <a:p>
                <a:pPr lvl="1"/>
                <a:endParaRPr lang="en-US" sz="22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58E6AF3-7615-4BD1-878E-A94C93E98F9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123406"/>
                <a:ext cx="5431971" cy="5470724"/>
              </a:xfrm>
              <a:blipFill>
                <a:blip r:embed="rId3"/>
                <a:stretch>
                  <a:fillRect l="-2242" t="-1782" r="-134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Introduction to Hashing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6546DE2-C49E-49D3-A29B-9D1A03666F3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8905" y="1830373"/>
            <a:ext cx="5550463" cy="341567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D33913C8-5D2D-43C2-B2CE-45A4513ED053}"/>
              </a:ext>
            </a:extLst>
          </p:cNvPr>
          <p:cNvSpPr txBox="1"/>
          <p:nvPr/>
        </p:nvSpPr>
        <p:spPr>
          <a:xfrm>
            <a:off x="6984083" y="5566822"/>
            <a:ext cx="476010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hlinkClick r:id="rId5"/>
              </a:rPr>
              <a:t>Credit: Wikipedia commons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349804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123406"/>
            <a:ext cx="5431971" cy="547072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Resolving hash key collisions   </a:t>
            </a:r>
          </a:p>
          <a:p>
            <a:r>
              <a:rPr lang="en-US" b="1" dirty="0">
                <a:hlinkClick r:id="rId2"/>
              </a:rPr>
              <a:t>Open addressing </a:t>
            </a:r>
            <a:r>
              <a:rPr lang="en-US" dirty="0"/>
              <a:t>methods widely used</a:t>
            </a:r>
          </a:p>
          <a:p>
            <a:r>
              <a:rPr lang="en-US" dirty="0"/>
              <a:t>Key collisions resolved by </a:t>
            </a:r>
            <a:r>
              <a:rPr lang="en-US" b="1" dirty="0"/>
              <a:t>probing</a:t>
            </a:r>
            <a:r>
              <a:rPr lang="en-US" dirty="0"/>
              <a:t> for open bucket</a:t>
            </a:r>
          </a:p>
          <a:p>
            <a:pPr lvl="1"/>
            <a:r>
              <a:rPr lang="en-US" b="1" dirty="0">
                <a:hlinkClick r:id="rId3"/>
              </a:rPr>
              <a:t>Linear probing </a:t>
            </a:r>
            <a:r>
              <a:rPr lang="en-US" dirty="0"/>
              <a:t>– search buckets in order – efficient and widely used</a:t>
            </a:r>
          </a:p>
          <a:p>
            <a:pPr lvl="1"/>
            <a:r>
              <a:rPr lang="en-US" dirty="0"/>
              <a:t>Quadratic probing – increases interval between buckets searched</a:t>
            </a:r>
          </a:p>
          <a:p>
            <a:pPr lvl="1"/>
            <a:r>
              <a:rPr lang="en-US" dirty="0"/>
              <a:t>Double hashing – search for open bucket with second hash</a:t>
            </a:r>
          </a:p>
          <a:p>
            <a:r>
              <a:rPr lang="en-US" dirty="0"/>
              <a:t>Searching colliding keys in less than linear time</a:t>
            </a:r>
          </a:p>
          <a:p>
            <a:pPr marL="0" indent="0">
              <a:buNone/>
            </a:pPr>
            <a:endParaRPr lang="en-US" dirty="0"/>
          </a:p>
          <a:p>
            <a:pPr lvl="1"/>
            <a:endParaRPr lang="en-US" sz="2200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Introduction to Hashing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33913C8-5D2D-43C2-B2CE-45A4513ED053}"/>
              </a:ext>
            </a:extLst>
          </p:cNvPr>
          <p:cNvSpPr txBox="1"/>
          <p:nvPr/>
        </p:nvSpPr>
        <p:spPr>
          <a:xfrm>
            <a:off x="6984083" y="5566822"/>
            <a:ext cx="476010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hlinkClick r:id="rId4"/>
              </a:rPr>
              <a:t>Credit: Wikipedia commons</a:t>
            </a:r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4FCA564-4F03-40D5-BDD4-350BD922B53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57552" y="1182822"/>
            <a:ext cx="5381177" cy="42896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847408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4A905F-17EC-9351-E47A-0E13F73618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4F6F35F-5504-3FF6-7F3F-F41955A601F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123406"/>
                <a:ext cx="10515600" cy="5470724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What are the properties of a good hash function?  </a:t>
                </a:r>
              </a:p>
              <a:p>
                <a:r>
                  <a:rPr lang="en-US" dirty="0"/>
                  <a:t>For key values,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lang="en-US" dirty="0"/>
                  <a:t>, want a </a:t>
                </a:r>
                <a:r>
                  <a:rPr lang="en-US" b="1" dirty="0"/>
                  <a:t>uniform distribution over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𝒎</m:t>
                    </m:r>
                  </m:oMath>
                </a14:m>
                <a:r>
                  <a:rPr lang="en-US" b="1" dirty="0"/>
                  <a:t> hash values</a:t>
                </a:r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>
                          <a:latin typeface="Cambria Math" panose="02040503050406030204" pitchFamily="18" charset="0"/>
                        </a:rPr>
                        <m:t>𝒇</m:t>
                      </m:r>
                      <m:r>
                        <a:rPr lang="en-US" b="1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1" i="1">
                          <a:latin typeface="Cambria Math" panose="02040503050406030204" pitchFamily="18" charset="0"/>
                        </a:rPr>
                        <m:t>𝒌</m:t>
                      </m:r>
                      <m:r>
                        <a:rPr lang="en-US" b="1" i="1">
                          <a:latin typeface="Cambria Math" panose="02040503050406030204" pitchFamily="18" charset="0"/>
                        </a:rPr>
                        <m:t>)~</m:t>
                      </m:r>
                      <m:r>
                        <a:rPr lang="en-US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𝑼</m:t>
                      </m:r>
                      <m:r>
                        <a:rPr lang="en-US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r>
                        <a:rPr lang="en-US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𝟎</m:t>
                      </m:r>
                      <m:r>
                        <a:rPr lang="en-US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</m:t>
                      </m:r>
                      <m:r>
                        <a:rPr lang="en-US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𝒎</m:t>
                      </m:r>
                      <m:r>
                        <a:rPr lang="en-US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b="1" dirty="0"/>
              </a:p>
              <a:p>
                <a:pPr lvl="1"/>
                <a:r>
                  <a:rPr lang="en-US" dirty="0"/>
                  <a:t>For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n-US" dirty="0"/>
                  <a:t> length hash table probability of bucket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US" dirty="0"/>
                  <a:t> being occupied is: </a:t>
                </a:r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P</m:t>
                      </m:r>
                      <m:d>
                        <m:d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>
                              <a:latin typeface="Cambria Math" panose="02040503050406030204" pitchFamily="18" charset="0"/>
                            </a:rPr>
                            <m:t>𝑓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e>
                          </m:d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</m:den>
                      </m:f>
                    </m:oMath>
                  </m:oMathPara>
                </a14:m>
                <a:endParaRPr lang="en-US" dirty="0"/>
              </a:p>
              <a:p>
                <a:pPr lvl="1"/>
                <a:r>
                  <a:rPr lang="en-US" b="1" dirty="0"/>
                  <a:t>Lumpy hash values </a:t>
                </a:r>
                <a:r>
                  <a:rPr lang="en-US" dirty="0"/>
                  <a:t>lead to increased </a:t>
                </a:r>
                <a:r>
                  <a:rPr lang="en-US" b="1" dirty="0"/>
                  <a:t>hash collisions </a:t>
                </a:r>
              </a:p>
              <a:p>
                <a:pPr lvl="1"/>
                <a:r>
                  <a:rPr lang="en-US" dirty="0"/>
                  <a:t>Can verify with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𝜒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dirty="0"/>
                  <a:t> test</a:t>
                </a:r>
              </a:p>
              <a:p>
                <a:r>
                  <a:rPr lang="en-US" dirty="0"/>
                  <a:t>For a uniformly distributed hash function the probability of a hash collision with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 elements filled in the table,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US" dirty="0"/>
                  <a:t>   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𝑚</m:t>
                          </m:r>
                        </m:den>
                      </m:f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4F6F35F-5504-3FF6-7F3F-F41955A601F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123406"/>
                <a:ext cx="10515600" cy="5470724"/>
              </a:xfrm>
              <a:blipFill>
                <a:blip r:embed="rId2"/>
                <a:stretch>
                  <a:fillRect l="-1217" t="-17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9CDD3AB4-A9E3-8623-71E8-A086F9266E92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Introduction to Hashing</a:t>
            </a:r>
          </a:p>
        </p:txBody>
      </p:sp>
    </p:spTree>
    <p:extLst>
      <p:ext uri="{BB962C8B-B14F-4D97-AF65-F5344CB8AC3E}">
        <p14:creationId xmlns:p14="http://schemas.microsoft.com/office/powerpoint/2010/main" val="9186663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5CA56C-70FE-5B2C-A831-909F1DDB9F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2B342E0-F512-00E2-2EB2-0181FBB761A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123406"/>
                <a:ext cx="10515600" cy="5470724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What are the properties of a good hash function?  </a:t>
                </a:r>
              </a:p>
              <a:p>
                <a:r>
                  <a:rPr lang="en-US" dirty="0"/>
                  <a:t>For a uniformly distributed hash function the probability of a hash collision with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 elements filled in the table,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US" dirty="0"/>
                  <a:t>   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𝑚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𝑛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𝑚</m:t>
                          </m:r>
                        </m:den>
                      </m:f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Given table utilization,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/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n-US" dirty="0"/>
                  <a:t>, the number of probes required to find an open bucket is  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𝑁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𝑝𝑟𝑜𝑏𝑠</m:t>
                          </m:r>
                        </m:sub>
                      </m:sSub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≈1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d>
                        <m:d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𝛼</m:t>
                              </m:r>
                            </m:num>
                            <m:den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1−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𝛼</m:t>
                              </m:r>
                            </m:den>
                          </m:f>
                        </m:e>
                      </m:d>
                    </m:oMath>
                  </m:oMathPara>
                </a14:m>
                <a:endParaRPr lang="en-US" dirty="0"/>
              </a:p>
              <a:p>
                <a:pPr marL="457200" lvl="1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2B342E0-F512-00E2-2EB2-0181FBB761A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123406"/>
                <a:ext cx="10515600" cy="5470724"/>
              </a:xfrm>
              <a:blipFill>
                <a:blip r:embed="rId2"/>
                <a:stretch>
                  <a:fillRect l="-1217" t="-17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6CA76E0F-11D1-BAC3-B65E-D210BD3050AB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Introduction to Hashing</a:t>
            </a:r>
          </a:p>
        </p:txBody>
      </p:sp>
    </p:spTree>
    <p:extLst>
      <p:ext uri="{BB962C8B-B14F-4D97-AF65-F5344CB8AC3E}">
        <p14:creationId xmlns:p14="http://schemas.microsoft.com/office/powerpoint/2010/main" val="3952651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027B62-95A2-A33F-3E97-DA8CBA75DE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93FE2C5-A1AE-9949-3815-87F58D10222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123406"/>
                <a:ext cx="4313791" cy="5470724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What are the properties of a good hash function?  </a:t>
                </a:r>
              </a:p>
              <a:p>
                <a:r>
                  <a:rPr lang="en-US" dirty="0"/>
                  <a:t>Given table utilization,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/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n-US" dirty="0"/>
                  <a:t>, the number of probes required to find an open bucket is  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𝑁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𝑝𝑟𝑜𝑏𝑠</m:t>
                          </m:r>
                        </m:sub>
                      </m:sSub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≈1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d>
                        <m:d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𝛼</m:t>
                              </m:r>
                            </m:num>
                            <m:den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1−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𝛼</m:t>
                              </m:r>
                            </m:den>
                          </m:f>
                        </m:e>
                      </m:d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Complexity of probing increases rapidly as table fills</a:t>
                </a:r>
              </a:p>
              <a:p>
                <a:pPr marL="457200" lvl="1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93FE2C5-A1AE-9949-3815-87F58D10222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123406"/>
                <a:ext cx="4313791" cy="5470724"/>
              </a:xfrm>
              <a:blipFill>
                <a:blip r:embed="rId2"/>
                <a:stretch>
                  <a:fillRect l="-2970" t="-1782" r="-410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C4AA09B5-0045-DC0F-0835-D4290DB1F551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Introduction to Hashing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ABBAD6E-1AA4-B7BC-6C7C-7CC29E528EC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64592" y="1036018"/>
            <a:ext cx="4953435" cy="5645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81721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887113-4FF5-4C8C-6DD2-6ED943D7E0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FE4D97-C525-0D5F-DBA4-E2E62A9E450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sz="4400" dirty="0"/>
              <a:t>Summary</a:t>
            </a:r>
          </a:p>
        </p:txBody>
      </p:sp>
    </p:spTree>
    <p:extLst>
      <p:ext uri="{BB962C8B-B14F-4D97-AF65-F5344CB8AC3E}">
        <p14:creationId xmlns:p14="http://schemas.microsoft.com/office/powerpoint/2010/main" val="2665533874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Data mining is the science of </a:t>
            </a:r>
            <a:r>
              <a:rPr lang="en-US" b="1" dirty="0"/>
              <a:t>knowledge discovery</a:t>
            </a:r>
            <a:r>
              <a:rPr lang="en-US" dirty="0"/>
              <a:t> using data </a:t>
            </a:r>
          </a:p>
          <a:p>
            <a:r>
              <a:rPr lang="en-US" dirty="0"/>
              <a:t>Data mining uses </a:t>
            </a:r>
            <a:r>
              <a:rPr lang="en-US" b="1" dirty="0"/>
              <a:t>massive data sets</a:t>
            </a:r>
            <a:r>
              <a:rPr lang="en-US" dirty="0"/>
              <a:t>!</a:t>
            </a:r>
          </a:p>
          <a:p>
            <a:pPr lvl="1"/>
            <a:r>
              <a:rPr lang="en-US" dirty="0"/>
              <a:t>Manage massive data with key-values pairs</a:t>
            </a:r>
          </a:p>
          <a:p>
            <a:pPr lvl="1"/>
            <a:r>
              <a:rPr lang="en-US" dirty="0"/>
              <a:t>Hashing keys can reduce storge and retrieval times</a:t>
            </a:r>
          </a:p>
          <a:p>
            <a:r>
              <a:rPr lang="en-US" dirty="0"/>
              <a:t>Knowledge discovery requires </a:t>
            </a:r>
            <a:r>
              <a:rPr lang="en-US" b="1" dirty="0"/>
              <a:t>inference</a:t>
            </a:r>
          </a:p>
          <a:p>
            <a:pPr lvl="1"/>
            <a:r>
              <a:rPr lang="en-US" dirty="0"/>
              <a:t>Inference for complex data must control false discovery rate</a:t>
            </a:r>
          </a:p>
          <a:p>
            <a:pPr lvl="1"/>
            <a:r>
              <a:rPr lang="en-US" dirty="0"/>
              <a:t>Must limit Type II error with FDR controls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Key Points</a:t>
            </a:r>
          </a:p>
        </p:txBody>
      </p:sp>
    </p:spTree>
    <p:extLst>
      <p:ext uri="{BB962C8B-B14F-4D97-AF65-F5344CB8AC3E}">
        <p14:creationId xmlns:p14="http://schemas.microsoft.com/office/powerpoint/2010/main" val="305343522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22654</TotalTime>
  <Words>3473</Words>
  <Application>Microsoft Office PowerPoint</Application>
  <PresentationFormat>Widescreen</PresentationFormat>
  <Paragraphs>496</Paragraphs>
  <Slides>55</Slides>
  <Notes>1</Notes>
  <HiddenSlides>2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55</vt:i4>
      </vt:variant>
    </vt:vector>
  </HeadingPairs>
  <TitlesOfParts>
    <vt:vector size="64" baseType="lpstr">
      <vt:lpstr>Arial</vt:lpstr>
      <vt:lpstr>Calibri</vt:lpstr>
      <vt:lpstr>Calibri Light</vt:lpstr>
      <vt:lpstr>Cambria Math</vt:lpstr>
      <vt:lpstr>Google Sans</vt:lpstr>
      <vt:lpstr>Rubik</vt:lpstr>
      <vt:lpstr>Segoe UI</vt:lpstr>
      <vt:lpstr>Segoe UI Light</vt:lpstr>
      <vt:lpstr>Office Theme</vt:lpstr>
      <vt:lpstr>CSCI E-108 Data Mining, Discovery and Exploration Introduction and Pitfalls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Dimensions of Data Mining  </vt:lpstr>
      <vt:lpstr>About This Course</vt:lpstr>
      <vt:lpstr>About your Instructor: Steve Elston</vt:lpstr>
      <vt:lpstr>About your TA: Jacqueline Hardy</vt:lpstr>
      <vt:lpstr>About your TA: Eric Trucksess</vt:lpstr>
      <vt:lpstr>PowerPoint Presentation</vt:lpstr>
      <vt:lpstr>PowerPoint Presentation</vt:lpstr>
      <vt:lpstr>PowerPoint Presentation</vt:lpstr>
      <vt:lpstr>PowerPoint Presentation</vt:lpstr>
      <vt:lpstr>Main topics in this course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Foundations of Large-Scale Data-Mining</vt:lpstr>
      <vt:lpstr>PowerPoint Presentation</vt:lpstr>
      <vt:lpstr>Data Management with Key-Value Pairs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Introduction to Hashing</vt:lpstr>
      <vt:lpstr>PowerPoint Presentation</vt:lpstr>
      <vt:lpstr>PowerPoint Presentation</vt:lpstr>
      <vt:lpstr>PowerPoint Presentation</vt:lpstr>
      <vt:lpstr>PowerPoint Presentation</vt:lpstr>
      <vt:lpstr>Hash Functions</vt:lpstr>
      <vt:lpstr>PowerPoint Presentation</vt:lpstr>
      <vt:lpstr>PowerPoint Presentation</vt:lpstr>
      <vt:lpstr>PowerPoint Presentation</vt:lpstr>
      <vt:lpstr>Hash Collisions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Summary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CSCI E-82a Probabilistic Programming and AI Introduction</dc:title>
  <dc:creator>Stephen Elston</dc:creator>
  <cp:lastModifiedBy>Stephen Elston</cp:lastModifiedBy>
  <cp:revision>514</cp:revision>
  <cp:lastPrinted>2019-09-03T23:18:19Z</cp:lastPrinted>
  <dcterms:created xsi:type="dcterms:W3CDTF">2019-08-02T23:14:29Z</dcterms:created>
  <dcterms:modified xsi:type="dcterms:W3CDTF">2026-06-16T14:39:09Z</dcterms:modified>
</cp:coreProperties>
</file>