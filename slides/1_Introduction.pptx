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56" r:id="rId2"/>
    <p:sldId id="383" r:id="rId3"/>
    <p:sldId id="257" r:id="rId4"/>
    <p:sldId id="354" r:id="rId5"/>
    <p:sldId id="353" r:id="rId6"/>
    <p:sldId id="356" r:id="rId7"/>
    <p:sldId id="782" r:id="rId8"/>
    <p:sldId id="712" r:id="rId9"/>
    <p:sldId id="288" r:id="rId10"/>
    <p:sldId id="733" r:id="rId11"/>
    <p:sldId id="732" r:id="rId12"/>
    <p:sldId id="724" r:id="rId13"/>
    <p:sldId id="397" r:id="rId14"/>
    <p:sldId id="718" r:id="rId15"/>
    <p:sldId id="783" r:id="rId16"/>
    <p:sldId id="786" r:id="rId17"/>
    <p:sldId id="723" r:id="rId18"/>
    <p:sldId id="396" r:id="rId19"/>
    <p:sldId id="400" r:id="rId20"/>
    <p:sldId id="352" r:id="rId21"/>
    <p:sldId id="388" r:id="rId22"/>
    <p:sldId id="721" r:id="rId23"/>
    <p:sldId id="402" r:id="rId24"/>
    <p:sldId id="381" r:id="rId25"/>
    <p:sldId id="722" r:id="rId26"/>
    <p:sldId id="395" r:id="rId27"/>
    <p:sldId id="725" r:id="rId28"/>
    <p:sldId id="401" r:id="rId29"/>
    <p:sldId id="713" r:id="rId30"/>
    <p:sldId id="387" r:id="rId31"/>
    <p:sldId id="720" r:id="rId32"/>
    <p:sldId id="784" r:id="rId33"/>
    <p:sldId id="382" r:id="rId34"/>
    <p:sldId id="357" r:id="rId35"/>
    <p:sldId id="385" r:id="rId36"/>
    <p:sldId id="359" r:id="rId37"/>
    <p:sldId id="727" r:id="rId38"/>
    <p:sldId id="386" r:id="rId39"/>
    <p:sldId id="714" r:id="rId40"/>
    <p:sldId id="360" r:id="rId41"/>
    <p:sldId id="731" r:id="rId42"/>
    <p:sldId id="374" r:id="rId43"/>
    <p:sldId id="375" r:id="rId44"/>
    <p:sldId id="738" r:id="rId45"/>
    <p:sldId id="377" r:id="rId46"/>
    <p:sldId id="729" r:id="rId47"/>
    <p:sldId id="730" r:id="rId48"/>
    <p:sldId id="739" r:id="rId49"/>
    <p:sldId id="376" r:id="rId50"/>
    <p:sldId id="728" r:id="rId51"/>
    <p:sldId id="379" r:id="rId52"/>
    <p:sldId id="380" r:id="rId53"/>
    <p:sldId id="742" r:id="rId54"/>
    <p:sldId id="743" r:id="rId55"/>
    <p:sldId id="744" r:id="rId56"/>
    <p:sldId id="785" r:id="rId57"/>
    <p:sldId id="740" r:id="rId58"/>
    <p:sldId id="384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8" y="1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0629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en.wikipedia.org/wiki/Hash_table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Most data mining is </a:t>
            </a:r>
            <a:r>
              <a:rPr lang="en-US" b="1" dirty="0"/>
              <a:t>unsupervised </a:t>
            </a:r>
          </a:p>
          <a:p>
            <a:pPr lvl="1"/>
            <a:r>
              <a:rPr lang="en-US" dirty="0"/>
              <a:t>If we had known labels we could use supervised ML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Dimensions of Data Mining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Scalability is a key consideration </a:t>
            </a:r>
            <a:r>
              <a:rPr lang="en-US" dirty="0">
                <a:latin typeface="+mn-lt"/>
              </a:rPr>
              <a:t>when dealing with massive datasets!</a:t>
            </a:r>
          </a:p>
          <a:p>
            <a:r>
              <a:rPr lang="en-US" dirty="0">
                <a:latin typeface="+mn-lt"/>
              </a:rPr>
              <a:t>Scalability requires tradeoffs between three factors</a:t>
            </a:r>
          </a:p>
          <a:p>
            <a:pPr lvl="1"/>
            <a:r>
              <a:rPr lang="en-US" dirty="0">
                <a:latin typeface="+mn-lt"/>
              </a:rPr>
              <a:t>Low memory use</a:t>
            </a:r>
          </a:p>
          <a:p>
            <a:pPr lvl="1"/>
            <a:r>
              <a:rPr lang="en-US" dirty="0">
                <a:latin typeface="+mn-lt"/>
              </a:rPr>
              <a:t>Low computational complexity</a:t>
            </a:r>
          </a:p>
          <a:p>
            <a:pPr lvl="1"/>
            <a:r>
              <a:rPr lang="en-US" dirty="0">
                <a:latin typeface="+mn-lt"/>
              </a:rPr>
              <a:t>Accuracy of results</a:t>
            </a:r>
          </a:p>
          <a:p>
            <a:r>
              <a:rPr lang="en-US" dirty="0">
                <a:latin typeface="+mn-lt"/>
              </a:rPr>
              <a:t>Must </a:t>
            </a:r>
            <a:r>
              <a:rPr lang="en-US" b="1" dirty="0">
                <a:latin typeface="+mn-lt"/>
              </a:rPr>
              <a:t>accept approximate results </a:t>
            </a:r>
            <a:r>
              <a:rPr lang="en-US" dirty="0">
                <a:latin typeface="+mn-lt"/>
              </a:rPr>
              <a:t>for massive scalability, low memory and complexity   </a:t>
            </a:r>
          </a:p>
          <a:p>
            <a:r>
              <a:rPr lang="en-US" dirty="0">
                <a:latin typeface="+mn-lt"/>
              </a:rPr>
              <a:t>LLMs have low scalability </a:t>
            </a:r>
          </a:p>
          <a:p>
            <a:pPr lvl="1"/>
            <a:r>
              <a:rPr lang="en-US" dirty="0">
                <a:latin typeface="+mn-lt"/>
              </a:rPr>
              <a:t>Slow</a:t>
            </a:r>
          </a:p>
          <a:p>
            <a:pPr lvl="1"/>
            <a:r>
              <a:rPr lang="en-US" dirty="0">
                <a:latin typeface="+mn-lt"/>
              </a:rPr>
              <a:t>Expensive</a:t>
            </a:r>
          </a:p>
          <a:p>
            <a:pPr lvl="1"/>
            <a:r>
              <a:rPr lang="en-US" dirty="0">
                <a:latin typeface="+mn-lt"/>
              </a:rPr>
              <a:t>Accuracy?? – hard to quantify 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TA: Eric </a:t>
            </a:r>
            <a:r>
              <a:rPr lang="en-US" dirty="0" err="1">
                <a:latin typeface="+mn-lt"/>
              </a:rPr>
              <a:t>Trucksess</a:t>
            </a:r>
            <a:endParaRPr lang="en-US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095916"/>
            <a:ext cx="10515600" cy="4538867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Patent attorney focused on the chemical arts, particularly pharmaceuticals, solid state devices and polymeric coatings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Founder/architect of </a:t>
            </a:r>
            <a:r>
              <a:rPr lang="en-US" sz="2933" dirty="0" err="1">
                <a:cs typeface="Arial" panose="020B0604020202020204" pitchFamily="34" charset="0"/>
              </a:rPr>
              <a:t>HasHave</a:t>
            </a:r>
            <a:r>
              <a:rPr lang="en-US" sz="2933" dirty="0">
                <a:cs typeface="Arial" panose="020B0604020202020204" pitchFamily="34" charset="0"/>
              </a:rPr>
              <a:t>, formerly an online bartering site which facilitated the exchange of goods and services amongst member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Counsel to </a:t>
            </a:r>
            <a:r>
              <a:rPr lang="en-US" sz="2933" dirty="0" err="1">
                <a:cs typeface="Arial" panose="020B0604020202020204" pitchFamily="34" charset="0"/>
              </a:rPr>
              <a:t>RocketFuel</a:t>
            </a:r>
            <a:r>
              <a:rPr lang="en-US" sz="2933" dirty="0">
                <a:cs typeface="Arial" panose="020B0604020202020204" pitchFamily="34" charset="0"/>
              </a:rPr>
              <a:t>, an early-generation targeted marketing firm that applied ML principles in online marketing campaigns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Currently, consultant to a Dubai-based horse racing betting platform assisting in the collection, analysis and digestion of racing data</a:t>
            </a:r>
          </a:p>
        </p:txBody>
      </p:sp>
    </p:spTree>
    <p:extLst>
      <p:ext uri="{BB962C8B-B14F-4D97-AF65-F5344CB8AC3E}">
        <p14:creationId xmlns:p14="http://schemas.microsoft.com/office/powerpoint/2010/main" val="2028118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for massive datasets 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</a:t>
            </a:r>
            <a:r>
              <a:rPr lang="en-US" b="1" dirty="0"/>
              <a:t>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online and infinite or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CF8BA-E77D-C360-AD5B-2CB98FDCA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722482C5-08B3-A90B-94B0-26B76C9150F3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A58A67-EE46-2F4C-3457-22DB787F6AD6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484FE-4881-3835-B8E6-5EB721D74315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F4665-3B44-EC27-8017-63E9AAA04CB1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C8FAA9-78A8-E1CB-4EE1-8C4AA2B9313B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05B6-04C8-5532-70BF-8921F993525F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DF74A6A-43A3-532A-27C0-C25A4F8EBA58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2D2F7-0D25-9291-81E1-B95A85194ECD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FA9D0A-8D01-9127-4D33-1A9F6023056A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109C88A7-820F-F45D-06B9-AC6695899726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A544B-C64D-C26D-379D-546D41202910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24B6E8-EE62-D057-75D7-D8EF7E5CA802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8CF822-5DC8-788F-175C-7F3FAAECF89C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60E78D0-AC72-D4B1-530C-9DBE1AAF53B3}"/>
              </a:ext>
            </a:extLst>
          </p:cNvPr>
          <p:cNvSpPr/>
          <p:nvPr/>
        </p:nvSpPr>
        <p:spPr>
          <a:xfrm>
            <a:off x="6408020" y="5184729"/>
            <a:ext cx="2038966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5B69D8-949F-A5E1-038A-D7B3D5FE6133}"/>
              </a:ext>
            </a:extLst>
          </p:cNvPr>
          <p:cNvSpPr/>
          <p:nvPr/>
        </p:nvSpPr>
        <p:spPr>
          <a:xfrm>
            <a:off x="9100598" y="5172609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940847-DA8B-171F-5B55-F8479F15B7D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554ECB53-B003-A605-50EF-1194C4E34DE8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46166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0CA8-F246-D25E-AEB4-FF2EAA59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6756E-8F78-AACA-E637-4E5F98E3A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9786F116-C61A-EF87-1D9A-3C1848FAD4BB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61FC16-0D71-48D6-3153-B5B870F2D088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C8A127-7421-03C2-E792-96131AA908D1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727B61-9452-BD73-E54B-C84CB425B143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9FBF6A-FC8A-B135-25F7-875F755739D8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987E0C-5A66-5719-01D3-420E2D78C0B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E85F025-A246-CDCD-DD0C-9E612E9B26F4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B15ED-5464-98E7-9051-875021799A74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89D265-DA24-3EC7-FE84-F48CCC1837A3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AB4D9DB2-E8B7-4F1D-E860-F2AD00D99130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F52434-9868-798E-70EF-71A6EC9E5661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27B5DF-8D47-1003-9138-36BB0ACC1DE9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91CFD9D-CF7E-4959-5A17-17F2C919787A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6CDD49-8319-CF77-74A6-A001FD008EB5}"/>
              </a:ext>
            </a:extLst>
          </p:cNvPr>
          <p:cNvSpPr/>
          <p:nvPr/>
        </p:nvSpPr>
        <p:spPr>
          <a:xfrm>
            <a:off x="6408020" y="5181547"/>
            <a:ext cx="2038966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FA6190-3519-18D7-4DC6-3AE9F5323611}"/>
              </a:ext>
            </a:extLst>
          </p:cNvPr>
          <p:cNvSpPr/>
          <p:nvPr/>
        </p:nvSpPr>
        <p:spPr>
          <a:xfrm>
            <a:off x="9062948" y="5166367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83853F-A8B1-FFC7-2974-7FB192052C02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CC00380-3ACC-792E-4339-EA61C9C9951D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Unsupervised learning dominates the topics in this course</a:t>
            </a:r>
          </a:p>
        </p:txBody>
      </p:sp>
    </p:spTree>
    <p:extLst>
      <p:ext uri="{BB962C8B-B14F-4D97-AF65-F5344CB8AC3E}">
        <p14:creationId xmlns:p14="http://schemas.microsoft.com/office/powerpoint/2010/main" val="108516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 animBg="1"/>
      <p:bldP spid="7" grpId="0" animBg="1"/>
      <p:bldP spid="8" grpId="0" animBg="1"/>
      <p:bldP spid="10" grpId="0" animBg="1"/>
      <p:bldP spid="11" grpId="0"/>
      <p:bldP spid="12" grpId="0" animBg="1"/>
      <p:bldP spid="14" grpId="0" animBg="1"/>
      <p:bldP spid="15" grpId="0"/>
      <p:bldP spid="16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99031" y="437762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9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Tatyana Boland: </a:t>
            </a:r>
            <a:r>
              <a:rPr lang="en-US" dirty="0">
                <a:latin typeface="Google Sans"/>
              </a:rPr>
              <a:t>tab840 at </a:t>
            </a:r>
            <a:r>
              <a:rPr lang="en-US" b="0" i="0" dirty="0">
                <a:effectLst/>
                <a:latin typeface="Google Sans"/>
              </a:rPr>
              <a:t>g dot Harvard dot </a:t>
            </a:r>
            <a:r>
              <a:rPr lang="en-US" b="0" i="0" dirty="0" err="1">
                <a:effectLst/>
                <a:latin typeface="Google Sans"/>
              </a:rPr>
              <a:t>edu</a:t>
            </a:r>
            <a:r>
              <a:rPr lang="en-US" dirty="0">
                <a:latin typeface="Google Sans"/>
              </a:rPr>
              <a:t>, or </a:t>
            </a:r>
            <a:r>
              <a:rPr lang="en-US" dirty="0" err="1">
                <a:latin typeface="Google Sans"/>
              </a:rPr>
              <a:t>Waree</a:t>
            </a:r>
            <a:r>
              <a:rPr lang="en-US" dirty="0">
                <a:latin typeface="Google Sans"/>
              </a:rPr>
              <a:t> </a:t>
            </a:r>
            <a:r>
              <a:rPr lang="en-US" dirty="0" err="1">
                <a:latin typeface="Google Sans"/>
              </a:rPr>
              <a:t>Porprommart</a:t>
            </a:r>
            <a:r>
              <a:rPr lang="en-US" dirty="0">
                <a:latin typeface="Google Sans"/>
              </a:rPr>
              <a:t>: wap185 at g dot Harvard dot </a:t>
            </a:r>
            <a:r>
              <a:rPr lang="en-US" dirty="0" err="1">
                <a:latin typeface="Google Sans"/>
              </a:rPr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pPr lvl="1"/>
            <a:r>
              <a:rPr lang="en-US" dirty="0"/>
              <a:t>Not a data mining topic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Properties of Hash Functions and </a:t>
            </a:r>
            <a:br>
              <a:rPr lang="en-US" sz="4400" dirty="0"/>
            </a:br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91A7B-B292-CB80-547D-AB4239419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How can we do better than this?   </a:t>
                </a:r>
              </a:p>
              <a:p>
                <a:r>
                  <a:rPr lang="en-US" dirty="0"/>
                  <a:t>We can concatenate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</a:t>
                </a:r>
              </a:p>
              <a:p>
                <a:r>
                  <a:rPr lang="en-US" dirty="0"/>
                  <a:t>The probability of a hash collisions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independent hashes with n elements filled becomes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More on this approach later in the course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31C620-67AE-577D-4AF0-75C4C5C080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169431E3-9330-1D27-19B1-308FC2EB554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52357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22770</TotalTime>
  <Words>3745</Words>
  <Application>Microsoft Office PowerPoint</Application>
  <PresentationFormat>Widescreen</PresentationFormat>
  <Paragraphs>539</Paragraphs>
  <Slides>58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7" baseType="lpstr">
      <vt:lpstr>Arial</vt:lpstr>
      <vt:lpstr>Calibri</vt:lpstr>
      <vt:lpstr>Calibri Light</vt:lpstr>
      <vt:lpstr>Cambria Math</vt:lpstr>
      <vt:lpstr>Google Sans</vt:lpstr>
      <vt:lpstr>Rubik</vt:lpstr>
      <vt:lpstr>Segoe UI</vt:lpstr>
      <vt:lpstr>Segoe UI Light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 of Data Mining  </vt:lpstr>
      <vt:lpstr>About This Course</vt:lpstr>
      <vt:lpstr>About your Instructor: Steve Elston</vt:lpstr>
      <vt:lpstr>About your TA: Jacqueline Hardy</vt:lpstr>
      <vt:lpstr>About your TA: Eric Trucksess</vt:lpstr>
      <vt:lpstr>PowerPoint Presentation</vt:lpstr>
      <vt:lpstr>PowerPoint Presentation</vt:lpstr>
      <vt:lpstr>PowerPoint Presentation</vt:lpstr>
      <vt:lpstr>Main topics in this course 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PowerPoint Presentation</vt:lpstr>
      <vt:lpstr>Data Management with Key-Value Pairs</vt:lpstr>
      <vt:lpstr>Main topics in this course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Properties of Hash Functions and  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521</cp:revision>
  <cp:lastPrinted>2019-09-03T23:18:19Z</cp:lastPrinted>
  <dcterms:created xsi:type="dcterms:W3CDTF">2019-08-02T23:14:29Z</dcterms:created>
  <dcterms:modified xsi:type="dcterms:W3CDTF">2026-06-18T15:14:45Z</dcterms:modified>
</cp:coreProperties>
</file>