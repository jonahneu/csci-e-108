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383" r:id="rId3"/>
    <p:sldId id="257" r:id="rId4"/>
    <p:sldId id="354" r:id="rId5"/>
    <p:sldId id="353" r:id="rId6"/>
    <p:sldId id="356" r:id="rId7"/>
    <p:sldId id="712" r:id="rId8"/>
    <p:sldId id="288" r:id="rId9"/>
    <p:sldId id="732" r:id="rId10"/>
    <p:sldId id="733" r:id="rId11"/>
    <p:sldId id="724" r:id="rId12"/>
    <p:sldId id="397" r:id="rId13"/>
    <p:sldId id="718" r:id="rId14"/>
    <p:sldId id="723" r:id="rId15"/>
    <p:sldId id="396" r:id="rId16"/>
    <p:sldId id="400" r:id="rId17"/>
    <p:sldId id="352" r:id="rId18"/>
    <p:sldId id="388" r:id="rId19"/>
    <p:sldId id="721" r:id="rId20"/>
    <p:sldId id="402" r:id="rId21"/>
    <p:sldId id="381" r:id="rId22"/>
    <p:sldId id="722" r:id="rId23"/>
    <p:sldId id="395" r:id="rId24"/>
    <p:sldId id="725" r:id="rId25"/>
    <p:sldId id="401" r:id="rId26"/>
    <p:sldId id="713" r:id="rId27"/>
    <p:sldId id="387" r:id="rId28"/>
    <p:sldId id="720" r:id="rId29"/>
    <p:sldId id="382" r:id="rId30"/>
    <p:sldId id="357" r:id="rId31"/>
    <p:sldId id="385" r:id="rId32"/>
    <p:sldId id="359" r:id="rId33"/>
    <p:sldId id="727" r:id="rId34"/>
    <p:sldId id="386" r:id="rId35"/>
    <p:sldId id="714" r:id="rId36"/>
    <p:sldId id="360" r:id="rId37"/>
    <p:sldId id="731" r:id="rId38"/>
    <p:sldId id="374" r:id="rId39"/>
    <p:sldId id="375" r:id="rId40"/>
    <p:sldId id="376" r:id="rId41"/>
    <p:sldId id="728" r:id="rId42"/>
    <p:sldId id="377" r:id="rId43"/>
    <p:sldId id="729" r:id="rId44"/>
    <p:sldId id="730" r:id="rId45"/>
    <p:sldId id="378" r:id="rId46"/>
    <p:sldId id="379" r:id="rId47"/>
    <p:sldId id="380" r:id="rId48"/>
    <p:sldId id="38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9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sh_collision" TargetMode="External"/><Relationship Id="rId2" Type="http://schemas.openxmlformats.org/officeDocument/2006/relationships/hyperlink" Target="https://en.wikipedia.org/wiki/Birthday_proble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hyperlink" Target="https://en.wikipedia.org/wiki/Hash_table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E39-E4CD-B6D2-21FE-E3DF31511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i="0" dirty="0">
                <a:solidFill>
                  <a:srgbClr val="000000"/>
                </a:solidFill>
                <a:effectLst/>
                <a:latin typeface="+mn-lt"/>
              </a:rPr>
              <a:t>Teaching Assistant: Tatyana Boland</a:t>
            </a:r>
            <a:br>
              <a:rPr lang="en-US" sz="4000" b="1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</a:b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949B7-1683-2432-EC26-A7F815D02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MBA in Finance from Texas A&amp;M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MLA from Harvard Extension School in Sustainability &amp; Environmental Management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BA in Political Science from University of Washington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Program manager for cloud products at Nvidia</a:t>
            </a:r>
            <a:endParaRPr lang="en-US" b="0" i="0" dirty="0">
              <a:solidFill>
                <a:srgbClr val="000000"/>
              </a:solidFill>
              <a:effectLst/>
              <a:latin typeface="Gill Sans MT" panose="020B05020201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Gill Sans MT" panose="020B0502020104020203" pitchFamily="34" charset="0"/>
              </a:rPr>
              <a:t>Worked previously at Oracle OCI as Principal Technical Program Manager in Physical Networking team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L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oves playing the piano and playing and with my cats</a:t>
            </a:r>
            <a:endParaRPr lang="en-US" b="0" i="0" dirty="0">
              <a:solidFill>
                <a:srgbClr val="000000"/>
              </a:solidFill>
              <a:effectLst/>
              <a:latin typeface="Gill Sans MT" panose="020B0502020104020203" pitchFamily="34" charset="0"/>
            </a:endParaRP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415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0216" y="296446"/>
            <a:ext cx="9625781" cy="796413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341667" y="1345984"/>
            <a:ext cx="723162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ALM Student in Data Science at 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BS in Biology from Mount Saint Mary’s 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Disaster planning and information at the American Red Cross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Substitute teaching K-12 part-time for STEM subjects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Worked as a research technician at the California Institute of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Interned at the UCLA School of Engineering, researching a 6-degree-of-freedom robotic arm hand signal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Hobbies: Surfing, Hiking, Camping, Gardening, Zumba, Lying down and watching TV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6827" y="115529"/>
            <a:ext cx="2583057" cy="3429000"/>
          </a:xfrm>
          <a:prstGeom prst="rect">
            <a:avLst/>
          </a:prstGeom>
        </p:spPr>
      </p:pic>
      <p:pic>
        <p:nvPicPr>
          <p:cNvPr id="8" name="Picture 7" descr="A papaya tree with a white fence&#10;&#10;AI-generated content may be incorrect.">
            <a:extLst>
              <a:ext uri="{FF2B5EF4-FFF2-40B4-BE49-F238E27FC236}">
                <a16:creationId xmlns:a16="http://schemas.microsoft.com/office/drawing/2014/main" id="{19B050A4-3A39-40C6-8D62-D5CF77015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6586" y="3313471"/>
            <a:ext cx="257175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/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code. </a:t>
            </a:r>
          </a:p>
          <a:p>
            <a:pPr lvl="1"/>
            <a:r>
              <a:rPr lang="en-US" dirty="0"/>
              <a:t>Required: Include the exact prompt(s) used to generate the code in your submission 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 (e.g., "Code generated using [Tool Name] with prompt: ‘...’")</a:t>
            </a:r>
          </a:p>
          <a:p>
            <a:pPr lvl="1"/>
            <a:r>
              <a:rPr lang="en-US" dirty="0"/>
              <a:t>An exception message is a valid prompt 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function?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for the table or required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399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Hash key collisions   </a:t>
                </a:r>
              </a:p>
              <a:p>
                <a:r>
                  <a:rPr lang="en-US" dirty="0"/>
                  <a:t>Are hash keys always unique? </a:t>
                </a:r>
              </a:p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Consider a </a:t>
                </a:r>
                <a:r>
                  <a:rPr lang="en-US" b="1" dirty="0"/>
                  <a:t>division hash </a:t>
                </a:r>
                <a:r>
                  <a:rPr lang="en-US" dirty="0"/>
                  <a:t>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Table is limited to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But even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there is a probability of key collisions </a:t>
                </a:r>
              </a:p>
              <a:p>
                <a:pPr lvl="1"/>
                <a:r>
                  <a:rPr lang="en-US" dirty="0"/>
                  <a:t>Probabilities are derived analogous to the famous </a:t>
                </a:r>
                <a:r>
                  <a:rPr lang="en-US" b="1" dirty="0">
                    <a:hlinkClick r:id="rId2"/>
                  </a:rPr>
                  <a:t>birthday problem</a:t>
                </a:r>
                <a:endParaRPr lang="en-US" b="1" dirty="0"/>
              </a:p>
              <a:p>
                <a:r>
                  <a:rPr lang="en-US" dirty="0"/>
                  <a:t>Need a </a:t>
                </a:r>
                <a:r>
                  <a:rPr lang="en-US" b="1" dirty="0">
                    <a:hlinkClick r:id="rId3"/>
                  </a:rPr>
                  <a:t>hash collision </a:t>
                </a:r>
                <a:r>
                  <a:rPr lang="en-US" b="1" dirty="0"/>
                  <a:t>resolution </a:t>
                </a:r>
                <a:r>
                  <a:rPr lang="en-US" dirty="0"/>
                  <a:t>mechanism</a:t>
                </a:r>
              </a:p>
              <a:p>
                <a:pPr lvl="1"/>
                <a:r>
                  <a:rPr lang="en-US" dirty="0"/>
                  <a:t>Many algorithms in use</a:t>
                </a:r>
              </a:p>
              <a:p>
                <a:pPr lvl="1"/>
                <a:r>
                  <a:rPr lang="en-US" dirty="0"/>
                  <a:t>Chaining</a:t>
                </a:r>
              </a:p>
              <a:p>
                <a:pPr lvl="1"/>
                <a:r>
                  <a:rPr lang="en-US" dirty="0"/>
                  <a:t>Open Addressing</a:t>
                </a:r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4"/>
                <a:stretch>
                  <a:fillRect l="-1217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3194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21845</TotalTime>
  <Words>3218</Words>
  <Application>Microsoft Office PowerPoint</Application>
  <PresentationFormat>Widescreen</PresentationFormat>
  <Paragraphs>454</Paragraphs>
  <Slides>48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Gill Sans MT</vt:lpstr>
      <vt:lpstr>Google Sans</vt:lpstr>
      <vt:lpstr>Rubik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About This Course</vt:lpstr>
      <vt:lpstr>About your Instructor: Steve Elston</vt:lpstr>
      <vt:lpstr>Teaching Assistant: Tatyana Boland </vt:lpstr>
      <vt:lpstr>Teaching Assistant: Waree Protprommart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488</cp:revision>
  <cp:lastPrinted>2019-09-03T23:18:19Z</cp:lastPrinted>
  <dcterms:created xsi:type="dcterms:W3CDTF">2019-08-02T23:14:29Z</dcterms:created>
  <dcterms:modified xsi:type="dcterms:W3CDTF">2026-05-13T03:13:19Z</dcterms:modified>
</cp:coreProperties>
</file>