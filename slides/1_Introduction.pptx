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56" r:id="rId2"/>
    <p:sldId id="383" r:id="rId3"/>
    <p:sldId id="257" r:id="rId4"/>
    <p:sldId id="354" r:id="rId5"/>
    <p:sldId id="353" r:id="rId6"/>
    <p:sldId id="356" r:id="rId7"/>
    <p:sldId id="712" r:id="rId8"/>
    <p:sldId id="288" r:id="rId9"/>
    <p:sldId id="733" r:id="rId10"/>
    <p:sldId id="732" r:id="rId11"/>
    <p:sldId id="724" r:id="rId12"/>
    <p:sldId id="397" r:id="rId13"/>
    <p:sldId id="718" r:id="rId14"/>
    <p:sldId id="723" r:id="rId15"/>
    <p:sldId id="396" r:id="rId16"/>
    <p:sldId id="400" r:id="rId17"/>
    <p:sldId id="352" r:id="rId18"/>
    <p:sldId id="388" r:id="rId19"/>
    <p:sldId id="721" r:id="rId20"/>
    <p:sldId id="402" r:id="rId21"/>
    <p:sldId id="381" r:id="rId22"/>
    <p:sldId id="722" r:id="rId23"/>
    <p:sldId id="395" r:id="rId24"/>
    <p:sldId id="725" r:id="rId25"/>
    <p:sldId id="401" r:id="rId26"/>
    <p:sldId id="713" r:id="rId27"/>
    <p:sldId id="387" r:id="rId28"/>
    <p:sldId id="720" r:id="rId29"/>
    <p:sldId id="382" r:id="rId30"/>
    <p:sldId id="357" r:id="rId31"/>
    <p:sldId id="385" r:id="rId32"/>
    <p:sldId id="359" r:id="rId33"/>
    <p:sldId id="727" r:id="rId34"/>
    <p:sldId id="386" r:id="rId35"/>
    <p:sldId id="714" r:id="rId36"/>
    <p:sldId id="360" r:id="rId37"/>
    <p:sldId id="731" r:id="rId38"/>
    <p:sldId id="374" r:id="rId39"/>
    <p:sldId id="375" r:id="rId40"/>
    <p:sldId id="738" r:id="rId41"/>
    <p:sldId id="377" r:id="rId42"/>
    <p:sldId id="729" r:id="rId43"/>
    <p:sldId id="730" r:id="rId44"/>
    <p:sldId id="739" r:id="rId45"/>
    <p:sldId id="376" r:id="rId46"/>
    <p:sldId id="728" r:id="rId47"/>
    <p:sldId id="379" r:id="rId48"/>
    <p:sldId id="380" r:id="rId49"/>
    <p:sldId id="742" r:id="rId50"/>
    <p:sldId id="743" r:id="rId51"/>
    <p:sldId id="744" r:id="rId52"/>
    <p:sldId id="740" r:id="rId53"/>
    <p:sldId id="384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8" y="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ABF1A-8818-4472-8518-E71DC7B5D2F7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3E01E3-981B-4CB5-81ED-65C622C255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9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6250-30B3-4440-B9CA-6CD89E842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C1D0E-F224-4DFC-B433-DDBEB8C695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B76A-D542-4D6C-BC2A-9D5525ACB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8C785-3E64-4E7E-98F2-79BBF457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E6299-FBED-46F4-A1D3-99A064499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465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BD87-9830-4447-9A42-E70DBB0CC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C98E-45EF-45BA-976D-099EB8DA4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D6A0C5-2664-4154-9CF3-A792DC121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AC4A1-FBD2-4367-957A-935CAAE2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64DFC-3150-4671-90C7-B0ED2580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6213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C3A94-80B1-417B-9F26-32486FD2D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A8258-5E15-4DA3-BD35-585D0038D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EBE7A-D80D-4349-88B2-488A581A4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7FBCF-C82F-4BD2-B20D-9D01D88DB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0174E-D45E-4CF5-9882-29D8EA21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17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F22EE-D66A-4384-8FBF-AE9323A94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57945-5425-4641-9A85-0724E3322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02B06-7F24-4709-A7AF-77EA3DFE84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8399-DF95-481E-B8B8-A3FB0B007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25B9E1-00EB-4CA2-BED7-78A81538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63F716-9AC8-4D98-BEDB-857C00CA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080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B6F69-C710-4DA5-A3D7-E6403026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6E246-481C-4B82-9AC7-7B2337E20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678B35-3306-4056-8457-1A8FC16700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A9624D-F9B2-45D2-98DB-ECB59C206F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3D4646-020E-4233-86AE-5CE820054B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528D41-33BB-4B17-8AC2-2106431BD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23C38A-C699-4D18-AD06-A4621D5B6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85F1D2-3D93-4037-AA24-D8751337F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71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7CF31-9AA8-4EE2-B6AB-127334CFB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6D4985-EFCD-400D-BB88-D85EDEF05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B81C6-D770-48CD-BD8A-B8935628C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B224D0-B6EF-4B28-A989-BDD4DC864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92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83803B-67FD-4A0B-A677-3220D1F8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936502-1388-404F-94BD-9C3DA6852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CC76E-3282-460C-84B6-4D6B6352F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10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AA7C-2267-4709-A257-F71289FF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713FF-D5EF-4654-B7CC-C038F73F5B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D6FAF7-52CF-49B6-9F27-9EA41739A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C308E-739E-4EA4-BA18-D65202608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5D6736-265F-4B5C-9E70-82FD5861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C94178-C5F6-4C8A-9D8D-DBBB0A8C4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79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1154-F589-4F2B-8983-57CFD1945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8E3F7B-7142-4D69-A621-2DD003311C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99B56F-F30F-4059-82A6-F673E4744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90AC98-FA8A-42C8-A825-FBC2E537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DC8D-DB4A-47BC-999E-80DD8D8F0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A44B-31A1-41AB-A99A-BD9A91A19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881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16EB-AEB6-4719-A991-E1B5007A8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601E9-1673-4529-8E82-4D2328D5E0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9D1A43-853D-4BDC-B5E3-CFE7AE2A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D5CC1-1AD5-4BB9-A44A-D37C157B7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1E12C-CA02-4235-90BB-F6DF59610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41E0C5-28B4-4838-8E2B-1BD5D4C259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560D2-302D-4DD4-AA00-D9CEA6D23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2E13BB-C370-4AE0-9CBF-7E1E19FB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A31BF-7266-4BEB-918B-ADC21C630A6F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BF809-056F-4465-8874-D899218E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69C55-4EC9-48A6-88D7-99BED028F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6715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A17A88-BD75-4F29-BB74-11A272EE5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912DA4-722C-4380-AB08-EEA9F8D9F5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934F8-D72B-4919-920A-B3D01C666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4A31BF-7266-4BEB-918B-ADC21C630A6F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9615E-63DF-436B-99F6-DD30AF2FE3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725D5-D116-40CF-A73B-BD45313E6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75037E-CA28-4CDA-B6A5-29C59D4F28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ephenElston/CSCI-E-108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hyperlink" Target="http://mmd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hop.elsevier.com/books/data-mining/han/978-0-12-811760-6" TargetMode="External"/><Relationship Id="rId5" Type="http://schemas.openxmlformats.org/officeDocument/2006/relationships/hyperlink" Target="https://www.manning.com/books/advanced-algorithms-and-data-structures" TargetMode="External"/><Relationship Id="rId4" Type="http://schemas.openxmlformats.org/officeDocument/2006/relationships/hyperlink" Target="https://www.manning.com/books/algorithms-and-data-structures-for-massive-datasets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data_structures_algorithms/hash_data_structure.htm" TargetMode="External"/><Relationship Id="rId2" Type="http://schemas.openxmlformats.org/officeDocument/2006/relationships/hyperlink" Target="https://www.tutorialspoint.com/Hash-Functions-and-Hash-Table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hyperlink" Target="https://en.wikipedia.org/wiki/Hash_table#Separate_chain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Hash_table" TargetMode="External"/><Relationship Id="rId4" Type="http://schemas.openxmlformats.org/officeDocument/2006/relationships/image" Target="../media/image1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near_probing" TargetMode="External"/><Relationship Id="rId2" Type="http://schemas.openxmlformats.org/officeDocument/2006/relationships/hyperlink" Target="https://en.wikipedia.org/wiki/Open_addressing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hyperlink" Target="https://en.wikipedia.org/wiki/Hash_table" TargetMode="Externa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78294" y="1122363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E-108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and Pitfalls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9681F1-0F76-4799-8371-9552B4345F58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 2024, 2025, 2026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data mining? </a:t>
            </a:r>
          </a:p>
          <a:p>
            <a:pPr lvl="1"/>
            <a:r>
              <a:rPr lang="en-US" dirty="0"/>
              <a:t>Data mining is the science of </a:t>
            </a:r>
            <a:r>
              <a:rPr lang="en-US" b="1" dirty="0"/>
              <a:t>knowledge discovery  </a:t>
            </a:r>
          </a:p>
          <a:p>
            <a:r>
              <a:rPr lang="en-US" dirty="0"/>
              <a:t>About this course  </a:t>
            </a:r>
          </a:p>
          <a:p>
            <a:r>
              <a:rPr lang="en-US" dirty="0"/>
              <a:t>Data mining often uses massive data sets</a:t>
            </a:r>
          </a:p>
          <a:p>
            <a:pPr lvl="1"/>
            <a:r>
              <a:rPr lang="en-US" dirty="0"/>
              <a:t>Manage massive data with key-values pairs </a:t>
            </a:r>
          </a:p>
          <a:p>
            <a:pPr lvl="1"/>
            <a:r>
              <a:rPr lang="en-US" dirty="0"/>
              <a:t>Efficient management of key-value pairs requires hashing 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Overview of Today’s Lesson</a:t>
            </a:r>
          </a:p>
        </p:txBody>
      </p:sp>
    </p:spTree>
    <p:extLst>
      <p:ext uri="{BB962C8B-B14F-4D97-AF65-F5344CB8AC3E}">
        <p14:creationId xmlns:p14="http://schemas.microsoft.com/office/powerpoint/2010/main" val="248242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is the science of </a:t>
            </a:r>
            <a:r>
              <a:rPr lang="en-US" b="1" dirty="0"/>
              <a:t>actionable knowledge discovery</a:t>
            </a:r>
            <a:r>
              <a:rPr lang="en-US" dirty="0"/>
              <a:t> from inferences on massive datasets </a:t>
            </a:r>
            <a:endParaRPr lang="en-US" b="1" dirty="0"/>
          </a:p>
          <a:p>
            <a:r>
              <a:rPr lang="en-US" dirty="0"/>
              <a:t>Known as </a:t>
            </a:r>
            <a:r>
              <a:rPr lang="en-US" b="1" dirty="0"/>
              <a:t>knowledge discovery and data mining (KDD) </a:t>
            </a:r>
          </a:p>
          <a:p>
            <a:r>
              <a:rPr lang="en-US" dirty="0"/>
              <a:t>Data mining is an </a:t>
            </a:r>
            <a:r>
              <a:rPr lang="en-US" b="1" dirty="0"/>
              <a:t>iterative process of exploration   </a:t>
            </a:r>
          </a:p>
          <a:p>
            <a:r>
              <a:rPr lang="en-US" dirty="0"/>
              <a:t>Exploration is difficult   </a:t>
            </a:r>
          </a:p>
          <a:p>
            <a:pPr lvl="1"/>
            <a:r>
              <a:rPr lang="en-US" dirty="0"/>
              <a:t>Many steps</a:t>
            </a:r>
          </a:p>
          <a:p>
            <a:pPr lvl="1"/>
            <a:r>
              <a:rPr lang="en-US" dirty="0"/>
              <a:t>Only some attempts work </a:t>
            </a:r>
          </a:p>
          <a:p>
            <a:r>
              <a:rPr lang="en-US" b="1" dirty="0">
                <a:solidFill>
                  <a:srgbClr val="C00000"/>
                </a:solidFill>
              </a:rPr>
              <a:t>Try lots of ideas, fail fast, keep the ones that work! </a:t>
            </a:r>
          </a:p>
          <a:p>
            <a:pPr lvl="1"/>
            <a:r>
              <a:rPr lang="en-US" b="1" dirty="0"/>
              <a:t>Keep this in mind when doing your graduate project!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11542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mining (KDD) is generally performed at </a:t>
            </a:r>
            <a:r>
              <a:rPr lang="en-US" b="1" dirty="0"/>
              <a:t>large scale </a:t>
            </a:r>
          </a:p>
          <a:p>
            <a:r>
              <a:rPr lang="en-US" dirty="0"/>
              <a:t>Dataset size has grown nearly exponentially  </a:t>
            </a:r>
          </a:p>
          <a:p>
            <a:r>
              <a:rPr lang="en-US" dirty="0"/>
              <a:t>More importantly, </a:t>
            </a:r>
            <a:r>
              <a:rPr lang="en-US" b="1" dirty="0"/>
              <a:t>dataset and problem complexity has grown</a:t>
            </a:r>
          </a:p>
          <a:p>
            <a:r>
              <a:rPr lang="en-US" dirty="0"/>
              <a:t>Data mining is at the intersection of several subjects   </a:t>
            </a:r>
          </a:p>
          <a:p>
            <a:pPr lvl="1"/>
            <a:r>
              <a:rPr lang="en-US" b="1" dirty="0"/>
              <a:t>Statistics:</a:t>
            </a:r>
            <a:r>
              <a:rPr lang="en-US" dirty="0"/>
              <a:t> What of significance can we learn from the data? </a:t>
            </a:r>
          </a:p>
          <a:p>
            <a:pPr lvl="1"/>
            <a:r>
              <a:rPr lang="en-US" b="1" dirty="0"/>
              <a:t>Mathematics:</a:t>
            </a:r>
            <a:r>
              <a:rPr lang="en-US" dirty="0"/>
              <a:t> How do we represent a model of the data as, say, a graph?</a:t>
            </a:r>
          </a:p>
          <a:p>
            <a:pPr lvl="1"/>
            <a:r>
              <a:rPr lang="en-US" b="1" dirty="0"/>
              <a:t>Algorithms: </a:t>
            </a:r>
            <a:r>
              <a:rPr lang="en-US" dirty="0"/>
              <a:t>How do we efficiently find important relationships in massive datasets? </a:t>
            </a:r>
          </a:p>
          <a:p>
            <a:pPr lvl="1"/>
            <a:r>
              <a:rPr lang="en-US" b="1" dirty="0"/>
              <a:t>Technology:</a:t>
            </a:r>
            <a:r>
              <a:rPr lang="en-US" dirty="0"/>
              <a:t> How do we manage and process massive datasets? </a:t>
            </a: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data mining?</a:t>
            </a:r>
          </a:p>
        </p:txBody>
      </p:sp>
    </p:spTree>
    <p:extLst>
      <p:ext uri="{BB962C8B-B14F-4D97-AF65-F5344CB8AC3E}">
        <p14:creationId xmlns:p14="http://schemas.microsoft.com/office/powerpoint/2010/main" val="6998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5640542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Is this old diagram representative?  - e.g. Fayyad et.al. 1996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375" y="1651145"/>
            <a:ext cx="8488232" cy="440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350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7458"/>
            <a:ext cx="10515600" cy="48593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/>
              <a:t>What is the KDD process?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KDD process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A10601-345E-4A04-878A-28FFF7150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10" y="2168435"/>
            <a:ext cx="6121998" cy="31768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BC99F37-3CFD-4C3B-8CF6-AEDE11B202D2}"/>
              </a:ext>
            </a:extLst>
          </p:cNvPr>
          <p:cNvSpPr txBox="1">
            <a:spLocks/>
          </p:cNvSpPr>
          <p:nvPr/>
        </p:nvSpPr>
        <p:spPr>
          <a:xfrm>
            <a:off x="6787461" y="1217458"/>
            <a:ext cx="5116757" cy="53108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Is this diagram representative of today’s process?</a:t>
            </a:r>
          </a:p>
          <a:p>
            <a:r>
              <a:rPr lang="en-US" dirty="0"/>
              <a:t>Perhaps or perhaps not?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Must have a clear idea of goal!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Multiple complex data sources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Need to perform in-depth exploration of data and inferences at every step!!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Storage of intermediate results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Privacy and deidentification </a:t>
            </a:r>
          </a:p>
          <a:p>
            <a:r>
              <a:rPr lang="en-US" dirty="0"/>
              <a:t>KDD is an iterative process</a:t>
            </a:r>
          </a:p>
          <a:p>
            <a:pPr lvl="1"/>
            <a:r>
              <a:rPr lang="en-US" sz="2800" dirty="0"/>
              <a:t>The results of one step informs updates to previous steps  </a:t>
            </a:r>
          </a:p>
          <a:p>
            <a:pPr lvl="1"/>
            <a:r>
              <a:rPr lang="en-US" sz="2800" dirty="0"/>
              <a:t>Process is a series of overlapping cycles </a:t>
            </a:r>
          </a:p>
        </p:txBody>
      </p:sp>
    </p:spTree>
    <p:extLst>
      <p:ext uri="{BB962C8B-B14F-4D97-AF65-F5344CB8AC3E}">
        <p14:creationId xmlns:p14="http://schemas.microsoft.com/office/powerpoint/2010/main" val="2657309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About This Course</a:t>
            </a:r>
          </a:p>
        </p:txBody>
      </p:sp>
    </p:spTree>
    <p:extLst>
      <p:ext uri="{BB962C8B-B14F-4D97-AF65-F5344CB8AC3E}">
        <p14:creationId xmlns:p14="http://schemas.microsoft.com/office/powerpoint/2010/main" val="88229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Instructor: Steve Elston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478300"/>
            <a:ext cx="10515600" cy="4814924"/>
          </a:xfrm>
        </p:spPr>
        <p:txBody>
          <a:bodyPr>
            <a:normAutofit lnSpcReduction="10000"/>
          </a:bodyPr>
          <a:lstStyle/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Instructor for Harvard since 2017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Data science consultant with several decades of experience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Lead team that commercialized Bell Labs S, now open-source R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Company co-founder and held executive positions in several industries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Creator of multiple edX courses, author of books and articles 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Inventor/coinventor on 5 issued patents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Consulting clients include Microsoft, SAP, Lloyds Banking Group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BS, physics and math (minor), University of New Mexico</a:t>
            </a:r>
          </a:p>
          <a:p>
            <a:pPr>
              <a:spcBef>
                <a:spcPts val="300"/>
              </a:spcBef>
            </a:pPr>
            <a:r>
              <a:rPr lang="en-US" sz="2800" b="0" dirty="0">
                <a:cs typeface="Arial" panose="020B0604020202020204" pitchFamily="34" charset="0"/>
              </a:rPr>
              <a:t>MS and PhD, geophysics, Princeton University – John von Neuman Supercomputing Fellow</a:t>
            </a:r>
          </a:p>
          <a:p>
            <a:pPr>
              <a:spcBef>
                <a:spcPts val="300"/>
              </a:spcBef>
            </a:pPr>
            <a:r>
              <a:rPr lang="en-US" dirty="0">
                <a:cs typeface="Arial" panose="020B0604020202020204" pitchFamily="34" charset="0"/>
              </a:rPr>
              <a:t>I love anything to do with natural history and the outdoors</a:t>
            </a:r>
            <a:endParaRPr lang="en-US" sz="2800" b="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992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CE2B5B-E165-AFE7-3BF6-9F765556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About your TA: Jacqueline Hardy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53D9F3-C1CB-AE91-44FA-A9A184CF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E" dirty="0"/>
              <a:t>Bachelor’s Degree from Harvard Extension School (2015-2018)</a:t>
            </a:r>
          </a:p>
          <a:p>
            <a:pPr lvl="1"/>
            <a:r>
              <a:rPr lang="en-DE" dirty="0"/>
              <a:t>Field of Study: International Relations</a:t>
            </a:r>
          </a:p>
          <a:p>
            <a:pPr lvl="1"/>
            <a:r>
              <a:rPr lang="en-DE" dirty="0"/>
              <a:t>Minors: Quantitative Analysis &amp; Government</a:t>
            </a:r>
          </a:p>
          <a:p>
            <a:r>
              <a:rPr lang="en-DE" dirty="0"/>
              <a:t>Master’s Degree from Harvard Extension School (2022-2024)</a:t>
            </a:r>
          </a:p>
          <a:p>
            <a:pPr lvl="1"/>
            <a:r>
              <a:rPr lang="en-DE" dirty="0"/>
              <a:t>Field of Study: Data Science</a:t>
            </a:r>
          </a:p>
          <a:p>
            <a:r>
              <a:rPr lang="en-DE" dirty="0"/>
              <a:t>LG Electronics: </a:t>
            </a:r>
          </a:p>
          <a:p>
            <a:pPr lvl="1"/>
            <a:r>
              <a:rPr lang="en-DE" dirty="0"/>
              <a:t>Product Specialist </a:t>
            </a:r>
          </a:p>
          <a:p>
            <a:pPr lvl="1"/>
            <a:r>
              <a:rPr lang="en-DE" dirty="0"/>
              <a:t>Go-to-Market Manager</a:t>
            </a:r>
          </a:p>
          <a:p>
            <a:pPr lvl="1"/>
            <a:r>
              <a:rPr lang="en-DE" dirty="0"/>
              <a:t>Data Analytics Specialist </a:t>
            </a:r>
          </a:p>
          <a:p>
            <a:r>
              <a:rPr lang="en-DE" dirty="0"/>
              <a:t>SharkNinja </a:t>
            </a:r>
          </a:p>
          <a:p>
            <a:pPr lvl="1"/>
            <a:r>
              <a:rPr lang="en-DE" dirty="0"/>
              <a:t>Strategic Planning and Operations Data Scientist </a:t>
            </a:r>
          </a:p>
          <a:p>
            <a:r>
              <a:rPr lang="en-DE" dirty="0"/>
              <a:t>Building my own Data Science Consulting Firm</a:t>
            </a:r>
          </a:p>
        </p:txBody>
      </p:sp>
    </p:spTree>
    <p:extLst>
      <p:ext uri="{BB962C8B-B14F-4D97-AF65-F5344CB8AC3E}">
        <p14:creationId xmlns:p14="http://schemas.microsoft.com/office/powerpoint/2010/main" val="2292487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EA3CE-8DB0-40A5-B4A6-AFCE2156C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8657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About your TA: Eric </a:t>
            </a:r>
            <a:r>
              <a:rPr lang="en-US" dirty="0" err="1">
                <a:latin typeface="+mn-lt"/>
              </a:rPr>
              <a:t>Trucksess</a:t>
            </a:r>
            <a:endParaRPr lang="en-US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3134D-F068-4BC9-B038-F3D5CBDDE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105" y="1095916"/>
            <a:ext cx="10515600" cy="4538867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Patent attorney focused on the chemical arts, particularly pharmaceuticals, solid state devices and polymeric coatings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Founder/architect of </a:t>
            </a:r>
            <a:r>
              <a:rPr lang="en-US" sz="2933" dirty="0" err="1">
                <a:cs typeface="Arial" panose="020B0604020202020204" pitchFamily="34" charset="0"/>
              </a:rPr>
              <a:t>HasHave</a:t>
            </a:r>
            <a:r>
              <a:rPr lang="en-US" sz="2933" dirty="0">
                <a:cs typeface="Arial" panose="020B0604020202020204" pitchFamily="34" charset="0"/>
              </a:rPr>
              <a:t>, formerly an online bartering site which facilitated the exchange of goods and services amongst member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Counsel to </a:t>
            </a:r>
            <a:r>
              <a:rPr lang="en-US" sz="2933" dirty="0" err="1">
                <a:cs typeface="Arial" panose="020B0604020202020204" pitchFamily="34" charset="0"/>
              </a:rPr>
              <a:t>RocketFuel</a:t>
            </a:r>
            <a:r>
              <a:rPr lang="en-US" sz="2933" dirty="0">
                <a:cs typeface="Arial" panose="020B0604020202020204" pitchFamily="34" charset="0"/>
              </a:rPr>
              <a:t>, an early-generation targeted marketing firm that applied ML principles in online marketing campaigns</a:t>
            </a:r>
          </a:p>
          <a:p>
            <a:pPr>
              <a:spcBef>
                <a:spcPts val="600"/>
              </a:spcBef>
            </a:pPr>
            <a:r>
              <a:rPr lang="en-US" sz="2933" dirty="0">
                <a:cs typeface="Arial" panose="020B0604020202020204" pitchFamily="34" charset="0"/>
              </a:rPr>
              <a:t>Currently, consultant to a Dubai-based horse racing betting platform assisting in the collection, analysis and digestion of racing data</a:t>
            </a:r>
          </a:p>
        </p:txBody>
      </p:sp>
    </p:spTree>
    <p:extLst>
      <p:ext uri="{BB962C8B-B14F-4D97-AF65-F5344CB8AC3E}">
        <p14:creationId xmlns:p14="http://schemas.microsoft.com/office/powerpoint/2010/main" val="2028118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AD32-5699-EC1B-3B03-D92EF1BF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B0C85-07BA-B000-8199-63349C0E5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Our overarching objective is giving you a deep understand of the algorithms forming the backbone of todays massive scale analytics </a:t>
            </a:r>
            <a:r>
              <a:rPr lang="en-US" b="1" dirty="0"/>
              <a:t> </a:t>
            </a:r>
          </a:p>
          <a:p>
            <a:r>
              <a:rPr lang="en-US" dirty="0"/>
              <a:t>Lean how to work with </a:t>
            </a:r>
            <a:r>
              <a:rPr lang="en-US" b="1" dirty="0"/>
              <a:t>highly scalable analytic KDD methods and algorithms    </a:t>
            </a:r>
          </a:p>
          <a:p>
            <a:pPr lvl="1"/>
            <a:r>
              <a:rPr lang="en-US" dirty="0"/>
              <a:t>Good algorithms have </a:t>
            </a:r>
            <a:r>
              <a:rPr lang="en-US" b="1" dirty="0"/>
              <a:t>long staying power   </a:t>
            </a:r>
          </a:p>
          <a:p>
            <a:pPr lvl="1"/>
            <a:r>
              <a:rPr lang="en-US" dirty="0"/>
              <a:t>Understand algorithm performance analysis</a:t>
            </a:r>
          </a:p>
          <a:p>
            <a:r>
              <a:rPr lang="en-US" dirty="0"/>
              <a:t>Good algorithms are the essential to scaling </a:t>
            </a:r>
          </a:p>
          <a:p>
            <a:pPr lvl="1"/>
            <a:r>
              <a:rPr lang="en-US" dirty="0"/>
              <a:t>Good algorithm can </a:t>
            </a:r>
            <a:r>
              <a:rPr lang="en-US" b="1" dirty="0"/>
              <a:t>scale analysis by orders of magnitude  </a:t>
            </a:r>
          </a:p>
          <a:p>
            <a:pPr lvl="1"/>
            <a:r>
              <a:rPr lang="en-US" dirty="0"/>
              <a:t>Better algorithms beats throwing hardware at the problem </a:t>
            </a:r>
          </a:p>
          <a:p>
            <a:r>
              <a:rPr lang="en-US" dirty="0"/>
              <a:t>Deliberately minimize data engineering required for course </a:t>
            </a:r>
          </a:p>
          <a:p>
            <a:pPr lvl="1"/>
            <a:r>
              <a:rPr lang="en-US" dirty="0"/>
              <a:t>Wide and constantly changing landscape of </a:t>
            </a:r>
            <a:r>
              <a:rPr lang="en-US" i="1" dirty="0"/>
              <a:t>Big Data</a:t>
            </a:r>
            <a:r>
              <a:rPr lang="en-US" dirty="0"/>
              <a:t> platforms</a:t>
            </a:r>
          </a:p>
          <a:p>
            <a:pPr lvl="1"/>
            <a:r>
              <a:rPr lang="en-US" dirty="0"/>
              <a:t>Other Harvard DCE courses explore big data engineering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DBA2B2D-64B5-7A2E-1C31-A4059D780EA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can you gain from this course?</a:t>
            </a:r>
          </a:p>
        </p:txBody>
      </p:sp>
    </p:spTree>
    <p:extLst>
      <p:ext uri="{BB962C8B-B14F-4D97-AF65-F5344CB8AC3E}">
        <p14:creationId xmlns:p14="http://schemas.microsoft.com/office/powerpoint/2010/main" val="3935150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Data mining is </a:t>
            </a:r>
            <a:r>
              <a:rPr lang="en-US" b="1" dirty="0"/>
              <a:t>exploratory</a:t>
            </a:r>
            <a:r>
              <a:rPr lang="en-US" dirty="0"/>
              <a:t> and is often </a:t>
            </a:r>
            <a:r>
              <a:rPr lang="en-US" b="1" dirty="0"/>
              <a:t>Unsupervised  </a:t>
            </a:r>
          </a:p>
          <a:p>
            <a:r>
              <a:rPr lang="en-US" dirty="0"/>
              <a:t>Use algorithms with massive scalability </a:t>
            </a:r>
          </a:p>
          <a:p>
            <a:pPr lvl="1"/>
            <a:r>
              <a:rPr lang="en-US" dirty="0"/>
              <a:t>Key-value management and hashing algorithms </a:t>
            </a:r>
          </a:p>
          <a:p>
            <a:pPr lvl="1"/>
            <a:r>
              <a:rPr lang="en-US" dirty="0"/>
              <a:t>Scalable approximate algorithms analytic algorithms </a:t>
            </a:r>
          </a:p>
          <a:p>
            <a:r>
              <a:rPr lang="en-US" dirty="0"/>
              <a:t>Focus on unsupervised learning</a:t>
            </a:r>
          </a:p>
          <a:p>
            <a:pPr lvl="1"/>
            <a:r>
              <a:rPr lang="en-US" dirty="0"/>
              <a:t>Approximate similarity search algorithms are massively scalable</a:t>
            </a:r>
          </a:p>
          <a:p>
            <a:pPr lvl="1"/>
            <a:r>
              <a:rPr lang="en-US" dirty="0"/>
              <a:t>Ranking for recommenders, web search, RAG algorithms, etc. </a:t>
            </a:r>
          </a:p>
          <a:p>
            <a:pPr lvl="1"/>
            <a:r>
              <a:rPr lang="en-US" dirty="0"/>
              <a:t>Clustering models for exploration of complex data sets</a:t>
            </a:r>
          </a:p>
          <a:p>
            <a:r>
              <a:rPr lang="en-US" dirty="0"/>
              <a:t>Algorithms for infinite data – streaming data </a:t>
            </a:r>
          </a:p>
          <a:p>
            <a:r>
              <a:rPr lang="en-US" dirty="0"/>
              <a:t>Dimensionality reduction algorithms</a:t>
            </a:r>
          </a:p>
          <a:p>
            <a:r>
              <a:rPr lang="en-US" dirty="0"/>
              <a:t>Graphs models</a:t>
            </a:r>
          </a:p>
          <a:p>
            <a:pPr lvl="1"/>
            <a:r>
              <a:rPr lang="en-US" dirty="0"/>
              <a:t>How to apply efficient graph representations and algorithms?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180206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Topics we (mostly) avoid in this course </a:t>
            </a:r>
            <a:endParaRPr lang="en-US" sz="3200" b="1" dirty="0"/>
          </a:p>
          <a:p>
            <a:r>
              <a:rPr lang="en-US" dirty="0"/>
              <a:t>Supervised machine learning</a:t>
            </a:r>
          </a:p>
          <a:p>
            <a:pPr lvl="1"/>
            <a:r>
              <a:rPr lang="en-US" dirty="0"/>
              <a:t>Data mining is focused on exploration and knowledge discovery, not prediction! </a:t>
            </a:r>
          </a:p>
          <a:p>
            <a:pPr lvl="1"/>
            <a:r>
              <a:rPr lang="en-US" dirty="0"/>
              <a:t>Some supervised machine learning is useful in data mining</a:t>
            </a:r>
            <a:endParaRPr lang="en-US" b="1" dirty="0"/>
          </a:p>
          <a:p>
            <a:pPr lvl="1"/>
            <a:r>
              <a:rPr lang="en-US" dirty="0"/>
              <a:t>Supervised machine learning covered in-depth in other DCE courses</a:t>
            </a:r>
          </a:p>
          <a:p>
            <a:r>
              <a:rPr lang="en-US" dirty="0"/>
              <a:t>Most deep learning</a:t>
            </a:r>
          </a:p>
          <a:p>
            <a:pPr lvl="1"/>
            <a:r>
              <a:rPr lang="en-US" dirty="0"/>
              <a:t>Promising deep NN data mining algorithms are emerging  </a:t>
            </a:r>
          </a:p>
          <a:p>
            <a:pPr lvl="1"/>
            <a:r>
              <a:rPr lang="en-US" dirty="0"/>
              <a:t>In some cases, deep NN algorithm provide more accurate results  </a:t>
            </a:r>
          </a:p>
          <a:p>
            <a:pPr lvl="1"/>
            <a:r>
              <a:rPr lang="en-US" dirty="0"/>
              <a:t>But, </a:t>
            </a:r>
            <a:r>
              <a:rPr lang="en-US" b="1" dirty="0"/>
              <a:t>NN algorithms are generally much less scalable!</a:t>
            </a:r>
            <a:endParaRPr lang="en-US" dirty="0"/>
          </a:p>
          <a:p>
            <a:pPr lvl="1"/>
            <a:r>
              <a:rPr lang="en-US" dirty="0"/>
              <a:t>In practice, </a:t>
            </a:r>
            <a:r>
              <a:rPr lang="en-US" b="1" dirty="0"/>
              <a:t>more and better data is usually more important!  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What is the focus of this course?</a:t>
            </a:r>
          </a:p>
        </p:txBody>
      </p:sp>
    </p:spTree>
    <p:extLst>
      <p:ext uri="{BB962C8B-B14F-4D97-AF65-F5344CB8AC3E}">
        <p14:creationId xmlns:p14="http://schemas.microsoft.com/office/powerpoint/2010/main" val="253968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5696D-354D-62CB-0192-21800822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7BCFB8-BA4E-440E-F296-C6B2AAFDF70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How are the topics in this course connected?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3C2DC2-2848-DED5-529E-AA5AC0982CFB}"/>
              </a:ext>
            </a:extLst>
          </p:cNvPr>
          <p:cNvSpPr/>
          <p:nvPr/>
        </p:nvSpPr>
        <p:spPr>
          <a:xfrm>
            <a:off x="3534926" y="5536709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Hashing and K-V pair management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095083-8BEB-8B08-7E66-FDC56E9B749C}"/>
              </a:ext>
            </a:extLst>
          </p:cNvPr>
          <p:cNvSpPr/>
          <p:nvPr/>
        </p:nvSpPr>
        <p:spPr>
          <a:xfrm>
            <a:off x="6030249" y="5536708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Distance and Similarity Metrics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6AE79-4919-8796-C045-45AAD80B8591}"/>
              </a:ext>
            </a:extLst>
          </p:cNvPr>
          <p:cNvSpPr/>
          <p:nvPr/>
        </p:nvSpPr>
        <p:spPr>
          <a:xfrm>
            <a:off x="8404918" y="5536707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Large-Scale Statistics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968DB67-0DA8-A1EC-A865-219CC8E2924A}"/>
              </a:ext>
            </a:extLst>
          </p:cNvPr>
          <p:cNvSpPr/>
          <p:nvPr/>
        </p:nvSpPr>
        <p:spPr>
          <a:xfrm>
            <a:off x="1424242" y="4295126"/>
            <a:ext cx="2110684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10. Dimensionality Reduction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BB2418-B096-6DF9-524E-E46A63BC1B41}"/>
              </a:ext>
            </a:extLst>
          </p:cNvPr>
          <p:cNvSpPr/>
          <p:nvPr/>
        </p:nvSpPr>
        <p:spPr>
          <a:xfrm>
            <a:off x="10250858" y="4341585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Similarity Search and NN Algorithms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EC54F3-DE9D-99B4-64BF-88FC35D43917}"/>
              </a:ext>
            </a:extLst>
          </p:cNvPr>
          <p:cNvSpPr/>
          <p:nvPr/>
        </p:nvSpPr>
        <p:spPr>
          <a:xfrm>
            <a:off x="6025459" y="1162406"/>
            <a:ext cx="1961803" cy="119845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Algorithms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11. Association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A27A3-15C9-D6F9-D488-CA7C0F3325D5}"/>
              </a:ext>
            </a:extLst>
          </p:cNvPr>
          <p:cNvSpPr/>
          <p:nvPr/>
        </p:nvSpPr>
        <p:spPr>
          <a:xfrm>
            <a:off x="3724850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Web/Document Search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368F19E-5C0B-62E5-14AB-6E96C6F326C5}"/>
              </a:ext>
            </a:extLst>
          </p:cNvPr>
          <p:cNvSpPr/>
          <p:nvPr/>
        </p:nvSpPr>
        <p:spPr>
          <a:xfrm>
            <a:off x="8201889" y="1385935"/>
            <a:ext cx="183434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Streaming Algorithms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3CF73E-D779-E0A5-977B-A8C1B10177CB}"/>
              </a:ext>
            </a:extLst>
          </p:cNvPr>
          <p:cNvSpPr/>
          <p:nvPr/>
        </p:nvSpPr>
        <p:spPr>
          <a:xfrm>
            <a:off x="1424241" y="1385932"/>
            <a:ext cx="2085982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Graph and Social Network Analysis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269AD5-F4F6-0FAB-A473-3001BF8F0B95}"/>
              </a:ext>
            </a:extLst>
          </p:cNvPr>
          <p:cNvSpPr/>
          <p:nvPr/>
        </p:nvSpPr>
        <p:spPr>
          <a:xfrm>
            <a:off x="10250858" y="1385934"/>
            <a:ext cx="1738627" cy="9749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9. Clustering Algorithms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84A998-91B5-666C-E6F6-DCDDC35121EC}"/>
              </a:ext>
            </a:extLst>
          </p:cNvPr>
          <p:cNvCxnSpPr>
            <a:cxnSpLocks/>
          </p:cNvCxnSpPr>
          <p:nvPr/>
        </p:nvCxnSpPr>
        <p:spPr>
          <a:xfrm>
            <a:off x="1790007" y="3945774"/>
            <a:ext cx="9809018" cy="82696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4312E4-A6C2-A99F-A49C-758C030D626C}"/>
              </a:ext>
            </a:extLst>
          </p:cNvPr>
          <p:cNvCxnSpPr>
            <a:cxnSpLocks/>
          </p:cNvCxnSpPr>
          <p:nvPr/>
        </p:nvCxnSpPr>
        <p:spPr>
          <a:xfrm>
            <a:off x="1790007" y="3945771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E543F-8175-4E87-9961-D443C0497EBA}"/>
              </a:ext>
            </a:extLst>
          </p:cNvPr>
          <p:cNvCxnSpPr>
            <a:cxnSpLocks/>
          </p:cNvCxnSpPr>
          <p:nvPr/>
        </p:nvCxnSpPr>
        <p:spPr>
          <a:xfrm>
            <a:off x="11612880" y="3987122"/>
            <a:ext cx="0" cy="34935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C82ABB2-A1D1-5DBF-CEE1-86D3F8FF02B8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4404240" y="3987122"/>
            <a:ext cx="0" cy="1549587"/>
          </a:xfrm>
          <a:prstGeom prst="line">
            <a:avLst/>
          </a:prstGeom>
          <a:ln w="19050">
            <a:solidFill>
              <a:schemeClr val="accent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866CD7E-2D66-5C71-8CDD-06786BB045DE}"/>
              </a:ext>
            </a:extLst>
          </p:cNvPr>
          <p:cNvCxnSpPr>
            <a:cxnSpLocks/>
          </p:cNvCxnSpPr>
          <p:nvPr/>
        </p:nvCxnSpPr>
        <p:spPr>
          <a:xfrm flipV="1">
            <a:off x="1790007" y="2394994"/>
            <a:ext cx="0" cy="1550777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BC78BF-A0E4-4286-6C8B-58ADD2AF41AA}"/>
              </a:ext>
            </a:extLst>
          </p:cNvPr>
          <p:cNvCxnSpPr>
            <a:cxnSpLocks/>
          </p:cNvCxnSpPr>
          <p:nvPr/>
        </p:nvCxnSpPr>
        <p:spPr>
          <a:xfrm flipH="1" flipV="1">
            <a:off x="11558847" y="2360859"/>
            <a:ext cx="47106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639F16-021F-6A3B-4FBC-5D0462ABC9C7}"/>
              </a:ext>
            </a:extLst>
          </p:cNvPr>
          <p:cNvCxnSpPr>
            <a:cxnSpLocks/>
          </p:cNvCxnSpPr>
          <p:nvPr/>
        </p:nvCxnSpPr>
        <p:spPr>
          <a:xfrm flipV="1">
            <a:off x="9700954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FB714-AEBF-837A-53F2-BD83D59B23A1}"/>
              </a:ext>
            </a:extLst>
          </p:cNvPr>
          <p:cNvCxnSpPr>
            <a:cxnSpLocks/>
          </p:cNvCxnSpPr>
          <p:nvPr/>
        </p:nvCxnSpPr>
        <p:spPr>
          <a:xfrm flipV="1">
            <a:off x="769758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0B36884-7468-A7E0-65A3-A9211FBDF344}"/>
              </a:ext>
            </a:extLst>
          </p:cNvPr>
          <p:cNvCxnSpPr>
            <a:cxnSpLocks/>
          </p:cNvCxnSpPr>
          <p:nvPr/>
        </p:nvCxnSpPr>
        <p:spPr>
          <a:xfrm flipV="1">
            <a:off x="5533507" y="2360859"/>
            <a:ext cx="0" cy="1626263"/>
          </a:xfrm>
          <a:prstGeom prst="line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CD146D8-6FBF-807D-7DB6-AFB4CCCF6780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9336579" cy="62435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7BC23A8-D0F6-E440-0D62-E59C8DD09EF4}"/>
              </a:ext>
            </a:extLst>
          </p:cNvPr>
          <p:cNvCxnSpPr>
            <a:cxnSpLocks/>
          </p:cNvCxnSpPr>
          <p:nvPr/>
        </p:nvCxnSpPr>
        <p:spPr>
          <a:xfrm flipV="1">
            <a:off x="1995053" y="2360859"/>
            <a:ext cx="0" cy="12870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A7314B7-3D8B-DC71-3E73-D36CB8E0A023}"/>
              </a:ext>
            </a:extLst>
          </p:cNvPr>
          <p:cNvCxnSpPr>
            <a:cxnSpLocks/>
          </p:cNvCxnSpPr>
          <p:nvPr/>
        </p:nvCxnSpPr>
        <p:spPr>
          <a:xfrm>
            <a:off x="1995053" y="3616683"/>
            <a:ext cx="0" cy="67844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8BAF0BF-5D7F-1AA8-A1C1-5A4979DFB3E5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6890182" y="3647900"/>
            <a:ext cx="9381" cy="1888808"/>
          </a:xfrm>
          <a:prstGeom prst="line">
            <a:avLst/>
          </a:prstGeom>
          <a:ln w="19050">
            <a:solidFill>
              <a:schemeClr val="accent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CB447D4-587D-1C9A-5C3A-E1E2681ECD5F}"/>
              </a:ext>
            </a:extLst>
          </p:cNvPr>
          <p:cNvCxnSpPr>
            <a:cxnSpLocks/>
          </p:cNvCxnSpPr>
          <p:nvPr/>
        </p:nvCxnSpPr>
        <p:spPr>
          <a:xfrm>
            <a:off x="11331632" y="3679118"/>
            <a:ext cx="0" cy="67803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AD38C7F-A95B-9722-3EB2-F0EFB4774481}"/>
              </a:ext>
            </a:extLst>
          </p:cNvPr>
          <p:cNvCxnSpPr>
            <a:cxnSpLocks/>
          </p:cNvCxnSpPr>
          <p:nvPr/>
        </p:nvCxnSpPr>
        <p:spPr>
          <a:xfrm flipV="1">
            <a:off x="11331632" y="2360859"/>
            <a:ext cx="0" cy="1318259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EC8C89E-F09D-F837-779F-9BF3E060EEAD}"/>
              </a:ext>
            </a:extLst>
          </p:cNvPr>
          <p:cNvCxnSpPr>
            <a:cxnSpLocks/>
          </p:cNvCxnSpPr>
          <p:nvPr/>
        </p:nvCxnSpPr>
        <p:spPr>
          <a:xfrm flipV="1">
            <a:off x="7419109" y="2360859"/>
            <a:ext cx="0" cy="1333612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F39D1B-B36C-621E-C8B7-B70DE37DD1C9}"/>
              </a:ext>
            </a:extLst>
          </p:cNvPr>
          <p:cNvCxnSpPr>
            <a:cxnSpLocks/>
          </p:cNvCxnSpPr>
          <p:nvPr/>
        </p:nvCxnSpPr>
        <p:spPr>
          <a:xfrm flipV="1">
            <a:off x="5191299" y="2360859"/>
            <a:ext cx="0" cy="133361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2800C7-969F-1806-862D-2AFF6CE99925}"/>
              </a:ext>
            </a:extLst>
          </p:cNvPr>
          <p:cNvCxnSpPr>
            <a:cxnSpLocks/>
            <a:stCxn id="8" idx="1"/>
            <a:endCxn id="7" idx="3"/>
          </p:cNvCxnSpPr>
          <p:nvPr/>
        </p:nvCxnSpPr>
        <p:spPr>
          <a:xfrm flipH="1">
            <a:off x="7768876" y="6024171"/>
            <a:ext cx="636042" cy="1"/>
          </a:xfrm>
          <a:prstGeom prst="line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8E056-DC8C-68B8-53C4-730EF45B56A5}"/>
              </a:ext>
            </a:extLst>
          </p:cNvPr>
          <p:cNvCxnSpPr>
            <a:cxnSpLocks/>
          </p:cNvCxnSpPr>
          <p:nvPr/>
        </p:nvCxnSpPr>
        <p:spPr>
          <a:xfrm>
            <a:off x="2255519" y="3349410"/>
            <a:ext cx="8783782" cy="61378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8A21FEF-607F-FE2A-8AFE-863FC850EF45}"/>
              </a:ext>
            </a:extLst>
          </p:cNvPr>
          <p:cNvCxnSpPr>
            <a:cxnSpLocks/>
          </p:cNvCxnSpPr>
          <p:nvPr/>
        </p:nvCxnSpPr>
        <p:spPr>
          <a:xfrm flipH="1" flipV="1">
            <a:off x="9232668" y="3410788"/>
            <a:ext cx="41563" cy="2120762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4ED33F5-4C4B-20F8-0025-AE7D7EC6B8CE}"/>
              </a:ext>
            </a:extLst>
          </p:cNvPr>
          <p:cNvCxnSpPr>
            <a:cxnSpLocks/>
          </p:cNvCxnSpPr>
          <p:nvPr/>
        </p:nvCxnSpPr>
        <p:spPr>
          <a:xfrm>
            <a:off x="9191859" y="5010669"/>
            <a:ext cx="1018190" cy="1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F563E98-9F10-86B5-7A38-A4DC3F8D226F}"/>
              </a:ext>
            </a:extLst>
          </p:cNvPr>
          <p:cNvCxnSpPr>
            <a:cxnSpLocks/>
          </p:cNvCxnSpPr>
          <p:nvPr/>
        </p:nvCxnSpPr>
        <p:spPr>
          <a:xfrm flipH="1" flipV="1">
            <a:off x="3514144" y="4964212"/>
            <a:ext cx="5739305" cy="4645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0D1E9E-17F4-D241-B88B-E1207EF8167E}"/>
              </a:ext>
            </a:extLst>
          </p:cNvPr>
          <p:cNvCxnSpPr>
            <a:cxnSpLocks/>
          </p:cNvCxnSpPr>
          <p:nvPr/>
        </p:nvCxnSpPr>
        <p:spPr>
          <a:xfrm flipV="1">
            <a:off x="11025447" y="2360859"/>
            <a:ext cx="0" cy="1049929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4D1D8D-40CC-4966-2F2D-A0F4F9F3F604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7006361" y="2360862"/>
            <a:ext cx="26212" cy="1013795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FAB035D-F65C-5770-074C-7E06DD366086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747530" y="2360859"/>
            <a:ext cx="20311" cy="988548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1D00F7A-84C3-3975-6C01-3FA99F66FA63}"/>
              </a:ext>
            </a:extLst>
          </p:cNvPr>
          <p:cNvCxnSpPr>
            <a:cxnSpLocks/>
          </p:cNvCxnSpPr>
          <p:nvPr/>
        </p:nvCxnSpPr>
        <p:spPr>
          <a:xfrm flipV="1">
            <a:off x="2272144" y="2360859"/>
            <a:ext cx="0" cy="1015402"/>
          </a:xfrm>
          <a:prstGeom prst="line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FE2AF664-E6A7-4C39-D2B3-80CDEC737773}"/>
              </a:ext>
            </a:extLst>
          </p:cNvPr>
          <p:cNvCxnSpPr>
            <a:cxnSpLocks/>
          </p:cNvCxnSpPr>
          <p:nvPr/>
        </p:nvCxnSpPr>
        <p:spPr>
          <a:xfrm flipH="1" flipV="1">
            <a:off x="10773296" y="3027664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987D9015-CFA0-53E2-D048-34EFE52BAB8E}"/>
              </a:ext>
            </a:extLst>
          </p:cNvPr>
          <p:cNvCxnSpPr>
            <a:cxnSpLocks/>
          </p:cNvCxnSpPr>
          <p:nvPr/>
        </p:nvCxnSpPr>
        <p:spPr>
          <a:xfrm>
            <a:off x="2576945" y="3004379"/>
            <a:ext cx="8196351" cy="63080"/>
          </a:xfrm>
          <a:prstGeom prst="line">
            <a:avLst/>
          </a:prstGeom>
          <a:ln w="190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17383971-CF30-8626-5B5A-9A87C7C1DAED}"/>
              </a:ext>
            </a:extLst>
          </p:cNvPr>
          <p:cNvCxnSpPr>
            <a:cxnSpLocks/>
          </p:cNvCxnSpPr>
          <p:nvPr/>
        </p:nvCxnSpPr>
        <p:spPr>
          <a:xfrm flipH="1" flipV="1">
            <a:off x="10759443" y="2323848"/>
            <a:ext cx="8433" cy="1308811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5A77C1F1-5992-08F9-F794-D5F6701A2CFA}"/>
              </a:ext>
            </a:extLst>
          </p:cNvPr>
          <p:cNvCxnSpPr>
            <a:cxnSpLocks/>
          </p:cNvCxnSpPr>
          <p:nvPr/>
        </p:nvCxnSpPr>
        <p:spPr>
          <a:xfrm flipH="1" flipV="1">
            <a:off x="9394583" y="2370307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1F2E38-2627-20F9-E2E8-07A7C99A87ED}"/>
              </a:ext>
            </a:extLst>
          </p:cNvPr>
          <p:cNvCxnSpPr>
            <a:cxnSpLocks/>
          </p:cNvCxnSpPr>
          <p:nvPr/>
        </p:nvCxnSpPr>
        <p:spPr>
          <a:xfrm flipH="1" flipV="1">
            <a:off x="6723667" y="2360859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474D118-4B8C-7E0E-70DD-ED4BCF164E23}"/>
              </a:ext>
            </a:extLst>
          </p:cNvPr>
          <p:cNvCxnSpPr>
            <a:cxnSpLocks/>
          </p:cNvCxnSpPr>
          <p:nvPr/>
        </p:nvCxnSpPr>
        <p:spPr>
          <a:xfrm flipH="1" flipV="1">
            <a:off x="4363998" y="2346624"/>
            <a:ext cx="4217" cy="697152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0F2FDEE-F33D-F0D6-22D2-6E3A92A75569}"/>
              </a:ext>
            </a:extLst>
          </p:cNvPr>
          <p:cNvCxnSpPr>
            <a:cxnSpLocks/>
          </p:cNvCxnSpPr>
          <p:nvPr/>
        </p:nvCxnSpPr>
        <p:spPr>
          <a:xfrm flipH="1" flipV="1">
            <a:off x="2575405" y="2338767"/>
            <a:ext cx="12620" cy="650259"/>
          </a:xfrm>
          <a:prstGeom prst="line">
            <a:avLst/>
          </a:prstGeom>
          <a:ln w="190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7525B06-B889-78D6-0193-CB7FFBEC8861}"/>
              </a:ext>
            </a:extLst>
          </p:cNvPr>
          <p:cNvCxnSpPr>
            <a:cxnSpLocks/>
          </p:cNvCxnSpPr>
          <p:nvPr/>
        </p:nvCxnSpPr>
        <p:spPr>
          <a:xfrm>
            <a:off x="2941172" y="2709435"/>
            <a:ext cx="7549489" cy="42957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BB53509-9119-750E-AE40-43134C22E633}"/>
              </a:ext>
            </a:extLst>
          </p:cNvPr>
          <p:cNvCxnSpPr>
            <a:cxnSpLocks/>
          </p:cNvCxnSpPr>
          <p:nvPr/>
        </p:nvCxnSpPr>
        <p:spPr>
          <a:xfrm>
            <a:off x="4038452" y="2718883"/>
            <a:ext cx="0" cy="184817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7049D95A-65B1-ED84-8C41-95441B1608B0}"/>
              </a:ext>
            </a:extLst>
          </p:cNvPr>
          <p:cNvCxnSpPr>
            <a:cxnSpLocks/>
          </p:cNvCxnSpPr>
          <p:nvPr/>
        </p:nvCxnSpPr>
        <p:spPr>
          <a:xfrm>
            <a:off x="2941172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384B72B-8324-7E55-9B92-6B5EC91BA314}"/>
              </a:ext>
            </a:extLst>
          </p:cNvPr>
          <p:cNvCxnSpPr>
            <a:cxnSpLocks/>
          </p:cNvCxnSpPr>
          <p:nvPr/>
        </p:nvCxnSpPr>
        <p:spPr>
          <a:xfrm>
            <a:off x="4038452" y="2370307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136FD3F0-6DC4-F510-AE53-716AE1880F43}"/>
              </a:ext>
            </a:extLst>
          </p:cNvPr>
          <p:cNvCxnSpPr>
            <a:cxnSpLocks/>
          </p:cNvCxnSpPr>
          <p:nvPr/>
        </p:nvCxnSpPr>
        <p:spPr>
          <a:xfrm>
            <a:off x="6338306" y="2389321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63256FDD-5F65-6AC4-5075-61C237EE7D38}"/>
              </a:ext>
            </a:extLst>
          </p:cNvPr>
          <p:cNvCxnSpPr>
            <a:cxnSpLocks/>
          </p:cNvCxnSpPr>
          <p:nvPr/>
        </p:nvCxnSpPr>
        <p:spPr>
          <a:xfrm>
            <a:off x="9034400" y="2413004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D13D74C-D122-18BF-6F92-819D416983A1}"/>
              </a:ext>
            </a:extLst>
          </p:cNvPr>
          <p:cNvCxnSpPr>
            <a:cxnSpLocks/>
          </p:cNvCxnSpPr>
          <p:nvPr/>
        </p:nvCxnSpPr>
        <p:spPr>
          <a:xfrm>
            <a:off x="10455876" y="2386892"/>
            <a:ext cx="0" cy="305879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A390D177-2A29-0AD2-9907-6250C53F18D7}"/>
              </a:ext>
            </a:extLst>
          </p:cNvPr>
          <p:cNvCxnSpPr>
            <a:cxnSpLocks/>
          </p:cNvCxnSpPr>
          <p:nvPr/>
        </p:nvCxnSpPr>
        <p:spPr>
          <a:xfrm flipH="1" flipV="1">
            <a:off x="3534926" y="4567058"/>
            <a:ext cx="6710512" cy="66101"/>
          </a:xfrm>
          <a:prstGeom prst="line">
            <a:avLst/>
          </a:prstGeom>
          <a:ln w="19050">
            <a:solidFill>
              <a:schemeClr val="accent4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Left Brace 128">
            <a:extLst>
              <a:ext uri="{FF2B5EF4-FFF2-40B4-BE49-F238E27FC236}">
                <a16:creationId xmlns:a16="http://schemas.microsoft.com/office/drawing/2014/main" id="{6043DBE9-E725-19BE-AEAA-ECF2B906006A}"/>
              </a:ext>
            </a:extLst>
          </p:cNvPr>
          <p:cNvSpPr/>
          <p:nvPr/>
        </p:nvSpPr>
        <p:spPr>
          <a:xfrm>
            <a:off x="3108203" y="5531550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7310E1D-4922-9C44-9B80-1DD1DA8CFFB6}"/>
              </a:ext>
            </a:extLst>
          </p:cNvPr>
          <p:cNvSpPr txBox="1"/>
          <p:nvPr/>
        </p:nvSpPr>
        <p:spPr>
          <a:xfrm rot="16200000">
            <a:off x="2113086" y="5818958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131" name="Left Brace 130">
            <a:extLst>
              <a:ext uri="{FF2B5EF4-FFF2-40B4-BE49-F238E27FC236}">
                <a16:creationId xmlns:a16="http://schemas.microsoft.com/office/drawing/2014/main" id="{D23C0DA0-B215-DAF9-AFE7-D383C1D0BC43}"/>
              </a:ext>
            </a:extLst>
          </p:cNvPr>
          <p:cNvSpPr/>
          <p:nvPr/>
        </p:nvSpPr>
        <p:spPr>
          <a:xfrm>
            <a:off x="1032678" y="4285457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55449FE-DD32-E85F-30EF-949E04C879C3}"/>
              </a:ext>
            </a:extLst>
          </p:cNvPr>
          <p:cNvSpPr txBox="1"/>
          <p:nvPr/>
        </p:nvSpPr>
        <p:spPr>
          <a:xfrm rot="16200000">
            <a:off x="-144370" y="4418977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34" name="Left Brace 133">
            <a:extLst>
              <a:ext uri="{FF2B5EF4-FFF2-40B4-BE49-F238E27FC236}">
                <a16:creationId xmlns:a16="http://schemas.microsoft.com/office/drawing/2014/main" id="{A7BE64C7-125C-19D8-05C5-A8ABCF019D81}"/>
              </a:ext>
            </a:extLst>
          </p:cNvPr>
          <p:cNvSpPr/>
          <p:nvPr/>
        </p:nvSpPr>
        <p:spPr>
          <a:xfrm>
            <a:off x="998926" y="1382764"/>
            <a:ext cx="252151" cy="974927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156C23A-A711-2A26-2C5B-FE202AAAFC6E}"/>
              </a:ext>
            </a:extLst>
          </p:cNvPr>
          <p:cNvSpPr txBox="1"/>
          <p:nvPr/>
        </p:nvSpPr>
        <p:spPr>
          <a:xfrm rot="16200000">
            <a:off x="-178122" y="1516284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</p:spTree>
    <p:extLst>
      <p:ext uri="{BB962C8B-B14F-4D97-AF65-F5344CB8AC3E}">
        <p14:creationId xmlns:p14="http://schemas.microsoft.com/office/powerpoint/2010/main" val="1118652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Wednesdays – Lectures focused on theoretical foundations – 6:00 to 8:00 pm US Eastern Time</a:t>
            </a:r>
          </a:p>
          <a:p>
            <a:r>
              <a:rPr lang="en-US" dirty="0"/>
              <a:t>Mondays – Section meeting to address your questions, review and background – starting at 6:00 pm US Eastern Time 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2116158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Schedule for live class meetings </a:t>
            </a:r>
          </a:p>
          <a:p>
            <a:r>
              <a:rPr lang="en-US" dirty="0"/>
              <a:t>Tuesdays and Thursdays – Lectures focused on theoretical foundations - 6:30-9:30 pm US Eastern Time</a:t>
            </a:r>
          </a:p>
          <a:p>
            <a:pPr lvl="1"/>
            <a:r>
              <a:rPr lang="en-US" dirty="0"/>
              <a:t>Most lessons less than 3 hours</a:t>
            </a:r>
          </a:p>
          <a:p>
            <a:r>
              <a:rPr lang="en-US" dirty="0"/>
              <a:t>Mondays and Wednesdays – Section meeting to address questions, discuss code, background review – starting at 6:30 pm US Eastern Time  </a:t>
            </a:r>
          </a:p>
          <a:p>
            <a:r>
              <a:rPr lang="en-US" dirty="0"/>
              <a:t>One-on-one meetings can be held by arrangement</a:t>
            </a:r>
          </a:p>
          <a:p>
            <a:pPr marL="0" indent="0">
              <a:buNone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C00000"/>
                </a:solidFill>
              </a:rPr>
              <a:t>All class meetings are recorded and available on-demand – See Class Recordings tab in Canvas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Schedule </a:t>
            </a:r>
          </a:p>
        </p:txBody>
      </p:sp>
    </p:spTree>
    <p:extLst>
      <p:ext uri="{BB962C8B-B14F-4D97-AF65-F5344CB8AC3E}">
        <p14:creationId xmlns:p14="http://schemas.microsoft.com/office/powerpoint/2010/main" val="177077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/>
              <a:t>Harvard Summer School session is only </a:t>
            </a:r>
            <a:r>
              <a:rPr lang="en-US" sz="3200" b="1" dirty="0"/>
              <a:t>7 weeks</a:t>
            </a:r>
            <a:r>
              <a:rPr lang="en-US" sz="3200" dirty="0"/>
              <a:t>!</a:t>
            </a:r>
            <a:endParaRPr lang="en-US" sz="3200" b="1" dirty="0"/>
          </a:p>
          <a:p>
            <a:r>
              <a:rPr lang="en-US" dirty="0">
                <a:solidFill>
                  <a:srgbClr val="C00000"/>
                </a:solidFill>
              </a:rPr>
              <a:t>Expect an </a:t>
            </a:r>
            <a:r>
              <a:rPr lang="en-US" b="1" dirty="0">
                <a:solidFill>
                  <a:srgbClr val="C00000"/>
                </a:solidFill>
              </a:rPr>
              <a:t>intense pace!</a:t>
            </a:r>
          </a:p>
          <a:p>
            <a:pPr lvl="1"/>
            <a:r>
              <a:rPr lang="en-US" dirty="0"/>
              <a:t>Course moves at twice the rate of a regular semester</a:t>
            </a:r>
          </a:p>
          <a:p>
            <a:pPr lvl="1"/>
            <a:r>
              <a:rPr lang="en-US" dirty="0"/>
              <a:t>Lesson and assignments cover </a:t>
            </a:r>
            <a:r>
              <a:rPr lang="en-US" b="1" dirty="0"/>
              <a:t>all material of the regular 15-week semester</a:t>
            </a:r>
            <a:endParaRPr lang="en-US" dirty="0"/>
          </a:p>
          <a:p>
            <a:r>
              <a:rPr lang="en-US" dirty="0"/>
              <a:t>Assignment deadlines are important</a:t>
            </a:r>
          </a:p>
          <a:p>
            <a:pPr lvl="1"/>
            <a:r>
              <a:rPr lang="en-US" dirty="0"/>
              <a:t>One or two assignments due every week!   </a:t>
            </a:r>
          </a:p>
          <a:p>
            <a:pPr lvl="1"/>
            <a:r>
              <a:rPr lang="en-US" b="1" dirty="0"/>
              <a:t>Do not fall behind!!</a:t>
            </a:r>
          </a:p>
          <a:p>
            <a:pPr lvl="1"/>
            <a:r>
              <a:rPr lang="en-US" dirty="0"/>
              <a:t>Expect </a:t>
            </a:r>
            <a:r>
              <a:rPr lang="en-US" b="1" dirty="0"/>
              <a:t>9 assignments </a:t>
            </a:r>
            <a:r>
              <a:rPr lang="en-US" dirty="0"/>
              <a:t>plus online discussion questions</a:t>
            </a:r>
          </a:p>
          <a:p>
            <a:r>
              <a:rPr lang="en-US" sz="3200" b="1" dirty="0">
                <a:solidFill>
                  <a:srgbClr val="C00000"/>
                </a:solidFill>
              </a:rPr>
              <a:t>There is no time to ‘catch up’!</a:t>
            </a:r>
          </a:p>
          <a:p>
            <a:pPr lvl="1"/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Pace of this course</a:t>
            </a:r>
          </a:p>
        </p:txBody>
      </p:sp>
    </p:spTree>
    <p:extLst>
      <p:ext uri="{BB962C8B-B14F-4D97-AF65-F5344CB8AC3E}">
        <p14:creationId xmlns:p14="http://schemas.microsoft.com/office/powerpoint/2010/main" val="163703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undergraduate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90%	Assignments </a:t>
            </a:r>
            <a:r>
              <a:rPr lang="en-US" dirty="0"/>
              <a:t>– Hands-on assignments for most lessons </a:t>
            </a:r>
          </a:p>
          <a:p>
            <a:pPr lvl="1"/>
            <a:r>
              <a:rPr lang="en-US" dirty="0"/>
              <a:t>Expect 9 assignments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Undergraduate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2453570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Students enrolled for graduate credit are evaluated by the following weights: </a:t>
            </a:r>
          </a:p>
          <a:p>
            <a:r>
              <a:rPr lang="en-US" b="1" dirty="0"/>
              <a:t>10% Class Participation </a:t>
            </a:r>
            <a:r>
              <a:rPr lang="en-US" dirty="0"/>
              <a:t>– Class participation in online discussions</a:t>
            </a:r>
          </a:p>
          <a:p>
            <a:r>
              <a:rPr lang="en-US" b="1" dirty="0"/>
              <a:t>65%	Assignments </a:t>
            </a:r>
            <a:r>
              <a:rPr lang="en-US" dirty="0"/>
              <a:t>– Hands-on assignments for most lessons</a:t>
            </a:r>
          </a:p>
          <a:p>
            <a:pPr lvl="1"/>
            <a:r>
              <a:rPr lang="en-US" dirty="0"/>
              <a:t>Expect 9 assignments</a:t>
            </a:r>
          </a:p>
          <a:p>
            <a:r>
              <a:rPr lang="en-US" b="1" dirty="0"/>
              <a:t>5% Project proposal </a:t>
            </a:r>
            <a:r>
              <a:rPr lang="en-US" dirty="0"/>
              <a:t>– Proposal describing the problem you wish to address and methods you plan to apply. Based on your proposal, your instructor will approve your project as appropriate for the course. </a:t>
            </a:r>
          </a:p>
          <a:p>
            <a:r>
              <a:rPr lang="en-US" b="1" dirty="0"/>
              <a:t>20%	Project </a:t>
            </a:r>
            <a:r>
              <a:rPr lang="en-US" dirty="0"/>
              <a:t>– Independent data mining project report – More on this next class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Graduate Credit Grading</a:t>
            </a:r>
          </a:p>
        </p:txBody>
      </p:sp>
    </p:spTree>
    <p:extLst>
      <p:ext uri="{BB962C8B-B14F-4D97-AF65-F5344CB8AC3E}">
        <p14:creationId xmlns:p14="http://schemas.microsoft.com/office/powerpoint/2010/main" val="3485671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>
                <a:solidFill>
                  <a:srgbClr val="C00000"/>
                </a:solidFill>
              </a:rPr>
              <a:t>Harvard Summer School moves at an intense pace!!</a:t>
            </a:r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2 days late - less 10% </a:t>
            </a:r>
          </a:p>
          <a:p>
            <a:pPr lvl="1"/>
            <a:r>
              <a:rPr lang="en-US" dirty="0"/>
              <a:t>Up to 3 days late – less 20%</a:t>
            </a:r>
          </a:p>
          <a:p>
            <a:pPr lvl="1"/>
            <a:r>
              <a:rPr lang="en-US" dirty="0"/>
              <a:t>More than 3 days late - no credit   </a:t>
            </a:r>
          </a:p>
          <a:p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</a:t>
            </a:r>
          </a:p>
        </p:txBody>
      </p:sp>
    </p:spTree>
    <p:extLst>
      <p:ext uri="{BB962C8B-B14F-4D97-AF65-F5344CB8AC3E}">
        <p14:creationId xmlns:p14="http://schemas.microsoft.com/office/powerpoint/2010/main" val="294068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Read and understand the Syllabus!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Material specific to this course are in the </a:t>
            </a:r>
            <a:r>
              <a:rPr lang="en-US" dirty="0" err="1">
                <a:hlinkClick r:id="rId2"/>
              </a:rPr>
              <a:t>Github</a:t>
            </a:r>
            <a:r>
              <a:rPr lang="en-US" dirty="0">
                <a:hlinkClick r:id="rId2"/>
              </a:rPr>
              <a:t> repository</a:t>
            </a:r>
            <a:endParaRPr lang="en-US" dirty="0"/>
          </a:p>
          <a:p>
            <a:pPr lvl="1"/>
            <a:r>
              <a:rPr lang="en-US" dirty="0"/>
              <a:t>Slides</a:t>
            </a:r>
          </a:p>
          <a:p>
            <a:pPr lvl="1"/>
            <a:r>
              <a:rPr lang="en-US" dirty="0"/>
              <a:t>Notebooks for assignments</a:t>
            </a:r>
          </a:p>
          <a:p>
            <a:pPr lvl="1"/>
            <a:r>
              <a:rPr lang="en-US" dirty="0"/>
              <a:t>Data</a:t>
            </a:r>
          </a:p>
          <a:p>
            <a:pPr lvl="1"/>
            <a:r>
              <a:rPr lang="en-US" dirty="0"/>
              <a:t>Supplementary materials for review 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Assignment due dates, submissions, and grading in </a:t>
            </a:r>
            <a:r>
              <a:rPr lang="en-US" b="1" dirty="0"/>
              <a:t>Canvas</a:t>
            </a:r>
          </a:p>
          <a:p>
            <a:pPr lvl="1"/>
            <a:r>
              <a:rPr lang="en-US" dirty="0"/>
              <a:t>Class assignments </a:t>
            </a:r>
          </a:p>
          <a:p>
            <a:pPr lvl="1"/>
            <a:r>
              <a:rPr lang="en-US" dirty="0"/>
              <a:t>Graduate independent projects   </a:t>
            </a:r>
          </a:p>
          <a:p>
            <a:pPr lvl="1"/>
            <a:r>
              <a:rPr lang="en-US" dirty="0"/>
              <a:t>Solutions and examples under </a:t>
            </a:r>
            <a:r>
              <a:rPr lang="en-US" b="1" dirty="0"/>
              <a:t>Modules</a:t>
            </a:r>
            <a:r>
              <a:rPr lang="en-US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Assignments are being revised!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not start assignments before they are posted in Canvas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Do a pull on the GitHub repository to get updated notebooks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38725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814A0-7A36-C94D-3414-9130111A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1C102-0F95-A89F-31BC-40B62F8140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4002"/>
            <a:ext cx="10515600" cy="55812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Recommended reading primarily from these texts: </a:t>
            </a:r>
          </a:p>
          <a:p>
            <a:pPr lvl="1"/>
            <a:r>
              <a:rPr lang="en-US" dirty="0">
                <a:hlinkClick r:id="rId2"/>
              </a:rPr>
              <a:t>Mining of Massive Datasets</a:t>
            </a:r>
            <a:r>
              <a:rPr lang="en-US" dirty="0"/>
              <a:t>, 3</a:t>
            </a:r>
            <a:r>
              <a:rPr lang="en-US" baseline="30000" dirty="0"/>
              <a:t>rd</a:t>
            </a:r>
            <a:r>
              <a:rPr lang="en-US" dirty="0"/>
              <a:t> Ed - .pdf download available</a:t>
            </a:r>
          </a:p>
          <a:p>
            <a:pPr lvl="1"/>
            <a:r>
              <a:rPr lang="en-US" u="sng" dirty="0">
                <a:hlinkClick r:id="rId3"/>
              </a:rPr>
              <a:t>Networks, 2</a:t>
            </a:r>
            <a:r>
              <a:rPr lang="en-US" u="sng" baseline="30000" dirty="0">
                <a:hlinkClick r:id="rId3"/>
              </a:rPr>
              <a:t>nd</a:t>
            </a:r>
            <a:r>
              <a:rPr lang="en-US" u="sng" dirty="0">
                <a:hlinkClick r:id="rId3"/>
              </a:rPr>
              <a:t> edition, Mark Newman</a:t>
            </a:r>
            <a:r>
              <a:rPr lang="en-US" u="sng" dirty="0"/>
              <a:t> </a:t>
            </a:r>
            <a:r>
              <a:rPr lang="en-US" dirty="0"/>
              <a:t>Available through the Harvard Coop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4"/>
              </a:rPr>
              <a:t>Algorithms and data structures for massive datasets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 err="1">
                <a:effectLst/>
              </a:rPr>
              <a:t>Medjedovic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Dzejla</a:t>
            </a:r>
            <a:r>
              <a:rPr lang="en-US" dirty="0">
                <a:effectLst/>
              </a:rPr>
              <a:t>, </a:t>
            </a:r>
            <a:r>
              <a:rPr lang="en-US" dirty="0" err="1">
                <a:effectLst/>
              </a:rPr>
              <a:t>Tahirovic</a:t>
            </a:r>
            <a:r>
              <a:rPr lang="en-US" dirty="0">
                <a:effectLst/>
              </a:rPr>
              <a:t>, Emin, Manning, 2022</a:t>
            </a:r>
          </a:p>
          <a:p>
            <a:pPr lvl="1"/>
            <a:r>
              <a:rPr lang="en-US" b="0" i="0" dirty="0">
                <a:solidFill>
                  <a:srgbClr val="222222"/>
                </a:solidFill>
                <a:effectLst/>
                <a:latin typeface="Rubik"/>
                <a:hlinkClick r:id="rId5"/>
              </a:rPr>
              <a:t>Advanced algorithms and data structures</a:t>
            </a:r>
            <a:r>
              <a:rPr lang="en-US" b="0" i="0" dirty="0">
                <a:solidFill>
                  <a:srgbClr val="222222"/>
                </a:solidFill>
                <a:effectLst/>
                <a:latin typeface="Rubik"/>
              </a:rPr>
              <a:t>, </a:t>
            </a:r>
            <a:r>
              <a:rPr lang="en-US" dirty="0">
                <a:effectLst/>
              </a:rPr>
              <a:t>La Rocca, Marcello, Manning, 2021</a:t>
            </a:r>
          </a:p>
          <a:p>
            <a:pPr lvl="1"/>
            <a:r>
              <a:rPr lang="en-US" dirty="0">
                <a:hlinkClick r:id="rId6"/>
              </a:rPr>
              <a:t>Data Mining, Concepts and Techniques</a:t>
            </a:r>
            <a:r>
              <a:rPr lang="en-US" dirty="0"/>
              <a:t>, 4th Edition, Jiawei Han, Jian Pei, </a:t>
            </a:r>
            <a:r>
              <a:rPr lang="en-US" dirty="0" err="1"/>
              <a:t>Hanghang</a:t>
            </a:r>
            <a:r>
              <a:rPr lang="en-US" dirty="0"/>
              <a:t> Tong, Morgan Kaufmann, 2022</a:t>
            </a:r>
          </a:p>
          <a:p>
            <a:pPr lvl="1"/>
            <a:r>
              <a:rPr lang="en-US" b="1" dirty="0"/>
              <a:t>Available as Library Reserves – See tab in Canvas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84C156F-E05C-F5B9-AAF7-820254AA67BD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Where can you find the course materials?</a:t>
            </a:r>
          </a:p>
        </p:txBody>
      </p:sp>
    </p:spTree>
    <p:extLst>
      <p:ext uri="{BB962C8B-B14F-4D97-AF65-F5344CB8AC3E}">
        <p14:creationId xmlns:p14="http://schemas.microsoft.com/office/powerpoint/2010/main" val="34280373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531100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Ed Discussion is the primary means of communication </a:t>
            </a:r>
            <a:r>
              <a:rPr lang="en-US" dirty="0"/>
              <a:t>for this course  </a:t>
            </a:r>
          </a:p>
          <a:p>
            <a:r>
              <a:rPr lang="en-US" dirty="0"/>
              <a:t>Use Ed Discussion to get help with assignments and projects </a:t>
            </a:r>
          </a:p>
          <a:p>
            <a:pPr lvl="1"/>
            <a:r>
              <a:rPr lang="en-US" dirty="0"/>
              <a:t>It’s </a:t>
            </a:r>
            <a:r>
              <a:rPr lang="en-US" b="1" dirty="0"/>
              <a:t>okay to post code for your question!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Post code and complete exception messages if you are dealing with code problem!</a:t>
            </a:r>
          </a:p>
          <a:p>
            <a:r>
              <a:rPr lang="en-US" dirty="0"/>
              <a:t>Graded online class discussions take place in Ed    </a:t>
            </a:r>
          </a:p>
          <a:p>
            <a:r>
              <a:rPr lang="en-US" dirty="0"/>
              <a:t>Private communications regarding matters such as grades</a:t>
            </a:r>
          </a:p>
          <a:p>
            <a:pPr lvl="1"/>
            <a:r>
              <a:rPr lang="en-US" dirty="0"/>
              <a:t>Use private messages in Ed Discussion for fastest response </a:t>
            </a:r>
          </a:p>
          <a:p>
            <a:pPr lvl="1"/>
            <a:r>
              <a:rPr lang="en-US" dirty="0"/>
              <a:t>Or, Steve Elston: </a:t>
            </a:r>
            <a:r>
              <a:rPr lang="en-US" dirty="0" err="1"/>
              <a:t>stephen_elston</a:t>
            </a:r>
            <a:r>
              <a:rPr lang="en-US" dirty="0"/>
              <a:t> at g dot </a:t>
            </a:r>
            <a:r>
              <a:rPr lang="en-US" dirty="0" err="1"/>
              <a:t>harvard</a:t>
            </a:r>
            <a:r>
              <a:rPr lang="en-US" dirty="0"/>
              <a:t> dot </a:t>
            </a:r>
            <a:r>
              <a:rPr lang="en-US" dirty="0" err="1"/>
              <a:t>edu</a:t>
            </a:r>
            <a:r>
              <a:rPr lang="en-US" dirty="0"/>
              <a:t>, Tatyana Boland: </a:t>
            </a:r>
            <a:r>
              <a:rPr lang="en-US" dirty="0">
                <a:latin typeface="Google Sans"/>
              </a:rPr>
              <a:t>tab840 at </a:t>
            </a:r>
            <a:r>
              <a:rPr lang="en-US" b="0" i="0" dirty="0">
                <a:effectLst/>
                <a:latin typeface="Google Sans"/>
              </a:rPr>
              <a:t>g dot Harvard dot </a:t>
            </a:r>
            <a:r>
              <a:rPr lang="en-US" b="0" i="0" dirty="0" err="1">
                <a:effectLst/>
                <a:latin typeface="Google Sans"/>
              </a:rPr>
              <a:t>edu</a:t>
            </a:r>
            <a:r>
              <a:rPr lang="en-US" dirty="0">
                <a:latin typeface="Google Sans"/>
              </a:rPr>
              <a:t>, or </a:t>
            </a:r>
            <a:r>
              <a:rPr lang="en-US" dirty="0" err="1">
                <a:latin typeface="Google Sans"/>
              </a:rPr>
              <a:t>Waree</a:t>
            </a:r>
            <a:r>
              <a:rPr lang="en-US" dirty="0">
                <a:latin typeface="Google Sans"/>
              </a:rPr>
              <a:t> </a:t>
            </a:r>
            <a:r>
              <a:rPr lang="en-US" dirty="0" err="1">
                <a:latin typeface="Google Sans"/>
              </a:rPr>
              <a:t>Porprommart</a:t>
            </a:r>
            <a:r>
              <a:rPr lang="en-US" dirty="0">
                <a:latin typeface="Google Sans"/>
              </a:rPr>
              <a:t>: wap185 at g dot Harvard dot </a:t>
            </a:r>
            <a:r>
              <a:rPr lang="en-US" dirty="0" err="1">
                <a:latin typeface="Google Sans"/>
              </a:rPr>
              <a:t>edu</a:t>
            </a:r>
            <a:endParaRPr lang="en-US" b="0" i="0" dirty="0">
              <a:effectLst/>
              <a:latin typeface="Google Sans"/>
            </a:endParaRPr>
          </a:p>
          <a:p>
            <a:pPr lvl="1"/>
            <a:r>
              <a:rPr lang="en-US" b="1" dirty="0">
                <a:latin typeface="Google Sans"/>
              </a:rPr>
              <a:t>Private one-on-one appointments on request</a:t>
            </a:r>
            <a:endParaRPr lang="en-US" b="1" i="0" dirty="0">
              <a:effectLst/>
              <a:latin typeface="Google Sans"/>
            </a:endParaRPr>
          </a:p>
          <a:p>
            <a:r>
              <a:rPr lang="en-US" b="1" dirty="0">
                <a:solidFill>
                  <a:srgbClr val="C00000"/>
                </a:solidFill>
              </a:rPr>
              <a:t>Do not use Canvas messages, unless you want a delayed response!  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Communication </a:t>
            </a:r>
          </a:p>
        </p:txBody>
      </p:sp>
    </p:spTree>
    <p:extLst>
      <p:ext uri="{BB962C8B-B14F-4D97-AF65-F5344CB8AC3E}">
        <p14:creationId xmlns:p14="http://schemas.microsoft.com/office/powerpoint/2010/main" val="122852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7D7DD-7AF9-FA05-2177-A254C493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2EEC0-807D-1936-07D1-132231394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6210"/>
            <a:ext cx="10515600" cy="55638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 AI (LLMs) is becoming a standard tool for professional data scientists, limited use is allowed for this course  </a:t>
            </a:r>
          </a:p>
          <a:p>
            <a:pPr lvl="0"/>
            <a:r>
              <a:rPr lang="en-US" b="1" dirty="0"/>
              <a:t>Writing &amp; Analysis: </a:t>
            </a:r>
            <a:r>
              <a:rPr lang="en-US" dirty="0"/>
              <a:t>Your written reports, question responses and discussion post </a:t>
            </a:r>
            <a:r>
              <a:rPr lang="en-US" b="1" dirty="0"/>
              <a:t>must be your own original work!</a:t>
            </a:r>
            <a:endParaRPr lang="en-US" dirty="0"/>
          </a:p>
          <a:p>
            <a:pPr lvl="0"/>
            <a:r>
              <a:rPr lang="en-US" b="1" dirty="0"/>
              <a:t>Code Generation: </a:t>
            </a:r>
            <a:r>
              <a:rPr lang="en-US" dirty="0"/>
              <a:t>You may use AI to generate discrete portions of code and to resolve exceptions </a:t>
            </a:r>
          </a:p>
          <a:p>
            <a:pPr lvl="0"/>
            <a:r>
              <a:rPr lang="en-US" b="1" dirty="0"/>
              <a:t>Validation of Results: </a:t>
            </a:r>
            <a:r>
              <a:rPr lang="en-US" dirty="0"/>
              <a:t>You are responsible for validating the correctness, efficiency, and security of any AI-generated code. </a:t>
            </a:r>
          </a:p>
          <a:p>
            <a:pPr lvl="0"/>
            <a:r>
              <a:rPr lang="en-US" b="1" dirty="0"/>
              <a:t>Attribution &amp; Integrity:</a:t>
            </a:r>
            <a:r>
              <a:rPr lang="en-US" dirty="0"/>
              <a:t> Cite AI use per the Harvard Academic Integrity Policy</a:t>
            </a:r>
          </a:p>
          <a:p>
            <a:pPr lvl="0"/>
            <a:r>
              <a:rPr lang="en-US" dirty="0"/>
              <a:t>See course syllabus in Canvas for additional details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9A07D1A-2593-EA96-9F4B-0D7D49DF3736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Using AI for this course</a:t>
            </a:r>
          </a:p>
        </p:txBody>
      </p:sp>
    </p:spTree>
    <p:extLst>
      <p:ext uri="{BB962C8B-B14F-4D97-AF65-F5344CB8AC3E}">
        <p14:creationId xmlns:p14="http://schemas.microsoft.com/office/powerpoint/2010/main" val="1849980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Timely release of assignment solutions is an important part of the learning process </a:t>
            </a:r>
          </a:p>
          <a:p>
            <a:r>
              <a:rPr lang="en-US" b="1" dirty="0"/>
              <a:t>Do not fall behind! </a:t>
            </a:r>
            <a:r>
              <a:rPr lang="en-US" dirty="0"/>
              <a:t>With 9-10 assignments and a project, there is very </a:t>
            </a:r>
            <a:r>
              <a:rPr lang="en-US" b="1" dirty="0"/>
              <a:t>little time to “catch-up”</a:t>
            </a:r>
            <a:endParaRPr lang="en-US" dirty="0"/>
          </a:p>
          <a:p>
            <a:r>
              <a:rPr lang="en-US" dirty="0"/>
              <a:t>Late assignment policy:   </a:t>
            </a:r>
          </a:p>
          <a:p>
            <a:pPr lvl="1"/>
            <a:r>
              <a:rPr lang="en-US" dirty="0"/>
              <a:t>Up to one day late - no penalty  </a:t>
            </a:r>
          </a:p>
          <a:p>
            <a:pPr lvl="1"/>
            <a:r>
              <a:rPr lang="en-US" dirty="0"/>
              <a:t>Up to 6 days late - less 20% </a:t>
            </a:r>
          </a:p>
          <a:p>
            <a:pPr lvl="1"/>
            <a:r>
              <a:rPr lang="en-US" dirty="0"/>
              <a:t>More than 6 days late - no credit   </a:t>
            </a:r>
          </a:p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Make sure you turn in work on time!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Late Assignment Policy – For regular semester</a:t>
            </a:r>
          </a:p>
        </p:txBody>
      </p:sp>
    </p:spTree>
    <p:extLst>
      <p:ext uri="{BB962C8B-B14F-4D97-AF65-F5344CB8AC3E}">
        <p14:creationId xmlns:p14="http://schemas.microsoft.com/office/powerpoint/2010/main" val="14249325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Foundations of Large-Scale Data-Mining</a:t>
            </a:r>
          </a:p>
        </p:txBody>
      </p:sp>
    </p:spTree>
    <p:extLst>
      <p:ext uri="{BB962C8B-B14F-4D97-AF65-F5344CB8AC3E}">
        <p14:creationId xmlns:p14="http://schemas.microsoft.com/office/powerpoint/2010/main" val="24622946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7"/>
            <a:ext cx="10515600" cy="48982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Mastering tools for working with and performing inference on massive and complex of data is a core goal for this course</a:t>
            </a:r>
          </a:p>
          <a:p>
            <a:r>
              <a:rPr lang="en-US" dirty="0"/>
              <a:t>Massive size requires efficient storage and retrieval  </a:t>
            </a:r>
          </a:p>
          <a:p>
            <a:r>
              <a:rPr lang="en-US" dirty="0"/>
              <a:t>Manage data with </a:t>
            </a:r>
            <a:r>
              <a:rPr lang="en-US" b="1" dirty="0"/>
              <a:t>key-value pairs</a:t>
            </a:r>
            <a:r>
              <a:rPr lang="en-US" dirty="0"/>
              <a:t>  </a:t>
            </a:r>
          </a:p>
          <a:p>
            <a:r>
              <a:rPr lang="en-US" b="1" dirty="0"/>
              <a:t>Hash keys </a:t>
            </a:r>
            <a:r>
              <a:rPr lang="en-US" dirty="0"/>
              <a:t>for efficient storage and retrieval </a:t>
            </a:r>
          </a:p>
          <a:p>
            <a:r>
              <a:rPr lang="en-US" dirty="0"/>
              <a:t>We apply hashing and ‘sketches’ in future lessons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Foundations for Large-Scale Data Mining</a:t>
            </a:r>
          </a:p>
        </p:txBody>
      </p:sp>
    </p:spTree>
    <p:extLst>
      <p:ext uri="{BB962C8B-B14F-4D97-AF65-F5344CB8AC3E}">
        <p14:creationId xmlns:p14="http://schemas.microsoft.com/office/powerpoint/2010/main" val="9942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Data Management with 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11939739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Need to store and retrieve massive quantities of data  </a:t>
                </a:r>
              </a:p>
              <a:p>
                <a:r>
                  <a:rPr lang="en-US" dirty="0"/>
                  <a:t>Manage with key-value pairs as a tuple,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The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is index or identifier for the value,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Value can be any type of object</a:t>
                </a:r>
              </a:p>
              <a:p>
                <a:pPr lvl="1"/>
                <a:r>
                  <a:rPr lang="en-US" sz="2800" dirty="0"/>
                  <a:t>Scaler value  </a:t>
                </a:r>
              </a:p>
              <a:p>
                <a:pPr lvl="1"/>
                <a:r>
                  <a:rPr lang="en-US" sz="2800" dirty="0"/>
                  <a:t>List </a:t>
                </a:r>
              </a:p>
              <a:p>
                <a:pPr lvl="1"/>
                <a:r>
                  <a:rPr lang="en-US" sz="2800" dirty="0"/>
                  <a:t>Vector</a:t>
                </a:r>
              </a:p>
              <a:p>
                <a:pPr lvl="1"/>
                <a:r>
                  <a:rPr lang="en-US" sz="2800" dirty="0"/>
                  <a:t>Array or table </a:t>
                </a:r>
              </a:p>
              <a:p>
                <a:pPr lvl="1"/>
                <a:r>
                  <a:rPr lang="en-US" sz="2800" dirty="0"/>
                  <a:t>Document, text token, etc.</a:t>
                </a:r>
              </a:p>
              <a:p>
                <a:pPr lvl="1"/>
                <a:r>
                  <a:rPr lang="en-US" sz="2800" dirty="0"/>
                  <a:t>Image</a:t>
                </a:r>
              </a:p>
              <a:p>
                <a:pPr lvl="1"/>
                <a:r>
                  <a:rPr lang="en-US" sz="2800" dirty="0"/>
                  <a:t>... </a:t>
                </a:r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7"/>
                <a:ext cx="10515600" cy="4898217"/>
              </a:xfrm>
              <a:blipFill>
                <a:blip r:embed="rId2"/>
                <a:stretch>
                  <a:fillRect l="-1217" t="-2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786196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Key-value indexing </a:t>
                </a:r>
                <a:r>
                  <a:rPr lang="en-US" dirty="0"/>
                  <a:t>used to manage massive quantities of data   </a:t>
                </a:r>
              </a:p>
              <a:p>
                <a:r>
                  <a:rPr lang="en-US" dirty="0"/>
                  <a:t>Address values,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, by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as a tuple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r>
                  <a:rPr lang="en-US" dirty="0"/>
                  <a:t>Example: In-memory </a:t>
                </a:r>
                <a:r>
                  <a:rPr lang="en-US" b="1" dirty="0"/>
                  <a:t>dictionaries</a:t>
                </a:r>
              </a:p>
              <a:p>
                <a:pPr lvl="1"/>
                <a:r>
                  <a:rPr lang="en-US" dirty="0"/>
                  <a:t>Fast lookup</a:t>
                </a:r>
              </a:p>
              <a:p>
                <a:pPr lvl="1"/>
                <a:r>
                  <a:rPr lang="en-US" dirty="0"/>
                  <a:t>Size limited by main memory</a:t>
                </a:r>
              </a:p>
              <a:p>
                <a:pPr lvl="1"/>
                <a:r>
                  <a:rPr lang="en-US" dirty="0"/>
                  <a:t>Supported in Python and many other languages</a:t>
                </a:r>
              </a:p>
              <a:p>
                <a:r>
                  <a:rPr lang="en-US" dirty="0"/>
                  <a:t>NoSQL data bases – scalable object storage   </a:t>
                </a:r>
              </a:p>
              <a:p>
                <a:r>
                  <a:rPr lang="en-US" dirty="0"/>
                  <a:t>Map-reduce, scalable parallel processing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1970960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1417"/>
            <a:ext cx="10515600" cy="4635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data management with key-value pairs?  </a:t>
            </a:r>
          </a:p>
          <a:p>
            <a:r>
              <a:rPr lang="en-US" dirty="0"/>
              <a:t>Linear list  </a:t>
            </a:r>
          </a:p>
          <a:p>
            <a:r>
              <a:rPr lang="en-US" dirty="0"/>
              <a:t>Sorted list</a:t>
            </a:r>
          </a:p>
          <a:p>
            <a:r>
              <a:rPr lang="en-US" dirty="0"/>
              <a:t>Linked list</a:t>
            </a:r>
          </a:p>
          <a:p>
            <a:r>
              <a:rPr lang="en-US" dirty="0"/>
              <a:t>Balanced trees (B-trees)</a:t>
            </a:r>
          </a:p>
          <a:p>
            <a:r>
              <a:rPr lang="en-US" b="1" dirty="0"/>
              <a:t>Hash tables 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038150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dirty="0"/>
                  <a:t>Linear search on large set of keys is slow  </a:t>
                </a:r>
              </a:p>
              <a:p>
                <a:pPr lvl="1"/>
                <a:r>
                  <a:rPr lang="en-US" dirty="0"/>
                  <a:t>Linear search has </a:t>
                </a:r>
                <a:r>
                  <a:rPr lang="en-US" b="1" dirty="0"/>
                  <a:t>average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Too slow for massive data sets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massively scaling data mining algorithms</a:t>
                </a:r>
              </a:p>
              <a:p>
                <a:pPr lvl="1"/>
                <a:r>
                  <a:rPr lang="en-US" dirty="0"/>
                  <a:t>Massive scalability is a theme of this course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2873233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3470-78F3-E979-6FC2-66938DBEC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Key-value indexing used to manage massive quantities of data   </a:t>
                </a:r>
              </a:p>
              <a:p>
                <a:r>
                  <a:rPr lang="en-US" dirty="0"/>
                  <a:t>Massive data sets require a very large numbers of keys   </a:t>
                </a:r>
              </a:p>
              <a:p>
                <a:r>
                  <a:rPr lang="en-US" b="1" dirty="0"/>
                  <a:t>Hashing</a:t>
                </a:r>
                <a:r>
                  <a:rPr lang="en-US" dirty="0"/>
                  <a:t> is a core technique for scaling data mining algorithms   </a:t>
                </a:r>
              </a:p>
              <a:p>
                <a:r>
                  <a:rPr lang="en-US" dirty="0"/>
                  <a:t>Apply</a:t>
                </a:r>
                <a:r>
                  <a:rPr lang="en-US" b="0" dirty="0"/>
                  <a:t> </a:t>
                </a:r>
                <a:r>
                  <a:rPr lang="en-US" b="1" dirty="0"/>
                  <a:t>hash function</a:t>
                </a:r>
                <a:r>
                  <a:rPr lang="en-US" dirty="0"/>
                  <a:t> to </a:t>
                </a:r>
                <a:r>
                  <a:rPr lang="en-US" b="0" dirty="0"/>
                  <a:t>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Hashing to a key gives nearly direct access, with </a:t>
                </a:r>
                <a:r>
                  <a:rPr lang="en-US" b="1" dirty="0"/>
                  <a:t>average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access time  </a:t>
                </a:r>
                <a:endParaRPr lang="en-US" dirty="0"/>
              </a:p>
              <a:p>
                <a:pPr lvl="1"/>
                <a:r>
                  <a:rPr lang="en-US" dirty="0"/>
                  <a:t>Hash value, </a:t>
                </a:r>
                <a:r>
                  <a:rPr lang="en-US" i="1" dirty="0"/>
                  <a:t>h</a:t>
                </a:r>
                <a:r>
                  <a:rPr lang="en-US" dirty="0"/>
                  <a:t>, is memory address for look up</a:t>
                </a:r>
              </a:p>
              <a:p>
                <a:pPr lvl="1"/>
                <a:r>
                  <a:rPr lang="en-US" b="1"/>
                  <a:t>Hashed </a:t>
                </a:r>
                <a:r>
                  <a:rPr lang="en-US" b="1" dirty="0"/>
                  <a:t>key-value pairs </a:t>
                </a:r>
                <a:r>
                  <a:rPr lang="en-US" dirty="0"/>
                  <a:t>as a tuple,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</a:t>
                </a:r>
              </a:p>
              <a:p>
                <a:pPr lvl="1"/>
                <a:endParaRPr lang="en-US" b="1" dirty="0"/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4A316F7-7F13-56EA-0547-0149F95A0B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1417"/>
                <a:ext cx="10515600" cy="4635546"/>
              </a:xfrm>
              <a:blipFill>
                <a:blip r:embed="rId2"/>
                <a:stretch>
                  <a:fillRect l="-1217" t="-2237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50CC498F-4DB2-C68E-EFA7-021A6C9BE0A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</p:spTree>
    <p:extLst>
      <p:ext uri="{BB962C8B-B14F-4D97-AF65-F5344CB8AC3E}">
        <p14:creationId xmlns:p14="http://schemas.microsoft.com/office/powerpoint/2010/main" val="426161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6352" y="1211805"/>
            <a:ext cx="10515600" cy="9425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compare data structure options for storage and retrieval of key-value pairs?    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key-value indexing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n)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(1)</m:t>
                                </m:r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 -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expected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3">
                <a:extLst>
                  <a:ext uri="{FF2B5EF4-FFF2-40B4-BE49-F238E27FC236}">
                    <a16:creationId xmlns:a16="http://schemas.microsoft.com/office/drawing/2014/main" id="{9778E807-9A37-1E31-7CAC-4F4939719A1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56537298"/>
                  </p:ext>
                </p:extLst>
              </p:nvPr>
            </p:nvGraphicFramePr>
            <p:xfrm>
              <a:off x="412786" y="2391253"/>
              <a:ext cx="11346365" cy="420751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85559">
                      <a:extLst>
                        <a:ext uri="{9D8B030D-6E8A-4147-A177-3AD203B41FA5}">
                          <a16:colId xmlns:a16="http://schemas.microsoft.com/office/drawing/2014/main" val="3020660733"/>
                        </a:ext>
                      </a:extLst>
                    </a:gridCol>
                    <a:gridCol w="2276713">
                      <a:extLst>
                        <a:ext uri="{9D8B030D-6E8A-4147-A177-3AD203B41FA5}">
                          <a16:colId xmlns:a16="http://schemas.microsoft.com/office/drawing/2014/main" val="1578647662"/>
                        </a:ext>
                      </a:extLst>
                    </a:gridCol>
                    <a:gridCol w="2466268">
                      <a:extLst>
                        <a:ext uri="{9D8B030D-6E8A-4147-A177-3AD203B41FA5}">
                          <a16:colId xmlns:a16="http://schemas.microsoft.com/office/drawing/2014/main" val="3531154754"/>
                        </a:ext>
                      </a:extLst>
                    </a:gridCol>
                    <a:gridCol w="2403565">
                      <a:extLst>
                        <a:ext uri="{9D8B030D-6E8A-4147-A177-3AD203B41FA5}">
                          <a16:colId xmlns:a16="http://schemas.microsoft.com/office/drawing/2014/main" val="3376111091"/>
                        </a:ext>
                      </a:extLst>
                    </a:gridCol>
                    <a:gridCol w="2014260">
                      <a:extLst>
                        <a:ext uri="{9D8B030D-6E8A-4147-A177-3AD203B41FA5}">
                          <a16:colId xmlns:a16="http://schemas.microsoft.com/office/drawing/2014/main" val="754635136"/>
                        </a:ext>
                      </a:extLst>
                    </a:gridCol>
                  </a:tblGrid>
                  <a:tr h="9178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Lookup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Delete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Predecessor/ Successor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6599685"/>
                      </a:ext>
                    </a:extLst>
                  </a:tr>
                  <a:tr h="58865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165625" r="-304290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165625" r="-180247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165625" r="-85279" b="-464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165625" r="-1511" b="-464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51648459"/>
                      </a:ext>
                    </a:extLst>
                  </a:tr>
                  <a:tr h="533195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9773" r="-304290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9773" r="-180247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9773" r="-85279" b="-406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9773" r="-1511" b="-4068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40325602"/>
                      </a:ext>
                    </a:extLst>
                  </a:tr>
                  <a:tr h="50993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08333" r="-304290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08333" r="-180247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08333" r="-85279" b="-32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08333" r="-1511" b="-3261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3950354"/>
                      </a:ext>
                    </a:extLst>
                  </a:tr>
                  <a:tr h="917872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Balanced Binary Tree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284667" r="-304290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284667" r="-180247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284667" r="-85279" b="-82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284667" r="-1511" b="-82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7697526"/>
                      </a:ext>
                    </a:extLst>
                  </a:tr>
                  <a:tr h="739991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Hash Table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515" t="-472951" r="-304290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0988" t="-472951" r="-180247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88832" t="-472951" r="-85279" b="-16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62840" t="-472951" r="-1511" b="-16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61915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5916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77081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</a:t>
                </a:r>
                <a:r>
                  <a:rPr lang="en-US" b="1" dirty="0"/>
                  <a:t>hash functions</a:t>
                </a:r>
                <a:r>
                  <a:rPr lang="en-US" dirty="0"/>
                  <a:t>?   </a:t>
                </a:r>
              </a:p>
              <a:p>
                <a:r>
                  <a:rPr lang="en-US" dirty="0"/>
                  <a:t>Hash keys used to index </a:t>
                </a:r>
                <a:r>
                  <a:rPr lang="en-US" b="1" dirty="0"/>
                  <a:t>hash tables</a:t>
                </a:r>
              </a:p>
              <a:p>
                <a:r>
                  <a:rPr lang="en-US" dirty="0"/>
                  <a:t>Hash function is a deterministic map from key to a memory address</a:t>
                </a:r>
              </a:p>
              <a:p>
                <a:r>
                  <a:rPr lang="en-US" dirty="0"/>
                  <a:t>Hash address index,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, is computed from a key,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using a </a:t>
                </a:r>
                <a:r>
                  <a:rPr lang="en-US" b="1" dirty="0"/>
                  <a:t>hash function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Same hash function used for insertions, look-ups and deletions in table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000" dirty="0"/>
                  <a:t>You can find more about hash functions and hash tables, in Chapter 2 of </a:t>
                </a:r>
                <a:r>
                  <a:rPr lang="en-US" sz="2000" dirty="0" err="1"/>
                  <a:t>Medjodovic</a:t>
                </a:r>
                <a:r>
                  <a:rPr lang="en-US" sz="2000" dirty="0"/>
                  <a:t> and </a:t>
                </a:r>
                <a:r>
                  <a:rPr lang="en-US" sz="2000" dirty="0" err="1"/>
                  <a:t>Tahirovic</a:t>
                </a:r>
                <a:r>
                  <a:rPr lang="en-US" sz="2000" dirty="0"/>
                  <a:t> and in many sources online, including </a:t>
                </a:r>
                <a:r>
                  <a:rPr lang="en-US" sz="2000" dirty="0"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r>
                  <a:rPr lang="en-US" sz="2000" dirty="0"/>
                  <a:t> and </a:t>
                </a:r>
                <a:r>
                  <a:rPr lang="en-US" sz="2000" dirty="0">
                    <a:hlinkClick r:id="rId3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here</a:t>
                </a: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24928"/>
                <a:ext cx="10515600" cy="5133349"/>
              </a:xfrm>
              <a:blipFill>
                <a:blip r:embed="rId4"/>
                <a:stretch>
                  <a:fillRect l="-1217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039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56253-7795-52CD-DC89-671E47B62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F3064-C916-6D77-2E17-FC76AE5BB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4928"/>
            <a:ext cx="10515600" cy="51333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Generally speaking, there are two major types of hash functions </a:t>
            </a:r>
          </a:p>
          <a:p>
            <a:r>
              <a:rPr lang="en-US" b="1" dirty="0"/>
              <a:t>Cryptographic hash functions </a:t>
            </a:r>
            <a:r>
              <a:rPr lang="en-US" dirty="0"/>
              <a:t>are invertible encodings used to prevent unauthorized access </a:t>
            </a:r>
          </a:p>
          <a:p>
            <a:r>
              <a:rPr lang="en-US" b="1" dirty="0"/>
              <a:t>Address hash functions </a:t>
            </a:r>
            <a:r>
              <a:rPr lang="en-US" dirty="0"/>
              <a:t>compute a sequence of address values for access to buckets of data tables</a:t>
            </a:r>
          </a:p>
          <a:p>
            <a:pPr lvl="1"/>
            <a:r>
              <a:rPr lang="en-US" dirty="0"/>
              <a:t>There is no need for invertibility  </a:t>
            </a:r>
          </a:p>
          <a:p>
            <a:r>
              <a:rPr lang="en-US" dirty="0"/>
              <a:t>There is a common body of theory underlying both types of hashes   </a:t>
            </a:r>
          </a:p>
          <a:p>
            <a:r>
              <a:rPr lang="en-US" dirty="0"/>
              <a:t>For data mining we apply address hashes to manage massive datasets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E66018C-A4DB-87C6-4869-5EAC4E862118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586682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pPr marL="0" indent="0">
              <a:buNone/>
            </a:pPr>
            <a:endParaRPr lang="en-US" dirty="0"/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A18318-BD7F-4259-81CC-99C0F03E93A8}"/>
              </a:ext>
            </a:extLst>
          </p:cNvPr>
          <p:cNvGrpSpPr/>
          <p:nvPr/>
        </p:nvGrpSpPr>
        <p:grpSpPr>
          <a:xfrm>
            <a:off x="129572" y="3217071"/>
            <a:ext cx="2761059" cy="376030"/>
            <a:chOff x="129572" y="3217071"/>
            <a:chExt cx="2761059" cy="37603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9804EAE-867A-40B5-A072-508CF684DAD9}"/>
                </a:ext>
              </a:extLst>
            </p:cNvPr>
            <p:cNvSpPr/>
            <p:nvPr/>
          </p:nvSpPr>
          <p:spPr>
            <a:xfrm>
              <a:off x="129572" y="3217071"/>
              <a:ext cx="1178451" cy="372823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solidFill>
                    <a:schemeClr val="tx1"/>
                  </a:solidFill>
                </a:rPr>
                <a:t>key</a:t>
              </a:r>
              <a:r>
                <a:rPr lang="en-US" sz="2400" baseline="-25000" dirty="0" err="1">
                  <a:solidFill>
                    <a:schemeClr val="tx1"/>
                  </a:solidFill>
                </a:rPr>
                <a:t>i</a:t>
              </a:r>
              <a:endParaRPr lang="en-US" sz="2400" baseline="-250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7AB54C-F3D0-4BAE-BFAB-27B9B35CFACC}"/>
                </a:ext>
              </a:extLst>
            </p:cNvPr>
            <p:cNvSpPr/>
            <p:nvPr/>
          </p:nvSpPr>
          <p:spPr>
            <a:xfrm>
              <a:off x="1308023" y="3220278"/>
              <a:ext cx="1582608" cy="37282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v</a:t>
              </a:r>
              <a:r>
                <a:rPr lang="en-US" sz="2400" baseline="-25000" dirty="0">
                  <a:solidFill>
                    <a:schemeClr val="tx1"/>
                  </a:solidFill>
                </a:rPr>
                <a:t>i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03893C-D0F3-4FF5-86CA-F0925D9FEA72}"/>
              </a:ext>
            </a:extLst>
          </p:cNvPr>
          <p:cNvSpPr txBox="1"/>
          <p:nvPr/>
        </p:nvSpPr>
        <p:spPr>
          <a:xfrm>
            <a:off x="501926" y="2622335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Key-value pair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Start with a </a:t>
                </a:r>
                <a:r>
                  <a:rPr lang="en-US" b="1" dirty="0"/>
                  <a:t>key-value pair</a:t>
                </a:r>
              </a:p>
              <a:p>
                <a:r>
                  <a:rPr lang="en-US" dirty="0"/>
                  <a:t>Want to insert the value into a </a:t>
                </a:r>
                <a:r>
                  <a:rPr lang="en-US" b="1" dirty="0"/>
                  <a:t>hash table</a:t>
                </a:r>
              </a:p>
              <a:p>
                <a:r>
                  <a:rPr lang="en-US" dirty="0"/>
                  <a:t>Values held in buckets</a:t>
                </a:r>
              </a:p>
              <a:p>
                <a:r>
                  <a:rPr lang="en-US" dirty="0"/>
                  <a:t>Hash table </a:t>
                </a:r>
                <a:r>
                  <a:rPr lang="en-US" b="1" dirty="0"/>
                  <a:t>buckets addressed by hashed key value</a:t>
                </a:r>
              </a:p>
              <a:p>
                <a:r>
                  <a:rPr lang="en-US" dirty="0"/>
                  <a:t>Hash the key to an address in the table</a:t>
                </a:r>
              </a:p>
              <a:p>
                <a:r>
                  <a:rPr lang="en-US" dirty="0"/>
                  <a:t>Insert the value into the bucket by hash address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1828800"/>
                <a:ext cx="4904456" cy="4979561"/>
              </a:xfrm>
              <a:prstGeom prst="rect">
                <a:avLst/>
              </a:prstGeom>
              <a:blipFill>
                <a:blip r:embed="rId2"/>
                <a:stretch>
                  <a:fillRect l="-2236" t="-2693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83" y="4277608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C02339-7B42-DB7F-AC72-D22B48D27812}"/>
              </a:ext>
            </a:extLst>
          </p:cNvPr>
          <p:cNvCxnSpPr>
            <a:stCxn id="7" idx="2"/>
            <a:endCxn id="16" idx="0"/>
          </p:cNvCxnSpPr>
          <p:nvPr/>
        </p:nvCxnSpPr>
        <p:spPr>
          <a:xfrm>
            <a:off x="718798" y="3589894"/>
            <a:ext cx="1380529" cy="687714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A390D01-0010-F11B-5B67-6238264FD85B}"/>
              </a:ext>
            </a:extLst>
          </p:cNvPr>
          <p:cNvCxnSpPr>
            <a:cxnSpLocks/>
            <a:stCxn id="16" idx="3"/>
            <a:endCxn id="23" idx="1"/>
          </p:cNvCxnSpPr>
          <p:nvPr/>
        </p:nvCxnSpPr>
        <p:spPr>
          <a:xfrm>
            <a:off x="3184871" y="4539218"/>
            <a:ext cx="519474" cy="307032"/>
          </a:xfrm>
          <a:prstGeom prst="straightConnector1">
            <a:avLst/>
          </a:prstGeom>
          <a:ln w="222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984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40" grpId="0"/>
      <p:bldP spid="41" grpId="0"/>
      <p:bldP spid="1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6836" y="1289913"/>
            <a:ext cx="10515600" cy="7225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hash table uses a hash of a key to index values</a:t>
            </a:r>
          </a:p>
          <a:p>
            <a:endParaRPr lang="en-US" b="1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A30D2E-9D6D-4721-8DF7-471103EB0B3B}"/>
              </a:ext>
            </a:extLst>
          </p:cNvPr>
          <p:cNvSpPr/>
          <p:nvPr/>
        </p:nvSpPr>
        <p:spPr>
          <a:xfrm>
            <a:off x="3704345" y="284104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BBB78-E73D-4C34-B6E5-E752D8FEBC51}"/>
              </a:ext>
            </a:extLst>
          </p:cNvPr>
          <p:cNvSpPr/>
          <p:nvPr/>
        </p:nvSpPr>
        <p:spPr>
          <a:xfrm>
            <a:off x="5063720" y="2847455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7AB54C-F3D0-4BAE-BFAB-27B9B35CFACC}"/>
              </a:ext>
            </a:extLst>
          </p:cNvPr>
          <p:cNvSpPr/>
          <p:nvPr/>
        </p:nvSpPr>
        <p:spPr>
          <a:xfrm>
            <a:off x="1403465" y="5366580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A5D43-DD6A-45A9-999E-FF5DB3BA0AD9}"/>
              </a:ext>
            </a:extLst>
          </p:cNvPr>
          <p:cNvSpPr/>
          <p:nvPr/>
        </p:nvSpPr>
        <p:spPr>
          <a:xfrm>
            <a:off x="3704345" y="3213864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A0E273-D7FF-48E0-BE46-925D1F57B05E}"/>
              </a:ext>
            </a:extLst>
          </p:cNvPr>
          <p:cNvSpPr/>
          <p:nvPr/>
        </p:nvSpPr>
        <p:spPr>
          <a:xfrm>
            <a:off x="5063720" y="3220278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58D9FE-A609-48AA-B396-A2EF9A274ED5}"/>
              </a:ext>
            </a:extLst>
          </p:cNvPr>
          <p:cNvSpPr/>
          <p:nvPr/>
        </p:nvSpPr>
        <p:spPr>
          <a:xfrm>
            <a:off x="3704345" y="3586687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3CFF0-A324-43B8-A23D-996EC7CF9151}"/>
              </a:ext>
            </a:extLst>
          </p:cNvPr>
          <p:cNvSpPr/>
          <p:nvPr/>
        </p:nvSpPr>
        <p:spPr>
          <a:xfrm>
            <a:off x="5063720" y="3593101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4C2BB3-1085-4A35-B172-F542E78B0496}"/>
              </a:ext>
            </a:extLst>
          </p:cNvPr>
          <p:cNvSpPr/>
          <p:nvPr/>
        </p:nvSpPr>
        <p:spPr>
          <a:xfrm>
            <a:off x="3704345" y="4659838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h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B3B1C8-4C79-4B20-94B4-072363FED7C0}"/>
              </a:ext>
            </a:extLst>
          </p:cNvPr>
          <p:cNvSpPr/>
          <p:nvPr/>
        </p:nvSpPr>
        <p:spPr>
          <a:xfrm>
            <a:off x="5063720" y="4666252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</a:t>
            </a:r>
            <a:r>
              <a:rPr lang="en-US" sz="2400" baseline="-250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F9CDCFD-E073-49CB-BAEF-86358A473DED}"/>
              </a:ext>
            </a:extLst>
          </p:cNvPr>
          <p:cNvSpPr/>
          <p:nvPr/>
        </p:nvSpPr>
        <p:spPr>
          <a:xfrm>
            <a:off x="3704345" y="5732989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h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1420F77-7C2D-4FEC-A873-04FBB65DA4EE}"/>
              </a:ext>
            </a:extLst>
          </p:cNvPr>
          <p:cNvSpPr/>
          <p:nvPr/>
        </p:nvSpPr>
        <p:spPr>
          <a:xfrm>
            <a:off x="5063720" y="5739403"/>
            <a:ext cx="1582608" cy="372823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v</a:t>
            </a:r>
            <a:r>
              <a:rPr lang="en-US" sz="2400" baseline="-25000" dirty="0" err="1">
                <a:solidFill>
                  <a:schemeClr val="tx1"/>
                </a:solidFill>
              </a:rPr>
              <a:t>n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984E095-C61E-4D9C-A010-5667D9A30C31}"/>
              </a:ext>
            </a:extLst>
          </p:cNvPr>
          <p:cNvSpPr/>
          <p:nvPr/>
        </p:nvSpPr>
        <p:spPr>
          <a:xfrm>
            <a:off x="5011540" y="4058795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568B3FF-37F3-4648-9AB9-43E68A6A9F80}"/>
              </a:ext>
            </a:extLst>
          </p:cNvPr>
          <p:cNvSpPr/>
          <p:nvPr/>
        </p:nvSpPr>
        <p:spPr>
          <a:xfrm>
            <a:off x="5011539" y="4260701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D8AA4AE-8F61-4BC5-96AA-6C6D8565A8D8}"/>
              </a:ext>
            </a:extLst>
          </p:cNvPr>
          <p:cNvSpPr/>
          <p:nvPr/>
        </p:nvSpPr>
        <p:spPr>
          <a:xfrm>
            <a:off x="5011538" y="4462607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1BAD3B-DE36-40BF-8285-2B2F3AC32255}"/>
              </a:ext>
            </a:extLst>
          </p:cNvPr>
          <p:cNvSpPr/>
          <p:nvPr/>
        </p:nvSpPr>
        <p:spPr>
          <a:xfrm>
            <a:off x="5011540" y="5110470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F40760D-0123-4BB3-843F-A4C8E057816B}"/>
              </a:ext>
            </a:extLst>
          </p:cNvPr>
          <p:cNvSpPr/>
          <p:nvPr/>
        </p:nvSpPr>
        <p:spPr>
          <a:xfrm>
            <a:off x="5011539" y="5312376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899B308-EDC1-4B6B-82E0-229CDBF58334}"/>
              </a:ext>
            </a:extLst>
          </p:cNvPr>
          <p:cNvSpPr/>
          <p:nvPr/>
        </p:nvSpPr>
        <p:spPr>
          <a:xfrm>
            <a:off x="5011538" y="5514282"/>
            <a:ext cx="104361" cy="10436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0F3A16B-F1E0-4516-84F7-8345A3187441}"/>
              </a:ext>
            </a:extLst>
          </p:cNvPr>
          <p:cNvSpPr/>
          <p:nvPr/>
        </p:nvSpPr>
        <p:spPr>
          <a:xfrm>
            <a:off x="976785" y="3460911"/>
            <a:ext cx="2723322" cy="1267239"/>
          </a:xfrm>
          <a:custGeom>
            <a:avLst/>
            <a:gdLst>
              <a:gd name="connsiteX0" fmla="*/ 0 w 2723322"/>
              <a:gd name="connsiteY0" fmla="*/ 0 h 1267239"/>
              <a:gd name="connsiteX1" fmla="*/ 54666 w 2723322"/>
              <a:gd name="connsiteY1" fmla="*/ 506896 h 1267239"/>
              <a:gd name="connsiteX2" fmla="*/ 288235 w 2723322"/>
              <a:gd name="connsiteY2" fmla="*/ 854765 h 1267239"/>
              <a:gd name="connsiteX3" fmla="*/ 1500809 w 2723322"/>
              <a:gd name="connsiteY3" fmla="*/ 1217543 h 1267239"/>
              <a:gd name="connsiteX4" fmla="*/ 2723322 w 2723322"/>
              <a:gd name="connsiteY4" fmla="*/ 1267239 h 126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23322" h="1267239">
                <a:moveTo>
                  <a:pt x="0" y="0"/>
                </a:moveTo>
                <a:cubicBezTo>
                  <a:pt x="3313" y="182217"/>
                  <a:pt x="6627" y="364435"/>
                  <a:pt x="54666" y="506896"/>
                </a:cubicBezTo>
                <a:cubicBezTo>
                  <a:pt x="102705" y="649357"/>
                  <a:pt x="47211" y="736324"/>
                  <a:pt x="288235" y="854765"/>
                </a:cubicBezTo>
                <a:cubicBezTo>
                  <a:pt x="529259" y="973206"/>
                  <a:pt x="1094961" y="1148797"/>
                  <a:pt x="1500809" y="1217543"/>
                </a:cubicBezTo>
                <a:cubicBezTo>
                  <a:pt x="1906657" y="1286289"/>
                  <a:pt x="2514600" y="1258956"/>
                  <a:pt x="2723322" y="1267239"/>
                </a:cubicBezTo>
              </a:path>
            </a:pathLst>
          </a:custGeom>
          <a:noFill/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1D3B574-604B-4DB6-940F-48BAB0E1BD52}"/>
              </a:ext>
            </a:extLst>
          </p:cNvPr>
          <p:cNvSpPr txBox="1"/>
          <p:nvPr/>
        </p:nvSpPr>
        <p:spPr>
          <a:xfrm>
            <a:off x="3969026" y="2311188"/>
            <a:ext cx="22909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Hash table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Given a hash table, how do we look up a value? </a:t>
                </a:r>
                <a:endParaRPr lang="en-US" b="1" dirty="0"/>
              </a:p>
              <a:p>
                <a:r>
                  <a:rPr lang="en-US" dirty="0"/>
                  <a:t>Start with the key</a:t>
                </a:r>
              </a:p>
              <a:p>
                <a:r>
                  <a:rPr lang="en-US" dirty="0"/>
                  <a:t>Hash the key to hash value (address) in hash table</a:t>
                </a:r>
              </a:p>
              <a:p>
                <a:r>
                  <a:rPr lang="en-US" dirty="0"/>
                  <a:t>Value is now available for processing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average time!</a:t>
                </a:r>
              </a:p>
              <a:p>
                <a:endParaRPr lang="en-US" dirty="0"/>
              </a:p>
              <a:p>
                <a:endParaRPr lang="en-US" b="1" dirty="0"/>
              </a:p>
            </p:txBody>
          </p:sp>
        </mc:Choice>
        <mc:Fallback xmlns="">
          <p:sp>
            <p:nvSpPr>
              <p:cNvPr id="42" name="Content Placeholder 2">
                <a:extLst>
                  <a:ext uri="{FF2B5EF4-FFF2-40B4-BE49-F238E27FC236}">
                    <a16:creationId xmlns:a16="http://schemas.microsoft.com/office/drawing/2014/main" id="{0584C6A8-2283-47FA-8E91-B827D1865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3615" y="2191388"/>
                <a:ext cx="4904456" cy="4616973"/>
              </a:xfrm>
              <a:prstGeom prst="rect">
                <a:avLst/>
              </a:prstGeom>
              <a:blipFill>
                <a:blip r:embed="rId2"/>
                <a:stretch>
                  <a:fillRect l="-2236" t="-2111" r="-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/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𝑘𝑒𝑦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4A9E263-3098-46A9-A485-AFFCD608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251" y="3880803"/>
                <a:ext cx="217108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304F30E-893B-4A5A-A67B-C0D999F41BFE}"/>
              </a:ext>
            </a:extLst>
          </p:cNvPr>
          <p:cNvSpPr/>
          <p:nvPr/>
        </p:nvSpPr>
        <p:spPr>
          <a:xfrm>
            <a:off x="450772" y="3071851"/>
            <a:ext cx="1178451" cy="3728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key</a:t>
            </a:r>
            <a:r>
              <a:rPr lang="en-US" sz="2400" baseline="-25000" dirty="0" err="1">
                <a:solidFill>
                  <a:schemeClr val="tx1"/>
                </a:solidFill>
              </a:rPr>
              <a:t>i</a:t>
            </a:r>
            <a:endParaRPr 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276967-A8EC-4E40-8B68-18A9EA5749E1}"/>
              </a:ext>
            </a:extLst>
          </p:cNvPr>
          <p:cNvSpPr/>
          <p:nvPr/>
        </p:nvSpPr>
        <p:spPr>
          <a:xfrm>
            <a:off x="2267712" y="4937760"/>
            <a:ext cx="1442139" cy="418011"/>
          </a:xfrm>
          <a:custGeom>
            <a:avLst/>
            <a:gdLst>
              <a:gd name="connsiteX0" fmla="*/ 1442139 w 1442139"/>
              <a:gd name="connsiteY0" fmla="*/ 0 h 418011"/>
              <a:gd name="connsiteX1" fmla="*/ 945751 w 1442139"/>
              <a:gd name="connsiteY1" fmla="*/ 10450 h 418011"/>
              <a:gd name="connsiteX2" fmla="*/ 423237 w 1442139"/>
              <a:gd name="connsiteY2" fmla="*/ 62702 h 418011"/>
              <a:gd name="connsiteX3" fmla="*/ 156754 w 1442139"/>
              <a:gd name="connsiteY3" fmla="*/ 209006 h 418011"/>
              <a:gd name="connsiteX4" fmla="*/ 41801 w 1442139"/>
              <a:gd name="connsiteY4" fmla="*/ 344859 h 418011"/>
              <a:gd name="connsiteX5" fmla="*/ 0 w 1442139"/>
              <a:gd name="connsiteY5" fmla="*/ 418011 h 418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42139" h="418011">
                <a:moveTo>
                  <a:pt x="1442139" y="0"/>
                </a:moveTo>
                <a:cubicBezTo>
                  <a:pt x="1278853" y="0"/>
                  <a:pt x="1115568" y="0"/>
                  <a:pt x="945751" y="10450"/>
                </a:cubicBezTo>
                <a:cubicBezTo>
                  <a:pt x="775934" y="20900"/>
                  <a:pt x="554736" y="29609"/>
                  <a:pt x="423237" y="62702"/>
                </a:cubicBezTo>
                <a:cubicBezTo>
                  <a:pt x="291738" y="95795"/>
                  <a:pt x="220327" y="161980"/>
                  <a:pt x="156754" y="209006"/>
                </a:cubicBezTo>
                <a:cubicBezTo>
                  <a:pt x="93181" y="256032"/>
                  <a:pt x="67927" y="310025"/>
                  <a:pt x="41801" y="344859"/>
                </a:cubicBezTo>
                <a:cubicBezTo>
                  <a:pt x="15675" y="379693"/>
                  <a:pt x="7837" y="398852"/>
                  <a:pt x="0" y="418011"/>
                </a:cubicBezTo>
              </a:path>
            </a:pathLst>
          </a:custGeom>
          <a:noFill/>
          <a:ln w="28575"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8" grpId="0" animBg="1"/>
      <p:bldP spid="11" grpId="0" animBg="1"/>
      <p:bldP spid="12" grpId="0" animBg="1"/>
      <p:bldP spid="14" grpId="0" animBg="1"/>
      <p:bldP spid="15" grpId="0" animBg="1"/>
      <p:bldP spid="23" grpId="0" animBg="1"/>
      <p:bldP spid="24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6" grpId="0" animBg="1"/>
      <p:bldP spid="37" grpId="0" animBg="1"/>
      <p:bldP spid="38" grpId="0" animBg="1"/>
      <p:bldP spid="39" grpId="0" animBg="1"/>
      <p:bldP spid="41" grpId="0"/>
      <p:bldP spid="16" grpId="0"/>
      <p:bldP spid="34" grpId="0" animBg="1"/>
      <p:bldP spid="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4C975-B64B-4985-7BB7-F3995B17C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C15A-15E9-AC73-BE5F-B25552E48A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Functions</a:t>
            </a:r>
          </a:p>
        </p:txBody>
      </p:sp>
    </p:spTree>
    <p:extLst>
      <p:ext uri="{BB962C8B-B14F-4D97-AF65-F5344CB8AC3E}">
        <p14:creationId xmlns:p14="http://schemas.microsoft.com/office/powerpoint/2010/main" val="13307547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783"/>
            <a:ext cx="10515600" cy="549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Commonly used </a:t>
            </a:r>
            <a:r>
              <a:rPr lang="en-US" sz="3200" b="1" dirty="0"/>
              <a:t>hash functions</a:t>
            </a:r>
            <a:r>
              <a:rPr lang="en-US" sz="3200" dirty="0"/>
              <a:t>  </a:t>
            </a:r>
          </a:p>
          <a:p>
            <a:r>
              <a:rPr lang="en-US" sz="3000" dirty="0"/>
              <a:t>A great many hash functions are used in practice   </a:t>
            </a:r>
          </a:p>
          <a:p>
            <a:r>
              <a:rPr lang="en-US" sz="3000" dirty="0"/>
              <a:t>Simple hash functions operate on numeric keys  </a:t>
            </a:r>
          </a:p>
          <a:p>
            <a:pPr lvl="1"/>
            <a:r>
              <a:rPr lang="en-US" sz="2600" dirty="0"/>
              <a:t>Binary or integer </a:t>
            </a:r>
          </a:p>
          <a:p>
            <a:r>
              <a:rPr lang="en-US" sz="3000" dirty="0"/>
              <a:t>Binary representation of strings, e.g. ASCII or Unicode  </a:t>
            </a:r>
            <a:endParaRPr lang="en-US" sz="2000" dirty="0"/>
          </a:p>
          <a:p>
            <a:pPr lvl="1"/>
            <a:r>
              <a:rPr lang="en-US" sz="2600" dirty="0"/>
              <a:t>Hash a binary or integer representation of a string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33097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ACE2-7EE6-1471-3563-CA26754EA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</a:p>
              <a:p>
                <a:r>
                  <a:rPr lang="en-US" sz="3000" dirty="0"/>
                  <a:t>A great many hash functions are used in practice   </a:t>
                </a:r>
              </a:p>
              <a:p>
                <a:r>
                  <a:rPr lang="en-US" sz="3000" dirty="0"/>
                  <a:t>Simple hash function for integer key,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3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pPr lvl="1"/>
                <a:r>
                  <a:rPr lang="en-US" sz="2600" dirty="0"/>
                  <a:t>a = multiplier,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600" dirty="0"/>
              </a:p>
              <a:p>
                <a:pPr lvl="1"/>
                <a:r>
                  <a:rPr lang="en-US" sz="2600" dirty="0"/>
                  <a:t>b = additive constant</a:t>
                </a:r>
              </a:p>
              <a:p>
                <a:pPr lvl="1"/>
                <a:r>
                  <a:rPr lang="en-US" sz="2600" dirty="0"/>
                  <a:t>p = constant, generally prime,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600" dirty="0"/>
                  <a:t>, the size of the set to be hashed</a:t>
                </a:r>
              </a:p>
              <a:p>
                <a:pPr lvl="1"/>
                <a:r>
                  <a:rPr lang="en-US" sz="2600" dirty="0"/>
                  <a:t>m = size of the hash table, typically,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sup>
                    </m:sSup>
                  </m:oMath>
                </a14:m>
                <a:endParaRPr lang="en-US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4FEC52-06E4-E99A-FFBA-7E99A4BFCA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33862DDE-E9C6-C1EA-E9EB-C9E690CE832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8650723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5231A-D19F-C328-7E94-6A71FE891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Commonly used </a:t>
                </a:r>
                <a:r>
                  <a:rPr lang="en-US" sz="3200" b="1" dirty="0"/>
                  <a:t>hash functions</a:t>
                </a:r>
                <a:r>
                  <a:rPr lang="en-US" sz="3200" dirty="0"/>
                  <a:t>  </a:t>
                </a:r>
                <a:endParaRPr lang="en-US" sz="3000" dirty="0"/>
              </a:p>
              <a:p>
                <a:r>
                  <a:rPr lang="en-US" sz="3000"/>
                  <a:t>Hash function is </a:t>
                </a:r>
                <a:r>
                  <a:rPr lang="en-US" sz="3000" dirty="0"/>
                  <a:t>applied to a </a:t>
                </a:r>
                <a:r>
                  <a:rPr lang="en-US" sz="3000" b="1" dirty="0"/>
                  <a:t>scalar key, </a:t>
                </a:r>
                <a14:m>
                  <m:oMath xmlns:m="http://schemas.openxmlformats.org/officeDocument/2006/math">
                    <m:r>
                      <a:rPr lang="en-US" sz="3000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sz="3000" b="1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i="1" smtClean="0">
                          <a:latin typeface="Cambria Math" panose="02040503050406030204" pitchFamily="18" charset="0"/>
                        </a:rPr>
                        <m:t>f</m:t>
                      </m:r>
                      <m:d>
                        <m:dPr>
                          <m:ctrlPr>
                            <a:rPr lang="en-US" sz="3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𝑚𝑜𝑑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300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How do we handle vector (multi) valued keys?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000" b="0" i="0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US" sz="30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3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000" dirty="0"/>
              </a:p>
              <a:p>
                <a:r>
                  <a:rPr lang="en-US" sz="3000" dirty="0"/>
                  <a:t>We can sum the hashes,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3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000" dirty="0"/>
                  <a:t>, modulo the table length</a:t>
                </a:r>
              </a:p>
              <a:p>
                <a:pPr lvl="2"/>
                <a:endParaRPr lang="en-US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0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sz="3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𝑚𝑜𝑑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000" dirty="0"/>
              </a:p>
              <a:p>
                <a:pPr marL="457200" lvl="1" indent="0">
                  <a:buNone/>
                </a:pPr>
                <a:r>
                  <a:rPr lang="en-US" sz="2600" dirty="0"/>
                  <a:t>Where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600" dirty="0"/>
                  <a:t> is a unique or independent hash function  </a:t>
                </a:r>
              </a:p>
              <a:p>
                <a:endParaRPr lang="en-US" sz="3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04C4A7-4785-6851-D918-50EAE50F97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783"/>
                <a:ext cx="10515600" cy="5496849"/>
              </a:xfrm>
              <a:blipFill>
                <a:blip r:embed="rId2"/>
                <a:stretch>
                  <a:fillRect l="-1507" t="-2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9BFFD6E-8309-3B28-4A70-4F5373832514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266673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348CF-3DE8-C147-4B0C-26587F28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A4D2-70CD-4CEA-D93E-4759FF4434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Hash Collisions</a:t>
            </a:r>
          </a:p>
        </p:txBody>
      </p:sp>
    </p:spTree>
    <p:extLst>
      <p:ext uri="{BB962C8B-B14F-4D97-AF65-F5344CB8AC3E}">
        <p14:creationId xmlns:p14="http://schemas.microsoft.com/office/powerpoint/2010/main" val="24918912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Resolution method for inevitable hash collisions</a:t>
                </a:r>
              </a:p>
              <a:p>
                <a:pPr lvl="1"/>
                <a:r>
                  <a:rPr lang="en-US" dirty="0"/>
                  <a:t>Probability of collision increases as table fills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02899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1966D-4FEB-4376-ED9A-7E24B5D5C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713D0-5220-5B90-B085-A26344BE9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23406"/>
            <a:ext cx="10515600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are the properties of a good hash tables?  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Appropriate table size</a:t>
            </a:r>
          </a:p>
          <a:p>
            <a:pPr lvl="1"/>
            <a:r>
              <a:rPr lang="en-US" dirty="0"/>
              <a:t>Hash functions produce limited range of hash values   </a:t>
            </a:r>
          </a:p>
          <a:p>
            <a:pPr lvl="1"/>
            <a:r>
              <a:rPr lang="en-US" dirty="0"/>
              <a:t>Too large wastes space</a:t>
            </a:r>
          </a:p>
          <a:p>
            <a:pPr lvl="1"/>
            <a:r>
              <a:rPr lang="en-US" dirty="0"/>
              <a:t>Too small leads to collisions</a:t>
            </a:r>
          </a:p>
          <a:p>
            <a:pPr lvl="1"/>
            <a:r>
              <a:rPr lang="en-US" dirty="0"/>
              <a:t>Ideally make hash table resizable - Half or double as needed 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US" dirty="0"/>
              <a:t>Ability to merge hash tables </a:t>
            </a:r>
          </a:p>
          <a:p>
            <a:pPr lvl="1"/>
            <a:r>
              <a:rPr lang="en-US" dirty="0"/>
              <a:t>Enables parallel processing </a:t>
            </a:r>
          </a:p>
          <a:p>
            <a:pPr lvl="1"/>
            <a:r>
              <a:rPr lang="en-US" dirty="0"/>
              <a:t>Hash multiple data streams </a:t>
            </a:r>
          </a:p>
          <a:p>
            <a:pPr lvl="1"/>
            <a:r>
              <a:rPr lang="en-US" dirty="0"/>
              <a:t>More on this later in the course</a:t>
            </a:r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A499FEE-81C5-CA87-ABD6-FE7C5C870E57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69103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Resolving hash key collisions   </a:t>
                </a:r>
              </a:p>
              <a:p>
                <a:r>
                  <a:rPr lang="en-US" b="1" dirty="0">
                    <a:hlinkClick r:id="rId2"/>
                  </a:rPr>
                  <a:t>Separate chaining</a:t>
                </a:r>
                <a:endParaRPr lang="en-US" b="1" dirty="0"/>
              </a:p>
              <a:p>
                <a:r>
                  <a:rPr lang="en-US" dirty="0"/>
                  <a:t>Key collisions resolved by creating linked list</a:t>
                </a:r>
              </a:p>
              <a:p>
                <a:r>
                  <a:rPr lang="en-US" dirty="0"/>
                  <a:t>Search list in linear time,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Efficient if number of collisions,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, is small</a:t>
                </a:r>
              </a:p>
              <a:p>
                <a:endParaRPr lang="en-US" dirty="0"/>
              </a:p>
              <a:p>
                <a:pPr lvl="1"/>
                <a:endParaRPr lang="en-US" sz="2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8E6AF3-7615-4BD1-878E-A94C93E98F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123406"/>
                <a:ext cx="5431971" cy="5470724"/>
              </a:xfrm>
              <a:blipFill>
                <a:blip r:embed="rId3"/>
                <a:stretch>
                  <a:fillRect l="-2242" t="-1782" r="-1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546DE2-C49E-49D3-A29B-9D1A03666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05" y="1830373"/>
            <a:ext cx="5550463" cy="34156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980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23406"/>
            <a:ext cx="5431971" cy="5470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Resolving hash key collisions   </a:t>
            </a:r>
          </a:p>
          <a:p>
            <a:r>
              <a:rPr lang="en-US" b="1" dirty="0">
                <a:hlinkClick r:id="rId2"/>
              </a:rPr>
              <a:t>Open addressing </a:t>
            </a:r>
            <a:r>
              <a:rPr lang="en-US" dirty="0"/>
              <a:t>methods widely used</a:t>
            </a:r>
          </a:p>
          <a:p>
            <a:r>
              <a:rPr lang="en-US" dirty="0"/>
              <a:t>Key collisions resolved by </a:t>
            </a:r>
            <a:r>
              <a:rPr lang="en-US" b="1" dirty="0"/>
              <a:t>probing</a:t>
            </a:r>
            <a:r>
              <a:rPr lang="en-US" dirty="0"/>
              <a:t> for open bucket</a:t>
            </a:r>
          </a:p>
          <a:p>
            <a:pPr lvl="1"/>
            <a:r>
              <a:rPr lang="en-US" b="1" dirty="0">
                <a:hlinkClick r:id="rId3"/>
              </a:rPr>
              <a:t>Linear probing </a:t>
            </a:r>
            <a:r>
              <a:rPr lang="en-US" dirty="0"/>
              <a:t>– search buckets in order – efficient and widely used</a:t>
            </a:r>
          </a:p>
          <a:p>
            <a:pPr lvl="1"/>
            <a:r>
              <a:rPr lang="en-US" dirty="0"/>
              <a:t>Quadratic probing – increases interval between buckets searched</a:t>
            </a:r>
          </a:p>
          <a:p>
            <a:pPr lvl="1"/>
            <a:r>
              <a:rPr lang="en-US" dirty="0"/>
              <a:t>Double hashing – search for open bucket with second hash</a:t>
            </a:r>
          </a:p>
          <a:p>
            <a:r>
              <a:rPr lang="en-US" dirty="0"/>
              <a:t>Searching colliding keys in less than linear time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sz="22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3913C8-5D2D-43C2-B2CE-45A4513ED053}"/>
              </a:ext>
            </a:extLst>
          </p:cNvPr>
          <p:cNvSpPr txBox="1"/>
          <p:nvPr/>
        </p:nvSpPr>
        <p:spPr>
          <a:xfrm>
            <a:off x="6984083" y="5566822"/>
            <a:ext cx="47601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Credit: Wikipedia commons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FCA564-4F03-40D5-BDD4-350BD922B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7552" y="1182822"/>
            <a:ext cx="5381177" cy="428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74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A905F-17EC-9351-E47A-0E13F7361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key values,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, want a </a:t>
                </a:r>
                <a:r>
                  <a:rPr lang="en-US" b="1" dirty="0"/>
                  <a:t>uniform distribution over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b="1" dirty="0"/>
                  <a:t> hash values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)~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𝒎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length hash table probability of bucket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being occupied is: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b="1" dirty="0"/>
                  <a:t>Lumpy hash values </a:t>
                </a:r>
                <a:r>
                  <a:rPr lang="en-US" dirty="0"/>
                  <a:t>lead to increased </a:t>
                </a:r>
                <a:r>
                  <a:rPr lang="en-US" b="1" dirty="0"/>
                  <a:t>hash collisions </a:t>
                </a:r>
              </a:p>
              <a:p>
                <a:pPr lvl="1"/>
                <a:r>
                  <a:rPr lang="en-US" dirty="0"/>
                  <a:t>Can verify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F6F35F-5504-3FF6-7F3F-F41955A60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9CDD3AB4-A9E3-8623-71E8-A086F9266E92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91866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A56C-70FE-5B2C-A831-909F1DDB9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For a uniformly distributed hash function the probability of a hash collision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elements filled in the table,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B342E0-F512-00E2-2EB2-0181FBB76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10515600" cy="5470724"/>
              </a:xfrm>
              <a:blipFill>
                <a:blip r:embed="rId2"/>
                <a:stretch>
                  <a:fillRect l="-1217" t="-17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6CA76E0F-11D1-BAC3-B65E-D210BD3050AB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</p:spTree>
    <p:extLst>
      <p:ext uri="{BB962C8B-B14F-4D97-AF65-F5344CB8AC3E}">
        <p14:creationId xmlns:p14="http://schemas.microsoft.com/office/powerpoint/2010/main" val="395265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27B62-95A2-A33F-3E97-DA8CBA75D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What are the properties of a good hash function?  </a:t>
                </a:r>
              </a:p>
              <a:p>
                <a:r>
                  <a:rPr lang="en-US" dirty="0"/>
                  <a:t>Given table utilization,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 number of probes required to find an open bucket is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𝑝𝑟𝑜𝑏𝑠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≈1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Complexity of probing increases rapidly as table fills</a:t>
                </a:r>
              </a:p>
              <a:p>
                <a:pPr marL="457200" lvl="1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3FE2C5-A1AE-9949-3815-87F58D1022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3406"/>
                <a:ext cx="4313791" cy="5470724"/>
              </a:xfrm>
              <a:blipFill>
                <a:blip r:embed="rId2"/>
                <a:stretch>
                  <a:fillRect l="-2970" t="-1782" r="-4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C4AA09B5-0045-DC0F-0835-D4290DB1F551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Introduction to Hashing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BBAD6E-1AA4-B7BC-6C7C-7CC29E528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592" y="1036018"/>
            <a:ext cx="4953435" cy="564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17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87113-4FF5-4C8C-6DD2-6ED943D7E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4D97-C525-0D5F-DBA4-E2E62A9E4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6655338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8E6AF3-7615-4BD1-878E-A94C93E98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mining is the science of </a:t>
            </a:r>
            <a:r>
              <a:rPr lang="en-US" b="1" dirty="0"/>
              <a:t>knowledge discovery</a:t>
            </a:r>
            <a:r>
              <a:rPr lang="en-US" dirty="0"/>
              <a:t> using data </a:t>
            </a:r>
          </a:p>
          <a:p>
            <a:r>
              <a:rPr lang="en-US" dirty="0"/>
              <a:t>Data mining uses </a:t>
            </a:r>
            <a:r>
              <a:rPr lang="en-US" b="1" dirty="0"/>
              <a:t>massive data sets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Manage massive data with key-values pairs</a:t>
            </a:r>
          </a:p>
          <a:p>
            <a:pPr lvl="1"/>
            <a:r>
              <a:rPr lang="en-US" dirty="0"/>
              <a:t>Hashing keys can reduce storge and retrieval times</a:t>
            </a:r>
          </a:p>
          <a:p>
            <a:r>
              <a:rPr lang="en-US" dirty="0"/>
              <a:t>Knowledge discovery requires </a:t>
            </a:r>
            <a:r>
              <a:rPr lang="en-US" b="1" dirty="0"/>
              <a:t>inference</a:t>
            </a:r>
          </a:p>
          <a:p>
            <a:pPr lvl="1"/>
            <a:r>
              <a:rPr lang="en-US" dirty="0"/>
              <a:t>Inference for complex data must control false discovery rate</a:t>
            </a:r>
          </a:p>
          <a:p>
            <a:pPr lvl="1"/>
            <a:r>
              <a:rPr lang="en-US" dirty="0"/>
              <a:t>Must limit Type II error with FDR controls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D29F70F-B868-451B-A65D-8721F4C7A2D9}"/>
              </a:ext>
            </a:extLst>
          </p:cNvPr>
          <p:cNvSpPr txBox="1">
            <a:spLocks/>
          </p:cNvSpPr>
          <p:nvPr/>
        </p:nvSpPr>
        <p:spPr>
          <a:xfrm>
            <a:off x="838200" y="-6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0534352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22459</TotalTime>
  <Words>3343</Words>
  <Application>Microsoft Office PowerPoint</Application>
  <PresentationFormat>Widescreen</PresentationFormat>
  <Paragraphs>467</Paragraphs>
  <Slides>53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0" baseType="lpstr">
      <vt:lpstr>Arial</vt:lpstr>
      <vt:lpstr>Calibri</vt:lpstr>
      <vt:lpstr>Calibri Light</vt:lpstr>
      <vt:lpstr>Cambria Math</vt:lpstr>
      <vt:lpstr>Google Sans</vt:lpstr>
      <vt:lpstr>Rubik</vt:lpstr>
      <vt:lpstr>Office Theme</vt:lpstr>
      <vt:lpstr>CSCI E-108 Data Mining, Discovery and Exploration Introduction and Pitfalls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About This Course</vt:lpstr>
      <vt:lpstr>About your Instructor: Steve Elston</vt:lpstr>
      <vt:lpstr>About your TA: Jacqueline Hardy</vt:lpstr>
      <vt:lpstr>About your TA: Eric Trucksess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Foundations of Large-Scale Data-Mining</vt:lpstr>
      <vt:lpstr>PowerPoint Presentation</vt:lpstr>
      <vt:lpstr>Data Management with Key-Value Pairs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Introduction to Hashing</vt:lpstr>
      <vt:lpstr>PowerPoint Presentation</vt:lpstr>
      <vt:lpstr>PowerPoint Presentation</vt:lpstr>
      <vt:lpstr>PowerPoint Presentation</vt:lpstr>
      <vt:lpstr>PowerPoint Presentation</vt:lpstr>
      <vt:lpstr>Hash Functions</vt:lpstr>
      <vt:lpstr>PowerPoint Presentation</vt:lpstr>
      <vt:lpstr>PowerPoint Presentation</vt:lpstr>
      <vt:lpstr>PowerPoint Presentation</vt:lpstr>
      <vt:lpstr>Hash Collisions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E-82a Probabilistic Programming and AI Introduction</dc:title>
  <dc:creator>Stephen Elston</dc:creator>
  <cp:lastModifiedBy>Stephen Elston</cp:lastModifiedBy>
  <cp:revision>509</cp:revision>
  <cp:lastPrinted>2019-09-03T23:18:19Z</cp:lastPrinted>
  <dcterms:created xsi:type="dcterms:W3CDTF">2019-08-02T23:14:29Z</dcterms:created>
  <dcterms:modified xsi:type="dcterms:W3CDTF">2026-05-30T03:20:45Z</dcterms:modified>
</cp:coreProperties>
</file>