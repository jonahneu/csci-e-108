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256" r:id="rId2"/>
    <p:sldId id="383" r:id="rId3"/>
    <p:sldId id="257" r:id="rId4"/>
    <p:sldId id="354" r:id="rId5"/>
    <p:sldId id="353" r:id="rId6"/>
    <p:sldId id="356" r:id="rId7"/>
    <p:sldId id="782" r:id="rId8"/>
    <p:sldId id="712" r:id="rId9"/>
    <p:sldId id="288" r:id="rId10"/>
    <p:sldId id="733" r:id="rId11"/>
    <p:sldId id="788" r:id="rId12"/>
    <p:sldId id="724" r:id="rId13"/>
    <p:sldId id="397" r:id="rId14"/>
    <p:sldId id="718" r:id="rId15"/>
    <p:sldId id="790" r:id="rId16"/>
    <p:sldId id="791" r:id="rId17"/>
    <p:sldId id="792" r:id="rId18"/>
    <p:sldId id="783" r:id="rId19"/>
    <p:sldId id="786" r:id="rId20"/>
    <p:sldId id="396" r:id="rId21"/>
    <p:sldId id="400" r:id="rId22"/>
    <p:sldId id="352" r:id="rId23"/>
    <p:sldId id="388" r:id="rId24"/>
    <p:sldId id="721" r:id="rId25"/>
    <p:sldId id="381" r:id="rId26"/>
    <p:sldId id="722" r:id="rId27"/>
    <p:sldId id="402" r:id="rId28"/>
    <p:sldId id="789" r:id="rId29"/>
    <p:sldId id="395" r:id="rId30"/>
    <p:sldId id="793" r:id="rId31"/>
    <p:sldId id="725" r:id="rId32"/>
    <p:sldId id="401" r:id="rId33"/>
    <p:sldId id="713" r:id="rId34"/>
    <p:sldId id="784" r:id="rId35"/>
    <p:sldId id="387" r:id="rId36"/>
    <p:sldId id="720" r:id="rId37"/>
    <p:sldId id="382" r:id="rId38"/>
    <p:sldId id="787" r:id="rId39"/>
    <p:sldId id="357" r:id="rId40"/>
    <p:sldId id="385" r:id="rId41"/>
    <p:sldId id="359" r:id="rId42"/>
    <p:sldId id="727" r:id="rId43"/>
    <p:sldId id="386" r:id="rId44"/>
    <p:sldId id="714" r:id="rId45"/>
    <p:sldId id="360" r:id="rId46"/>
    <p:sldId id="731" r:id="rId47"/>
    <p:sldId id="374" r:id="rId48"/>
    <p:sldId id="375" r:id="rId49"/>
    <p:sldId id="738" r:id="rId50"/>
    <p:sldId id="377" r:id="rId51"/>
    <p:sldId id="729" r:id="rId52"/>
    <p:sldId id="730" r:id="rId53"/>
    <p:sldId id="739" r:id="rId54"/>
    <p:sldId id="376" r:id="rId55"/>
    <p:sldId id="728" r:id="rId56"/>
    <p:sldId id="379" r:id="rId57"/>
    <p:sldId id="380" r:id="rId58"/>
    <p:sldId id="742" r:id="rId59"/>
    <p:sldId id="743" r:id="rId60"/>
    <p:sldId id="744" r:id="rId61"/>
    <p:sldId id="785" r:id="rId62"/>
    <p:sldId id="740" r:id="rId63"/>
    <p:sldId id="384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32D8-8557-DB3F-21D4-442321707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DF28B5-2A3C-A662-5BB5-01105BF0A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779AF0-4020-16F8-FE7C-1DFA6EF338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BC192-EE75-6410-B5BC-D0850C0AE6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2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306299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939B7C2-6A65-43EF-9DD1-61635A9B6CE6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9350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.org/try-jupyter/notebooks/?path=notebooks/Intro.ipynb" TargetMode="External"/><Relationship Id="rId2" Type="http://schemas.openxmlformats.org/officeDocument/2006/relationships/hyperlink" Target="https://jupyter-notebook.readthedocs.io/en/stable/examples/Notebook/Working%20With%20Markdown%20Cell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www.w3schools.com/git/git_intro.asp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hyperlink" Target="https://en.wikipedia.org/wiki/Hash_table" TargetMode="Externa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often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Most data mining is </a:t>
            </a:r>
            <a:r>
              <a:rPr lang="en-US" b="1" dirty="0"/>
              <a:t>unsupervised </a:t>
            </a:r>
          </a:p>
          <a:p>
            <a:pPr lvl="1"/>
            <a:r>
              <a:rPr lang="en-US" dirty="0"/>
              <a:t>If we had known labels we could use supervised ML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Many steps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is generally performed at </a:t>
            </a:r>
            <a:r>
              <a:rPr lang="en-US" b="1" dirty="0"/>
              <a:t>large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Scalability requires tradeoffs between three factors</a:t>
            </a:r>
          </a:p>
          <a:p>
            <a:pPr lvl="1"/>
            <a:r>
              <a:rPr lang="en-US" dirty="0">
                <a:latin typeface="+mn-lt"/>
              </a:rPr>
              <a:t>Low memory use</a:t>
            </a:r>
          </a:p>
          <a:p>
            <a:pPr lvl="1"/>
            <a:r>
              <a:rPr lang="en-US" dirty="0">
                <a:latin typeface="+mn-lt"/>
              </a:rPr>
              <a:t>Low computational complexity</a:t>
            </a:r>
          </a:p>
          <a:p>
            <a:pPr lvl="1"/>
            <a:r>
              <a:rPr lang="en-US" dirty="0">
                <a:latin typeface="+mn-lt"/>
              </a:rPr>
              <a:t>Accuracy of results</a:t>
            </a:r>
          </a:p>
          <a:p>
            <a:r>
              <a:rPr lang="en-US" dirty="0">
                <a:latin typeface="+mn-lt"/>
              </a:rPr>
              <a:t>Must </a:t>
            </a:r>
            <a:r>
              <a:rPr lang="en-US" b="1" dirty="0">
                <a:latin typeface="+mn-lt"/>
              </a:rPr>
              <a:t>accept approximate results </a:t>
            </a:r>
            <a:r>
              <a:rPr lang="en-US" dirty="0">
                <a:latin typeface="+mn-lt"/>
              </a:rPr>
              <a:t>for massive scalability, low memory and complexity   </a:t>
            </a:r>
          </a:p>
          <a:p>
            <a:r>
              <a:rPr lang="en-US" dirty="0">
                <a:latin typeface="+mn-lt"/>
              </a:rPr>
              <a:t>LLMs have low scalability </a:t>
            </a:r>
          </a:p>
          <a:p>
            <a:pPr lvl="1"/>
            <a:r>
              <a:rPr lang="en-US" dirty="0">
                <a:latin typeface="+mn-lt"/>
              </a:rPr>
              <a:t>Slow</a:t>
            </a:r>
          </a:p>
          <a:p>
            <a:pPr lvl="1"/>
            <a:r>
              <a:rPr lang="en-US" dirty="0">
                <a:latin typeface="+mn-lt"/>
              </a:rPr>
              <a:t>Expensive</a:t>
            </a:r>
          </a:p>
          <a:p>
            <a:pPr lvl="1"/>
            <a:r>
              <a:rPr lang="en-US" dirty="0">
                <a:latin typeface="+mn-lt"/>
              </a:rPr>
              <a:t>Accuracy?? – hard to quantify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478300"/>
            <a:ext cx="10515600" cy="4814924"/>
          </a:xfrm>
        </p:spPr>
        <p:txBody>
          <a:bodyPr>
            <a:normAutofit lnSpcReduction="10000"/>
          </a:bodyPr>
          <a:lstStyle/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open-source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Inventor/coinventor on 5 issued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Consulting clients include Microsoft, SAP, Lloyds Banking Group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92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CE2B5B-E165-AFE7-3BF6-9F765556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sz="3600" dirty="0">
                <a:latin typeface="+mn-lt"/>
              </a:rPr>
              <a:t>About your TA: Jacqueline Hardy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53D9F3-C1CB-AE91-44FA-A9A184CF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E" dirty="0"/>
              <a:t>Bachelor’s Degree from Harvard Extension School (2015-2018)</a:t>
            </a:r>
          </a:p>
          <a:p>
            <a:pPr lvl="1"/>
            <a:r>
              <a:rPr lang="en-DE" dirty="0"/>
              <a:t>Field of Study: International Relations</a:t>
            </a:r>
          </a:p>
          <a:p>
            <a:pPr lvl="1"/>
            <a:r>
              <a:rPr lang="en-DE" dirty="0"/>
              <a:t>Minors: Quantitative Analysis &amp; Government</a:t>
            </a:r>
          </a:p>
          <a:p>
            <a:r>
              <a:rPr lang="en-DE" dirty="0"/>
              <a:t>Master’s Degree from Harvard Extension School (2022-2024)</a:t>
            </a:r>
          </a:p>
          <a:p>
            <a:pPr lvl="1"/>
            <a:r>
              <a:rPr lang="en-DE" dirty="0"/>
              <a:t>Field of Study: Data Science</a:t>
            </a:r>
          </a:p>
          <a:p>
            <a:r>
              <a:rPr lang="en-DE" dirty="0"/>
              <a:t>LG Electronics: </a:t>
            </a:r>
          </a:p>
          <a:p>
            <a:pPr lvl="1"/>
            <a:r>
              <a:rPr lang="en-DE" dirty="0"/>
              <a:t>Product Specialist </a:t>
            </a:r>
          </a:p>
          <a:p>
            <a:pPr lvl="1"/>
            <a:r>
              <a:rPr lang="en-DE" dirty="0"/>
              <a:t>Go-to-Market Manager</a:t>
            </a:r>
          </a:p>
          <a:p>
            <a:pPr lvl="1"/>
            <a:r>
              <a:rPr lang="en-DE" dirty="0"/>
              <a:t>Data Analytics Specialist </a:t>
            </a:r>
          </a:p>
          <a:p>
            <a:r>
              <a:rPr lang="en-DE" dirty="0"/>
              <a:t>SharkNinja </a:t>
            </a:r>
          </a:p>
          <a:p>
            <a:pPr lvl="1"/>
            <a:r>
              <a:rPr lang="en-DE" dirty="0"/>
              <a:t>Strategic Planning and Operations Data Scientist </a:t>
            </a:r>
          </a:p>
          <a:p>
            <a:r>
              <a:rPr lang="en-DE" dirty="0"/>
              <a:t>Building my own Data Science Consulting Firm</a:t>
            </a:r>
          </a:p>
        </p:txBody>
      </p:sp>
    </p:spTree>
    <p:extLst>
      <p:ext uri="{BB962C8B-B14F-4D97-AF65-F5344CB8AC3E}">
        <p14:creationId xmlns:p14="http://schemas.microsoft.com/office/powerpoint/2010/main" val="2292487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487304" y="621226"/>
            <a:ext cx="9143640" cy="66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strike="noStrike" spc="-1" dirty="0">
                <a:solidFill>
                  <a:schemeClr val="dk1"/>
                </a:solidFill>
                <a:latin typeface="+mn-lt"/>
              </a:rPr>
              <a:t>About your T.A.: Eric Trucksess 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846473" y="1369132"/>
            <a:ext cx="9927772" cy="45823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Registered Patent Attorney focused on the chemical arts, particularly pharmaceuticals, solid state devices and polymeric coatings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Founder/architect of </a:t>
            </a:r>
            <a:r>
              <a:rPr lang="en-US" sz="2600" b="0" strike="noStrike" spc="-1" dirty="0" err="1">
                <a:solidFill>
                  <a:schemeClr val="dk1"/>
                </a:solidFill>
                <a:latin typeface="+mn-lt"/>
              </a:rPr>
              <a:t>HasHave</a:t>
            </a: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, formerly an online bartering site which facilitated the exchange of goods and services amongst members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Counsel to </a:t>
            </a:r>
            <a:r>
              <a:rPr lang="en-US" sz="2600" b="0" strike="noStrike" spc="-1" dirty="0" err="1">
                <a:solidFill>
                  <a:schemeClr val="dk1"/>
                </a:solidFill>
                <a:latin typeface="+mn-lt"/>
              </a:rPr>
              <a:t>RocketFuel</a:t>
            </a: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 an early-generation targeted marketing firm that applied ML principles in online marketing campaigns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Currently a consultant to several Defense Contractors and a Director in a Dubai-based betting syndicate with a focus on horse racing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for massive datasets 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algorithms analytic algorithms </a:t>
            </a:r>
          </a:p>
          <a:p>
            <a:r>
              <a:rPr lang="en-US" dirty="0"/>
              <a:t>Focus on </a:t>
            </a:r>
            <a:r>
              <a:rPr lang="en-US" b="1" dirty="0"/>
              <a:t>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online and infinite or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CB480-AA3E-213A-60C4-4D4D0A43C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A0E240-C9A8-7FD6-55AE-06B661AC46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4002"/>
                <a:ext cx="10515600" cy="55812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LLMs in data mining is not a major focus for this course</a:t>
                </a:r>
                <a:endParaRPr lang="en-US" sz="3200" b="1" dirty="0"/>
              </a:p>
              <a:p>
                <a:r>
                  <a:rPr lang="en-US" dirty="0"/>
                  <a:t>LLMs have a growing impact on data mining     </a:t>
                </a:r>
              </a:p>
              <a:p>
                <a:r>
                  <a:rPr lang="en-US" dirty="0"/>
                  <a:t>LLMs can achieve high accuracy for some tasks   </a:t>
                </a:r>
              </a:p>
              <a:p>
                <a:r>
                  <a:rPr lang="en-US" dirty="0"/>
                  <a:t>Application is </a:t>
                </a:r>
                <a:r>
                  <a:rPr lang="en-US" b="1" dirty="0"/>
                  <a:t>limited by scalability    </a:t>
                </a:r>
              </a:p>
              <a:p>
                <a:pPr lvl="1"/>
                <a:r>
                  <a:rPr lang="en-US" dirty="0"/>
                  <a:t>High computational costs at web scale</a:t>
                </a:r>
              </a:p>
              <a:p>
                <a:pPr lvl="1"/>
                <a:r>
                  <a:rPr lang="en-US" dirty="0"/>
                  <a:t>Long latency limits real-time response application</a:t>
                </a:r>
              </a:p>
              <a:p>
                <a:r>
                  <a:rPr lang="en-US" b="1" dirty="0"/>
                  <a:t>LLM costs are high</a:t>
                </a:r>
                <a:r>
                  <a:rPr lang="en-US" dirty="0"/>
                  <a:t>, even for ‘low-cost’ models     </a:t>
                </a:r>
              </a:p>
              <a:p>
                <a:pPr lvl="1"/>
                <a:r>
                  <a:rPr lang="en-US" dirty="0"/>
                  <a:t>Example, a large-scale document search could require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US" dirty="0"/>
                  <a:t> tokens!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A0E240-C9A8-7FD6-55AE-06B661AC46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4002"/>
                <a:ext cx="10515600" cy="5581207"/>
              </a:xfrm>
              <a:blipFill>
                <a:blip r:embed="rId2"/>
                <a:stretch>
                  <a:fillRect l="-1507" t="-2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7467E74-681C-BF89-AF4C-D551410A993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44241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161C0-94BA-AAF3-1841-9ED3BEFB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4DCB-0BC6-C446-7D6F-3117CCC01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1792A-FD07-5D4A-F979-A142BE750E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At massive scale we must consider the trade-off between </a:t>
            </a:r>
          </a:p>
          <a:p>
            <a:pPr lvl="1"/>
            <a:r>
              <a:rPr lang="en-US" dirty="0">
                <a:latin typeface="+mn-lt"/>
              </a:rPr>
              <a:t>Computational complexity  </a:t>
            </a:r>
          </a:p>
          <a:p>
            <a:pPr lvl="1"/>
            <a:r>
              <a:rPr lang="en-US" dirty="0">
                <a:latin typeface="+mn-lt"/>
              </a:rPr>
              <a:t>Memory requirements</a:t>
            </a:r>
          </a:p>
          <a:p>
            <a:pPr lvl="1"/>
            <a:r>
              <a:rPr lang="en-US" dirty="0">
                <a:latin typeface="+mn-lt"/>
              </a:rPr>
              <a:t>Accuracy of results  </a:t>
            </a:r>
          </a:p>
          <a:p>
            <a:r>
              <a:rPr lang="en-US" dirty="0">
                <a:latin typeface="+mn-lt"/>
              </a:rPr>
              <a:t>LLMs can achieve high accuracy at a high cost</a:t>
            </a:r>
          </a:p>
          <a:p>
            <a:r>
              <a:rPr lang="en-US" dirty="0">
                <a:latin typeface="+mn-lt"/>
              </a:rPr>
              <a:t>At massive scale we trade-off accuracy for scalability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E1FA1535-CB4E-24DD-A018-DF9111ADB986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05D7A4-743A-327E-6122-5FDA10FAB93C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388049-66D1-78AC-E09E-24259CF542ED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E6494F-27B6-7352-1B75-8AEF19C2B9AA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184D42-CB03-C7C9-C97A-8F0C43E3A4D2}"/>
              </a:ext>
            </a:extLst>
          </p:cNvPr>
          <p:cNvSpPr txBox="1"/>
          <p:nvPr/>
        </p:nvSpPr>
        <p:spPr>
          <a:xfrm>
            <a:off x="10466985" y="4937425"/>
            <a:ext cx="1000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LLMs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976CC0-8974-8C5F-7CED-ADD2757D0E18}"/>
              </a:ext>
            </a:extLst>
          </p:cNvPr>
          <p:cNvSpPr txBox="1"/>
          <p:nvPr/>
        </p:nvSpPr>
        <p:spPr>
          <a:xfrm rot="18030204">
            <a:off x="7765821" y="3906540"/>
            <a:ext cx="3177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 of Data Mining Algorithms</a:t>
            </a:r>
          </a:p>
        </p:txBody>
      </p:sp>
    </p:spTree>
    <p:extLst>
      <p:ext uri="{BB962C8B-B14F-4D97-AF65-F5344CB8AC3E}">
        <p14:creationId xmlns:p14="http://schemas.microsoft.com/office/powerpoint/2010/main" val="362949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73AC7-5FAE-B3F8-CB3D-7ABE322C3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4F65C-AE3A-BA7F-19EA-7001BD7A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Where do LLMs fit into data </a:t>
            </a:r>
            <a:r>
              <a:rPr lang="en-US" sz="3200" dirty="0" err="1"/>
              <a:t>minning</a:t>
            </a:r>
            <a:r>
              <a:rPr lang="en-US" sz="3200" dirty="0"/>
              <a:t> at massive scale?</a:t>
            </a:r>
            <a:endParaRPr lang="en-US" sz="3200" b="1" dirty="0"/>
          </a:p>
          <a:p>
            <a:r>
              <a:rPr lang="en-US" dirty="0"/>
              <a:t>LLM algorithms use retrieval augmented generation (RAG) to guide generation  </a:t>
            </a:r>
          </a:p>
          <a:p>
            <a:pPr lvl="1"/>
            <a:r>
              <a:rPr lang="en-US" dirty="0"/>
              <a:t>RAG algorithms require massive scale similarity search, a core data mining topic </a:t>
            </a:r>
          </a:p>
          <a:p>
            <a:r>
              <a:rPr lang="en-US" dirty="0"/>
              <a:t>Often use highly scalable algorithms as filter then apply LLM</a:t>
            </a:r>
          </a:p>
          <a:p>
            <a:pPr lvl="1"/>
            <a:r>
              <a:rPr lang="en-US" dirty="0"/>
              <a:t>Example: in document search use massively scalable algorithm as filter, with LLM used as </a:t>
            </a:r>
            <a:r>
              <a:rPr lang="en-US" b="1" dirty="0" err="1"/>
              <a:t>reranker</a:t>
            </a:r>
            <a:r>
              <a:rPr lang="en-US" dirty="0"/>
              <a:t> for refinement </a:t>
            </a:r>
          </a:p>
          <a:p>
            <a:pPr lvl="1"/>
            <a:r>
              <a:rPr lang="en-US" dirty="0"/>
              <a:t>More efficient methods available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689192-8B3A-A810-B0C6-30704ECCBFAF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918374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F8BA-E77D-C360-AD5B-2CB98FDCA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722482C5-08B3-A90B-94B0-26B76C9150F3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58A67-EE46-2F4C-3457-22DB787F6AD6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484FE-4881-3835-B8E6-5EB721D74315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CF4665-3B44-EC27-8017-63E9AAA04CB1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C8FAA9-78A8-E1CB-4EE1-8C4AA2B9313B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405B6-04C8-5532-70BF-8921F993525F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DF74A6A-43A3-532A-27C0-C25A4F8EBA58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A2D2F7-0D25-9291-81E1-B95A85194ECD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FA9D0A-8D01-9127-4D33-1A9F6023056A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109C88A7-820F-F45D-06B9-AC6695899726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9A544B-C64D-C26D-379D-546D41202910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24B6E8-EE62-D057-75D7-D8EF7E5CA802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8CF822-5DC8-788F-175C-7F3FAAECF89C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0E78D0-AC72-D4B1-530C-9DBE1AAF53B3}"/>
              </a:ext>
            </a:extLst>
          </p:cNvPr>
          <p:cNvSpPr/>
          <p:nvPr/>
        </p:nvSpPr>
        <p:spPr>
          <a:xfrm>
            <a:off x="6408020" y="5184729"/>
            <a:ext cx="2038966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5B69D8-949F-A5E1-038A-D7B3D5FE6133}"/>
              </a:ext>
            </a:extLst>
          </p:cNvPr>
          <p:cNvSpPr/>
          <p:nvPr/>
        </p:nvSpPr>
        <p:spPr>
          <a:xfrm>
            <a:off x="9100598" y="5172609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940847-DA8B-171F-5B55-F8479F15B7D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54ECB53-B003-A605-50EF-1194C4E34DE8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461663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0CA8-F246-D25E-AEB4-FF2EAA59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756E-8F78-AACA-E637-4E5F98E3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786F116-C61A-EF87-1D9A-3C1848FAD4BB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1FC16-0D71-48D6-3153-B5B870F2D088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C8A127-7421-03C2-E792-96131AA908D1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27B61-9452-BD73-E54B-C84CB425B143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FBF6A-FC8A-B135-25F7-875F755739D8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87E0C-5A66-5719-01D3-420E2D78C0B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E85F025-A246-CDCD-DD0C-9E612E9B26F4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B15ED-5464-98E7-9051-875021799A74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89D265-DA24-3EC7-FE84-F48CCC1837A3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AB4D9DB2-E8B7-4F1D-E860-F2AD00D99130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52434-9868-798E-70EF-71A6EC9E5661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27B5DF-8D47-1003-9138-36BB0ACC1DE9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CFD9D-CF7E-4959-5A17-17F2C919787A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6CDD49-8319-CF77-74A6-A001FD008EB5}"/>
              </a:ext>
            </a:extLst>
          </p:cNvPr>
          <p:cNvSpPr/>
          <p:nvPr/>
        </p:nvSpPr>
        <p:spPr>
          <a:xfrm>
            <a:off x="6408020" y="5181547"/>
            <a:ext cx="2038966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A6190-3519-18D7-4DC6-3AE9F5323611}"/>
              </a:ext>
            </a:extLst>
          </p:cNvPr>
          <p:cNvSpPr/>
          <p:nvPr/>
        </p:nvSpPr>
        <p:spPr>
          <a:xfrm>
            <a:off x="9062948" y="5166367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3853F-A8B1-FFC7-2974-7FB192052C02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CC00380-3ACC-792E-4339-EA61C9C9951D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Unsupervised learning dominates the topics in this course</a:t>
            </a:r>
          </a:p>
        </p:txBody>
      </p:sp>
    </p:spTree>
    <p:extLst>
      <p:ext uri="{BB962C8B-B14F-4D97-AF65-F5344CB8AC3E}">
        <p14:creationId xmlns:p14="http://schemas.microsoft.com/office/powerpoint/2010/main" val="108516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9 assignments </a:t>
            </a:r>
            <a:r>
              <a:rPr lang="en-US" dirty="0"/>
              <a:t>plus online discussion questions</a:t>
            </a:r>
          </a:p>
          <a:p>
            <a:r>
              <a:rPr lang="en-US" sz="3200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9 assignments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8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73567"/>
            <a:ext cx="10515600" cy="578761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Expect 8 assignment in 7 weeks + project! </a:t>
            </a:r>
          </a:p>
          <a:p>
            <a:r>
              <a:rPr lang="en-US" dirty="0"/>
              <a:t>Assignments and projects are done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Format discussion text using </a:t>
            </a:r>
            <a:r>
              <a:rPr lang="en-US" dirty="0" err="1">
                <a:hlinkClick r:id="rId2"/>
              </a:rPr>
              <a:t>Jupyter</a:t>
            </a:r>
            <a:r>
              <a:rPr lang="en-US" dirty="0">
                <a:hlinkClick r:id="rId2"/>
              </a:rPr>
              <a:t> Markdown  </a:t>
            </a:r>
            <a:endParaRPr lang="en-US" dirty="0"/>
          </a:p>
          <a:p>
            <a:pPr lvl="1"/>
            <a:r>
              <a:rPr lang="en-US" dirty="0"/>
              <a:t>You will lose points for poor formatting of your discussion text, e.g. no section headings, text that does not wrap to page width, discussion only in code comments,…    </a:t>
            </a:r>
          </a:p>
          <a:p>
            <a:pPr lvl="1"/>
            <a:r>
              <a:rPr lang="en-US" dirty="0"/>
              <a:t>If you are not familiar with </a:t>
            </a:r>
            <a:r>
              <a:rPr lang="en-US" dirty="0" err="1"/>
              <a:t>Jupyter</a:t>
            </a:r>
            <a:r>
              <a:rPr lang="en-US" dirty="0"/>
              <a:t>, you can find a </a:t>
            </a:r>
            <a:r>
              <a:rPr lang="en-US" u="sng" dirty="0">
                <a:hlinkClick r:id="rId3"/>
              </a:rPr>
              <a:t>basic tutorial here</a:t>
            </a:r>
            <a:endParaRPr lang="en-US" dirty="0"/>
          </a:p>
          <a:p>
            <a:r>
              <a:rPr lang="en-US" dirty="0"/>
              <a:t>Updated assignment </a:t>
            </a:r>
            <a:r>
              <a:rPr lang="en-US" dirty="0" err="1"/>
              <a:t>Jupyter</a:t>
            </a:r>
            <a:r>
              <a:rPr lang="en-US" dirty="0"/>
              <a:t> notebooks will be posted in the course GitHub repository</a:t>
            </a:r>
          </a:p>
          <a:p>
            <a:pPr lvl="1"/>
            <a:r>
              <a:rPr lang="en-US" b="1" dirty="0"/>
              <a:t>Clone</a:t>
            </a:r>
            <a:r>
              <a:rPr lang="en-US" dirty="0"/>
              <a:t> the repository and do </a:t>
            </a:r>
            <a:r>
              <a:rPr lang="en-US" b="1" dirty="0"/>
              <a:t>frequent pulls </a:t>
            </a:r>
            <a:r>
              <a:rPr lang="en-US" dirty="0"/>
              <a:t>to get the latest material   </a:t>
            </a:r>
          </a:p>
          <a:p>
            <a:pPr lvl="1"/>
            <a:r>
              <a:rPr lang="en-US" dirty="0"/>
              <a:t>Updated assignment notebooks and slides will be placed in the repository </a:t>
            </a:r>
          </a:p>
          <a:p>
            <a:pPr lvl="1"/>
            <a:r>
              <a:rPr lang="en-US" dirty="0"/>
              <a:t>There are many good Git and GitHub tutorials online, including </a:t>
            </a:r>
            <a:r>
              <a:rPr lang="en-US" u="sng" dirty="0">
                <a:hlinkClick r:id="rId4"/>
              </a:rPr>
              <a:t>this one</a:t>
            </a:r>
            <a:endParaRPr lang="en-US" u="sng" dirty="0"/>
          </a:p>
          <a:p>
            <a:r>
              <a:rPr lang="en-US" dirty="0"/>
              <a:t>Some assignment notebooks are tested using GPU support in in </a:t>
            </a:r>
            <a:r>
              <a:rPr lang="en-US" dirty="0">
                <a:hlinkClick r:id="rId5"/>
              </a:rPr>
              <a:t>Google </a:t>
            </a:r>
            <a:r>
              <a:rPr lang="en-US" dirty="0" err="1">
                <a:hlinkClick r:id="rId5"/>
              </a:rPr>
              <a:t>Colab</a:t>
            </a:r>
            <a:r>
              <a:rPr lang="en-US" dirty="0">
                <a:hlinkClick r:id="rId5"/>
              </a:rPr>
              <a:t> </a:t>
            </a:r>
            <a:endParaRPr lang="en-US" dirty="0"/>
          </a:p>
          <a:p>
            <a:pPr lvl="1"/>
            <a:r>
              <a:rPr lang="en-US" dirty="0"/>
              <a:t>A paid subscription is recommended to limit you frustration!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Assignments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46E5C-F06F-D65D-110E-9269A95B6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DD85D-5611-A420-798A-40685DF8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10% </a:t>
            </a:r>
          </a:p>
          <a:p>
            <a:pPr lvl="1"/>
            <a:r>
              <a:rPr lang="en-US" dirty="0"/>
              <a:t>Up to 3 days late – less 20%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C7495-545D-58A2-1941-4463A39C1E6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3089189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Jacqeline Hardy: </a:t>
            </a:r>
            <a:r>
              <a:rPr lang="en-US" dirty="0" err="1"/>
              <a:t>jacquelinehardy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Eric Trucksess: ert713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>
                <a:solidFill>
                  <a:srgbClr val="C00000"/>
                </a:solidFill>
              </a:rPr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6DAF8-980B-7B29-0690-8796ACCF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AE616E-E896-5BED-42D6-6DD2314FFC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</a:t>
            </a:r>
            <a:r>
              <a:rPr lang="en-US" b="1" dirty="0"/>
              <a:t>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1"/>
            <a:r>
              <a:rPr lang="en-US" dirty="0"/>
              <a:t>LLMs are quite helpful with research and learning</a:t>
            </a:r>
          </a:p>
          <a:p>
            <a:pPr lvl="1"/>
            <a:r>
              <a:rPr lang="en-US" dirty="0"/>
              <a:t>LLMs cannot think or reason </a:t>
            </a:r>
          </a:p>
          <a:p>
            <a:pPr lvl="1"/>
            <a:r>
              <a:rPr lang="en-US" b="1" dirty="0"/>
              <a:t>Understanding of which problems are worth solving, determining the best approaches for solutions and interpreting results are skills you need to develop! </a:t>
            </a:r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1"/>
            <a:r>
              <a:rPr lang="en-US" dirty="0"/>
              <a:t>It’s the way we do things these days! </a:t>
            </a:r>
          </a:p>
          <a:p>
            <a:pPr lvl="1"/>
            <a:r>
              <a:rPr lang="en-US" dirty="0"/>
              <a:t>LLM generated code lets us test ideas quickly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B0F8B3-7D80-2256-9FF3-D6ACB1A238F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2383407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1"/>
            <a:r>
              <a:rPr lang="en-US" dirty="0"/>
              <a:t>LLMs have no way to evaluate if a algorithm actually solves a problem or exhibits undesirable behavior </a:t>
            </a:r>
          </a:p>
          <a:p>
            <a:pPr lvl="1"/>
            <a:r>
              <a:rPr lang="en-US" dirty="0"/>
              <a:t>You need to </a:t>
            </a:r>
            <a:r>
              <a:rPr lang="en-US" b="1" dirty="0"/>
              <a:t>develop the skills to critically evaluate results </a:t>
            </a:r>
          </a:p>
          <a:p>
            <a:pPr lvl="1"/>
            <a:r>
              <a:rPr lang="en-US" dirty="0"/>
              <a:t>You must have the </a:t>
            </a:r>
            <a:r>
              <a:rPr lang="en-US" b="1" dirty="0"/>
              <a:t>skills to determine approaches to improve results and correct undesirable behavior</a:t>
            </a:r>
            <a:r>
              <a:rPr lang="en-US" dirty="0"/>
              <a:t>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</a:t>
            </a:r>
          </a:p>
          <a:p>
            <a:pPr lvl="0"/>
            <a:r>
              <a:rPr lang="en-US" dirty="0"/>
              <a:t>See course syllabus in Canvas for additional policy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Hashing and key-value pair management are foundations of working with massive datasets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Key is a scalar, typically one of </a:t>
                </a:r>
              </a:p>
              <a:p>
                <a:pPr lvl="1"/>
                <a:r>
                  <a:rPr lang="en-US" sz="2800" dirty="0"/>
                  <a:t>Binary string</a:t>
                </a:r>
              </a:p>
              <a:p>
                <a:pPr lvl="1"/>
                <a:r>
                  <a:rPr lang="en-US" sz="2800" dirty="0"/>
                  <a:t>Integer </a:t>
                </a:r>
              </a:p>
              <a:p>
                <a:pPr lvl="1"/>
                <a:r>
                  <a:rPr lang="en-US" sz="2800" dirty="0"/>
                  <a:t>Hexadecimal number</a:t>
                </a:r>
              </a:p>
              <a:p>
                <a:pPr lvl="1"/>
                <a:r>
                  <a:rPr lang="en-US" sz="2800" dirty="0"/>
                  <a:t>Character string, often UTF encoded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338BD-3218-FB67-58C9-525CC2AA5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B3478C9-9FBE-BB6A-F1F0-2413227DA6E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09613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massively scaling data mining algorithms</a:t>
                </a:r>
              </a:p>
              <a:p>
                <a:pPr lvl="1"/>
                <a:r>
                  <a:rPr lang="en-US" dirty="0"/>
                  <a:t>Massive scalability is a theme of this course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/>
                  <a:t>Hashed </a:t>
                </a:r>
                <a:r>
                  <a:rPr lang="en-US" b="1" dirty="0"/>
                  <a:t>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pPr lvl="1"/>
            <a:r>
              <a:rPr lang="en-US" dirty="0"/>
              <a:t>Not a data mining topic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4C975-B64B-4985-7BB7-F3995B17C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C15A-15E9-AC73-BE5F-B25552E48A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Functions</a:t>
            </a:r>
          </a:p>
        </p:txBody>
      </p:sp>
    </p:spTree>
    <p:extLst>
      <p:ext uri="{BB962C8B-B14F-4D97-AF65-F5344CB8AC3E}">
        <p14:creationId xmlns:p14="http://schemas.microsoft.com/office/powerpoint/2010/main" val="13307547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/>
                  <a:t>Hash function is </a:t>
                </a:r>
                <a:r>
                  <a:rPr lang="en-US" sz="3000" dirty="0"/>
                  <a:t>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48CF-3DE8-C147-4B0C-26587F28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A4D2-70CD-4CEA-D93E-4759FF4434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Properties of Hash Functions and </a:t>
            </a:r>
            <a:br>
              <a:rPr lang="en-US" sz="4400" dirty="0"/>
            </a:br>
            <a:r>
              <a:rPr lang="en-US" sz="4400" dirty="0"/>
              <a:t>Hash Collisions</a:t>
            </a:r>
          </a:p>
        </p:txBody>
      </p:sp>
    </p:spTree>
    <p:extLst>
      <p:ext uri="{BB962C8B-B14F-4D97-AF65-F5344CB8AC3E}">
        <p14:creationId xmlns:p14="http://schemas.microsoft.com/office/powerpoint/2010/main" val="24918912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tables?  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Appropriate table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pPr lvl="1"/>
            <a:r>
              <a:rPr lang="en-US" dirty="0"/>
              <a:t>More on this later in the course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69103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A905F-17EC-9351-E47A-0E13F7361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being occupied is: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9CDD3AB4-A9E3-8623-71E8-A086F9266E9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866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A56C-70FE-5B2C-A831-909F1DDB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CA76E0F-11D1-BAC3-B65E-D210BD3050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265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27B62-95A2-A33F-3E97-DA8CBA75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Complexity of probing increases rapidly as table fills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  <a:blipFill>
                <a:blip r:embed="rId2"/>
                <a:stretch>
                  <a:fillRect l="-2970" t="-1782" r="-4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4AA09B5-0045-DC0F-0835-D4290DB1F5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BAD6E-1AA4-B7BC-6C7C-7CC29E528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592" y="1036018"/>
            <a:ext cx="4953435" cy="564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7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91A7B-B292-CB80-547D-AB4239419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How can we do better than this?   </a:t>
                </a:r>
              </a:p>
              <a:p>
                <a:r>
                  <a:rPr lang="en-US" dirty="0"/>
                  <a:t>We can concatenate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</a:t>
                </a:r>
              </a:p>
              <a:p>
                <a:r>
                  <a:rPr lang="en-US" dirty="0"/>
                  <a:t>The probability of a hash collisions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with n elements filled becomes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More on this approach later in the course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9431E3-9330-1D27-19B1-308FC2EB554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52357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87113-4FF5-4C8C-6DD2-6ED943D7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4D97-C525-0D5F-DBA4-E2E62A9E4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6655338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24324</TotalTime>
  <Words>4218</Words>
  <Application>Microsoft Office PowerPoint</Application>
  <PresentationFormat>Widescreen</PresentationFormat>
  <Paragraphs>586</Paragraphs>
  <Slides>63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72" baseType="lpstr">
      <vt:lpstr>Arial</vt:lpstr>
      <vt:lpstr>Calibri</vt:lpstr>
      <vt:lpstr>Calibri Light</vt:lpstr>
      <vt:lpstr>Cambria Math</vt:lpstr>
      <vt:lpstr>Google Sans</vt:lpstr>
      <vt:lpstr>Rubik</vt:lpstr>
      <vt:lpstr>Segoe UI</vt:lpstr>
      <vt:lpstr>Segoe UI Light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About This Course</vt:lpstr>
      <vt:lpstr>About your Instructor: Steve Elston</vt:lpstr>
      <vt:lpstr>About your TA: Jacqueline Hardy</vt:lpstr>
      <vt:lpstr>About your T.A.: Eric Trucksess 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PowerPoint Presentation</vt:lpstr>
      <vt:lpstr>Main topics in this course 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Main topics in this course </vt:lpstr>
      <vt:lpstr>PowerPoint Presentation</vt:lpstr>
      <vt:lpstr>Data Management with Key-Value Pairs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Hash Functions</vt:lpstr>
      <vt:lpstr>PowerPoint Presentation</vt:lpstr>
      <vt:lpstr>PowerPoint Presentation</vt:lpstr>
      <vt:lpstr>PowerPoint Presentation</vt:lpstr>
      <vt:lpstr>Properties of Hash Functions and  Hash Collisions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548</cp:revision>
  <cp:lastPrinted>2019-09-03T23:18:19Z</cp:lastPrinted>
  <dcterms:created xsi:type="dcterms:W3CDTF">2019-08-02T23:14:29Z</dcterms:created>
  <dcterms:modified xsi:type="dcterms:W3CDTF">2026-06-21T17:07:24Z</dcterms:modified>
</cp:coreProperties>
</file>