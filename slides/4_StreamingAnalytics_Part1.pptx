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448" r:id="rId4"/>
    <p:sldId id="443" r:id="rId5"/>
    <p:sldId id="259" r:id="rId6"/>
    <p:sldId id="382" r:id="rId7"/>
    <p:sldId id="261" r:id="rId8"/>
    <p:sldId id="258" r:id="rId9"/>
    <p:sldId id="389" r:id="rId10"/>
    <p:sldId id="260" r:id="rId11"/>
    <p:sldId id="263" r:id="rId12"/>
    <p:sldId id="437" r:id="rId13"/>
    <p:sldId id="444" r:id="rId14"/>
    <p:sldId id="365" r:id="rId15"/>
    <p:sldId id="371" r:id="rId16"/>
    <p:sldId id="372" r:id="rId17"/>
    <p:sldId id="478" r:id="rId18"/>
    <p:sldId id="270" r:id="rId19"/>
    <p:sldId id="480" r:id="rId20"/>
    <p:sldId id="458" r:id="rId21"/>
    <p:sldId id="438" r:id="rId22"/>
    <p:sldId id="479" r:id="rId23"/>
    <p:sldId id="501" r:id="rId24"/>
    <p:sldId id="265" r:id="rId25"/>
    <p:sldId id="266" r:id="rId26"/>
    <p:sldId id="262" r:id="rId27"/>
    <p:sldId id="267" r:id="rId28"/>
    <p:sldId id="439" r:id="rId29"/>
    <p:sldId id="427" r:id="rId30"/>
    <p:sldId id="500" r:id="rId31"/>
    <p:sldId id="435" r:id="rId32"/>
    <p:sldId id="428" r:id="rId33"/>
    <p:sldId id="429" r:id="rId34"/>
    <p:sldId id="431" r:id="rId35"/>
    <p:sldId id="430" r:id="rId36"/>
    <p:sldId id="432" r:id="rId37"/>
    <p:sldId id="433" r:id="rId38"/>
    <p:sldId id="434" r:id="rId39"/>
    <p:sldId id="440" r:id="rId40"/>
    <p:sldId id="385" r:id="rId41"/>
    <p:sldId id="499" r:id="rId42"/>
    <p:sldId id="276" r:id="rId43"/>
    <p:sldId id="285" r:id="rId44"/>
    <p:sldId id="286" r:id="rId45"/>
    <p:sldId id="446" r:id="rId46"/>
    <p:sldId id="284" r:id="rId47"/>
    <p:sldId id="445" r:id="rId48"/>
    <p:sldId id="279" r:id="rId49"/>
    <p:sldId id="280" r:id="rId50"/>
    <p:sldId id="281" r:id="rId51"/>
    <p:sldId id="282" r:id="rId52"/>
    <p:sldId id="283" r:id="rId53"/>
    <p:sldId id="377" r:id="rId54"/>
    <p:sldId id="390" r:id="rId55"/>
    <p:sldId id="391" r:id="rId56"/>
    <p:sldId id="394" r:id="rId57"/>
    <p:sldId id="393" r:id="rId58"/>
    <p:sldId id="395" r:id="rId59"/>
    <p:sldId id="397" r:id="rId60"/>
    <p:sldId id="396" r:id="rId61"/>
    <p:sldId id="421" r:id="rId62"/>
    <p:sldId id="441" r:id="rId63"/>
    <p:sldId id="398" r:id="rId64"/>
    <p:sldId id="502" r:id="rId65"/>
    <p:sldId id="410" r:id="rId66"/>
    <p:sldId id="399" r:id="rId67"/>
    <p:sldId id="406" r:id="rId68"/>
    <p:sldId id="400" r:id="rId69"/>
    <p:sldId id="401" r:id="rId70"/>
    <p:sldId id="402" r:id="rId71"/>
    <p:sldId id="403" r:id="rId72"/>
    <p:sldId id="404" r:id="rId73"/>
    <p:sldId id="405" r:id="rId74"/>
    <p:sldId id="407" r:id="rId75"/>
    <p:sldId id="409" r:id="rId76"/>
    <p:sldId id="426" r:id="rId77"/>
    <p:sldId id="408" r:id="rId78"/>
    <p:sldId id="449" r:id="rId79"/>
    <p:sldId id="450" r:id="rId80"/>
    <p:sldId id="383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5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2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5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21.png"/><Relationship Id="rId31" Type="http://schemas.openxmlformats.org/officeDocument/2006/relationships/image" Target="../media/image8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94" y="1122363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Steaming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 </a:t>
            </a:r>
            <a:r>
              <a:rPr lang="en-US" sz="3000" b="1" dirty="0"/>
              <a:t>streams  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must be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can use these algorithms for analytics on beyond core memory size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E339-66BA-BCD8-4B59-9C1D3A18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13EF-E093-09C1-6BA3-6C1E6B3C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Measures must be taken to reduce the massive volume of infinite stream data </a:t>
            </a:r>
          </a:p>
          <a:p>
            <a:r>
              <a:rPr lang="en-US" dirty="0"/>
              <a:t>Streams can be real-valued or discrete-valued </a:t>
            </a:r>
          </a:p>
          <a:p>
            <a:r>
              <a:rPr lang="en-US" dirty="0"/>
              <a:t>Stream data can be sampled and filtered to reduce volume</a:t>
            </a:r>
          </a:p>
          <a:p>
            <a:pPr lvl="1"/>
            <a:r>
              <a:rPr lang="en-US" dirty="0"/>
              <a:t>Sampling methods used for filter real valued streams</a:t>
            </a:r>
          </a:p>
          <a:p>
            <a:pPr lvl="1"/>
            <a:r>
              <a:rPr lang="en-US" dirty="0"/>
              <a:t>Hash methods used to filter discrete event streams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71B3C9-4F14-C72D-6AF7-B2CCD0704D2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268873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1,7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statistics?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/>
              <a:t>Ideal </a:t>
            </a:r>
            <a:r>
              <a:rPr lang="en-US" dirty="0"/>
              <a:t>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Bounded error </a:t>
            </a:r>
          </a:p>
          <a:p>
            <a:r>
              <a:rPr lang="en-US" dirty="0"/>
              <a:t>There is enviable tradeoff between these three dimensions of low memory,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 err="1"/>
              <a:t>Numerious</a:t>
            </a:r>
            <a:r>
              <a:rPr lang="en-US" dirty="0"/>
              <a:t>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and only report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Poisson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Poisson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still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D6D28-1CE2-DEEE-20F3-772692DC8AD3}"/>
              </a:ext>
            </a:extLst>
          </p:cNvPr>
          <p:cNvSpPr txBox="1">
            <a:spLocks/>
          </p:cNvSpPr>
          <p:nvPr/>
        </p:nvSpPr>
        <p:spPr>
          <a:xfrm>
            <a:off x="787264" y="2102631"/>
            <a:ext cx="6606174" cy="3814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Compare reservoir sampling to Poisson sampling    </a:t>
            </a:r>
          </a:p>
          <a:p>
            <a:r>
              <a:rPr lang="en-US" sz="2400" dirty="0"/>
              <a:t>A Poisson sample grows linearly, whereas the reservoir sample is constant</a:t>
            </a:r>
          </a:p>
          <a:p>
            <a:r>
              <a:rPr lang="en-US" sz="2400" dirty="0"/>
              <a:t>The probability of a sample residing in a Poisson sample is constant, whereas the  probability declines for reservoir sampling   </a:t>
            </a:r>
          </a:p>
          <a:p>
            <a:endParaRPr lang="en-US" sz="2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/>
          <p:nvPr/>
        </p:nvCxnSpPr>
        <p:spPr>
          <a:xfrm flipV="1">
            <a:off x="6767538" y="2704081"/>
            <a:ext cx="1378935" cy="5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875114" y="4303059"/>
            <a:ext cx="1188069" cy="611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Key 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Key 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 random numbers, with the largest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Key 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151475" y="1662547"/>
            <a:ext cx="7911760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W = </a:t>
            </a:r>
            <a:r>
              <a:rPr lang="en-US" sz="2600" dirty="0" err="1"/>
              <a:t>math.exp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## Loop over the </a:t>
            </a:r>
            <a:r>
              <a:rPr lang="en-US" sz="2600" dirty="0" err="1"/>
              <a:t>remianing</a:t>
            </a:r>
            <a:r>
              <a:rPr lang="en-US" sz="26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while </a:t>
            </a:r>
            <a:r>
              <a:rPr lang="en-US" sz="2600" dirty="0" err="1"/>
              <a:t>i</a:t>
            </a:r>
            <a:r>
              <a:rPr lang="en-US" sz="2600" dirty="0"/>
              <a:t> &lt; n: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</a:t>
            </a:r>
            <a:r>
              <a:rPr lang="en-US" sz="2600" dirty="0" err="1"/>
              <a:t>i</a:t>
            </a:r>
            <a:r>
              <a:rPr lang="en-US" sz="2600" dirty="0"/>
              <a:t> = </a:t>
            </a:r>
            <a:r>
              <a:rPr lang="en-US" sz="2600" dirty="0" err="1"/>
              <a:t>i</a:t>
            </a:r>
            <a:r>
              <a:rPr lang="en-US" sz="2600" dirty="0"/>
              <a:t> + </a:t>
            </a:r>
            <a:r>
              <a:rPr lang="en-US" sz="2600" dirty="0" err="1"/>
              <a:t>math.floor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())/math.log(1 - W))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if </a:t>
            </a:r>
            <a:r>
              <a:rPr lang="en-US" sz="2600" dirty="0" err="1"/>
              <a:t>i</a:t>
            </a:r>
            <a:r>
              <a:rPr lang="en-US" sz="26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</a:t>
            </a:r>
            <a:r>
              <a:rPr lang="en-US" sz="2600" dirty="0" err="1"/>
              <a:t>indx</a:t>
            </a:r>
            <a:r>
              <a:rPr lang="en-US" sz="2600" dirty="0"/>
              <a:t> = </a:t>
            </a:r>
            <a:r>
              <a:rPr lang="en-US" sz="2600" dirty="0" err="1"/>
              <a:t>random.randint</a:t>
            </a:r>
            <a:r>
              <a:rPr lang="en-US" sz="26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</a:t>
            </a:r>
            <a:r>
              <a:rPr lang="en-US" sz="2600" dirty="0" err="1"/>
              <a:t>reservoir_buffer</a:t>
            </a:r>
            <a:r>
              <a:rPr lang="en-US" sz="2600" dirty="0"/>
              <a:t>[</a:t>
            </a:r>
            <a:r>
              <a:rPr lang="en-US" sz="2600" dirty="0" err="1"/>
              <a:t>indx</a:t>
            </a:r>
            <a:r>
              <a:rPr lang="en-US" sz="2600" dirty="0"/>
              <a:t>] = stream[</a:t>
            </a:r>
            <a:r>
              <a:rPr lang="en-US" sz="2600" dirty="0" err="1"/>
              <a:t>i</a:t>
            </a:r>
            <a:r>
              <a:rPr lang="en-US" sz="26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W = W * </a:t>
            </a:r>
            <a:r>
              <a:rPr lang="en-US" sz="2600" dirty="0" err="1"/>
              <a:t>math.exp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())/k)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3385040"/>
            <a:ext cx="604286" cy="26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4223721"/>
            <a:ext cx="1155284" cy="5135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5007196"/>
            <a:ext cx="1484555" cy="800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4561668"/>
            <a:ext cx="1036463" cy="1756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flip hash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1782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a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Type II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collisions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dirty="0"/>
                  <a:t>Approximation improves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some other hash from another location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410666" y="2735298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028203" y="2913631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41781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00095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simple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offline or online </a:t>
            </a:r>
          </a:p>
          <a:p>
            <a:pPr lvl="1"/>
            <a:r>
              <a:rPr lang="en-US" dirty="0"/>
              <a:t>Counting events by scanning massive databases offline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in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minimal (approximate) representation of a data structure   </a:t>
            </a:r>
          </a:p>
          <a:p>
            <a:r>
              <a:rPr lang="en-US" dirty="0"/>
              <a:t>Create a </a:t>
            </a:r>
            <a:r>
              <a:rPr lang="en-US" b="1" dirty="0"/>
              <a:t>sketch</a:t>
            </a:r>
            <a:r>
              <a:rPr lang="en-US" dirty="0"/>
              <a:t> of the counts using hash functions    </a:t>
            </a:r>
          </a:p>
          <a:p>
            <a:pPr lvl="1"/>
            <a:r>
              <a:rPr lang="en-US" b="1" dirty="0"/>
              <a:t>Count is approximated </a:t>
            </a:r>
            <a:r>
              <a:rPr lang="en-US" dirty="0"/>
              <a:t>by the sketch   </a:t>
            </a:r>
          </a:p>
          <a:p>
            <a:pPr lvl="1"/>
            <a:r>
              <a:rPr lang="en-US" dirty="0"/>
              <a:t>Data structure is of </a:t>
            </a:r>
            <a:r>
              <a:rPr lang="en-US" b="1" dirty="0"/>
              <a:t>fixed compact size</a:t>
            </a:r>
            <a:r>
              <a:rPr lang="en-US" dirty="0"/>
              <a:t>!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Actual count may be less than estimate</a:t>
            </a:r>
            <a:r>
              <a:rPr lang="en-US" dirty="0"/>
              <a:t>, </a:t>
            </a:r>
            <a:r>
              <a:rPr lang="en-US" b="1" dirty="0"/>
              <a:t>never greater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sum of frequencies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total counts,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 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96399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3071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03778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Exponential weighting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Cardinality – how many event types? </a:t>
            </a:r>
          </a:p>
          <a:p>
            <a:pPr lvl="1"/>
            <a:r>
              <a:rPr lang="en-US" dirty="0"/>
              <a:t>Quantiles – what is the density of the distribution?  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32986</TotalTime>
  <Words>5835</Words>
  <Application>Microsoft Office PowerPoint</Application>
  <PresentationFormat>Widescreen</PresentationFormat>
  <Paragraphs>1360</Paragraphs>
  <Slides>80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5" baseType="lpstr">
      <vt:lpstr>Arial</vt:lpstr>
      <vt:lpstr>Calibri</vt:lpstr>
      <vt:lpstr>Calibri Light</vt:lpstr>
      <vt:lpstr>Cambria Math</vt:lpstr>
      <vt:lpstr>Office Theme</vt:lpstr>
      <vt:lpstr>CSCI E-96 Data Mining, Discovery and Exploration Steaming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823</cp:revision>
  <cp:lastPrinted>2019-09-03T23:18:19Z</cp:lastPrinted>
  <dcterms:created xsi:type="dcterms:W3CDTF">2019-08-02T23:14:29Z</dcterms:created>
  <dcterms:modified xsi:type="dcterms:W3CDTF">2026-05-04T01:25:31Z</dcterms:modified>
</cp:coreProperties>
</file>