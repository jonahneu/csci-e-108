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65"/>
  </p:notesMasterIdLst>
  <p:sldIdLst>
    <p:sldId id="275" r:id="rId3"/>
    <p:sldId id="603" r:id="rId4"/>
    <p:sldId id="769" r:id="rId5"/>
    <p:sldId id="691" r:id="rId6"/>
    <p:sldId id="722" r:id="rId7"/>
    <p:sldId id="724" r:id="rId8"/>
    <p:sldId id="723" r:id="rId9"/>
    <p:sldId id="725" r:id="rId10"/>
    <p:sldId id="726" r:id="rId11"/>
    <p:sldId id="727" r:id="rId12"/>
    <p:sldId id="728" r:id="rId13"/>
    <p:sldId id="729" r:id="rId14"/>
    <p:sldId id="730" r:id="rId15"/>
    <p:sldId id="731" r:id="rId16"/>
    <p:sldId id="732" r:id="rId17"/>
    <p:sldId id="733" r:id="rId18"/>
    <p:sldId id="734" r:id="rId19"/>
    <p:sldId id="735" r:id="rId20"/>
    <p:sldId id="736" r:id="rId21"/>
    <p:sldId id="738" r:id="rId22"/>
    <p:sldId id="768" r:id="rId23"/>
    <p:sldId id="742" r:id="rId24"/>
    <p:sldId id="739" r:id="rId25"/>
    <p:sldId id="740" r:id="rId26"/>
    <p:sldId id="741" r:id="rId27"/>
    <p:sldId id="743" r:id="rId28"/>
    <p:sldId id="744" r:id="rId29"/>
    <p:sldId id="745" r:id="rId30"/>
    <p:sldId id="746" r:id="rId31"/>
    <p:sldId id="747" r:id="rId32"/>
    <p:sldId id="762" r:id="rId33"/>
    <p:sldId id="763" r:id="rId34"/>
    <p:sldId id="764" r:id="rId35"/>
    <p:sldId id="765" r:id="rId36"/>
    <p:sldId id="766" r:id="rId37"/>
    <p:sldId id="767" r:id="rId38"/>
    <p:sldId id="748" r:id="rId39"/>
    <p:sldId id="749" r:id="rId40"/>
    <p:sldId id="750" r:id="rId41"/>
    <p:sldId id="751" r:id="rId42"/>
    <p:sldId id="752" r:id="rId43"/>
    <p:sldId id="753" r:id="rId44"/>
    <p:sldId id="721" r:id="rId45"/>
    <p:sldId id="698" r:id="rId46"/>
    <p:sldId id="695" r:id="rId47"/>
    <p:sldId id="754" r:id="rId48"/>
    <p:sldId id="699" r:id="rId49"/>
    <p:sldId id="756" r:id="rId50"/>
    <p:sldId id="760" r:id="rId51"/>
    <p:sldId id="755" r:id="rId52"/>
    <p:sldId id="707" r:id="rId53"/>
    <p:sldId id="712" r:id="rId54"/>
    <p:sldId id="713" r:id="rId55"/>
    <p:sldId id="714" r:id="rId56"/>
    <p:sldId id="715" r:id="rId57"/>
    <p:sldId id="720" r:id="rId58"/>
    <p:sldId id="702" r:id="rId59"/>
    <p:sldId id="700" r:id="rId60"/>
    <p:sldId id="758" r:id="rId61"/>
    <p:sldId id="761" r:id="rId62"/>
    <p:sldId id="701" r:id="rId63"/>
    <p:sldId id="71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58" autoAdjust="0"/>
  </p:normalViewPr>
  <p:slideViewPr>
    <p:cSldViewPr snapToGrid="0">
      <p:cViewPr varScale="1">
        <p:scale>
          <a:sx n="73" d="100"/>
          <a:sy n="73" d="100"/>
        </p:scale>
        <p:origin x="511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3DAB-225E-4C94-B4AB-0DAFDAA76F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B5B4-67E8-4143-C22E-87B6817E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B938-E69D-65A0-8446-6B35462F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22C15-F970-EA62-6FE6-E299B04A1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FAB42-3070-C9C6-1A18-DD01BFB1C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10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8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6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70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5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1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13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91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5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67C1-E42D-F8F5-2498-E61496C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0468-FBE3-5037-9276-60255BA6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738B-35C8-993A-8826-67BC1052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3063-BBA5-DF2A-2ADE-79D0EEEA2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77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5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46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670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86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91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018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7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5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483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542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66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08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07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26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2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349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81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880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0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546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0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74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mit.edu/~gs/linearalgebra/ila6/indexila6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ocw.mit.edu/courses/18-06-linear-algebra-spring-2010/" TargetMode="External"/><Relationship Id="rId4" Type="http://schemas.openxmlformats.org/officeDocument/2006/relationships/hyperlink" Target="https://www.youtube.com/playlist?list=PL49CF3715CB9EF31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opy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659" y="695131"/>
            <a:ext cx="11693950" cy="29737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Review of Linear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2023. 2024, 2025</a:t>
            </a:r>
            <a:r>
              <a:rPr lang="en-US" sz="1100"/>
              <a:t>, 2026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Linear algebra is at the core of nearly all machine learning algorithms</a:t>
            </a:r>
          </a:p>
          <a:p>
            <a:r>
              <a:rPr lang="en-US" dirty="0">
                <a:latin typeface="+mn-lt"/>
              </a:rPr>
              <a:t>Linear algebra is the algebra of </a:t>
            </a:r>
            <a:r>
              <a:rPr lang="en-US" b="1" dirty="0">
                <a:latin typeface="+mn-lt"/>
              </a:rPr>
              <a:t>arrays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Understanding of linear algebra is essential to understanding machine learning</a:t>
            </a:r>
          </a:p>
          <a:p>
            <a:r>
              <a:rPr lang="en-US" dirty="0">
                <a:latin typeface="+mn-lt"/>
              </a:rPr>
              <a:t>Linear algebra operations are building blocks of algorithms</a:t>
            </a:r>
          </a:p>
          <a:p>
            <a:r>
              <a:rPr lang="en-US" dirty="0">
                <a:latin typeface="+mn-lt"/>
              </a:rPr>
              <a:t>Efficient linear algebra algorithms enable large scale machine learning and statistical analysis </a:t>
            </a:r>
          </a:p>
          <a:p>
            <a:r>
              <a:rPr lang="en-US" dirty="0">
                <a:latin typeface="+mn-lt"/>
              </a:rPr>
              <a:t>We limit ourselves to linear algebra with real valued arrays </a:t>
            </a:r>
          </a:p>
        </p:txBody>
      </p:sp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CF7F-7335-2BAF-131C-B4F8A55D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EF39-2A0F-42D4-72E8-8509BB11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79EF-81DF-4CCE-BD31-5E77E9BA33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7183303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great many recourses for digging further into this subject</a:t>
            </a:r>
          </a:p>
          <a:p>
            <a:pPr marL="0" indent="0" algn="ctr">
              <a:buNone/>
            </a:pPr>
            <a:r>
              <a:rPr lang="en-US" i="1" dirty="0">
                <a:latin typeface="+mn-lt"/>
              </a:rPr>
              <a:t>Gil Strang is the master and we are all his pupils </a:t>
            </a:r>
          </a:p>
          <a:p>
            <a:r>
              <a:rPr lang="en-US" dirty="0">
                <a:latin typeface="+mn-lt"/>
              </a:rPr>
              <a:t>Book and lectures by Gilbert Strang are particularly good</a:t>
            </a:r>
          </a:p>
          <a:p>
            <a:r>
              <a:rPr lang="en-US" dirty="0">
                <a:latin typeface="+mn-lt"/>
              </a:rPr>
              <a:t>Strang’s </a:t>
            </a:r>
            <a:r>
              <a:rPr lang="en-US" dirty="0">
                <a:latin typeface="+mn-lt"/>
                <a:hlinkClick r:id="rId3"/>
              </a:rPr>
              <a:t>Introduction to Linear Algebra</a:t>
            </a:r>
            <a:r>
              <a:rPr lang="en-US" dirty="0">
                <a:latin typeface="+mn-lt"/>
              </a:rPr>
              <a:t>, now in 6</a:t>
            </a:r>
            <a:r>
              <a:rPr lang="en-US" baseline="30000" dirty="0">
                <a:latin typeface="+mn-lt"/>
              </a:rPr>
              <a:t>th</a:t>
            </a:r>
            <a:r>
              <a:rPr lang="en-US" dirty="0">
                <a:latin typeface="+mn-lt"/>
              </a:rPr>
              <a:t> edition, is the classic text</a:t>
            </a:r>
          </a:p>
          <a:p>
            <a:r>
              <a:rPr lang="en-US" dirty="0">
                <a:latin typeface="+mn-lt"/>
              </a:rPr>
              <a:t>Also see Strang’s lectures on </a:t>
            </a:r>
            <a:r>
              <a:rPr lang="en-US" dirty="0">
                <a:latin typeface="+mn-lt"/>
                <a:hlinkClick r:id="rId4"/>
              </a:rPr>
              <a:t>YouTube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latin typeface="+mn-lt"/>
                <a:hlinkClick r:id="rId5"/>
              </a:rPr>
              <a:t>MIT Open Courseware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9413C-3060-E528-1261-CB85FE92D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120" y="640597"/>
            <a:ext cx="3508505" cy="500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2DE4F-13C6-6603-EB2A-216BDB4546C5}"/>
              </a:ext>
            </a:extLst>
          </p:cNvPr>
          <p:cNvSpPr txBox="1"/>
          <p:nvPr/>
        </p:nvSpPr>
        <p:spPr>
          <a:xfrm>
            <a:off x="8473256" y="5744026"/>
            <a:ext cx="326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Your </a:t>
            </a:r>
            <a:r>
              <a:rPr lang="en-US"/>
              <a:t>instructor’s well-warn copy </a:t>
            </a:r>
            <a:r>
              <a:rPr lang="en-US" dirty="0"/>
              <a:t>from the 1970s</a:t>
            </a:r>
          </a:p>
        </p:txBody>
      </p:sp>
    </p:spTree>
    <p:extLst>
      <p:ext uri="{BB962C8B-B14F-4D97-AF65-F5344CB8AC3E}">
        <p14:creationId xmlns:p14="http://schemas.microsoft.com/office/powerpoint/2010/main" val="328364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Scaler is a single number with </a:t>
                </a:r>
                <a:r>
                  <a:rPr lang="en-US">
                    <a:cs typeface="Segoe UI" panose="020B0502040204020203" pitchFamily="34" charset="0"/>
                  </a:rPr>
                  <a:t>dimension one</a:t>
                </a:r>
                <a:r>
                  <a:rPr lang="en-US" sz="2800">
                    <a:latin typeface="+mn-lt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ℛ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dimensional vector is one dimensional array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1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A matrix,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is an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𝑟𝑜𝑤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𝑐𝑜𝑙𝑢𝑚𝑛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two dimensional array of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Using the convention, </a:t>
                </a:r>
                <a:r>
                  <a:rPr lang="en-US" i="1" dirty="0">
                    <a:cs typeface="Segoe UI" panose="020B0502040204020203" pitchFamily="34" charset="0"/>
                  </a:rPr>
                  <a:t>row index, column index</a:t>
                </a:r>
                <a:r>
                  <a:rPr lang="en-US" dirty="0">
                    <a:cs typeface="Segoe UI" panose="020B0502040204020203" pitchFamily="34" charset="0"/>
                  </a:rPr>
                  <a:t>,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Linear algebra works with arrays of any dimensions: sometimes referred to as </a:t>
                </a:r>
                <a:r>
                  <a:rPr lang="en-US" b="1" dirty="0">
                    <a:cs typeface="Segoe UI" panose="020B0502040204020203" pitchFamily="34" charset="0"/>
                  </a:rPr>
                  <a:t>tensors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6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 vector,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75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an array, a commutative operation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Perform element-wise operations on arrays,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26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45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, create some arrays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numpy.random as nr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numpy.linalg as npla</a:t>
            </a:r>
            <a:endParaRPr lang="en-US" dirty="0"/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([2]*3)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y = {}, with type {}'.format(</a:t>
            </a:r>
            <a:r>
              <a:rPr lang="en-US" dirty="0" err="1"/>
              <a:t>y,type</a:t>
            </a:r>
            <a:r>
              <a:rPr lang="en-US" dirty="0"/>
              <a:t>(y)))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y = [2 2 2],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np.arange</a:t>
            </a:r>
            <a:r>
              <a:rPr lang="en-US" dirty="0"/>
              <a:t>(1, 4)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x = {} with type {}'.format(</a:t>
            </a:r>
            <a:r>
              <a:rPr lang="en-US" dirty="0" err="1"/>
              <a:t>x,type</a:t>
            </a:r>
            <a:r>
              <a:rPr lang="en-US" dirty="0"/>
              <a:t>(x)))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x = [1 2 3]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83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/>
              <a:t>a_scalar</a:t>
            </a:r>
            <a:r>
              <a:rPr lang="en-US" dirty="0"/>
              <a:t> =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a_scalar</a:t>
            </a:r>
            <a:r>
              <a:rPr lang="en-US" dirty="0"/>
              <a:t> + y)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print(y - x)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 0 -1]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248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np.full</a:t>
            </a:r>
            <a:r>
              <a:rPr lang="en-US" dirty="0"/>
              <a:t>((4,3), 2.0)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print('A = \n{}'.format(A))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774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 err="1"/>
              <a:t>np.arange</a:t>
            </a:r>
            <a:r>
              <a:rPr lang="en-US" dirty="0"/>
              <a:t>(1,13).reshape((4,3))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print('Matrix B with shape {} \n{}'.format(</a:t>
            </a:r>
            <a:r>
              <a:rPr lang="en-US" dirty="0" err="1"/>
              <a:t>B.shape</a:t>
            </a:r>
            <a:r>
              <a:rPr lang="en-US" dirty="0"/>
              <a:t>,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Matrix B with shape (4, 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85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scalar operation on an array</a:t>
            </a:r>
          </a:p>
          <a:p>
            <a:pPr marL="0" indent="0">
              <a:buNone/>
            </a:pPr>
            <a:r>
              <a:rPr lang="en-US" dirty="0"/>
              <a:t>print('1.0 + A = \n{}'.format(</a:t>
            </a:r>
            <a:r>
              <a:rPr lang="en-US" dirty="0" err="1"/>
              <a:t>a_scalar</a:t>
            </a:r>
            <a:r>
              <a:rPr lang="en-US" dirty="0"/>
              <a:t> + A))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1.0 +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06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element-wise operations on arrays</a:t>
            </a:r>
          </a:p>
          <a:p>
            <a:pPr marL="0" indent="0">
              <a:buNone/>
            </a:pPr>
            <a:r>
              <a:rPr lang="en-US" dirty="0"/>
              <a:t>print('A + B = \n{}'.format(A +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+ B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[[ 3. 4. 5.]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[ 6. 7. 8.]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[ 9. 10. 11.]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[12. 13. 14.]]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26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Dot product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scalar product </a:t>
                </a:r>
                <a:r>
                  <a:rPr lang="en-US" dirty="0">
                    <a:latin typeface="+mn-lt"/>
                  </a:rPr>
                  <a:t>of vectors is foundational operation in linear algebra</a:t>
                </a:r>
              </a:p>
              <a:p>
                <a:r>
                  <a:rPr lang="en-US" dirty="0">
                    <a:latin typeface="+mn-lt"/>
                  </a:rPr>
                  <a:t>Array multiplication can be constructed as a series of dot products</a:t>
                </a:r>
              </a:p>
              <a:p>
                <a:r>
                  <a:rPr lang="en-US" dirty="0">
                    <a:latin typeface="+mn-lt"/>
                  </a:rPr>
                  <a:t>Dot product of two vectors,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+mn-lt"/>
                  </a:rPr>
                  <a:t>, is the sum of element-wise products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Compute the </a:t>
                </a:r>
                <a:r>
                  <a:rPr lang="en-US" b="1" dirty="0">
                    <a:latin typeface="+mn-lt"/>
                  </a:rPr>
                  <a:t>Euclidian norm</a:t>
                </a:r>
                <a:r>
                  <a:rPr lang="en-US" dirty="0">
                    <a:latin typeface="+mn-lt"/>
                  </a:rPr>
                  <a:t> (length or magnitude) as the square root of dot product of vector with itself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ra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 r="-1534" b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6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684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is the product of a vector and the projection of another vector onto the first, or vice versa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9E9CF-F4F7-4322-AFB3-DED698EBD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807" y="1824648"/>
            <a:ext cx="5269584" cy="48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88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with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s-ES" dirty="0"/>
              <a:t>np.dot(</a:t>
            </a:r>
            <a:r>
              <a:rPr lang="es-ES" dirty="0" err="1"/>
              <a:t>x,y</a:t>
            </a:r>
            <a:r>
              <a:rPr lang="es-E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np.dot(y, y)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 err="1"/>
              <a:t>npla.norm</a:t>
            </a:r>
            <a:r>
              <a:rPr lang="en-US" dirty="0"/>
              <a:t>(y)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3.4641016151377544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6261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Vectors are </a:t>
                </a:r>
                <a:r>
                  <a:rPr lang="en-US" b="1" dirty="0">
                    <a:latin typeface="+mn-lt"/>
                  </a:rPr>
                  <a:t>orthogonal </a:t>
                </a:r>
                <a:r>
                  <a:rPr lang="en-US" dirty="0">
                    <a:latin typeface="+mn-lt"/>
                  </a:rPr>
                  <a:t>if the dot product between them is 0</a:t>
                </a:r>
              </a:p>
              <a:p>
                <a:r>
                  <a:rPr lang="en-US" dirty="0">
                    <a:latin typeface="+mn-lt"/>
                  </a:rPr>
                  <a:t>Recall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n-lt"/>
                  </a:rPr>
                  <a:t>,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pl-PL" dirty="0"/>
                  <a:t>w = np.array([1.0,1.0,0.0])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z = np.array([0.0,0.0,1.0])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np.dot(w, </a:t>
                </a:r>
                <a:r>
                  <a:rPr lang="en-US" dirty="0"/>
                  <a:t>z</a:t>
                </a:r>
                <a:r>
                  <a:rPr lang="pl-PL" dirty="0"/>
                  <a:t>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## 0.0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transpose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permutes the element indices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Transpose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has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dirty="0" err="1"/>
                  <a:t>np.transpose</a:t>
                </a:r>
                <a:r>
                  <a:rPr lang="en-US" dirty="0"/>
                  <a:t>(B)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array([[ 1, 4, 7, 10],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[ 2, 5, 8, 11],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[ 3, 6, 9, 12]])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7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rule</a:t>
                </a:r>
                <a:r>
                  <a:rPr lang="en-US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n-lt"/>
                  </a:rPr>
                  <a:t> vector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>
                    <a:latin typeface="+mn-lt"/>
                  </a:rPr>
                  <a:t>, not a commutative operation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6773-78CF-8405-F603-206C762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7DCF-A12F-B1D8-C5E6-D88CD684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7E7288-15DE-7FB9-E84D-E2E623F60A68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FCB8BA-C61B-D43D-C5BA-530DE6281734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D585A-3DCD-E4E1-EE0A-595006047ABD}"/>
              </a:ext>
            </a:extLst>
          </p:cNvPr>
          <p:cNvCxnSpPr>
            <a:cxnSpLocks/>
          </p:cNvCxnSpPr>
          <p:nvPr/>
        </p:nvCxnSpPr>
        <p:spPr>
          <a:xfrm flipH="1" flipV="1">
            <a:off x="3608096" y="2585199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328419-0BFA-0E4A-3628-58AE9678C9CF}"/>
              </a:ext>
            </a:extLst>
          </p:cNvPr>
          <p:cNvCxnSpPr>
            <a:cxnSpLocks/>
          </p:cNvCxnSpPr>
          <p:nvPr/>
        </p:nvCxnSpPr>
        <p:spPr>
          <a:xfrm flipV="1">
            <a:off x="4538633" y="3671721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/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/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0C810A-AA9F-4952-C873-3A24E9EDA4D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B69687-29CA-31C7-D1F5-57188E1E7AE0}"/>
              </a:ext>
            </a:extLst>
          </p:cNvPr>
          <p:cNvCxnSpPr>
            <a:cxnSpLocks/>
          </p:cNvCxnSpPr>
          <p:nvPr/>
        </p:nvCxnSpPr>
        <p:spPr>
          <a:xfrm flipV="1">
            <a:off x="4538633" y="3015536"/>
            <a:ext cx="2393576" cy="2104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/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/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B47E1F-1C3E-2A4C-0F0F-8857E0EA76E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5993605" y="4806349"/>
            <a:ext cx="393102" cy="488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4F9D8E-A1D5-1883-19DC-02FCE72A1BF2}"/>
              </a:ext>
            </a:extLst>
          </p:cNvPr>
          <p:cNvCxnSpPr>
            <a:cxnSpLocks/>
          </p:cNvCxnSpPr>
          <p:nvPr/>
        </p:nvCxnSpPr>
        <p:spPr>
          <a:xfrm flipV="1">
            <a:off x="6562243" y="3155611"/>
            <a:ext cx="314905" cy="131354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28B4501-4A2E-265E-695C-1A3C2EE14EC7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/>
              <p:nvPr/>
            </p:nvSpPr>
            <p:spPr>
              <a:xfrm>
                <a:off x="8017701" y="4555005"/>
                <a:ext cx="368859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Projection m</a:t>
                </a:r>
                <a:r>
                  <a:rPr lang="en-US" sz="2800" b="0" dirty="0"/>
                  <a:t>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performs a translation and rotation of a coordinate system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01" y="4555005"/>
                <a:ext cx="3688596" cy="1815882"/>
              </a:xfrm>
              <a:prstGeom prst="rect">
                <a:avLst/>
              </a:prstGeom>
              <a:blipFill>
                <a:blip r:embed="rId11"/>
                <a:stretch>
                  <a:fillRect l="-330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407811-BDCD-5145-1311-65B29834873D}"/>
              </a:ext>
            </a:extLst>
          </p:cNvPr>
          <p:cNvCxnSpPr>
            <a:cxnSpLocks/>
            <a:stCxn id="50" idx="1"/>
            <a:endCxn id="41" idx="3"/>
          </p:cNvCxnSpPr>
          <p:nvPr/>
        </p:nvCxnSpPr>
        <p:spPr>
          <a:xfrm flipH="1" flipV="1">
            <a:off x="6641752" y="4651488"/>
            <a:ext cx="1375949" cy="811458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83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US" dirty="0"/>
                  <a:t>np.dot(B, x)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array([14, 32, 50, 68])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070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72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.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∙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Product of transpose of m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 is </a:t>
                </a:r>
                <a:r>
                  <a:rPr lang="en-US" b="1" dirty="0">
                    <a:latin typeface="+mn-lt"/>
                  </a:rPr>
                  <a:t>not a commutative operation</a:t>
                </a:r>
              </a:p>
              <a:p>
                <a:r>
                  <a:rPr lang="en-US" dirty="0">
                    <a:latin typeface="+mn-lt"/>
                  </a:rPr>
                  <a:t>Matrix product only possible if matrices are </a:t>
                </a:r>
                <a:r>
                  <a:rPr lang="en-US" b="1" dirty="0">
                    <a:latin typeface="+mn-lt"/>
                  </a:rPr>
                  <a:t>conformable </a:t>
                </a:r>
                <a:r>
                  <a:rPr lang="en-US" dirty="0">
                    <a:latin typeface="+mn-lt"/>
                  </a:rPr>
                  <a:t>– number of columns of first matrix = number of rows of second matrix </a:t>
                </a:r>
              </a:p>
              <a:p>
                <a:r>
                  <a:rPr lang="en-US" dirty="0" err="1">
                    <a:latin typeface="+mn-lt"/>
                  </a:rPr>
                  <a:t>Numpy</a:t>
                </a:r>
                <a:r>
                  <a:rPr lang="en-US" dirty="0">
                    <a:latin typeface="+mn-lt"/>
                  </a:rPr>
                  <a:t> throws </a:t>
                </a:r>
                <a:r>
                  <a:rPr lang="en-US" b="1" dirty="0">
                    <a:latin typeface="+mn-lt"/>
                  </a:rPr>
                  <a:t>exception if matrices are not conformable</a:t>
                </a:r>
                <a:r>
                  <a:rPr lang="en-US" dirty="0">
                    <a:latin typeface="+mn-lt"/>
                  </a:rPr>
                  <a:t>!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Examples of conformable products: </a:t>
                </a:r>
              </a:p>
              <a:p>
                <a:pPr marL="0" indent="0">
                  <a:buNone/>
                </a:pPr>
                <a:r>
                  <a:rPr lang="en-US" dirty="0"/>
                  <a:t>np.dot(</a:t>
                </a:r>
                <a:r>
                  <a:rPr lang="en-US" dirty="0" err="1"/>
                  <a:t>np.transpose</a:t>
                </a:r>
                <a:r>
                  <a:rPr lang="en-US" dirty="0"/>
                  <a:t>(A) , 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60.]])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np.dot(A, </a:t>
                </a:r>
                <a:r>
                  <a:rPr lang="en-US" dirty="0" err="1"/>
                  <a:t>np.transpose</a:t>
                </a:r>
                <a:r>
                  <a:rPr lang="en-US" dirty="0"/>
                  <a:t>(B))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66.]])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39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identity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>
                    <a:latin typeface="+mn-lt"/>
                  </a:rPr>
                  <a:t>, has special properties</a:t>
                </a:r>
              </a:p>
              <a:p>
                <a:r>
                  <a:rPr lang="en-US" dirty="0">
                    <a:latin typeface="+mn-lt"/>
                  </a:rPr>
                  <a:t>Identity matrix has role of a 1 in ordinary algebra</a:t>
                </a:r>
              </a:p>
              <a:p>
                <a:r>
                  <a:rPr lang="en-US" dirty="0">
                    <a:latin typeface="+mn-lt"/>
                  </a:rPr>
                  <a:t>Identity matrix has 1s on the diagonal and zeros elsewhere: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41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the identity matrix </a:t>
                </a:r>
              </a:p>
              <a:p>
                <a:r>
                  <a:rPr lang="en-US" dirty="0">
                    <a:latin typeface="+mn-lt"/>
                  </a:rPr>
                  <a:t>Products  of a rectangular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and an  identity matrix are the original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𝑨𝑰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Define the </a:t>
                </a:r>
                <a:r>
                  <a:rPr lang="en-US" b="1" dirty="0">
                    <a:latin typeface="+mn-lt"/>
                  </a:rPr>
                  <a:t>inverse </a:t>
                </a:r>
                <a:r>
                  <a:rPr lang="en-US" dirty="0">
                    <a:latin typeface="+mn-lt"/>
                  </a:rPr>
                  <a:t>of a square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3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nn-NO" dirty="0"/>
              <a:t>I3 = np.eye(3)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I3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array([[1., 0.,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1.,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0., 1.]])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C = </a:t>
            </a:r>
            <a:r>
              <a:rPr lang="en-US" dirty="0" err="1"/>
              <a:t>np.array</a:t>
            </a:r>
            <a:r>
              <a:rPr lang="en-US" dirty="0"/>
              <a:t>([[1,3,6], [2,2,1], [3,1,4]])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3, 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[2, 2, 1],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[3, 1, 4]])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217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/>
              <a:t>np.dot(C,I3)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np.dot(I3,C)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947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 err="1"/>
              <a:t>inv_C</a:t>
            </a:r>
            <a:r>
              <a:rPr lang="en-US" dirty="0"/>
              <a:t> = </a:t>
            </a:r>
            <a:r>
              <a:rPr lang="en-US" dirty="0" err="1"/>
              <a:t>npla.inv</a:t>
            </a:r>
            <a:r>
              <a:rPr lang="en-US" dirty="0"/>
              <a:t>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</a:t>
            </a:r>
            <a:r>
              <a:rPr lang="en-US" dirty="0" err="1"/>
              <a:t>inv_C,C</a:t>
            </a:r>
            <a:r>
              <a:rPr lang="en-U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array([[ 1.00000000e+00, -1.11022302e-16,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[ 1.66533454e-16, 1.00000000e+00,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[-1.38777878e-17, 6.93889390e-17, 1.00000000e+00]])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9418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Values from lower dimensional arrays are broadcast into higher dimensional arrays   </a:t>
            </a:r>
          </a:p>
          <a:p>
            <a:r>
              <a:rPr lang="en-US" dirty="0">
                <a:latin typeface="+mn-lt"/>
              </a:rPr>
              <a:t>Broadcasting simplifies syntax</a:t>
            </a:r>
          </a:p>
          <a:p>
            <a:r>
              <a:rPr lang="en-US" dirty="0">
                <a:latin typeface="+mn-lt"/>
              </a:rPr>
              <a:t>Broadcasting used in many scientific languages    </a:t>
            </a:r>
          </a:p>
          <a:p>
            <a:pPr lvl="1"/>
            <a:r>
              <a:rPr lang="en-US" dirty="0" err="1">
                <a:latin typeface="+mn-lt"/>
              </a:rPr>
              <a:t>Matlab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R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…..</a:t>
            </a:r>
          </a:p>
          <a:p>
            <a:r>
              <a:rPr lang="en-US" dirty="0">
                <a:latin typeface="+mn-lt"/>
              </a:rPr>
              <a:t>Exact broadcasting rules vary from language to language  </a:t>
            </a:r>
          </a:p>
        </p:txBody>
      </p:sp>
    </p:spTree>
    <p:extLst>
      <p:ext uri="{BB962C8B-B14F-4D97-AF65-F5344CB8AC3E}">
        <p14:creationId xmlns:p14="http://schemas.microsoft.com/office/powerpoint/2010/main" val="2399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scalar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/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/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52E83F-86B0-93CA-9997-981A76D02C86}"/>
              </a:ext>
            </a:extLst>
          </p:cNvPr>
          <p:cNvSpPr/>
          <p:nvPr/>
        </p:nvSpPr>
        <p:spPr>
          <a:xfrm rot="21432883">
            <a:off x="805763" y="2119768"/>
            <a:ext cx="5431134" cy="1959090"/>
          </a:xfrm>
          <a:custGeom>
            <a:avLst/>
            <a:gdLst>
              <a:gd name="connsiteX0" fmla="*/ 5431134 w 5431134"/>
              <a:gd name="connsiteY0" fmla="*/ 1207255 h 1207255"/>
              <a:gd name="connsiteX1" fmla="*/ 4757895 w 5431134"/>
              <a:gd name="connsiteY1" fmla="*/ 383290 h 1207255"/>
              <a:gd name="connsiteX2" fmla="*/ 2255855 w 5431134"/>
              <a:gd name="connsiteY2" fmla="*/ 16525 h 1207255"/>
              <a:gd name="connsiteX3" fmla="*/ 748602 w 5431134"/>
              <a:gd name="connsiteY3" fmla="*/ 111984 h 1207255"/>
              <a:gd name="connsiteX4" fmla="*/ 0 w 5431134"/>
              <a:gd name="connsiteY4" fmla="*/ 544063 h 12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1134" h="1207255">
                <a:moveTo>
                  <a:pt x="5431134" y="1207255"/>
                </a:moveTo>
                <a:cubicBezTo>
                  <a:pt x="5359121" y="894500"/>
                  <a:pt x="5287108" y="581745"/>
                  <a:pt x="4757895" y="383290"/>
                </a:cubicBezTo>
                <a:cubicBezTo>
                  <a:pt x="4228682" y="184835"/>
                  <a:pt x="2924070" y="61743"/>
                  <a:pt x="2255855" y="16525"/>
                </a:cubicBezTo>
                <a:cubicBezTo>
                  <a:pt x="1587640" y="-28693"/>
                  <a:pt x="1124578" y="24061"/>
                  <a:pt x="748602" y="111984"/>
                </a:cubicBezTo>
                <a:cubicBezTo>
                  <a:pt x="372626" y="199907"/>
                  <a:pt x="186313" y="371985"/>
                  <a:pt x="0" y="54406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A2B62A-9F43-6FFF-D9F9-01875F577179}"/>
              </a:ext>
            </a:extLst>
          </p:cNvPr>
          <p:cNvSpPr/>
          <p:nvPr/>
        </p:nvSpPr>
        <p:spPr>
          <a:xfrm>
            <a:off x="1747579" y="4374517"/>
            <a:ext cx="4522123" cy="2222269"/>
          </a:xfrm>
          <a:custGeom>
            <a:avLst/>
            <a:gdLst>
              <a:gd name="connsiteX0" fmla="*/ 4522123 w 4522123"/>
              <a:gd name="connsiteY0" fmla="*/ 0 h 1539301"/>
              <a:gd name="connsiteX1" fmla="*/ 4078778 w 4522123"/>
              <a:gd name="connsiteY1" fmla="*/ 737062 h 1539301"/>
              <a:gd name="connsiteX2" fmla="*/ 2571403 w 4522123"/>
              <a:gd name="connsiteY2" fmla="*/ 1324494 h 1539301"/>
              <a:gd name="connsiteX3" fmla="*/ 748145 w 4522123"/>
              <a:gd name="connsiteY3" fmla="*/ 1535083 h 1539301"/>
              <a:gd name="connsiteX4" fmla="*/ 144087 w 4522123"/>
              <a:gd name="connsiteY4" fmla="*/ 1163782 h 1539301"/>
              <a:gd name="connsiteX5" fmla="*/ 0 w 4522123"/>
              <a:gd name="connsiteY5" fmla="*/ 609600 h 153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2123" h="1539301">
                <a:moveTo>
                  <a:pt x="4522123" y="0"/>
                </a:moveTo>
                <a:cubicBezTo>
                  <a:pt x="4463010" y="258156"/>
                  <a:pt x="4403898" y="516313"/>
                  <a:pt x="4078778" y="737062"/>
                </a:cubicBezTo>
                <a:cubicBezTo>
                  <a:pt x="3753658" y="957811"/>
                  <a:pt x="3126508" y="1191491"/>
                  <a:pt x="2571403" y="1324494"/>
                </a:cubicBezTo>
                <a:cubicBezTo>
                  <a:pt x="2016298" y="1457497"/>
                  <a:pt x="1152698" y="1561868"/>
                  <a:pt x="748145" y="1535083"/>
                </a:cubicBezTo>
                <a:cubicBezTo>
                  <a:pt x="343592" y="1508298"/>
                  <a:pt x="268778" y="1318029"/>
                  <a:pt x="144087" y="1163782"/>
                </a:cubicBezTo>
                <a:cubicBezTo>
                  <a:pt x="19396" y="1009535"/>
                  <a:pt x="9698" y="809567"/>
                  <a:pt x="0" y="609600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20EBBC-702F-280A-1807-7E62BD3ED113}"/>
              </a:ext>
            </a:extLst>
          </p:cNvPr>
          <p:cNvSpPr/>
          <p:nvPr/>
        </p:nvSpPr>
        <p:spPr>
          <a:xfrm>
            <a:off x="3537921" y="3010203"/>
            <a:ext cx="2585788" cy="952198"/>
          </a:xfrm>
          <a:custGeom>
            <a:avLst/>
            <a:gdLst>
              <a:gd name="connsiteX0" fmla="*/ 2585788 w 2585788"/>
              <a:gd name="connsiteY0" fmla="*/ 952198 h 952198"/>
              <a:gd name="connsiteX1" fmla="*/ 2208944 w 2585788"/>
              <a:gd name="connsiteY1" fmla="*/ 292721 h 952198"/>
              <a:gd name="connsiteX2" fmla="*/ 1133831 w 2585788"/>
              <a:gd name="connsiteY2" fmla="*/ 4547 h 952198"/>
              <a:gd name="connsiteX3" fmla="*/ 152929 w 2585788"/>
              <a:gd name="connsiteY3" fmla="*/ 132009 h 952198"/>
              <a:gd name="connsiteX4" fmla="*/ 3300 w 2585788"/>
              <a:gd name="connsiteY4" fmla="*/ 342598 h 95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5788" h="952198">
                <a:moveTo>
                  <a:pt x="2585788" y="952198"/>
                </a:moveTo>
                <a:cubicBezTo>
                  <a:pt x="2518362" y="701430"/>
                  <a:pt x="2450937" y="450663"/>
                  <a:pt x="2208944" y="292721"/>
                </a:cubicBezTo>
                <a:cubicBezTo>
                  <a:pt x="1966951" y="134779"/>
                  <a:pt x="1476500" y="31332"/>
                  <a:pt x="1133831" y="4547"/>
                </a:cubicBezTo>
                <a:cubicBezTo>
                  <a:pt x="791162" y="-22238"/>
                  <a:pt x="341351" y="75667"/>
                  <a:pt x="152929" y="132009"/>
                </a:cubicBezTo>
                <a:cubicBezTo>
                  <a:pt x="-35493" y="188351"/>
                  <a:pt x="3300" y="342598"/>
                  <a:pt x="3300" y="342598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67B1D0-D138-01ED-3B46-2EE5FDE2709A}"/>
              </a:ext>
            </a:extLst>
          </p:cNvPr>
          <p:cNvSpPr/>
          <p:nvPr/>
        </p:nvSpPr>
        <p:spPr>
          <a:xfrm>
            <a:off x="3402676" y="4361412"/>
            <a:ext cx="2726574" cy="959616"/>
          </a:xfrm>
          <a:custGeom>
            <a:avLst/>
            <a:gdLst>
              <a:gd name="connsiteX0" fmla="*/ 2726574 w 2726574"/>
              <a:gd name="connsiteY0" fmla="*/ 0 h 959616"/>
              <a:gd name="connsiteX1" fmla="*/ 2482734 w 2726574"/>
              <a:gd name="connsiteY1" fmla="*/ 570807 h 959616"/>
              <a:gd name="connsiteX2" fmla="*/ 1579418 w 2726574"/>
              <a:gd name="connsiteY2" fmla="*/ 886691 h 959616"/>
              <a:gd name="connsiteX3" fmla="*/ 676102 w 2726574"/>
              <a:gd name="connsiteY3" fmla="*/ 958734 h 959616"/>
              <a:gd name="connsiteX4" fmla="*/ 177338 w 2726574"/>
              <a:gd name="connsiteY4" fmla="*/ 858981 h 959616"/>
              <a:gd name="connsiteX5" fmla="*/ 0 w 2726574"/>
              <a:gd name="connsiteY5" fmla="*/ 631767 h 95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574" h="959616">
                <a:moveTo>
                  <a:pt x="2726574" y="0"/>
                </a:moveTo>
                <a:cubicBezTo>
                  <a:pt x="2700250" y="211512"/>
                  <a:pt x="2673927" y="423025"/>
                  <a:pt x="2482734" y="570807"/>
                </a:cubicBezTo>
                <a:cubicBezTo>
                  <a:pt x="2291541" y="718589"/>
                  <a:pt x="1880523" y="822037"/>
                  <a:pt x="1579418" y="886691"/>
                </a:cubicBezTo>
                <a:cubicBezTo>
                  <a:pt x="1278313" y="951346"/>
                  <a:pt x="909782" y="963352"/>
                  <a:pt x="676102" y="958734"/>
                </a:cubicBezTo>
                <a:cubicBezTo>
                  <a:pt x="442422" y="954116"/>
                  <a:pt x="290022" y="913475"/>
                  <a:pt x="177338" y="858981"/>
                </a:cubicBezTo>
                <a:cubicBezTo>
                  <a:pt x="64654" y="804487"/>
                  <a:pt x="32327" y="718127"/>
                  <a:pt x="0" y="631767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63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vector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/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E83178-2D5F-36A0-C1C7-AB763B7DF50E}"/>
              </a:ext>
            </a:extLst>
          </p:cNvPr>
          <p:cNvCxnSpPr>
            <a:cxnSpLocks/>
          </p:cNvCxnSpPr>
          <p:nvPr/>
        </p:nvCxnSpPr>
        <p:spPr>
          <a:xfrm flipH="1" flipV="1">
            <a:off x="5248102" y="3546764"/>
            <a:ext cx="1751214" cy="60470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A311E3-730B-B148-ED7C-54DA90FFB7BD}"/>
              </a:ext>
            </a:extLst>
          </p:cNvPr>
          <p:cNvCxnSpPr>
            <a:cxnSpLocks/>
          </p:cNvCxnSpPr>
          <p:nvPr/>
        </p:nvCxnSpPr>
        <p:spPr>
          <a:xfrm flipH="1" flipV="1">
            <a:off x="5297978" y="4001193"/>
            <a:ext cx="1701338" cy="13890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C4829-DF6D-CCCD-DEF3-F9AA462960BA}"/>
              </a:ext>
            </a:extLst>
          </p:cNvPr>
          <p:cNvCxnSpPr>
            <a:cxnSpLocks/>
          </p:cNvCxnSpPr>
          <p:nvPr/>
        </p:nvCxnSpPr>
        <p:spPr>
          <a:xfrm flipH="1">
            <a:off x="5297978" y="4140095"/>
            <a:ext cx="1640378" cy="6535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555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Vectorization of code greatly speeds execution </a:t>
            </a:r>
          </a:p>
          <a:p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performed in compiled code</a:t>
            </a:r>
          </a:p>
          <a:p>
            <a:pPr lvl="1"/>
            <a:r>
              <a:rPr lang="en-US" dirty="0">
                <a:latin typeface="+mn-lt"/>
              </a:rPr>
              <a:t>Mathematical operations performed at ‘C-speed’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is a wrapper on optimized C and FORTRAN routines    </a:t>
            </a:r>
          </a:p>
          <a:p>
            <a:r>
              <a:rPr lang="en-US" dirty="0">
                <a:latin typeface="+mn-lt"/>
              </a:rPr>
              <a:t>Vectorized code operates on entire arrays with one call   </a:t>
            </a:r>
          </a:p>
          <a:p>
            <a:pPr lvl="1"/>
            <a:r>
              <a:rPr lang="en-US" dirty="0">
                <a:latin typeface="+mn-lt"/>
              </a:rPr>
              <a:t>Limits slow function call context switching </a:t>
            </a:r>
          </a:p>
          <a:p>
            <a:pPr lvl="1"/>
            <a:r>
              <a:rPr lang="en-US" dirty="0">
                <a:latin typeface="+mn-lt"/>
              </a:rPr>
              <a:t>Context switching must push and pop from stack – expensive   </a:t>
            </a:r>
          </a:p>
          <a:p>
            <a:r>
              <a:rPr lang="en-US" dirty="0">
                <a:latin typeface="+mn-lt"/>
              </a:rPr>
              <a:t>Coding with for loops requires many context switches    </a:t>
            </a:r>
          </a:p>
        </p:txBody>
      </p:sp>
    </p:spTree>
    <p:extLst>
      <p:ext uri="{BB962C8B-B14F-4D97-AF65-F5344CB8AC3E}">
        <p14:creationId xmlns:p14="http://schemas.microsoft.com/office/powerpoint/2010/main" val="45029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Perform calculation with nested for loops     </a:t>
            </a:r>
          </a:p>
          <a:p>
            <a:pPr lvl="1"/>
            <a:r>
              <a:rPr lang="en-US" sz="2800" dirty="0">
                <a:latin typeface="+mn-lt"/>
              </a:rPr>
              <a:t>Each arithmetic operation is a function call with context switching  </a:t>
            </a:r>
          </a:p>
          <a:p>
            <a:pPr marL="0" indent="0">
              <a:buNone/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dim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Q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dim,dim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), 2.0)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z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((dim), 10.0)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o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j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o[j] =+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]*x[j]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Q,z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14min 30s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14min 37s</a:t>
            </a:r>
          </a:p>
        </p:txBody>
      </p:sp>
    </p:spTree>
    <p:extLst>
      <p:ext uri="{BB962C8B-B14F-4D97-AF65-F5344CB8AC3E}">
        <p14:creationId xmlns:p14="http://schemas.microsoft.com/office/powerpoint/2010/main" val="438618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Vectorized calculation is much faster with </a:t>
            </a:r>
            <a:r>
              <a:rPr lang="en-US" sz="3100" dirty="0" err="1">
                <a:latin typeface="+mn-lt"/>
              </a:rPr>
              <a:t>Numpy</a:t>
            </a:r>
            <a:r>
              <a:rPr lang="en-US" sz="3100" dirty="0">
                <a:latin typeface="+mn-lt"/>
              </a:rPr>
              <a:t> </a:t>
            </a:r>
            <a:endParaRPr lang="en-US" sz="2800" dirty="0">
              <a:latin typeface="+mn-lt"/>
            </a:endParaRPr>
          </a:p>
          <a:p>
            <a:pPr marL="0" indent="0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 = np.zeros((dim))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range(num_calculations): o = np.dot(Q, z) 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2.27 s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503 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sz="2600" dirty="0">
              <a:solidFill>
                <a:srgbClr val="C00000"/>
              </a:solidFill>
              <a:latin typeface="+mn-lt"/>
            </a:endParaRPr>
          </a:p>
          <a:p>
            <a:r>
              <a:rPr lang="en-US" sz="2600" dirty="0">
                <a:latin typeface="+mn-lt"/>
              </a:rPr>
              <a:t>Vectorized code is about 380 times faster!!</a:t>
            </a:r>
          </a:p>
        </p:txBody>
      </p:sp>
    </p:spTree>
    <p:extLst>
      <p:ext uri="{BB962C8B-B14F-4D97-AF65-F5344CB8AC3E}">
        <p14:creationId xmlns:p14="http://schemas.microsoft.com/office/powerpoint/2010/main" val="4034745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Common operations include: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C11D0-EED5-4354-B9F1-5FE72070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3" y="2290761"/>
            <a:ext cx="9613694" cy="41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6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 use Python 0 indexing convention: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A8015-8F14-46A2-BF62-391C3EA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1" y="2085848"/>
            <a:ext cx="7120122" cy="48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79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31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range of columns:</a:t>
            </a:r>
          </a:p>
          <a:p>
            <a:pPr marL="0" indent="0">
              <a:buNone/>
            </a:pPr>
            <a:r>
              <a:rPr lang="en-US" dirty="0"/>
              <a:t>B[:, 1:3]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[ 5, 6], </a:t>
            </a:r>
            <a:endParaRPr lang="en-US" dirty="0">
              <a:latin typeface="+mn-lt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[ 8, 9],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[11, 12]])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917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21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all but last column:</a:t>
            </a:r>
          </a:p>
          <a:p>
            <a:pPr marL="0" indent="0">
              <a:buNone/>
            </a:pPr>
            <a:r>
              <a:rPr lang="en-US" dirty="0"/>
              <a:t>B[:, :-1]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array([[ 1, 2],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[ 4, 5],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[ 7, 8],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[10, 11]])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65826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550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rows 0 and 2:</a:t>
            </a:r>
          </a:p>
          <a:p>
            <a:pPr marL="0" indent="0">
              <a:buNone/>
            </a:pPr>
            <a:r>
              <a:rPr lang="en-US" dirty="0"/>
              <a:t>B[[0,2],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[7, 8, 9]])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B[[True,False,True,False],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[7, 8, 9]])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5417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76300"/>
            <a:ext cx="11525250" cy="5705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To create a copy of a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 use the </a:t>
            </a:r>
            <a:r>
              <a:rPr lang="en-US" dirty="0" err="1">
                <a:latin typeface="+mn-lt"/>
              </a:rPr>
              <a:t>numpy.copy</a:t>
            </a:r>
            <a:r>
              <a:rPr lang="en-US" dirty="0">
                <a:latin typeface="+mn-lt"/>
              </a:rPr>
              <a:t> function; </a:t>
            </a:r>
          </a:p>
          <a:p>
            <a:pPr marL="0" indent="0">
              <a:buNone/>
            </a:pPr>
            <a:r>
              <a:rPr lang="en-US" sz="2200" b="1" dirty="0">
                <a:latin typeface="+mn-lt"/>
              </a:rPr>
              <a:t>Note: </a:t>
            </a:r>
            <a:r>
              <a:rPr lang="en-US" sz="2200" dirty="0" err="1">
                <a:latin typeface="+mn-lt"/>
              </a:rPr>
              <a:t>numpy.copy</a:t>
            </a:r>
            <a:r>
              <a:rPr lang="en-US" sz="2200" dirty="0">
                <a:latin typeface="+mn-lt"/>
              </a:rPr>
              <a:t> is not to be confused with the Python </a:t>
            </a:r>
            <a:r>
              <a:rPr lang="en-US" sz="2200" dirty="0">
                <a:latin typeface="+mn-lt"/>
                <a:hlinkClick r:id="rId3"/>
              </a:rPr>
              <a:t>copy package</a:t>
            </a:r>
            <a:r>
              <a:rPr lang="en-US" sz="2200" dirty="0">
                <a:latin typeface="+mn-lt"/>
              </a:rPr>
              <a:t>, </a:t>
            </a:r>
            <a:r>
              <a:rPr lang="en-US" sz="2200" dirty="0" err="1">
                <a:latin typeface="+mn-lt"/>
              </a:rPr>
              <a:t>copy.deepcopy</a:t>
            </a:r>
            <a:r>
              <a:rPr lang="en-US" sz="2200" dirty="0">
                <a:latin typeface="+mn-lt"/>
              </a:rPr>
              <a:t>, which is less efficient for </a:t>
            </a:r>
            <a:r>
              <a:rPr lang="en-US" sz="2200" dirty="0" err="1">
                <a:latin typeface="+mn-lt"/>
              </a:rPr>
              <a:t>Numpy</a:t>
            </a:r>
            <a:r>
              <a:rPr lang="en-US" sz="2200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C = </a:t>
            </a:r>
            <a:r>
              <a:rPr lang="en-US" dirty="0" err="1"/>
              <a:t>np.copy</a:t>
            </a:r>
            <a:r>
              <a:rPr lang="en-US" dirty="0"/>
              <a:t>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B = B + 1.0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[[ 2. 3. 4.]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[ 5. 6. 7.]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[ 8. 9. 10.]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[11. 12. 13.]]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</a:p>
          <a:p>
            <a:pPr marL="0" indent="0">
              <a:spcBef>
                <a:spcPts val="400"/>
              </a:spcBef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25147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Eigenvalues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are characteristic roots or characteristic values of a linear system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Start with the eigenvalue, eigenvector relationship: </a:t>
                </a: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To see that </a:t>
                </a:r>
                <a:r>
                  <a:rPr lang="en-US" sz="2800" dirty="0">
                    <a:latin typeface="Symbol" panose="05050102010706020507" pitchFamily="18" charset="2"/>
                    <a:cs typeface="Segoe UI" panose="020B0502040204020203" pitchFamily="34" charset="0"/>
                  </a:rPr>
                  <a:t>l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represent a root of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A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we rearrange as follows: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888" y="2299174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49" y="2841975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61" y="537187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094" y="581659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Each eigenvalue of a square matrix is associated with an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eigenvector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Reconstruct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 by matrix multiplication: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n eigenvalues are ordered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Each of the n orthogonal and unit norm eigenvectors,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are scaled by the corresponding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Intuitively, 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he larger the eigenvalue the greater the contribution to reconstruction of matrix 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 r="-106" b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Some key properties of </a:t>
                </a:r>
                <a:r>
                  <a:rPr lang="en-US" sz="2800" dirty="0" err="1">
                    <a:latin typeface="+mn-lt"/>
                    <a:cs typeface="Segoe UI" panose="020B0502040204020203" pitchFamily="34" charset="0"/>
                  </a:rPr>
                  <a:t>eigendecomposition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l2 norm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of any eigenvector is constrained to 1.0: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1/2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Further the eigenvectors are </a:t>
                </a:r>
                <a:r>
                  <a:rPr lang="en-US" b="1" dirty="0">
                    <a:cs typeface="Segoe UI" panose="020B0502040204020203" pitchFamily="34" charset="0"/>
                  </a:rPr>
                  <a:t>orthogonal</a:t>
                </a:r>
                <a:r>
                  <a:rPr lang="en-US" dirty="0"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unit norm and orthogonality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properties of the matrix of n eigenvectors,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Q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give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A </a:t>
                </a:r>
                <a:r>
                  <a:rPr lang="en-US" b="1" dirty="0">
                    <a:cs typeface="Segoe UI" panose="020B0502040204020203" pitchFamily="34" charset="0"/>
                  </a:rPr>
                  <a:t>unique solution </a:t>
                </a:r>
                <a:r>
                  <a:rPr lang="en-US" dirty="0">
                    <a:cs typeface="Segoe UI" panose="020B0502040204020203" pitchFamily="34" charset="0"/>
                  </a:rPr>
                  <a:t>to eigen-decomposition problem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Scaling only from eigenvalues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8025" y="1193836"/>
            <a:ext cx="5509477" cy="5410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How can we interpret eigen-decomposition for 2-d example? 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First eigenvector is along direction of fastest change – highest variance</a:t>
            </a:r>
          </a:p>
          <a:p>
            <a:r>
              <a:rPr lang="en-US" dirty="0">
                <a:cs typeface="Segoe UI" panose="020B0502040204020203" pitchFamily="34" charset="0"/>
              </a:rPr>
              <a:t>First eigenvalue determine the scale of the first eigenvector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Other eigenvectors ordered in decreasing directions of fastest change</a:t>
            </a:r>
            <a:r>
              <a:rPr lang="en-US" dirty="0">
                <a:cs typeface="Segoe UI" panose="020B0502040204020203" pitchFamily="34" charset="0"/>
              </a:rPr>
              <a:t> by eigenvalue</a:t>
            </a: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1144DD8E-88AE-4361-990C-33430DF76415}"/>
              </a:ext>
            </a:extLst>
          </p:cNvPr>
          <p:cNvGrpSpPr>
            <a:grpSpLocks/>
          </p:cNvGrpSpPr>
          <p:nvPr/>
        </p:nvGrpSpPr>
        <p:grpSpPr bwMode="auto">
          <a:xfrm>
            <a:off x="6303011" y="2292334"/>
            <a:ext cx="5787413" cy="3017854"/>
            <a:chOff x="2254" y="2352"/>
            <a:chExt cx="3410" cy="1813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B30430D9-95A9-40BC-B2A3-3AB4693BD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>
                  <a:solidFill>
                    <a:srgbClr val="FF3300"/>
                  </a:solidFill>
                  <a:cs typeface="Times New Roman" panose="02020603050405020304" pitchFamily="18" charset="0"/>
                </a:rPr>
                <a:t>direction of the slowest change</a:t>
              </a:r>
              <a:endParaRPr lang="ru-RU" altLang="en-US" sz="16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9BD20CB3-81D3-46EF-A76C-1B174A453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33CC"/>
                  </a:solidFill>
                  <a:cs typeface="Times New Roman" panose="02020603050405020304" pitchFamily="18" charset="0"/>
                </a:rPr>
                <a:t>direction of the fastest change</a:t>
              </a:r>
              <a:endParaRPr lang="ru-RU" altLang="en-US" sz="1600" dirty="0">
                <a:solidFill>
                  <a:srgbClr val="0033CC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7D4A61DB-3EDE-4AE1-98D7-93C2F6C8CE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5392019D-7A21-4173-9032-45FE30C7D1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B9335222-F3FE-47F2-81E0-D6183D8088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172CB780-BC01-4F06-B927-F20A920525C4}"/>
                </a:ext>
              </a:extLst>
            </p:cNvPr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AutoShape 15">
              <a:extLst>
                <a:ext uri="{FF2B5EF4-FFF2-40B4-BE49-F238E27FC236}">
                  <a16:creationId xmlns:a16="http://schemas.microsoft.com/office/drawing/2014/main" id="{FFCA31A6-9DC5-4BCE-9CEB-DBFB524F5E23}"/>
                </a:ext>
              </a:extLst>
            </p:cNvPr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574AAD93-4951-4F14-A053-5C9D15B9D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max</a:t>
              </a: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8A615ADB-3C6B-4045-94D6-EB6C8EAF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min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2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For the linear model we want to find the </a:t>
                </a:r>
                <a:r>
                  <a:rPr lang="en-US" b="1" dirty="0">
                    <a:cs typeface="Segoe UI" panose="020B0502040204020203" pitchFamily="34" charset="0"/>
                  </a:rPr>
                  <a:t>least squares error </a:t>
                </a:r>
                <a:r>
                  <a:rPr lang="en-US" dirty="0">
                    <a:cs typeface="Segoe UI" panose="020B0502040204020203" pitchFamily="34" charset="0"/>
                  </a:rPr>
                  <a:t>solution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(feature)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label vector, </a:t>
                </a:r>
                <a:r>
                  <a:rPr lang="en-US" i="1" dirty="0">
                    <a:cs typeface="Segoe UI" panose="020B0502040204020203" pitchFamily="34" charset="0"/>
                  </a:rPr>
                  <a:t>b</a:t>
                </a:r>
                <a:r>
                  <a:rPr lang="en-US" dirty="0">
                    <a:cs typeface="Segoe UI" panose="020B0502040204020203" pitchFamily="34" charset="0"/>
                  </a:rPr>
                  <a:t>, we want to find a </a:t>
                </a:r>
                <a:r>
                  <a:rPr lang="en-US" b="1" dirty="0">
                    <a:cs typeface="Segoe UI" panose="020B0502040204020203" pitchFamily="34" charset="0"/>
                  </a:rPr>
                  <a:t>coeffect vector</a:t>
                </a:r>
                <a:r>
                  <a:rPr lang="en-US" dirty="0">
                    <a:cs typeface="Segoe UI" panose="020B0502040204020203" pitchFamily="34" charset="0"/>
                  </a:rPr>
                  <a:t>,</a:t>
                </a:r>
                <a:r>
                  <a:rPr lang="en-US" b="1" dirty="0">
                    <a:cs typeface="Segoe UI" panose="020B0502040204020203" pitchFamily="34" charset="0"/>
                  </a:rPr>
                  <a:t> </a:t>
                </a:r>
                <a:r>
                  <a:rPr lang="en-US" i="1" dirty="0"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cs typeface="Segoe UI" panose="020B0502040204020203" pitchFamily="34" charset="0"/>
                  </a:rPr>
                  <a:t>, that minimizes the squared error: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find the </a:t>
                </a:r>
                <a:r>
                  <a:rPr lang="en-US" b="1" dirty="0">
                    <a:cs typeface="Segoe UI" panose="020B0502040204020203" pitchFamily="34" charset="0"/>
                  </a:rPr>
                  <a:t>normal equations </a:t>
                </a:r>
                <a:r>
                  <a:rPr lang="en-US" dirty="0">
                    <a:cs typeface="Segoe UI" panose="020B0502040204020203" pitchFamily="34" charset="0"/>
                  </a:rPr>
                  <a:t>by multiplying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and taking an inverse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These are the normal equations with covariance,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8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Define eigenvalue decomposition of covariance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centered covariance matrix</a:t>
                </a:r>
              </a:p>
              <a:p>
                <a:pPr marL="0" indent="0">
                  <a:buNone/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 where,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column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of covariance is then: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0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principle component decomposition to find the </a:t>
                </a:r>
                <a:r>
                  <a:rPr lang="en-US" b="1" dirty="0">
                    <a:cs typeface="Segoe UI" panose="020B0502040204020203" pitchFamily="34" charset="0"/>
                  </a:rPr>
                  <a:t>inverse</a:t>
                </a:r>
                <a:r>
                  <a:rPr lang="en-US" dirty="0">
                    <a:cs typeface="Segoe UI" panose="020B0502040204020203" pitchFamily="34" charset="0"/>
                  </a:rPr>
                  <a:t> 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convariance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Λ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Q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2×2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inverse covariance matrix 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this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is unstable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does not exist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stable inverse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Examples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65273"/>
            <a:ext cx="11525250" cy="5410511"/>
          </a:xfrm>
        </p:spPr>
        <p:txBody>
          <a:bodyPr/>
          <a:lstStyle/>
          <a:p>
            <a:pPr marL="0" indent="0">
              <a:buNone/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DD6408-B0DC-4BBF-8F31-9B2A4D280801}"/>
              </a:ext>
            </a:extLst>
          </p:cNvPr>
          <p:cNvSpPr txBox="1">
            <a:spLocks/>
          </p:cNvSpPr>
          <p:nvPr/>
        </p:nvSpPr>
        <p:spPr>
          <a:xfrm>
            <a:off x="923925" y="1422400"/>
            <a:ext cx="10515600" cy="66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See </a:t>
            </a:r>
            <a:r>
              <a:rPr lang="en-US" sz="4000">
                <a:latin typeface="+mn-lt"/>
                <a:cs typeface="Segoe UI" panose="020B0502040204020203" pitchFamily="34" charset="0"/>
              </a:rPr>
              <a:t>the notebook!</a:t>
            </a:r>
            <a:endParaRPr lang="en-US" sz="40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0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Projection with highest variance explains most variation in the data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projection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map the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another,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𝑡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vector in another space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r>
                  <a:rPr lang="en-US" i="1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with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55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so that  has the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 in matrix form:  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242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(unnormalized) form: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Substitute eigen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Λ</m:t>
                              </m:r>
                              <m:sSup>
                                <m:sSup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by choosing largest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corresponding unit norm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b="1" dirty="0">
                    <a:cs typeface="Segoe UI" panose="020B0502040204020203" pitchFamily="34" charset="0"/>
                  </a:rPr>
                  <a:t>first principle component!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4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Find subsequent principle components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kth principle component has the following properties: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Orthogonal to the k-1 principle components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explained component of the remining variance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remove the explained component of the k-1 principle components from the data matrix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Then solve: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Is maximized by choosing the kth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  <a:blipFill>
                <a:blip r:embed="rId2"/>
                <a:stretch>
                  <a:fillRect l="-1058" t="-2376" b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2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Properties of principle components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The projection directions are determined by the unit norm eigenvectors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principle direction scaled by the eigenvalue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PC ordered by eigenvalues, having decreasing variance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Given the principle components, dimensionality reduction is easy 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all components the transformation to the full dimensional orthogonal space is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We can limit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components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projection of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principle components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Projection has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components which explain the most variance   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is a computational efficient matrix decomposition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computing the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computationally intensive  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Even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sparse,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dense  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provides an alternative: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𝑟𝑖𝑔h𝑡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𝑟𝑖𝑔h𝑡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87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 the 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59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this </a:t>
                </a:r>
                <a:r>
                  <a:rPr lang="en-US" b="1" dirty="0">
                    <a:cs typeface="Segoe UI" panose="020B0502040204020203" pitchFamily="34" charset="0"/>
                  </a:rPr>
                  <a:t>inverse is unstable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the </a:t>
                </a:r>
                <a:r>
                  <a:rPr lang="en-US" b="1" dirty="0">
                    <a:cs typeface="Segoe UI" panose="020B0502040204020203" pitchFamily="34" charset="0"/>
                  </a:rPr>
                  <a:t>inverse does not exist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b="1" dirty="0">
                    <a:cs typeface="Segoe UI" panose="020B0502040204020203" pitchFamily="34" charset="0"/>
                  </a:rPr>
                  <a:t>stable inverse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2980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does SVD relate to PCA?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Expanding unnormalized covariance in terms of SVD: </a:t>
                </a:r>
              </a:p>
              <a:p>
                <a:pPr marL="0" indent="0">
                  <a:buNone/>
                </a:pPr>
                <a:r>
                  <a:rPr lang="en-US" sz="2800" b="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I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, the identity matrix  </a:t>
                </a:r>
                <a:endParaRPr lang="en-US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And SVD of covariance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Thus, the relationship between SVD and PCA is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00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can we do dimensionality reduction with SVD?</a:t>
                </a:r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 relationship between SVD and PCA is: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We can construct a lower dimensional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limited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has first L non-zero singular values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27334</TotalTime>
  <Words>3810</Words>
  <Application>Microsoft Office PowerPoint</Application>
  <PresentationFormat>Widescreen</PresentationFormat>
  <Paragraphs>545</Paragraphs>
  <Slides>62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Times New Roman</vt:lpstr>
      <vt:lpstr>Office Theme</vt:lpstr>
      <vt:lpstr>1_Office Theme</vt:lpstr>
      <vt:lpstr>CSCI E-108 Review of Linear Algebra</vt:lpstr>
      <vt:lpstr>Review of Linear Algebra</vt:lpstr>
      <vt:lpstr>Review of Linear Algebra</vt:lpstr>
      <vt:lpstr>Types of Arrays</vt:lpstr>
      <vt:lpstr>Types of Arrays</vt:lpstr>
      <vt:lpstr>Basic Array Operations</vt:lpstr>
      <vt:lpstr>Basic Array Operations</vt:lpstr>
      <vt:lpstr>Basic Array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Broadcasting in Numpy</vt:lpstr>
      <vt:lpstr>Broadcasting in Numpy</vt:lpstr>
      <vt:lpstr>Broadcasting in Numpy</vt:lpstr>
      <vt:lpstr>Vectorization in Numpy</vt:lpstr>
      <vt:lpstr>Vectorization in Numpy</vt:lpstr>
      <vt:lpstr>Vectorization in Numpy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Least Squares for the linear model</vt:lpstr>
      <vt:lpstr>Least Squares for Linear Model</vt:lpstr>
      <vt:lpstr>Least Squares for Linear Model</vt:lpstr>
      <vt:lpstr>Examples of Eigenvalues and Eigenvectors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908</cp:revision>
  <dcterms:created xsi:type="dcterms:W3CDTF">2020-07-25T22:15:22Z</dcterms:created>
  <dcterms:modified xsi:type="dcterms:W3CDTF">2026-06-24T21:27:39Z</dcterms:modified>
</cp:coreProperties>
</file>